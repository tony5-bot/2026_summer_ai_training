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10" r:id="rId2"/>
    <p:sldId id="512" r:id="rId3"/>
    <p:sldId id="497" r:id="rId4"/>
    <p:sldId id="534" r:id="rId5"/>
    <p:sldId id="556" r:id="rId6"/>
    <p:sldId id="535" r:id="rId7"/>
    <p:sldId id="557" r:id="rId8"/>
    <p:sldId id="536" r:id="rId9"/>
    <p:sldId id="553" r:id="rId10"/>
    <p:sldId id="558" r:id="rId11"/>
    <p:sldId id="518" r:id="rId12"/>
    <p:sldId id="538" r:id="rId13"/>
    <p:sldId id="560" r:id="rId14"/>
    <p:sldId id="562" r:id="rId15"/>
    <p:sldId id="543" r:id="rId16"/>
    <p:sldId id="539" r:id="rId17"/>
    <p:sldId id="540" r:id="rId18"/>
    <p:sldId id="564" r:id="rId19"/>
    <p:sldId id="519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A3"/>
    <a:srgbClr val="04407E"/>
    <a:srgbClr val="404040"/>
    <a:srgbClr val="ECECEC"/>
    <a:srgbClr val="FFFFFF"/>
    <a:srgbClr val="453D3A"/>
    <a:srgbClr val="1A9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8" autoAdjust="0"/>
    <p:restoredTop sz="87511" autoAdjust="0"/>
  </p:normalViewPr>
  <p:slideViewPr>
    <p:cSldViewPr snapToGrid="0" showGuides="1">
      <p:cViewPr varScale="1">
        <p:scale>
          <a:sx n="67" d="100"/>
          <a:sy n="67" d="100"/>
        </p:scale>
        <p:origin x="549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33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A23887-4EE0-4AE5-925C-17C9A9B6F085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30B0D9E-B518-40DD-8B24-2DF4FC5E33DF}">
      <dgm:prSet custT="1"/>
      <dgm:spPr/>
      <dgm:t>
        <a:bodyPr/>
        <a:lstStyle/>
        <a:p>
          <a:r>
            <a:rPr lang="zh-CN" altLang="en-US" sz="1600" b="1" i="0">
              <a:latin typeface="+mj-ea"/>
              <a:ea typeface="+mj-ea"/>
            </a:rPr>
            <a:t>架构（</a:t>
          </a:r>
          <a:r>
            <a:rPr lang="en-US" altLang="zh-CN" sz="1600" b="1" i="0">
              <a:latin typeface="+mj-ea"/>
              <a:ea typeface="+mj-ea"/>
            </a:rPr>
            <a:t>Architecture</a:t>
          </a:r>
          <a:r>
            <a:rPr lang="zh-CN" altLang="en-US" sz="1600" b="1" i="0">
              <a:latin typeface="+mj-ea"/>
              <a:ea typeface="+mj-ea"/>
            </a:rPr>
            <a:t>）</a:t>
          </a:r>
          <a:r>
            <a:rPr lang="zh-CN" altLang="en-US" sz="1600" b="0" i="0">
              <a:latin typeface="+mj-ea"/>
              <a:ea typeface="+mj-ea"/>
            </a:rPr>
            <a:t>：几乎清一色是 </a:t>
          </a:r>
          <a:r>
            <a:rPr lang="en-US" altLang="zh-CN" sz="1600" b="1" i="0">
              <a:latin typeface="+mj-ea"/>
              <a:ea typeface="+mj-ea"/>
            </a:rPr>
            <a:t>Decoder-only Transformer</a:t>
          </a:r>
          <a:r>
            <a:rPr lang="zh-CN" altLang="en-US" sz="1600" b="0" i="0">
              <a:latin typeface="+mj-ea"/>
              <a:ea typeface="+mj-ea"/>
            </a:rPr>
            <a:t>。这一步决定了</a:t>
          </a:r>
          <a:r>
            <a:rPr lang="en-US" altLang="zh-CN" sz="1600" b="0" i="0">
              <a:latin typeface="+mj-ea"/>
              <a:ea typeface="+mj-ea"/>
            </a:rPr>
            <a:t>"</a:t>
          </a:r>
          <a:r>
            <a:rPr lang="zh-CN" altLang="en-US" sz="1600" b="0" i="0">
              <a:latin typeface="+mj-ea"/>
              <a:ea typeface="+mj-ea"/>
            </a:rPr>
            <a:t>信息在模型内部如何流动</a:t>
          </a:r>
          <a:r>
            <a:rPr lang="en-US" altLang="zh-CN" sz="1600" b="0" i="0">
              <a:latin typeface="+mj-ea"/>
              <a:ea typeface="+mj-ea"/>
            </a:rPr>
            <a:t>"</a:t>
          </a:r>
          <a:r>
            <a:rPr lang="zh-CN" altLang="en-US" sz="1600" b="0" i="0">
              <a:latin typeface="+mj-ea"/>
              <a:ea typeface="+mj-ea"/>
            </a:rPr>
            <a:t>。</a:t>
          </a:r>
          <a:endParaRPr lang="zh-CN" altLang="en-US" sz="1600">
            <a:latin typeface="+mj-ea"/>
            <a:ea typeface="+mj-ea"/>
          </a:endParaRPr>
        </a:p>
      </dgm:t>
    </dgm:pt>
    <dgm:pt modelId="{BEF52CB1-4FD6-4980-A3CB-DED6314406FE}" type="parTrans" cxnId="{6DDAC1B9-B804-4D93-ADE2-D074289C9B6B}">
      <dgm:prSet/>
      <dgm:spPr/>
      <dgm:t>
        <a:bodyPr/>
        <a:lstStyle/>
        <a:p>
          <a:endParaRPr lang="zh-CN" altLang="en-US" sz="2400">
            <a:latin typeface="+mj-ea"/>
            <a:ea typeface="+mj-ea"/>
          </a:endParaRPr>
        </a:p>
      </dgm:t>
    </dgm:pt>
    <dgm:pt modelId="{FDAECA76-0F7C-46D0-8C04-7D49159F38AE}" type="sibTrans" cxnId="{6DDAC1B9-B804-4D93-ADE2-D074289C9B6B}">
      <dgm:prSet/>
      <dgm:spPr/>
      <dgm:t>
        <a:bodyPr/>
        <a:lstStyle/>
        <a:p>
          <a:endParaRPr lang="zh-CN" altLang="en-US" sz="2400">
            <a:latin typeface="+mj-ea"/>
            <a:ea typeface="+mj-ea"/>
          </a:endParaRPr>
        </a:p>
      </dgm:t>
    </dgm:pt>
    <dgm:pt modelId="{94862414-7A43-46DC-9887-1BBB85939E7E}">
      <dgm:prSet custT="1"/>
      <dgm:spPr/>
      <dgm:t>
        <a:bodyPr/>
        <a:lstStyle/>
        <a:p>
          <a:r>
            <a:rPr lang="zh-CN" altLang="en-US" sz="1600" b="1" i="0">
              <a:latin typeface="+mj-ea"/>
              <a:ea typeface="+mj-ea"/>
            </a:rPr>
            <a:t>预训练（</a:t>
          </a:r>
          <a:r>
            <a:rPr lang="en-US" altLang="zh-CN" sz="1600" b="1" i="0">
              <a:latin typeface="+mj-ea"/>
              <a:ea typeface="+mj-ea"/>
            </a:rPr>
            <a:t>Pre-training</a:t>
          </a:r>
          <a:r>
            <a:rPr lang="zh-CN" altLang="en-US" sz="1600" b="1" i="0">
              <a:latin typeface="+mj-ea"/>
              <a:ea typeface="+mj-ea"/>
            </a:rPr>
            <a:t>）</a:t>
          </a:r>
          <a:r>
            <a:rPr lang="zh-CN" altLang="en-US" sz="1600" b="0" i="0">
              <a:latin typeface="+mj-ea"/>
              <a:ea typeface="+mj-ea"/>
            </a:rPr>
            <a:t>：在海量无标注文本上做</a:t>
          </a:r>
          <a:r>
            <a:rPr lang="en-US" altLang="zh-CN" sz="1600" b="0" i="0">
              <a:latin typeface="+mj-ea"/>
              <a:ea typeface="+mj-ea"/>
            </a:rPr>
            <a:t>"</a:t>
          </a:r>
          <a:r>
            <a:rPr lang="zh-CN" altLang="en-US" sz="1600" b="0" i="0">
              <a:latin typeface="+mj-ea"/>
              <a:ea typeface="+mj-ea"/>
            </a:rPr>
            <a:t>预测下一个词</a:t>
          </a:r>
          <a:r>
            <a:rPr lang="en-US" altLang="zh-CN" sz="1600" b="0" i="0">
              <a:latin typeface="+mj-ea"/>
              <a:ea typeface="+mj-ea"/>
            </a:rPr>
            <a:t>"</a:t>
          </a:r>
          <a:r>
            <a:rPr lang="zh-CN" altLang="en-US" sz="1600" b="0" i="0">
              <a:latin typeface="+mj-ea"/>
              <a:ea typeface="+mj-ea"/>
            </a:rPr>
            <a:t>，让模型把语言规律、世界知识、推理模式压进参数里。产物是</a:t>
          </a:r>
          <a:r>
            <a:rPr lang="zh-CN" altLang="en-US" sz="1600" b="1" i="0">
              <a:latin typeface="+mj-ea"/>
              <a:ea typeface="+mj-ea"/>
            </a:rPr>
            <a:t>基座模型（</a:t>
          </a:r>
          <a:r>
            <a:rPr lang="en-US" altLang="zh-CN" sz="1600" b="1" i="0">
              <a:latin typeface="+mj-ea"/>
              <a:ea typeface="+mj-ea"/>
            </a:rPr>
            <a:t>Base Model</a:t>
          </a:r>
          <a:r>
            <a:rPr lang="zh-CN" altLang="en-US" sz="1600" b="1" i="0">
              <a:latin typeface="+mj-ea"/>
              <a:ea typeface="+mj-ea"/>
            </a:rPr>
            <a:t>）</a:t>
          </a:r>
          <a:r>
            <a:rPr lang="zh-CN" altLang="en-US" sz="1600" b="0" i="0">
              <a:latin typeface="+mj-ea"/>
              <a:ea typeface="+mj-ea"/>
            </a:rPr>
            <a:t>。</a:t>
          </a:r>
          <a:endParaRPr lang="zh-CN" altLang="en-US" sz="1600">
            <a:latin typeface="+mj-ea"/>
            <a:ea typeface="+mj-ea"/>
          </a:endParaRPr>
        </a:p>
      </dgm:t>
    </dgm:pt>
    <dgm:pt modelId="{C3F80198-9989-42E3-BC1D-C6CA95FB2C0B}" type="parTrans" cxnId="{274B67C1-997C-42C6-8D3A-1E81828400AC}">
      <dgm:prSet/>
      <dgm:spPr/>
      <dgm:t>
        <a:bodyPr/>
        <a:lstStyle/>
        <a:p>
          <a:endParaRPr lang="zh-CN" altLang="en-US" sz="2400">
            <a:latin typeface="+mj-ea"/>
            <a:ea typeface="+mj-ea"/>
          </a:endParaRPr>
        </a:p>
      </dgm:t>
    </dgm:pt>
    <dgm:pt modelId="{DD8C767A-0DCE-4561-BF5C-B6951F0C65FC}" type="sibTrans" cxnId="{274B67C1-997C-42C6-8D3A-1E81828400AC}">
      <dgm:prSet/>
      <dgm:spPr/>
      <dgm:t>
        <a:bodyPr/>
        <a:lstStyle/>
        <a:p>
          <a:endParaRPr lang="zh-CN" altLang="en-US" sz="2400">
            <a:latin typeface="+mj-ea"/>
            <a:ea typeface="+mj-ea"/>
          </a:endParaRPr>
        </a:p>
      </dgm:t>
    </dgm:pt>
    <dgm:pt modelId="{3BA49BE9-A7BD-4BBC-9A89-86512F1D2041}">
      <dgm:prSet custT="1"/>
      <dgm:spPr/>
      <dgm:t>
        <a:bodyPr/>
        <a:lstStyle/>
        <a:p>
          <a:r>
            <a:rPr lang="zh-CN" altLang="en-US" sz="1600" b="1" i="0">
              <a:latin typeface="+mj-ea"/>
              <a:ea typeface="+mj-ea"/>
            </a:rPr>
            <a:t>后训练（</a:t>
          </a:r>
          <a:r>
            <a:rPr lang="en-US" altLang="zh-CN" sz="1600" b="1" i="0">
              <a:latin typeface="+mj-ea"/>
              <a:ea typeface="+mj-ea"/>
            </a:rPr>
            <a:t>Post-training</a:t>
          </a:r>
          <a:r>
            <a:rPr lang="zh-CN" altLang="en-US" sz="1600" b="1" i="0">
              <a:latin typeface="+mj-ea"/>
              <a:ea typeface="+mj-ea"/>
            </a:rPr>
            <a:t>）</a:t>
          </a:r>
          <a:r>
            <a:rPr lang="zh-CN" altLang="en-US" sz="1600" b="0" i="0">
              <a:latin typeface="+mj-ea"/>
              <a:ea typeface="+mj-ea"/>
            </a:rPr>
            <a:t>：用 </a:t>
          </a:r>
          <a:r>
            <a:rPr lang="en-US" altLang="zh-CN" sz="1600" b="1" i="0">
              <a:latin typeface="+mj-ea"/>
              <a:ea typeface="+mj-ea"/>
            </a:rPr>
            <a:t>SFT</a:t>
          </a:r>
          <a:r>
            <a:rPr lang="zh-CN" altLang="en-US" sz="1600" b="1" i="0">
              <a:latin typeface="+mj-ea"/>
              <a:ea typeface="+mj-ea"/>
            </a:rPr>
            <a:t>、</a:t>
          </a:r>
          <a:r>
            <a:rPr lang="en-US" altLang="zh-CN" sz="1600" b="1" i="0">
              <a:latin typeface="+mj-ea"/>
              <a:ea typeface="+mj-ea"/>
            </a:rPr>
            <a:t>RLHF</a:t>
          </a:r>
          <a:r>
            <a:rPr lang="zh-CN" altLang="en-US" sz="1600" b="1" i="0">
              <a:latin typeface="+mj-ea"/>
              <a:ea typeface="+mj-ea"/>
            </a:rPr>
            <a:t>、</a:t>
          </a:r>
          <a:r>
            <a:rPr lang="en-US" altLang="zh-CN" sz="1600" b="1" i="0">
              <a:latin typeface="+mj-ea"/>
              <a:ea typeface="+mj-ea"/>
            </a:rPr>
            <a:t>RLVR </a:t>
          </a:r>
          <a:r>
            <a:rPr lang="zh-CN" altLang="en-US" sz="1600" b="0" i="0">
              <a:latin typeface="+mj-ea"/>
              <a:ea typeface="+mj-ea"/>
            </a:rPr>
            <a:t>等手段把基座模型训练成一个有特定风格的助手。产物是 </a:t>
          </a:r>
          <a:r>
            <a:rPr lang="zh-CN" altLang="en-US" sz="1600" b="1" i="0">
              <a:latin typeface="+mj-ea"/>
              <a:ea typeface="+mj-ea"/>
            </a:rPr>
            <a:t>对齐模型 </a:t>
          </a:r>
          <a:r>
            <a:rPr lang="en-US" altLang="zh-CN" sz="1600" b="1" i="0">
              <a:latin typeface="+mj-ea"/>
              <a:ea typeface="+mj-ea"/>
            </a:rPr>
            <a:t>/ Chat </a:t>
          </a:r>
          <a:r>
            <a:rPr lang="zh-CN" altLang="en-US" sz="1600" b="1" i="0">
              <a:latin typeface="+mj-ea"/>
              <a:ea typeface="+mj-ea"/>
            </a:rPr>
            <a:t>模型</a:t>
          </a:r>
          <a:r>
            <a:rPr lang="zh-CN" altLang="en-US" sz="1600" b="0" i="0">
              <a:latin typeface="+mj-ea"/>
              <a:ea typeface="+mj-ea"/>
            </a:rPr>
            <a:t>。</a:t>
          </a:r>
          <a:endParaRPr lang="zh-CN" altLang="en-US" sz="1600">
            <a:latin typeface="+mj-ea"/>
            <a:ea typeface="+mj-ea"/>
          </a:endParaRPr>
        </a:p>
      </dgm:t>
    </dgm:pt>
    <dgm:pt modelId="{7509A505-2111-4E7F-8348-7D995E889086}" type="parTrans" cxnId="{CCBFE448-8D93-4C13-B2B1-2C2052345D6D}">
      <dgm:prSet/>
      <dgm:spPr/>
      <dgm:t>
        <a:bodyPr/>
        <a:lstStyle/>
        <a:p>
          <a:endParaRPr lang="zh-CN" altLang="en-US" sz="2400">
            <a:latin typeface="+mj-ea"/>
            <a:ea typeface="+mj-ea"/>
          </a:endParaRPr>
        </a:p>
      </dgm:t>
    </dgm:pt>
    <dgm:pt modelId="{311725D1-CEAD-4D8E-8A9F-B5179719F0C1}" type="sibTrans" cxnId="{CCBFE448-8D93-4C13-B2B1-2C2052345D6D}">
      <dgm:prSet/>
      <dgm:spPr/>
      <dgm:t>
        <a:bodyPr/>
        <a:lstStyle/>
        <a:p>
          <a:endParaRPr lang="zh-CN" altLang="en-US" sz="2400">
            <a:latin typeface="+mj-ea"/>
            <a:ea typeface="+mj-ea"/>
          </a:endParaRPr>
        </a:p>
      </dgm:t>
    </dgm:pt>
    <dgm:pt modelId="{08B0A8A9-A750-4E18-9162-0DCC33C17729}" type="pres">
      <dgm:prSet presAssocID="{89A23887-4EE0-4AE5-925C-17C9A9B6F085}" presName="Name0" presStyleCnt="0">
        <dgm:presLayoutVars>
          <dgm:dir/>
          <dgm:resizeHandles val="exact"/>
        </dgm:presLayoutVars>
      </dgm:prSet>
      <dgm:spPr/>
    </dgm:pt>
    <dgm:pt modelId="{A102FB15-C0D7-43CE-9B96-5FADD35792C5}" type="pres">
      <dgm:prSet presAssocID="{89A23887-4EE0-4AE5-925C-17C9A9B6F085}" presName="arrow" presStyleLbl="bgShp" presStyleIdx="0" presStyleCnt="1"/>
      <dgm:spPr/>
    </dgm:pt>
    <dgm:pt modelId="{DA20DEA2-C047-4EBB-B2C0-ED0E19A5604C}" type="pres">
      <dgm:prSet presAssocID="{89A23887-4EE0-4AE5-925C-17C9A9B6F085}" presName="points" presStyleCnt="0"/>
      <dgm:spPr/>
    </dgm:pt>
    <dgm:pt modelId="{934D991E-3374-46FB-B691-355599C55E80}" type="pres">
      <dgm:prSet presAssocID="{D30B0D9E-B518-40DD-8B24-2DF4FC5E33DF}" presName="compositeA" presStyleCnt="0"/>
      <dgm:spPr/>
    </dgm:pt>
    <dgm:pt modelId="{40FAF734-668C-4626-B665-246D92263C84}" type="pres">
      <dgm:prSet presAssocID="{D30B0D9E-B518-40DD-8B24-2DF4FC5E33DF}" presName="textA" presStyleLbl="revTx" presStyleIdx="0" presStyleCnt="3">
        <dgm:presLayoutVars>
          <dgm:bulletEnabled val="1"/>
        </dgm:presLayoutVars>
      </dgm:prSet>
      <dgm:spPr/>
    </dgm:pt>
    <dgm:pt modelId="{AD5B88C1-9A0A-4B4F-8D18-54F718157661}" type="pres">
      <dgm:prSet presAssocID="{D30B0D9E-B518-40DD-8B24-2DF4FC5E33DF}" presName="circleA" presStyleLbl="node1" presStyleIdx="0" presStyleCnt="3"/>
      <dgm:spPr/>
    </dgm:pt>
    <dgm:pt modelId="{75F256C7-DACE-4A3C-AEBF-BB89C3F37F41}" type="pres">
      <dgm:prSet presAssocID="{D30B0D9E-B518-40DD-8B24-2DF4FC5E33DF}" presName="spaceA" presStyleCnt="0"/>
      <dgm:spPr/>
    </dgm:pt>
    <dgm:pt modelId="{3912BCE1-6506-400F-9EEB-6A057FE6F284}" type="pres">
      <dgm:prSet presAssocID="{FDAECA76-0F7C-46D0-8C04-7D49159F38AE}" presName="space" presStyleCnt="0"/>
      <dgm:spPr/>
    </dgm:pt>
    <dgm:pt modelId="{7EB67D46-7B49-418B-8917-3593143C1146}" type="pres">
      <dgm:prSet presAssocID="{94862414-7A43-46DC-9887-1BBB85939E7E}" presName="compositeB" presStyleCnt="0"/>
      <dgm:spPr/>
    </dgm:pt>
    <dgm:pt modelId="{B4BDC52D-84CA-4C51-9896-017039287461}" type="pres">
      <dgm:prSet presAssocID="{94862414-7A43-46DC-9887-1BBB85939E7E}" presName="textB" presStyleLbl="revTx" presStyleIdx="1" presStyleCnt="3">
        <dgm:presLayoutVars>
          <dgm:bulletEnabled val="1"/>
        </dgm:presLayoutVars>
      </dgm:prSet>
      <dgm:spPr/>
    </dgm:pt>
    <dgm:pt modelId="{5DA8F55D-49EA-4534-AFE7-734776F802FC}" type="pres">
      <dgm:prSet presAssocID="{94862414-7A43-46DC-9887-1BBB85939E7E}" presName="circleB" presStyleLbl="node1" presStyleIdx="1" presStyleCnt="3"/>
      <dgm:spPr/>
    </dgm:pt>
    <dgm:pt modelId="{A0746E5D-A00C-4325-BCA0-04283903A8DE}" type="pres">
      <dgm:prSet presAssocID="{94862414-7A43-46DC-9887-1BBB85939E7E}" presName="spaceB" presStyleCnt="0"/>
      <dgm:spPr/>
    </dgm:pt>
    <dgm:pt modelId="{64C16CDC-033E-49CF-B85D-58ECF5456952}" type="pres">
      <dgm:prSet presAssocID="{DD8C767A-0DCE-4561-BF5C-B6951F0C65FC}" presName="space" presStyleCnt="0"/>
      <dgm:spPr/>
    </dgm:pt>
    <dgm:pt modelId="{E9EB8E64-74BA-4036-8A09-D88AFC0ADE57}" type="pres">
      <dgm:prSet presAssocID="{3BA49BE9-A7BD-4BBC-9A89-86512F1D2041}" presName="compositeA" presStyleCnt="0"/>
      <dgm:spPr/>
    </dgm:pt>
    <dgm:pt modelId="{88309F0E-4DC9-4C9A-87CD-519895F4BD1A}" type="pres">
      <dgm:prSet presAssocID="{3BA49BE9-A7BD-4BBC-9A89-86512F1D2041}" presName="textA" presStyleLbl="revTx" presStyleIdx="2" presStyleCnt="3">
        <dgm:presLayoutVars>
          <dgm:bulletEnabled val="1"/>
        </dgm:presLayoutVars>
      </dgm:prSet>
      <dgm:spPr/>
    </dgm:pt>
    <dgm:pt modelId="{C16E0F6A-E945-4594-9F26-860DE57F0E74}" type="pres">
      <dgm:prSet presAssocID="{3BA49BE9-A7BD-4BBC-9A89-86512F1D2041}" presName="circleA" presStyleLbl="node1" presStyleIdx="2" presStyleCnt="3"/>
      <dgm:spPr/>
    </dgm:pt>
    <dgm:pt modelId="{9E6DFBC1-EAB3-42CD-9B57-CC79369CE6A0}" type="pres">
      <dgm:prSet presAssocID="{3BA49BE9-A7BD-4BBC-9A89-86512F1D2041}" presName="spaceA" presStyleCnt="0"/>
      <dgm:spPr/>
    </dgm:pt>
  </dgm:ptLst>
  <dgm:cxnLst>
    <dgm:cxn modelId="{2B486400-90DB-4755-9536-99EA11C76406}" type="presOf" srcId="{3BA49BE9-A7BD-4BBC-9A89-86512F1D2041}" destId="{88309F0E-4DC9-4C9A-87CD-519895F4BD1A}" srcOrd="0" destOrd="0" presId="urn:microsoft.com/office/officeart/2005/8/layout/hProcess11"/>
    <dgm:cxn modelId="{CCBFE448-8D93-4C13-B2B1-2C2052345D6D}" srcId="{89A23887-4EE0-4AE5-925C-17C9A9B6F085}" destId="{3BA49BE9-A7BD-4BBC-9A89-86512F1D2041}" srcOrd="2" destOrd="0" parTransId="{7509A505-2111-4E7F-8348-7D995E889086}" sibTransId="{311725D1-CEAD-4D8E-8A9F-B5179719F0C1}"/>
    <dgm:cxn modelId="{28D877A2-6DBA-4728-B797-4335913B9F7C}" type="presOf" srcId="{D30B0D9E-B518-40DD-8B24-2DF4FC5E33DF}" destId="{40FAF734-668C-4626-B665-246D92263C84}" srcOrd="0" destOrd="0" presId="urn:microsoft.com/office/officeart/2005/8/layout/hProcess11"/>
    <dgm:cxn modelId="{6DDAC1B9-B804-4D93-ADE2-D074289C9B6B}" srcId="{89A23887-4EE0-4AE5-925C-17C9A9B6F085}" destId="{D30B0D9E-B518-40DD-8B24-2DF4FC5E33DF}" srcOrd="0" destOrd="0" parTransId="{BEF52CB1-4FD6-4980-A3CB-DED6314406FE}" sibTransId="{FDAECA76-0F7C-46D0-8C04-7D49159F38AE}"/>
    <dgm:cxn modelId="{274B67C1-997C-42C6-8D3A-1E81828400AC}" srcId="{89A23887-4EE0-4AE5-925C-17C9A9B6F085}" destId="{94862414-7A43-46DC-9887-1BBB85939E7E}" srcOrd="1" destOrd="0" parTransId="{C3F80198-9989-42E3-BC1D-C6CA95FB2C0B}" sibTransId="{DD8C767A-0DCE-4561-BF5C-B6951F0C65FC}"/>
    <dgm:cxn modelId="{438503E8-BF7F-4AB0-AB2F-12E9455FAB5A}" type="presOf" srcId="{94862414-7A43-46DC-9887-1BBB85939E7E}" destId="{B4BDC52D-84CA-4C51-9896-017039287461}" srcOrd="0" destOrd="0" presId="urn:microsoft.com/office/officeart/2005/8/layout/hProcess11"/>
    <dgm:cxn modelId="{45735FEC-9B09-4555-9BF2-F4B9F304AC74}" type="presOf" srcId="{89A23887-4EE0-4AE5-925C-17C9A9B6F085}" destId="{08B0A8A9-A750-4E18-9162-0DCC33C17729}" srcOrd="0" destOrd="0" presId="urn:microsoft.com/office/officeart/2005/8/layout/hProcess11"/>
    <dgm:cxn modelId="{C42466E6-D66A-423B-AD79-7B4A88E67179}" type="presParOf" srcId="{08B0A8A9-A750-4E18-9162-0DCC33C17729}" destId="{A102FB15-C0D7-43CE-9B96-5FADD35792C5}" srcOrd="0" destOrd="0" presId="urn:microsoft.com/office/officeart/2005/8/layout/hProcess11"/>
    <dgm:cxn modelId="{3D418A99-E008-445C-BFF0-21402312ACE4}" type="presParOf" srcId="{08B0A8A9-A750-4E18-9162-0DCC33C17729}" destId="{DA20DEA2-C047-4EBB-B2C0-ED0E19A5604C}" srcOrd="1" destOrd="0" presId="urn:microsoft.com/office/officeart/2005/8/layout/hProcess11"/>
    <dgm:cxn modelId="{6FB06948-EEF9-43DB-B91F-7C856F18D044}" type="presParOf" srcId="{DA20DEA2-C047-4EBB-B2C0-ED0E19A5604C}" destId="{934D991E-3374-46FB-B691-355599C55E80}" srcOrd="0" destOrd="0" presId="urn:microsoft.com/office/officeart/2005/8/layout/hProcess11"/>
    <dgm:cxn modelId="{D777ECAB-FAD6-4814-B5FD-6A7AF005BC8C}" type="presParOf" srcId="{934D991E-3374-46FB-B691-355599C55E80}" destId="{40FAF734-668C-4626-B665-246D92263C84}" srcOrd="0" destOrd="0" presId="urn:microsoft.com/office/officeart/2005/8/layout/hProcess11"/>
    <dgm:cxn modelId="{C72DBC60-C842-42AD-8B7A-23EE93E1A82A}" type="presParOf" srcId="{934D991E-3374-46FB-B691-355599C55E80}" destId="{AD5B88C1-9A0A-4B4F-8D18-54F718157661}" srcOrd="1" destOrd="0" presId="urn:microsoft.com/office/officeart/2005/8/layout/hProcess11"/>
    <dgm:cxn modelId="{20500CFD-94A5-47C0-970D-97970D3D4311}" type="presParOf" srcId="{934D991E-3374-46FB-B691-355599C55E80}" destId="{75F256C7-DACE-4A3C-AEBF-BB89C3F37F41}" srcOrd="2" destOrd="0" presId="urn:microsoft.com/office/officeart/2005/8/layout/hProcess11"/>
    <dgm:cxn modelId="{0262F352-710B-46F5-8E0D-C8F37D4C4E31}" type="presParOf" srcId="{DA20DEA2-C047-4EBB-B2C0-ED0E19A5604C}" destId="{3912BCE1-6506-400F-9EEB-6A057FE6F284}" srcOrd="1" destOrd="0" presId="urn:microsoft.com/office/officeart/2005/8/layout/hProcess11"/>
    <dgm:cxn modelId="{030DEB17-F88B-4EFB-BF54-47301CE932DF}" type="presParOf" srcId="{DA20DEA2-C047-4EBB-B2C0-ED0E19A5604C}" destId="{7EB67D46-7B49-418B-8917-3593143C1146}" srcOrd="2" destOrd="0" presId="urn:microsoft.com/office/officeart/2005/8/layout/hProcess11"/>
    <dgm:cxn modelId="{6D461F9F-0538-4581-801B-0436F000A7B5}" type="presParOf" srcId="{7EB67D46-7B49-418B-8917-3593143C1146}" destId="{B4BDC52D-84CA-4C51-9896-017039287461}" srcOrd="0" destOrd="0" presId="urn:microsoft.com/office/officeart/2005/8/layout/hProcess11"/>
    <dgm:cxn modelId="{1ED18A2A-D811-48D3-9143-E6F9123D9DF0}" type="presParOf" srcId="{7EB67D46-7B49-418B-8917-3593143C1146}" destId="{5DA8F55D-49EA-4534-AFE7-734776F802FC}" srcOrd="1" destOrd="0" presId="urn:microsoft.com/office/officeart/2005/8/layout/hProcess11"/>
    <dgm:cxn modelId="{B0B7B5D9-8822-4846-A174-9AA5BCA1B55F}" type="presParOf" srcId="{7EB67D46-7B49-418B-8917-3593143C1146}" destId="{A0746E5D-A00C-4325-BCA0-04283903A8DE}" srcOrd="2" destOrd="0" presId="urn:microsoft.com/office/officeart/2005/8/layout/hProcess11"/>
    <dgm:cxn modelId="{676FF0DE-90C0-435B-8ED9-4E7D96F68E66}" type="presParOf" srcId="{DA20DEA2-C047-4EBB-B2C0-ED0E19A5604C}" destId="{64C16CDC-033E-49CF-B85D-58ECF5456952}" srcOrd="3" destOrd="0" presId="urn:microsoft.com/office/officeart/2005/8/layout/hProcess11"/>
    <dgm:cxn modelId="{F17A8416-C32E-48EC-B2F2-C4DE83CB2D4F}" type="presParOf" srcId="{DA20DEA2-C047-4EBB-B2C0-ED0E19A5604C}" destId="{E9EB8E64-74BA-4036-8A09-D88AFC0ADE57}" srcOrd="4" destOrd="0" presId="urn:microsoft.com/office/officeart/2005/8/layout/hProcess11"/>
    <dgm:cxn modelId="{2509877F-5A64-4A35-AD87-EC5A79169A61}" type="presParOf" srcId="{E9EB8E64-74BA-4036-8A09-D88AFC0ADE57}" destId="{88309F0E-4DC9-4C9A-87CD-519895F4BD1A}" srcOrd="0" destOrd="0" presId="urn:microsoft.com/office/officeart/2005/8/layout/hProcess11"/>
    <dgm:cxn modelId="{DB586FFF-C48F-4F56-9096-AC59E1760C61}" type="presParOf" srcId="{E9EB8E64-74BA-4036-8A09-D88AFC0ADE57}" destId="{C16E0F6A-E945-4594-9F26-860DE57F0E74}" srcOrd="1" destOrd="0" presId="urn:microsoft.com/office/officeart/2005/8/layout/hProcess11"/>
    <dgm:cxn modelId="{9318FDDA-5874-4BCD-8C66-28D494E7BB80}" type="presParOf" srcId="{E9EB8E64-74BA-4036-8A09-D88AFC0ADE57}" destId="{9E6DFBC1-EAB3-42CD-9B57-CC79369CE6A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2FB15-C0D7-43CE-9B96-5FADD35792C5}">
      <dsp:nvSpPr>
        <dsp:cNvPr id="0" name=""/>
        <dsp:cNvSpPr/>
      </dsp:nvSpPr>
      <dsp:spPr>
        <a:xfrm>
          <a:off x="0" y="875867"/>
          <a:ext cx="10703283" cy="116782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AF734-668C-4626-B665-246D92263C84}">
      <dsp:nvSpPr>
        <dsp:cNvPr id="0" name=""/>
        <dsp:cNvSpPr/>
      </dsp:nvSpPr>
      <dsp:spPr>
        <a:xfrm>
          <a:off x="4703" y="0"/>
          <a:ext cx="3104370" cy="1167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i="0" kern="1200">
              <a:latin typeface="+mj-ea"/>
              <a:ea typeface="+mj-ea"/>
            </a:rPr>
            <a:t>架构（</a:t>
          </a:r>
          <a:r>
            <a:rPr lang="en-US" altLang="zh-CN" sz="1600" b="1" i="0" kern="1200">
              <a:latin typeface="+mj-ea"/>
              <a:ea typeface="+mj-ea"/>
            </a:rPr>
            <a:t>Architecture</a:t>
          </a:r>
          <a:r>
            <a:rPr lang="zh-CN" altLang="en-US" sz="1600" b="1" i="0" kern="1200">
              <a:latin typeface="+mj-ea"/>
              <a:ea typeface="+mj-ea"/>
            </a:rPr>
            <a:t>）</a:t>
          </a:r>
          <a:r>
            <a:rPr lang="zh-CN" altLang="en-US" sz="1600" b="0" i="0" kern="1200">
              <a:latin typeface="+mj-ea"/>
              <a:ea typeface="+mj-ea"/>
            </a:rPr>
            <a:t>：几乎清一色是 </a:t>
          </a:r>
          <a:r>
            <a:rPr lang="en-US" altLang="zh-CN" sz="1600" b="1" i="0" kern="1200">
              <a:latin typeface="+mj-ea"/>
              <a:ea typeface="+mj-ea"/>
            </a:rPr>
            <a:t>Decoder-only Transformer</a:t>
          </a:r>
          <a:r>
            <a:rPr lang="zh-CN" altLang="en-US" sz="1600" b="0" i="0" kern="1200">
              <a:latin typeface="+mj-ea"/>
              <a:ea typeface="+mj-ea"/>
            </a:rPr>
            <a:t>。这一步决定了</a:t>
          </a:r>
          <a:r>
            <a:rPr lang="en-US" altLang="zh-CN" sz="1600" b="0" i="0" kern="1200">
              <a:latin typeface="+mj-ea"/>
              <a:ea typeface="+mj-ea"/>
            </a:rPr>
            <a:t>"</a:t>
          </a:r>
          <a:r>
            <a:rPr lang="zh-CN" altLang="en-US" sz="1600" b="0" i="0" kern="1200">
              <a:latin typeface="+mj-ea"/>
              <a:ea typeface="+mj-ea"/>
            </a:rPr>
            <a:t>信息在模型内部如何流动</a:t>
          </a:r>
          <a:r>
            <a:rPr lang="en-US" altLang="zh-CN" sz="1600" b="0" i="0" kern="1200">
              <a:latin typeface="+mj-ea"/>
              <a:ea typeface="+mj-ea"/>
            </a:rPr>
            <a:t>"</a:t>
          </a:r>
          <a:r>
            <a:rPr lang="zh-CN" altLang="en-US" sz="1600" b="0" i="0" kern="1200">
              <a:latin typeface="+mj-ea"/>
              <a:ea typeface="+mj-ea"/>
            </a:rPr>
            <a:t>。</a:t>
          </a:r>
          <a:endParaRPr lang="zh-CN" altLang="en-US" sz="1600" kern="1200">
            <a:latin typeface="+mj-ea"/>
            <a:ea typeface="+mj-ea"/>
          </a:endParaRPr>
        </a:p>
      </dsp:txBody>
      <dsp:txXfrm>
        <a:off x="4703" y="0"/>
        <a:ext cx="3104370" cy="1167822"/>
      </dsp:txXfrm>
    </dsp:sp>
    <dsp:sp modelId="{AD5B88C1-9A0A-4B4F-8D18-54F718157661}">
      <dsp:nvSpPr>
        <dsp:cNvPr id="0" name=""/>
        <dsp:cNvSpPr/>
      </dsp:nvSpPr>
      <dsp:spPr>
        <a:xfrm>
          <a:off x="1410910" y="1313800"/>
          <a:ext cx="291955" cy="2919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DC52D-84CA-4C51-9896-017039287461}">
      <dsp:nvSpPr>
        <dsp:cNvPr id="0" name=""/>
        <dsp:cNvSpPr/>
      </dsp:nvSpPr>
      <dsp:spPr>
        <a:xfrm>
          <a:off x="3264292" y="1751734"/>
          <a:ext cx="3104370" cy="1167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i="0" kern="1200">
              <a:latin typeface="+mj-ea"/>
              <a:ea typeface="+mj-ea"/>
            </a:rPr>
            <a:t>预训练（</a:t>
          </a:r>
          <a:r>
            <a:rPr lang="en-US" altLang="zh-CN" sz="1600" b="1" i="0" kern="1200">
              <a:latin typeface="+mj-ea"/>
              <a:ea typeface="+mj-ea"/>
            </a:rPr>
            <a:t>Pre-training</a:t>
          </a:r>
          <a:r>
            <a:rPr lang="zh-CN" altLang="en-US" sz="1600" b="1" i="0" kern="1200">
              <a:latin typeface="+mj-ea"/>
              <a:ea typeface="+mj-ea"/>
            </a:rPr>
            <a:t>）</a:t>
          </a:r>
          <a:r>
            <a:rPr lang="zh-CN" altLang="en-US" sz="1600" b="0" i="0" kern="1200">
              <a:latin typeface="+mj-ea"/>
              <a:ea typeface="+mj-ea"/>
            </a:rPr>
            <a:t>：在海量无标注文本上做</a:t>
          </a:r>
          <a:r>
            <a:rPr lang="en-US" altLang="zh-CN" sz="1600" b="0" i="0" kern="1200">
              <a:latin typeface="+mj-ea"/>
              <a:ea typeface="+mj-ea"/>
            </a:rPr>
            <a:t>"</a:t>
          </a:r>
          <a:r>
            <a:rPr lang="zh-CN" altLang="en-US" sz="1600" b="0" i="0" kern="1200">
              <a:latin typeface="+mj-ea"/>
              <a:ea typeface="+mj-ea"/>
            </a:rPr>
            <a:t>预测下一个词</a:t>
          </a:r>
          <a:r>
            <a:rPr lang="en-US" altLang="zh-CN" sz="1600" b="0" i="0" kern="1200">
              <a:latin typeface="+mj-ea"/>
              <a:ea typeface="+mj-ea"/>
            </a:rPr>
            <a:t>"</a:t>
          </a:r>
          <a:r>
            <a:rPr lang="zh-CN" altLang="en-US" sz="1600" b="0" i="0" kern="1200">
              <a:latin typeface="+mj-ea"/>
              <a:ea typeface="+mj-ea"/>
            </a:rPr>
            <a:t>，让模型把语言规律、世界知识、推理模式压进参数里。产物是</a:t>
          </a:r>
          <a:r>
            <a:rPr lang="zh-CN" altLang="en-US" sz="1600" b="1" i="0" kern="1200">
              <a:latin typeface="+mj-ea"/>
              <a:ea typeface="+mj-ea"/>
            </a:rPr>
            <a:t>基座模型（</a:t>
          </a:r>
          <a:r>
            <a:rPr lang="en-US" altLang="zh-CN" sz="1600" b="1" i="0" kern="1200">
              <a:latin typeface="+mj-ea"/>
              <a:ea typeface="+mj-ea"/>
            </a:rPr>
            <a:t>Base Model</a:t>
          </a:r>
          <a:r>
            <a:rPr lang="zh-CN" altLang="en-US" sz="1600" b="1" i="0" kern="1200">
              <a:latin typeface="+mj-ea"/>
              <a:ea typeface="+mj-ea"/>
            </a:rPr>
            <a:t>）</a:t>
          </a:r>
          <a:r>
            <a:rPr lang="zh-CN" altLang="en-US" sz="1600" b="0" i="0" kern="1200">
              <a:latin typeface="+mj-ea"/>
              <a:ea typeface="+mj-ea"/>
            </a:rPr>
            <a:t>。</a:t>
          </a:r>
          <a:endParaRPr lang="zh-CN" altLang="en-US" sz="1600" kern="1200">
            <a:latin typeface="+mj-ea"/>
            <a:ea typeface="+mj-ea"/>
          </a:endParaRPr>
        </a:p>
      </dsp:txBody>
      <dsp:txXfrm>
        <a:off x="3264292" y="1751734"/>
        <a:ext cx="3104370" cy="1167822"/>
      </dsp:txXfrm>
    </dsp:sp>
    <dsp:sp modelId="{5DA8F55D-49EA-4534-AFE7-734776F802FC}">
      <dsp:nvSpPr>
        <dsp:cNvPr id="0" name=""/>
        <dsp:cNvSpPr/>
      </dsp:nvSpPr>
      <dsp:spPr>
        <a:xfrm>
          <a:off x="4670499" y="1313800"/>
          <a:ext cx="291955" cy="2919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09F0E-4DC9-4C9A-87CD-519895F4BD1A}">
      <dsp:nvSpPr>
        <dsp:cNvPr id="0" name=""/>
        <dsp:cNvSpPr/>
      </dsp:nvSpPr>
      <dsp:spPr>
        <a:xfrm>
          <a:off x="6523880" y="0"/>
          <a:ext cx="3104370" cy="1167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i="0" kern="1200">
              <a:latin typeface="+mj-ea"/>
              <a:ea typeface="+mj-ea"/>
            </a:rPr>
            <a:t>后训练（</a:t>
          </a:r>
          <a:r>
            <a:rPr lang="en-US" altLang="zh-CN" sz="1600" b="1" i="0" kern="1200">
              <a:latin typeface="+mj-ea"/>
              <a:ea typeface="+mj-ea"/>
            </a:rPr>
            <a:t>Post-training</a:t>
          </a:r>
          <a:r>
            <a:rPr lang="zh-CN" altLang="en-US" sz="1600" b="1" i="0" kern="1200">
              <a:latin typeface="+mj-ea"/>
              <a:ea typeface="+mj-ea"/>
            </a:rPr>
            <a:t>）</a:t>
          </a:r>
          <a:r>
            <a:rPr lang="zh-CN" altLang="en-US" sz="1600" b="0" i="0" kern="1200">
              <a:latin typeface="+mj-ea"/>
              <a:ea typeface="+mj-ea"/>
            </a:rPr>
            <a:t>：用 </a:t>
          </a:r>
          <a:r>
            <a:rPr lang="en-US" altLang="zh-CN" sz="1600" b="1" i="0" kern="1200">
              <a:latin typeface="+mj-ea"/>
              <a:ea typeface="+mj-ea"/>
            </a:rPr>
            <a:t>SFT</a:t>
          </a:r>
          <a:r>
            <a:rPr lang="zh-CN" altLang="en-US" sz="1600" b="1" i="0" kern="1200">
              <a:latin typeface="+mj-ea"/>
              <a:ea typeface="+mj-ea"/>
            </a:rPr>
            <a:t>、</a:t>
          </a:r>
          <a:r>
            <a:rPr lang="en-US" altLang="zh-CN" sz="1600" b="1" i="0" kern="1200">
              <a:latin typeface="+mj-ea"/>
              <a:ea typeface="+mj-ea"/>
            </a:rPr>
            <a:t>RLHF</a:t>
          </a:r>
          <a:r>
            <a:rPr lang="zh-CN" altLang="en-US" sz="1600" b="1" i="0" kern="1200">
              <a:latin typeface="+mj-ea"/>
              <a:ea typeface="+mj-ea"/>
            </a:rPr>
            <a:t>、</a:t>
          </a:r>
          <a:r>
            <a:rPr lang="en-US" altLang="zh-CN" sz="1600" b="1" i="0" kern="1200">
              <a:latin typeface="+mj-ea"/>
              <a:ea typeface="+mj-ea"/>
            </a:rPr>
            <a:t>RLVR </a:t>
          </a:r>
          <a:r>
            <a:rPr lang="zh-CN" altLang="en-US" sz="1600" b="0" i="0" kern="1200">
              <a:latin typeface="+mj-ea"/>
              <a:ea typeface="+mj-ea"/>
            </a:rPr>
            <a:t>等手段把基座模型训练成一个有特定风格的助手。产物是 </a:t>
          </a:r>
          <a:r>
            <a:rPr lang="zh-CN" altLang="en-US" sz="1600" b="1" i="0" kern="1200">
              <a:latin typeface="+mj-ea"/>
              <a:ea typeface="+mj-ea"/>
            </a:rPr>
            <a:t>对齐模型 </a:t>
          </a:r>
          <a:r>
            <a:rPr lang="en-US" altLang="zh-CN" sz="1600" b="1" i="0" kern="1200">
              <a:latin typeface="+mj-ea"/>
              <a:ea typeface="+mj-ea"/>
            </a:rPr>
            <a:t>/ Chat </a:t>
          </a:r>
          <a:r>
            <a:rPr lang="zh-CN" altLang="en-US" sz="1600" b="1" i="0" kern="1200">
              <a:latin typeface="+mj-ea"/>
              <a:ea typeface="+mj-ea"/>
            </a:rPr>
            <a:t>模型</a:t>
          </a:r>
          <a:r>
            <a:rPr lang="zh-CN" altLang="en-US" sz="1600" b="0" i="0" kern="1200">
              <a:latin typeface="+mj-ea"/>
              <a:ea typeface="+mj-ea"/>
            </a:rPr>
            <a:t>。</a:t>
          </a:r>
          <a:endParaRPr lang="zh-CN" altLang="en-US" sz="1600" kern="1200">
            <a:latin typeface="+mj-ea"/>
            <a:ea typeface="+mj-ea"/>
          </a:endParaRPr>
        </a:p>
      </dsp:txBody>
      <dsp:txXfrm>
        <a:off x="6523880" y="0"/>
        <a:ext cx="3104370" cy="1167822"/>
      </dsp:txXfrm>
    </dsp:sp>
    <dsp:sp modelId="{C16E0F6A-E945-4594-9F26-860DE57F0E74}">
      <dsp:nvSpPr>
        <dsp:cNvPr id="0" name=""/>
        <dsp:cNvSpPr/>
      </dsp:nvSpPr>
      <dsp:spPr>
        <a:xfrm>
          <a:off x="7930088" y="1313800"/>
          <a:ext cx="291955" cy="2919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F98C7-9395-4E9A-96EC-DE4C39432AA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64DB0-CCE3-4363-801A-A01AADC639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985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3E43-7FCE-134D-2F92-E861B7EA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F09C50-AB49-8CCC-6967-84DE4F80B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9A3248-D6E0-324C-D7A0-836585372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65C03E-607A-102F-CFC2-F94EE7991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57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9004-6664-6F73-EB8E-5FAC7D67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8E717D-7C97-15CD-3BA8-8CE0F71F5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317BC0-8DD7-03DD-194A-A553C9228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616CF3-58C2-3B28-06FB-312F494B0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229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4F9E-36AC-10F0-230C-C143F95E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E7452E-13B4-4280-C507-93BE0CA58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ACFA16-A815-4579-604C-8A698D9E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DFA183-189F-9BE2-960B-3650B1DD9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343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4F9E-36AC-10F0-230C-C143F95E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E7452E-13B4-4280-C507-93BE0CA58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ACFA16-A815-4579-604C-8A698D9E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DFA183-189F-9BE2-960B-3650B1DD9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397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6E09-EF81-974A-2798-37A11913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569DA3-A480-578C-A994-AE3C50E59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5A60F3-AB16-F070-A73E-755148BB7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86BA10-0414-CE62-9354-0ED14A7CE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916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416F7-4DE5-78A2-76CD-CFD874A6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47B9BF-3DB6-3CE0-673D-424BAEEBE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1F6A1C-F06C-85E5-6072-2C5AEB49F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193983-96CC-992E-E60C-807C70C9F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725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416F7-4DE5-78A2-76CD-CFD874A6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47B9BF-3DB6-3CE0-673D-424BAEEBE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1F6A1C-F06C-85E5-6072-2C5AEB49F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193983-96CC-992E-E60C-807C70C9F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413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051FA-43A7-106B-6377-40091A41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DE1767-617E-DD0D-6541-9EF8D91E0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3677EB-EBE7-42AA-0577-AACA2E7F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6A3D7D-69D2-83D3-835C-D45BE8FCA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087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051FA-43A7-106B-6377-40091A41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DE1767-617E-DD0D-6541-9EF8D91E0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3677EB-EBE7-42AA-0577-AACA2E7F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6A3D7D-69D2-83D3-835C-D45BE8FCA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141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051FA-43A7-106B-6377-40091A41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DE1767-617E-DD0D-6541-9EF8D91E0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3677EB-EBE7-42AA-0577-AACA2E7F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6A3D7D-69D2-83D3-835C-D45BE8FCA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846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7ACA-716D-BC77-6C46-16C2E693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40E0C9-58FB-6380-34AA-2FC5DEB06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136179-94C1-5634-1CCF-75630A966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5B1AFC-5C4D-5862-B3C3-F4141291A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506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1D1A-4780-5DE2-2E3E-FEF7C9A45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80394C-DD15-B62C-5531-6867CE249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826F40-4DDD-6136-2236-B53539BB8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7DA212-4D9E-45AC-3419-D6FED1989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42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1D1A-4780-5DE2-2E3E-FEF7C9A45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80394C-DD15-B62C-5531-6867CE249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826F40-4DDD-6136-2236-B53539BB8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7DA212-4D9E-45AC-3419-D6FED1989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04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71325" y="387275"/>
            <a:ext cx="324000" cy="3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9325" y="135275"/>
            <a:ext cx="252000" cy="25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1226675" y="6318000"/>
            <a:ext cx="540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50" y="6405438"/>
            <a:ext cx="1390650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1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4C821-51AF-415E-BF5B-CDCDE3466362}" type="datetime1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7BD29329-28B3-023D-B83C-5DCC93F7F0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61" y="-2854"/>
            <a:ext cx="12209861" cy="68580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A15BF7CC-BDA0-C5DD-5D47-6E9C24B0A1F8}"/>
              </a:ext>
            </a:extLst>
          </p:cNvPr>
          <p:cNvSpPr/>
          <p:nvPr/>
        </p:nvSpPr>
        <p:spPr>
          <a:xfrm>
            <a:off x="-17862" y="0"/>
            <a:ext cx="12209861" cy="686943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Group 2"/>
          <p:cNvGrpSpPr/>
          <p:nvPr/>
        </p:nvGrpSpPr>
        <p:grpSpPr>
          <a:xfrm>
            <a:off x="2812688" y="4623828"/>
            <a:ext cx="2631421" cy="441329"/>
            <a:chOff x="0" y="0"/>
            <a:chExt cx="1039574" cy="1743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9574" cy="174352"/>
            </a:xfrm>
            <a:custGeom>
              <a:avLst/>
              <a:gdLst/>
              <a:ahLst/>
              <a:cxnLst/>
              <a:rect l="l" t="t" r="r" b="b"/>
              <a:pathLst>
                <a:path w="1039574" h="174352">
                  <a:moveTo>
                    <a:pt x="87176" y="0"/>
                  </a:moveTo>
                  <a:lnTo>
                    <a:pt x="952398" y="0"/>
                  </a:lnTo>
                  <a:cubicBezTo>
                    <a:pt x="1000544" y="0"/>
                    <a:pt x="1039574" y="39030"/>
                    <a:pt x="1039574" y="87176"/>
                  </a:cubicBezTo>
                  <a:lnTo>
                    <a:pt x="1039574" y="87176"/>
                  </a:lnTo>
                  <a:cubicBezTo>
                    <a:pt x="1039574" y="135322"/>
                    <a:pt x="1000544" y="174352"/>
                    <a:pt x="952398" y="174352"/>
                  </a:cubicBezTo>
                  <a:lnTo>
                    <a:pt x="87176" y="174352"/>
                  </a:lnTo>
                  <a:cubicBezTo>
                    <a:pt x="39030" y="174352"/>
                    <a:pt x="0" y="135322"/>
                    <a:pt x="0" y="87176"/>
                  </a:cubicBezTo>
                  <a:lnTo>
                    <a:pt x="0" y="87176"/>
                  </a:lnTo>
                  <a:cubicBezTo>
                    <a:pt x="0" y="39030"/>
                    <a:pt x="39030" y="0"/>
                    <a:pt x="871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039574" cy="2315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1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74248" y="4623828"/>
            <a:ext cx="2631421" cy="441329"/>
            <a:chOff x="0" y="0"/>
            <a:chExt cx="1039574" cy="1743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9574" cy="174352"/>
            </a:xfrm>
            <a:custGeom>
              <a:avLst/>
              <a:gdLst/>
              <a:ahLst/>
              <a:cxnLst/>
              <a:rect l="l" t="t" r="r" b="b"/>
              <a:pathLst>
                <a:path w="1039574" h="174352">
                  <a:moveTo>
                    <a:pt x="87176" y="0"/>
                  </a:moveTo>
                  <a:lnTo>
                    <a:pt x="952398" y="0"/>
                  </a:lnTo>
                  <a:cubicBezTo>
                    <a:pt x="1000544" y="0"/>
                    <a:pt x="1039574" y="39030"/>
                    <a:pt x="1039574" y="87176"/>
                  </a:cubicBezTo>
                  <a:lnTo>
                    <a:pt x="1039574" y="87176"/>
                  </a:lnTo>
                  <a:cubicBezTo>
                    <a:pt x="1039574" y="135322"/>
                    <a:pt x="1000544" y="174352"/>
                    <a:pt x="952398" y="174352"/>
                  </a:cubicBezTo>
                  <a:lnTo>
                    <a:pt x="87176" y="174352"/>
                  </a:lnTo>
                  <a:cubicBezTo>
                    <a:pt x="39030" y="174352"/>
                    <a:pt x="0" y="135322"/>
                    <a:pt x="0" y="87176"/>
                  </a:cubicBezTo>
                  <a:lnTo>
                    <a:pt x="0" y="87176"/>
                  </a:lnTo>
                  <a:cubicBezTo>
                    <a:pt x="0" y="39030"/>
                    <a:pt x="39030" y="0"/>
                    <a:pt x="871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39574" cy="2315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1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91056" y="1473504"/>
            <a:ext cx="12774111" cy="3740398"/>
            <a:chOff x="0" y="0"/>
            <a:chExt cx="5046563" cy="1477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46563" cy="1477688"/>
            </a:xfrm>
            <a:custGeom>
              <a:avLst/>
              <a:gdLst/>
              <a:ahLst/>
              <a:cxnLst/>
              <a:rect l="l" t="t" r="r" b="b"/>
              <a:pathLst>
                <a:path w="5046563" h="1477688">
                  <a:moveTo>
                    <a:pt x="0" y="0"/>
                  </a:moveTo>
                  <a:lnTo>
                    <a:pt x="5046563" y="0"/>
                  </a:lnTo>
                  <a:lnTo>
                    <a:pt x="5046563" y="1477688"/>
                  </a:lnTo>
                  <a:lnTo>
                    <a:pt x="0" y="1477688"/>
                  </a:lnTo>
                  <a:close/>
                </a:path>
              </a:pathLst>
            </a:custGeom>
            <a:solidFill>
              <a:srgbClr val="04407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5046563" cy="156341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91056" y="5083337"/>
            <a:ext cx="12774111" cy="261129"/>
            <a:chOff x="0" y="0"/>
            <a:chExt cx="5046563" cy="103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46563" cy="103162"/>
            </a:xfrm>
            <a:custGeom>
              <a:avLst/>
              <a:gdLst/>
              <a:ahLst/>
              <a:cxnLst/>
              <a:rect l="l" t="t" r="r" b="b"/>
              <a:pathLst>
                <a:path w="5046563" h="103162">
                  <a:moveTo>
                    <a:pt x="0" y="0"/>
                  </a:moveTo>
                  <a:lnTo>
                    <a:pt x="5046563" y="0"/>
                  </a:lnTo>
                  <a:lnTo>
                    <a:pt x="5046563" y="103162"/>
                  </a:lnTo>
                  <a:lnTo>
                    <a:pt x="0" y="103162"/>
                  </a:lnTo>
                  <a:close/>
                </a:path>
              </a:pathLst>
            </a:custGeom>
            <a:solidFill>
              <a:srgbClr val="04407E">
                <a:alpha val="2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5046563" cy="1888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291056" y="1357290"/>
            <a:ext cx="12774111" cy="261129"/>
            <a:chOff x="0" y="0"/>
            <a:chExt cx="5046563" cy="1031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46563" cy="103162"/>
            </a:xfrm>
            <a:custGeom>
              <a:avLst/>
              <a:gdLst/>
              <a:ahLst/>
              <a:cxnLst/>
              <a:rect l="l" t="t" r="r" b="b"/>
              <a:pathLst>
                <a:path w="5046563" h="103162">
                  <a:moveTo>
                    <a:pt x="0" y="0"/>
                  </a:moveTo>
                  <a:lnTo>
                    <a:pt x="5046563" y="0"/>
                  </a:lnTo>
                  <a:lnTo>
                    <a:pt x="5046563" y="103162"/>
                  </a:lnTo>
                  <a:lnTo>
                    <a:pt x="0" y="103162"/>
                  </a:lnTo>
                  <a:close/>
                </a:path>
              </a:pathLst>
            </a:custGeom>
            <a:solidFill>
              <a:srgbClr val="04407E">
                <a:alpha val="2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5046563" cy="1888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29816" y="-197795"/>
            <a:ext cx="2532369" cy="253236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sp>
        <p:nvSpPr>
          <p:cNvPr id="20" name="Freeform 20"/>
          <p:cNvSpPr/>
          <p:nvPr/>
        </p:nvSpPr>
        <p:spPr>
          <a:xfrm>
            <a:off x="5098012" y="704055"/>
            <a:ext cx="2072177" cy="1319507"/>
          </a:xfrm>
          <a:custGeom>
            <a:avLst/>
            <a:gdLst/>
            <a:ahLst/>
            <a:cxnLst/>
            <a:rect l="l" t="t" r="r" b="b"/>
            <a:pathLst>
              <a:path w="3108265" h="1979261">
                <a:moveTo>
                  <a:pt x="0" y="0"/>
                </a:moveTo>
                <a:lnTo>
                  <a:pt x="3108264" y="0"/>
                </a:lnTo>
                <a:lnTo>
                  <a:pt x="3108264" y="1979261"/>
                </a:lnTo>
                <a:lnTo>
                  <a:pt x="0" y="197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128398" y="2727617"/>
            <a:ext cx="1100356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zh-CN" sz="4800" b="1">
                <a:solidFill>
                  <a:schemeClr val="bg1"/>
                </a:solidFill>
                <a:latin typeface="Segoe UI"/>
                <a:ea typeface="Microsoft YaHei"/>
                <a:cs typeface="Segoe UI"/>
              </a:rPr>
              <a:t>大模型如何工作</a:t>
            </a:r>
            <a:endParaRPr lang="zh-CN" altLang="zh-CN" sz="4800" b="1" dirty="0">
              <a:solidFill>
                <a:schemeClr val="bg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841121" y="5500710"/>
            <a:ext cx="270916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altLang="zh-CN" sz="2000" b="1" spc="176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思源宋体 Semi-Bold"/>
                <a:sym typeface="思源宋体 Semi-Bold"/>
              </a:rPr>
              <a:t>2026-7-7</a:t>
            </a:r>
            <a:endParaRPr lang="en-US" sz="2000" b="1" spc="176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思源宋体 Semi-Bold"/>
              <a:sym typeface="思源宋体 Semi-Bold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5568A04-2BD1-C5EA-E0A6-5A44E250184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05" y="287362"/>
            <a:ext cx="3301829" cy="972457"/>
          </a:xfrm>
          <a:prstGeom prst="rect">
            <a:avLst/>
          </a:prstGeom>
        </p:spPr>
      </p:pic>
      <p:sp>
        <p:nvSpPr>
          <p:cNvPr id="29" name="Freeform 5">
            <a:extLst>
              <a:ext uri="{FF2B5EF4-FFF2-40B4-BE49-F238E27FC236}">
                <a16:creationId xmlns:a16="http://schemas.microsoft.com/office/drawing/2014/main" id="{4C6CE652-00AA-46A9-C18F-9D4474458FEF}"/>
              </a:ext>
            </a:extLst>
          </p:cNvPr>
          <p:cNvSpPr>
            <a:spLocks noEditPoints="1"/>
          </p:cNvSpPr>
          <p:nvPr/>
        </p:nvSpPr>
        <p:spPr bwMode="auto">
          <a:xfrm>
            <a:off x="11358564" y="4336484"/>
            <a:ext cx="555624" cy="489478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69A7D4D-5849-C47C-6F2B-68ABA4BEE241}"/>
              </a:ext>
            </a:extLst>
          </p:cNvPr>
          <p:cNvSpPr txBox="1"/>
          <p:nvPr/>
        </p:nvSpPr>
        <p:spPr>
          <a:xfrm>
            <a:off x="2279125" y="3824868"/>
            <a:ext cx="10058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zh-CN" sz="3600" b="1">
                <a:solidFill>
                  <a:schemeClr val="bg1"/>
                </a:solidFill>
                <a:latin typeface="Segoe UI"/>
                <a:ea typeface="Microsoft YaHei"/>
                <a:cs typeface="Segoe UI"/>
              </a:rPr>
              <a:t>从 Transformer 注意力机制到预训练范式</a:t>
            </a:r>
            <a:endParaRPr lang="zh-CN" altLang="zh-CN" sz="3600" b="1" dirty="0">
              <a:solidFill>
                <a:schemeClr val="bg1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0BEC-63E6-68C4-7EF9-AFF0983F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4722795F-6CB7-9833-7F53-00B976D463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4" b="51527"/>
          <a:stretch/>
        </p:blipFill>
        <p:spPr>
          <a:xfrm>
            <a:off x="0" y="4610027"/>
            <a:ext cx="12209861" cy="224797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9739553-2086-1AA5-5BAB-DCA455A0A032}"/>
              </a:ext>
            </a:extLst>
          </p:cNvPr>
          <p:cNvSpPr/>
          <p:nvPr/>
        </p:nvSpPr>
        <p:spPr>
          <a:xfrm>
            <a:off x="0" y="0"/>
            <a:ext cx="12209861" cy="686943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B45E198-F7CA-BED7-EE55-223D0EF4F85A}"/>
              </a:ext>
            </a:extLst>
          </p:cNvPr>
          <p:cNvGrpSpPr/>
          <p:nvPr/>
        </p:nvGrpSpPr>
        <p:grpSpPr>
          <a:xfrm>
            <a:off x="-17865" y="1270600"/>
            <a:ext cx="12333689" cy="3640867"/>
            <a:chOff x="0" y="0"/>
            <a:chExt cx="4816593" cy="14383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578DBD-8262-15E7-649C-80DEBC7FF056}"/>
                </a:ext>
              </a:extLst>
            </p:cNvPr>
            <p:cNvSpPr/>
            <p:nvPr/>
          </p:nvSpPr>
          <p:spPr>
            <a:xfrm>
              <a:off x="0" y="0"/>
              <a:ext cx="4816592" cy="1438367"/>
            </a:xfrm>
            <a:custGeom>
              <a:avLst/>
              <a:gdLst/>
              <a:ahLst/>
              <a:cxnLst/>
              <a:rect l="l" t="t" r="r" b="b"/>
              <a:pathLst>
                <a:path w="4816592" h="1438367">
                  <a:moveTo>
                    <a:pt x="0" y="0"/>
                  </a:moveTo>
                  <a:lnTo>
                    <a:pt x="4816592" y="0"/>
                  </a:lnTo>
                  <a:lnTo>
                    <a:pt x="4816592" y="1438367"/>
                  </a:lnTo>
                  <a:lnTo>
                    <a:pt x="0" y="1438367"/>
                  </a:lnTo>
                  <a:close/>
                </a:path>
              </a:pathLst>
            </a:custGeom>
            <a:solidFill>
              <a:srgbClr val="04407E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6BEEA6D-0E96-EE65-6514-0F074A2D1882}"/>
                </a:ext>
              </a:extLst>
            </p:cNvPr>
            <p:cNvSpPr txBox="1"/>
            <p:nvPr/>
          </p:nvSpPr>
          <p:spPr>
            <a:xfrm>
              <a:off x="0" y="-85725"/>
              <a:ext cx="4816593" cy="15240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9938F33-E555-BCD0-08A4-A5F2F20201B7}"/>
              </a:ext>
            </a:extLst>
          </p:cNvPr>
          <p:cNvGrpSpPr/>
          <p:nvPr/>
        </p:nvGrpSpPr>
        <p:grpSpPr>
          <a:xfrm>
            <a:off x="5020422" y="336542"/>
            <a:ext cx="1868115" cy="186811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AF1748-E396-E760-D641-6C596487C25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4BC9247-0FC7-34F0-B37D-1ABC377B752A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A4C68A5-635C-4473-E617-10F86301FE08}"/>
              </a:ext>
            </a:extLst>
          </p:cNvPr>
          <p:cNvGrpSpPr/>
          <p:nvPr/>
        </p:nvGrpSpPr>
        <p:grpSpPr>
          <a:xfrm>
            <a:off x="5113284" y="423246"/>
            <a:ext cx="1694707" cy="169470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778ADB4-1E10-A615-8E2B-979B670E9E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407E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5666EE9-060F-46E3-7B82-C7D71076934E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2A11927-C4C0-7582-C240-9DB71D1F09B8}"/>
              </a:ext>
            </a:extLst>
          </p:cNvPr>
          <p:cNvSpPr/>
          <p:nvPr/>
        </p:nvSpPr>
        <p:spPr>
          <a:xfrm>
            <a:off x="4953895" y="684033"/>
            <a:ext cx="2001170" cy="1274292"/>
          </a:xfrm>
          <a:custGeom>
            <a:avLst/>
            <a:gdLst/>
            <a:ahLst/>
            <a:cxnLst/>
            <a:rect l="l" t="t" r="r" b="b"/>
            <a:pathLst>
              <a:path w="3001755" h="1911438">
                <a:moveTo>
                  <a:pt x="0" y="0"/>
                </a:moveTo>
                <a:lnTo>
                  <a:pt x="3001754" y="0"/>
                </a:lnTo>
                <a:lnTo>
                  <a:pt x="3001754" y="1911438"/>
                </a:lnTo>
                <a:lnTo>
                  <a:pt x="0" y="191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723661-5E84-D1CF-A82E-70B8520FC667}"/>
              </a:ext>
            </a:extLst>
          </p:cNvPr>
          <p:cNvSpPr txBox="1"/>
          <p:nvPr/>
        </p:nvSpPr>
        <p:spPr>
          <a:xfrm>
            <a:off x="894854" y="2581810"/>
            <a:ext cx="10366564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1"/>
              </a:lnSpc>
              <a:spcBef>
                <a:spcPct val="0"/>
              </a:spcBef>
            </a:pPr>
            <a:r>
              <a:rPr lang="zh-CN" altLang="en-US" sz="8334" b="1">
                <a:solidFill>
                  <a:srgbClr val="FFFFFF"/>
                </a:solidFill>
                <a:latin typeface="思源宋体 Bold"/>
                <a:ea typeface="思源宋体 Bold"/>
                <a:cs typeface="思源宋体 Bold"/>
                <a:sym typeface="思源宋体 Bold"/>
              </a:rPr>
              <a:t>技术主线</a:t>
            </a:r>
            <a:endParaRPr lang="en-US" altLang="zh-CN" sz="8334" b="1">
              <a:solidFill>
                <a:srgbClr val="FFFFFF"/>
              </a:solidFill>
              <a:latin typeface="思源宋体 Bold"/>
              <a:ea typeface="思源宋体 Bold"/>
              <a:cs typeface="思源宋体 Bold"/>
              <a:sym typeface="思源宋体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732A087-B06F-F169-2CA2-B43EAA5584B6}"/>
              </a:ext>
            </a:extLst>
          </p:cNvPr>
          <p:cNvSpPr txBox="1"/>
          <p:nvPr/>
        </p:nvSpPr>
        <p:spPr>
          <a:xfrm>
            <a:off x="5228427" y="677683"/>
            <a:ext cx="1518593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2"/>
              </a:lnSpc>
            </a:pPr>
            <a:r>
              <a:rPr lang="en-US" sz="7176" b="1">
                <a:solidFill>
                  <a:srgbClr val="FFFFFF"/>
                </a:solidFill>
                <a:latin typeface="思源宋体 Heavy"/>
                <a:ea typeface="思源宋体 Heavy"/>
                <a:cs typeface="思源宋体 Heavy"/>
                <a:sym typeface="思源宋体 Heavy"/>
              </a:rPr>
              <a:t>01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375F1BE-24B5-B715-85A9-BBAE0CFC1DF4}"/>
              </a:ext>
            </a:extLst>
          </p:cNvPr>
          <p:cNvGrpSpPr/>
          <p:nvPr/>
        </p:nvGrpSpPr>
        <p:grpSpPr>
          <a:xfrm>
            <a:off x="-308920" y="4779201"/>
            <a:ext cx="12774111" cy="264531"/>
            <a:chOff x="0" y="0"/>
            <a:chExt cx="5046563" cy="10450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3082F4B-9CC0-F197-B927-BDC3E7675846}"/>
                </a:ext>
              </a:extLst>
            </p:cNvPr>
            <p:cNvSpPr/>
            <p:nvPr/>
          </p:nvSpPr>
          <p:spPr>
            <a:xfrm>
              <a:off x="0" y="0"/>
              <a:ext cx="5046563" cy="104506"/>
            </a:xfrm>
            <a:custGeom>
              <a:avLst/>
              <a:gdLst/>
              <a:ahLst/>
              <a:cxnLst/>
              <a:rect l="l" t="t" r="r" b="b"/>
              <a:pathLst>
                <a:path w="5046563" h="104506">
                  <a:moveTo>
                    <a:pt x="0" y="0"/>
                  </a:moveTo>
                  <a:lnTo>
                    <a:pt x="5046563" y="0"/>
                  </a:lnTo>
                  <a:lnTo>
                    <a:pt x="5046563" y="104506"/>
                  </a:lnTo>
                  <a:lnTo>
                    <a:pt x="0" y="104506"/>
                  </a:lnTo>
                  <a:close/>
                </a:path>
              </a:pathLst>
            </a:custGeom>
            <a:solidFill>
              <a:srgbClr val="04407E">
                <a:alpha val="29804"/>
              </a:srgbClr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FB28F4B0-CC91-06DE-CE5A-F8BC26C33FA0}"/>
                </a:ext>
              </a:extLst>
            </p:cNvPr>
            <p:cNvSpPr txBox="1"/>
            <p:nvPr/>
          </p:nvSpPr>
          <p:spPr>
            <a:xfrm>
              <a:off x="0" y="-85725"/>
              <a:ext cx="5046563" cy="19023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47F27E3E-1826-9F66-E1D9-C9ED03C0F5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3" y="81152"/>
            <a:ext cx="3301829" cy="9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59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8885-1299-5DBE-CA45-6BFB59A5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1E06F9E7-0883-1B44-B564-D5E1E45604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2809" y="1295638"/>
            <a:ext cx="5883078" cy="478298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AC143CCB-0B27-2B9F-C206-9A33228CF86E}"/>
              </a:ext>
            </a:extLst>
          </p:cNvPr>
          <p:cNvSpPr/>
          <p:nvPr/>
        </p:nvSpPr>
        <p:spPr>
          <a:xfrm>
            <a:off x="5882702" y="1062266"/>
            <a:ext cx="6309298" cy="5070679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7E225-99D8-B6A1-A1C6-FABB035D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B8FB611-6552-0A06-87CF-6910B5487B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0CBB8904-F499-14C0-F607-6DE837558037}"/>
              </a:ext>
            </a:extLst>
          </p:cNvPr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</a:rPr>
              <a:t>技术主线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grpSp>
        <p:nvGrpSpPr>
          <p:cNvPr id="8" name="Group 16">
            <a:extLst>
              <a:ext uri="{FF2B5EF4-FFF2-40B4-BE49-F238E27FC236}">
                <a16:creationId xmlns:a16="http://schemas.microsoft.com/office/drawing/2014/main" id="{36EBF4A8-A371-493B-8BF7-FCBB364A8233}"/>
              </a:ext>
            </a:extLst>
          </p:cNvPr>
          <p:cNvGrpSpPr/>
          <p:nvPr/>
        </p:nvGrpSpPr>
        <p:grpSpPr>
          <a:xfrm>
            <a:off x="952500" y="1714500"/>
            <a:ext cx="3308640" cy="4000500"/>
            <a:chOff x="952500" y="1714500"/>
            <a:chExt cx="3308640" cy="4000500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E42C88-2F82-4122-B009-120062DA35D9}"/>
                </a:ext>
              </a:extLst>
            </p:cNvPr>
            <p:cNvSpPr/>
            <p:nvPr/>
          </p:nvSpPr>
          <p:spPr>
            <a:xfrm>
              <a:off x="952500" y="1714500"/>
              <a:ext cx="3238500" cy="400050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AA251865-7707-41BA-9612-7613D6AE1628}"/>
                </a:ext>
              </a:extLst>
            </p:cNvPr>
            <p:cNvSpPr/>
            <p:nvPr/>
          </p:nvSpPr>
          <p:spPr>
            <a:xfrm>
              <a:off x="952500" y="1714500"/>
              <a:ext cx="3238500" cy="571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BCB61B35-66D4-4EE8-978C-A9BBFAB4E170}"/>
                </a:ext>
              </a:extLst>
            </p:cNvPr>
            <p:cNvSpPr txBox="1"/>
            <p:nvPr/>
          </p:nvSpPr>
          <p:spPr>
            <a:xfrm>
              <a:off x="1314450" y="1863090"/>
              <a:ext cx="11576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A3A5C">
                      <a:alphaMod val="15000"/>
                    </a:srgbClr>
                  </a:solidFill>
                  <a:latin typeface="Segoe UI"/>
                  <a:ea typeface="Segoe UI"/>
                  <a:cs typeface="Segoe UI"/>
                </a:rPr>
                <a:t>1.1</a:t>
              </a: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7BBC126C-89E5-497F-B2B3-329A2EF4AAF0}"/>
                </a:ext>
              </a:extLst>
            </p:cNvPr>
            <p:cNvSpPr/>
            <p:nvPr/>
          </p:nvSpPr>
          <p:spPr>
            <a:xfrm>
              <a:off x="1359694" y="2693194"/>
              <a:ext cx="366712" cy="366712"/>
            </a:xfrm>
            <a:custGeom>
              <a:avLst/>
              <a:gdLst/>
              <a:ahLst/>
              <a:cxnLst/>
              <a:rect l="l" t="t" r="r" b="b"/>
              <a:pathLst>
                <a:path w="366712" h="366712">
                  <a:moveTo>
                    <a:pt x="157162" y="0"/>
                  </a:moveTo>
                  <a:lnTo>
                    <a:pt x="78581" y="0"/>
                  </a:lnTo>
                  <a:lnTo>
                    <a:pt x="0" y="130969"/>
                  </a:lnTo>
                  <a:lnTo>
                    <a:pt x="0" y="366712"/>
                  </a:lnTo>
                  <a:lnTo>
                    <a:pt x="366712" y="366712"/>
                  </a:lnTo>
                  <a:lnTo>
                    <a:pt x="366712" y="130969"/>
                  </a:lnTo>
                  <a:lnTo>
                    <a:pt x="288131" y="0"/>
                  </a:lnTo>
                  <a:lnTo>
                    <a:pt x="209550" y="0"/>
                  </a:lnTo>
                  <a:lnTo>
                    <a:pt x="209550" y="130969"/>
                  </a:lnTo>
                  <a:lnTo>
                    <a:pt x="157162" y="130969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550B5261-28D3-42C1-90A3-D5723324ED60}"/>
                </a:ext>
              </a:extLst>
            </p:cNvPr>
            <p:cNvSpPr txBox="1"/>
            <p:nvPr/>
          </p:nvSpPr>
          <p:spPr>
            <a:xfrm>
              <a:off x="1321308" y="3093720"/>
              <a:ext cx="29398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Transformer 架构</a:t>
              </a:r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BA831E4F-E094-436A-BDEF-9915D5D8C950}"/>
                </a:ext>
              </a:extLst>
            </p:cNvPr>
            <p:cNvSpPr txBox="1"/>
            <p:nvPr/>
          </p:nvSpPr>
          <p:spPr>
            <a:xfrm>
              <a:off x="1325118" y="3584258"/>
              <a:ext cx="2555245" cy="761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注意力机制</a:t>
              </a:r>
              <a:r>
                <a:rPr 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如何让</a:t>
              </a:r>
              <a:r>
                <a:rPr lang="zh-CN" alt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token之间直接对话</a:t>
              </a:r>
            </a:p>
            <a:p>
              <a:pPr algn="l"/>
              <a:endParaRPr lang="zh-CN" sz="1650" dirty="0">
                <a:solidFill>
                  <a:srgbClr val="5A6A7E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C8C9E661-B2F3-487C-9F4C-4D255D1AF4E2}"/>
                </a:ext>
              </a:extLst>
            </p:cNvPr>
            <p:cNvSpPr txBox="1"/>
            <p:nvPr/>
          </p:nvSpPr>
          <p:spPr>
            <a:xfrm>
              <a:off x="1325118" y="4272436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信息如何流动</a:t>
              </a:r>
            </a:p>
          </p:txBody>
        </p: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D8A5CE59-0680-4275-B19E-7547BE5DEF2C}"/>
                </a:ext>
              </a:extLst>
            </p:cNvPr>
            <p:cNvSpPr txBox="1"/>
            <p:nvPr/>
          </p:nvSpPr>
          <p:spPr>
            <a:xfrm>
              <a:off x="1325118" y="4705824"/>
              <a:ext cx="29080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为何 Decoder-only 一统天下</a:t>
              </a:r>
            </a:p>
          </p:txBody>
        </p:sp>
      </p:grpSp>
      <p:grpSp>
        <p:nvGrpSpPr>
          <p:cNvPr id="18" name="Group 30">
            <a:extLst>
              <a:ext uri="{FF2B5EF4-FFF2-40B4-BE49-F238E27FC236}">
                <a16:creationId xmlns:a16="http://schemas.microsoft.com/office/drawing/2014/main" id="{1E05098B-0093-4A12-B976-8688921E7BF0}"/>
              </a:ext>
            </a:extLst>
          </p:cNvPr>
          <p:cNvGrpSpPr/>
          <p:nvPr/>
        </p:nvGrpSpPr>
        <p:grpSpPr>
          <a:xfrm>
            <a:off x="4476750" y="1714500"/>
            <a:ext cx="3238500" cy="4000500"/>
            <a:chOff x="4476750" y="1714500"/>
            <a:chExt cx="3238500" cy="4000500"/>
          </a:xfrm>
        </p:grpSpPr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9ED7066C-E46C-43DF-9664-83ED86D35FF6}"/>
                </a:ext>
              </a:extLst>
            </p:cNvPr>
            <p:cNvSpPr/>
            <p:nvPr/>
          </p:nvSpPr>
          <p:spPr>
            <a:xfrm>
              <a:off x="4476750" y="1714500"/>
              <a:ext cx="3238500" cy="400050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9FE947E0-AA1A-4F48-934B-DB9A39CEE4C0}"/>
                </a:ext>
              </a:extLst>
            </p:cNvPr>
            <p:cNvSpPr/>
            <p:nvPr/>
          </p:nvSpPr>
          <p:spPr>
            <a:xfrm>
              <a:off x="4476750" y="1714500"/>
              <a:ext cx="3238500" cy="5715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6944E871-5AD0-4715-80E4-3089DE35FB4F}"/>
                </a:ext>
              </a:extLst>
            </p:cNvPr>
            <p:cNvSpPr txBox="1"/>
            <p:nvPr/>
          </p:nvSpPr>
          <p:spPr>
            <a:xfrm>
              <a:off x="4838700" y="1863090"/>
              <a:ext cx="11576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2B6CB0">
                      <a:alphaMod val="15000"/>
                    </a:srgbClr>
                  </a:solidFill>
                  <a:latin typeface="Segoe UI"/>
                  <a:ea typeface="Segoe UI"/>
                  <a:cs typeface="Segoe UI"/>
                </a:rPr>
                <a:t>1.2</a:t>
              </a:r>
            </a:p>
          </p:txBody>
        </p:sp>
        <p:grpSp>
          <p:nvGrpSpPr>
            <p:cNvPr id="23" name="Group 24">
              <a:extLst>
                <a:ext uri="{FF2B5EF4-FFF2-40B4-BE49-F238E27FC236}">
                  <a16:creationId xmlns:a16="http://schemas.microsoft.com/office/drawing/2014/main" id="{C51FB0BA-A53A-4331-A20A-8AD2CBF4C212}"/>
                </a:ext>
              </a:extLst>
            </p:cNvPr>
            <p:cNvGrpSpPr/>
            <p:nvPr/>
          </p:nvGrpSpPr>
          <p:grpSpPr>
            <a:xfrm>
              <a:off x="4883944" y="2693194"/>
              <a:ext cx="366712" cy="366713"/>
              <a:chOff x="4883944" y="2693194"/>
              <a:chExt cx="366712" cy="366713"/>
            </a:xfrm>
          </p:grpSpPr>
          <p:sp>
            <p:nvSpPr>
              <p:cNvPr id="32" name="Freeform 20">
                <a:extLst>
                  <a:ext uri="{FF2B5EF4-FFF2-40B4-BE49-F238E27FC236}">
                    <a16:creationId xmlns:a16="http://schemas.microsoft.com/office/drawing/2014/main" id="{8C7ED1EE-847F-40DA-B92E-2F4B87D1F979}"/>
                  </a:ext>
                </a:extLst>
              </p:cNvPr>
              <p:cNvSpPr/>
              <p:nvPr/>
            </p:nvSpPr>
            <p:spPr>
              <a:xfrm>
                <a:off x="4936331" y="2693194"/>
                <a:ext cx="26193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52388">
                    <a:moveTo>
                      <a:pt x="261938" y="0"/>
                    </a:moveTo>
                    <a:lnTo>
                      <a:pt x="0" y="0"/>
                    </a:lnTo>
                    <a:lnTo>
                      <a:pt x="0" y="52388"/>
                    </a:lnTo>
                    <a:lnTo>
                      <a:pt x="261938" y="52388"/>
                    </a:lnTo>
                    <a:lnTo>
                      <a:pt x="261938" y="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33" name="Freeform 21">
                <a:extLst>
                  <a:ext uri="{FF2B5EF4-FFF2-40B4-BE49-F238E27FC236}">
                    <a16:creationId xmlns:a16="http://schemas.microsoft.com/office/drawing/2014/main" id="{007BF170-0831-47F6-A3F6-2ADA18FD966D}"/>
                  </a:ext>
                </a:extLst>
              </p:cNvPr>
              <p:cNvSpPr/>
              <p:nvPr/>
            </p:nvSpPr>
            <p:spPr>
              <a:xfrm>
                <a:off x="4883944" y="2797969"/>
                <a:ext cx="3667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52388">
                    <a:moveTo>
                      <a:pt x="0" y="0"/>
                    </a:moveTo>
                    <a:lnTo>
                      <a:pt x="366712" y="0"/>
                    </a:lnTo>
                    <a:lnTo>
                      <a:pt x="366712" y="52388"/>
                    </a:lnTo>
                    <a:lnTo>
                      <a:pt x="0" y="523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34" name="Freeform 22">
                <a:extLst>
                  <a:ext uri="{FF2B5EF4-FFF2-40B4-BE49-F238E27FC236}">
                    <a16:creationId xmlns:a16="http://schemas.microsoft.com/office/drawing/2014/main" id="{76E0EC55-D9AE-45BF-B376-3837397EB425}"/>
                  </a:ext>
                </a:extLst>
              </p:cNvPr>
              <p:cNvSpPr/>
              <p:nvPr/>
            </p:nvSpPr>
            <p:spPr>
              <a:xfrm>
                <a:off x="4936331" y="2902744"/>
                <a:ext cx="26193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52388">
                    <a:moveTo>
                      <a:pt x="261938" y="0"/>
                    </a:moveTo>
                    <a:lnTo>
                      <a:pt x="0" y="0"/>
                    </a:lnTo>
                    <a:lnTo>
                      <a:pt x="0" y="52388"/>
                    </a:lnTo>
                    <a:lnTo>
                      <a:pt x="261938" y="52388"/>
                    </a:lnTo>
                    <a:lnTo>
                      <a:pt x="261938" y="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35" name="Freeform 23">
                <a:extLst>
                  <a:ext uri="{FF2B5EF4-FFF2-40B4-BE49-F238E27FC236}">
                    <a16:creationId xmlns:a16="http://schemas.microsoft.com/office/drawing/2014/main" id="{E1492B1D-9A66-4DF4-A69F-98C37991BD7E}"/>
                  </a:ext>
                </a:extLst>
              </p:cNvPr>
              <p:cNvSpPr/>
              <p:nvPr/>
            </p:nvSpPr>
            <p:spPr>
              <a:xfrm>
                <a:off x="4883944" y="3007519"/>
                <a:ext cx="3667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52388">
                    <a:moveTo>
                      <a:pt x="366712" y="0"/>
                    </a:moveTo>
                    <a:lnTo>
                      <a:pt x="0" y="0"/>
                    </a:lnTo>
                    <a:lnTo>
                      <a:pt x="0" y="52388"/>
                    </a:lnTo>
                    <a:lnTo>
                      <a:pt x="366712" y="52388"/>
                    </a:lnTo>
                    <a:lnTo>
                      <a:pt x="366712" y="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</p:grpSp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AB38AC7C-DF92-4A12-ABE5-C66FEC93DF66}"/>
                </a:ext>
              </a:extLst>
            </p:cNvPr>
            <p:cNvSpPr txBox="1"/>
            <p:nvPr/>
          </p:nvSpPr>
          <p:spPr>
            <a:xfrm>
              <a:off x="4845558" y="3093720"/>
              <a:ext cx="2837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B6CB0"/>
                  </a:solidFill>
                  <a:latin typeface="Segoe UI"/>
                  <a:ea typeface="Microsoft YaHei"/>
                  <a:cs typeface="Segoe UI"/>
                </a:rPr>
                <a:t>Token 化 &amp; 上下文</a:t>
              </a:r>
            </a:p>
          </p:txBody>
        </p:sp>
        <p:sp>
          <p:nvSpPr>
            <p:cNvPr id="25" name="TextBox 26">
              <a:extLst>
                <a:ext uri="{FF2B5EF4-FFF2-40B4-BE49-F238E27FC236}">
                  <a16:creationId xmlns:a16="http://schemas.microsoft.com/office/drawing/2014/main" id="{EAE31243-6C4C-4DE3-BEAA-CA999D9BD1F0}"/>
                </a:ext>
              </a:extLst>
            </p:cNvPr>
            <p:cNvSpPr txBox="1"/>
            <p:nvPr/>
          </p:nvSpPr>
          <p:spPr>
            <a:xfrm>
              <a:off x="4849368" y="3748567"/>
              <a:ext cx="16927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模型如何阅读文字</a:t>
              </a:r>
              <a:endParaRPr lang="zh-CN" sz="1650" dirty="0">
                <a:solidFill>
                  <a:srgbClr val="5A6A7E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0" name="TextBox 28">
              <a:extLst>
                <a:ext uri="{FF2B5EF4-FFF2-40B4-BE49-F238E27FC236}">
                  <a16:creationId xmlns:a16="http://schemas.microsoft.com/office/drawing/2014/main" id="{95D8851D-6621-4428-BAF3-0E46AE8D49B0}"/>
                </a:ext>
              </a:extLst>
            </p:cNvPr>
            <p:cNvSpPr txBox="1"/>
            <p:nvPr/>
          </p:nvSpPr>
          <p:spPr>
            <a:xfrm>
              <a:off x="4849368" y="4251004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上下文窗口的边界</a:t>
              </a:r>
            </a:p>
          </p:txBody>
        </p:sp>
        <p:sp>
          <p:nvSpPr>
            <p:cNvPr id="31" name="TextBox 29">
              <a:extLst>
                <a:ext uri="{FF2B5EF4-FFF2-40B4-BE49-F238E27FC236}">
                  <a16:creationId xmlns:a16="http://schemas.microsoft.com/office/drawing/2014/main" id="{1E254829-8646-406C-B4C7-43F5F617D195}"/>
                </a:ext>
              </a:extLst>
            </p:cNvPr>
            <p:cNvSpPr txBox="1"/>
            <p:nvPr/>
          </p:nvSpPr>
          <p:spPr>
            <a:xfrm>
              <a:off x="4849368" y="477011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「中间遗忘」现象</a:t>
              </a:r>
            </a:p>
          </p:txBody>
        </p:sp>
      </p:grpSp>
      <p:grpSp>
        <p:nvGrpSpPr>
          <p:cNvPr id="36" name="Group 43">
            <a:extLst>
              <a:ext uri="{FF2B5EF4-FFF2-40B4-BE49-F238E27FC236}">
                <a16:creationId xmlns:a16="http://schemas.microsoft.com/office/drawing/2014/main" id="{706E6D70-B4A6-4722-A4EB-D3DBBF516252}"/>
              </a:ext>
            </a:extLst>
          </p:cNvPr>
          <p:cNvGrpSpPr/>
          <p:nvPr/>
        </p:nvGrpSpPr>
        <p:grpSpPr>
          <a:xfrm>
            <a:off x="8001000" y="1714500"/>
            <a:ext cx="3238500" cy="4000500"/>
            <a:chOff x="8001000" y="1714500"/>
            <a:chExt cx="3238500" cy="4000500"/>
          </a:xfrm>
        </p:grpSpPr>
        <p:sp>
          <p:nvSpPr>
            <p:cNvPr id="37" name="Rectangle 31">
              <a:extLst>
                <a:ext uri="{FF2B5EF4-FFF2-40B4-BE49-F238E27FC236}">
                  <a16:creationId xmlns:a16="http://schemas.microsoft.com/office/drawing/2014/main" id="{45E42E9C-DCF0-4F32-B82B-0D2D5B3EF792}"/>
                </a:ext>
              </a:extLst>
            </p:cNvPr>
            <p:cNvSpPr/>
            <p:nvPr/>
          </p:nvSpPr>
          <p:spPr>
            <a:xfrm>
              <a:off x="8001000" y="1714500"/>
              <a:ext cx="3238500" cy="400050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38" name="Rectangle 32">
              <a:extLst>
                <a:ext uri="{FF2B5EF4-FFF2-40B4-BE49-F238E27FC236}">
                  <a16:creationId xmlns:a16="http://schemas.microsoft.com/office/drawing/2014/main" id="{6C2B98B7-74BF-434D-85AE-1E0B5D434C6C}"/>
                </a:ext>
              </a:extLst>
            </p:cNvPr>
            <p:cNvSpPr/>
            <p:nvPr/>
          </p:nvSpPr>
          <p:spPr>
            <a:xfrm>
              <a:off x="8001000" y="1714500"/>
              <a:ext cx="3238500" cy="57150"/>
            </a:xfrm>
            <a:prstGeom prst="rect">
              <a:avLst/>
            </a:prstGeom>
            <a:solidFill>
              <a:srgbClr val="4895D6"/>
            </a:solidFill>
            <a:ln>
              <a:noFill/>
            </a:ln>
          </p:spPr>
        </p:sp>
        <p:sp>
          <p:nvSpPr>
            <p:cNvPr id="39" name="TextBox 33">
              <a:extLst>
                <a:ext uri="{FF2B5EF4-FFF2-40B4-BE49-F238E27FC236}">
                  <a16:creationId xmlns:a16="http://schemas.microsoft.com/office/drawing/2014/main" id="{00BBF7B0-7940-414B-AFD6-84295C9A01C1}"/>
                </a:ext>
              </a:extLst>
            </p:cNvPr>
            <p:cNvSpPr txBox="1"/>
            <p:nvPr/>
          </p:nvSpPr>
          <p:spPr>
            <a:xfrm>
              <a:off x="8362950" y="1863090"/>
              <a:ext cx="11576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4895D6">
                      <a:alphaMod val="15000"/>
                    </a:srgbClr>
                  </a:solidFill>
                  <a:latin typeface="Segoe UI"/>
                  <a:ea typeface="Segoe UI"/>
                  <a:cs typeface="Segoe UI"/>
                </a:rPr>
                <a:t>1.3</a:t>
              </a:r>
            </a:p>
          </p:txBody>
        </p:sp>
        <p:grpSp>
          <p:nvGrpSpPr>
            <p:cNvPr id="40" name="Group 37">
              <a:extLst>
                <a:ext uri="{FF2B5EF4-FFF2-40B4-BE49-F238E27FC236}">
                  <a16:creationId xmlns:a16="http://schemas.microsoft.com/office/drawing/2014/main" id="{9D2FF381-3348-4278-9FDE-827D67C3876D}"/>
                </a:ext>
              </a:extLst>
            </p:cNvPr>
            <p:cNvGrpSpPr/>
            <p:nvPr/>
          </p:nvGrpSpPr>
          <p:grpSpPr>
            <a:xfrm>
              <a:off x="8382000" y="2693194"/>
              <a:ext cx="419100" cy="366713"/>
              <a:chOff x="8382000" y="2693194"/>
              <a:chExt cx="419100" cy="366713"/>
            </a:xfrm>
          </p:grpSpPr>
          <p:sp>
            <p:nvSpPr>
              <p:cNvPr id="46" name="Freeform 34">
                <a:extLst>
                  <a:ext uri="{FF2B5EF4-FFF2-40B4-BE49-F238E27FC236}">
                    <a16:creationId xmlns:a16="http://schemas.microsoft.com/office/drawing/2014/main" id="{F3E0CECC-DBB8-4DD3-B3F4-D0750ECDDDF9}"/>
                  </a:ext>
                </a:extLst>
              </p:cNvPr>
              <p:cNvSpPr/>
              <p:nvPr/>
            </p:nvSpPr>
            <p:spPr>
              <a:xfrm>
                <a:off x="8696325" y="2693194"/>
                <a:ext cx="10477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66712">
                    <a:moveTo>
                      <a:pt x="104775" y="0"/>
                    </a:moveTo>
                    <a:lnTo>
                      <a:pt x="0" y="0"/>
                    </a:lnTo>
                    <a:lnTo>
                      <a:pt x="0" y="366712"/>
                    </a:lnTo>
                    <a:lnTo>
                      <a:pt x="104775" y="366712"/>
                    </a:ln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4895D6"/>
              </a:solidFill>
              <a:ln>
                <a:noFill/>
              </a:ln>
            </p:spPr>
          </p:sp>
          <p:sp>
            <p:nvSpPr>
              <p:cNvPr id="47" name="Freeform 35">
                <a:extLst>
                  <a:ext uri="{FF2B5EF4-FFF2-40B4-BE49-F238E27FC236}">
                    <a16:creationId xmlns:a16="http://schemas.microsoft.com/office/drawing/2014/main" id="{8E0C2968-91ED-4B02-835D-A3C3044830D9}"/>
                  </a:ext>
                </a:extLst>
              </p:cNvPr>
              <p:cNvSpPr/>
              <p:nvPr/>
            </p:nvSpPr>
            <p:spPr>
              <a:xfrm>
                <a:off x="8539162" y="2797969"/>
                <a:ext cx="104775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61938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261938"/>
                    </a:lnTo>
                    <a:lnTo>
                      <a:pt x="0" y="2619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895D6"/>
              </a:solidFill>
              <a:ln>
                <a:noFill/>
              </a:ln>
            </p:spPr>
          </p:sp>
          <p:sp>
            <p:nvSpPr>
              <p:cNvPr id="48" name="Freeform 36">
                <a:extLst>
                  <a:ext uri="{FF2B5EF4-FFF2-40B4-BE49-F238E27FC236}">
                    <a16:creationId xmlns:a16="http://schemas.microsoft.com/office/drawing/2014/main" id="{2C4F6B6E-5F7C-4CF8-9D7C-0ED466972546}"/>
                  </a:ext>
                </a:extLst>
              </p:cNvPr>
              <p:cNvSpPr/>
              <p:nvPr/>
            </p:nvSpPr>
            <p:spPr>
              <a:xfrm>
                <a:off x="8382000" y="2902744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57162"/>
                    </a:lnTo>
                    <a:lnTo>
                      <a:pt x="0" y="1571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895D6"/>
              </a:solidFill>
              <a:ln>
                <a:noFill/>
              </a:ln>
            </p:spPr>
          </p:sp>
        </p:grpSp>
        <p:sp>
          <p:nvSpPr>
            <p:cNvPr id="41" name="TextBox 38">
              <a:extLst>
                <a:ext uri="{FF2B5EF4-FFF2-40B4-BE49-F238E27FC236}">
                  <a16:creationId xmlns:a16="http://schemas.microsoft.com/office/drawing/2014/main" id="{916922A3-0595-4B70-B3E6-26227410B7C8}"/>
                </a:ext>
              </a:extLst>
            </p:cNvPr>
            <p:cNvSpPr txBox="1"/>
            <p:nvPr/>
          </p:nvSpPr>
          <p:spPr>
            <a:xfrm>
              <a:off x="8369808" y="3093720"/>
              <a:ext cx="27892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895D6"/>
                  </a:solidFill>
                  <a:latin typeface="Segoe UI"/>
                  <a:ea typeface="Microsoft YaHei"/>
                  <a:cs typeface="Segoe UI"/>
                </a:rPr>
                <a:t>预训练 &amp; 规模定律</a:t>
              </a:r>
            </a:p>
          </p:txBody>
        </p:sp>
        <p:sp>
          <p:nvSpPr>
            <p:cNvPr id="42" name="TextBox 39">
              <a:extLst>
                <a:ext uri="{FF2B5EF4-FFF2-40B4-BE49-F238E27FC236}">
                  <a16:creationId xmlns:a16="http://schemas.microsoft.com/office/drawing/2014/main" id="{E12814B5-527F-433F-BDB2-17F27AFC3F65}"/>
                </a:ext>
              </a:extLst>
            </p:cNvPr>
            <p:cNvSpPr txBox="1"/>
            <p:nvPr/>
          </p:nvSpPr>
          <p:spPr>
            <a:xfrm>
              <a:off x="8373618" y="3805716"/>
              <a:ext cx="240290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预测</a:t>
              </a:r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下一</a:t>
              </a:r>
              <a:r>
                <a:rPr 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个词的</a:t>
              </a:r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训练目标</a:t>
              </a:r>
            </a:p>
          </p:txBody>
        </p:sp>
        <p:sp>
          <p:nvSpPr>
            <p:cNvPr id="44" name="TextBox 41">
              <a:extLst>
                <a:ext uri="{FF2B5EF4-FFF2-40B4-BE49-F238E27FC236}">
                  <a16:creationId xmlns:a16="http://schemas.microsoft.com/office/drawing/2014/main" id="{937CE17D-E51A-4691-9EE2-52367011E00A}"/>
                </a:ext>
              </a:extLst>
            </p:cNvPr>
            <p:cNvSpPr txBox="1"/>
            <p:nvPr/>
          </p:nvSpPr>
          <p:spPr>
            <a:xfrm>
              <a:off x="8373618" y="4308154"/>
              <a:ext cx="25638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Scaling Laws 的数学基础</a:t>
              </a:r>
            </a:p>
          </p:txBody>
        </p:sp>
        <p:sp>
          <p:nvSpPr>
            <p:cNvPr id="45" name="TextBox 42">
              <a:extLst>
                <a:ext uri="{FF2B5EF4-FFF2-40B4-BE49-F238E27FC236}">
                  <a16:creationId xmlns:a16="http://schemas.microsoft.com/office/drawing/2014/main" id="{5893884A-1D6F-499E-9B37-498C92BCCB08}"/>
                </a:ext>
              </a:extLst>
            </p:cNvPr>
            <p:cNvSpPr txBox="1"/>
            <p:nvPr/>
          </p:nvSpPr>
          <p:spPr>
            <a:xfrm>
              <a:off x="8373618" y="48701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数据墙与范式转移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3156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B8AB4-963B-EDF1-8B77-32FF6991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0F23BFF9-5816-9CA6-6CBC-306BD79F60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2809" y="1295638"/>
            <a:ext cx="5883078" cy="478298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671360D-96BF-8B8B-4D01-C6B7B02F74DD}"/>
              </a:ext>
            </a:extLst>
          </p:cNvPr>
          <p:cNvSpPr/>
          <p:nvPr/>
        </p:nvSpPr>
        <p:spPr>
          <a:xfrm>
            <a:off x="5882702" y="1062266"/>
            <a:ext cx="6309298" cy="5070679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8E5E49-4DF7-2EFE-B4DB-CA355D23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E64D93C-6F14-43AE-CCA6-92091289F5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671A0BBC-6AFF-5DB9-CF1B-2D7D365B17D5}"/>
              </a:ext>
            </a:extLst>
          </p:cNvPr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</a:rPr>
              <a:t>整体框架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C8C90780-7A1F-43B5-97AF-D702475212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4009862"/>
              </p:ext>
            </p:extLst>
          </p:nvPr>
        </p:nvGraphicFramePr>
        <p:xfrm>
          <a:off x="862446" y="1833979"/>
          <a:ext cx="10703283" cy="2919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AC619476-4E50-462F-9CF0-697ED16EEE82}"/>
              </a:ext>
            </a:extLst>
          </p:cNvPr>
          <p:cNvSpPr txBox="1"/>
          <p:nvPr/>
        </p:nvSpPr>
        <p:spPr>
          <a:xfrm>
            <a:off x="862446" y="1090932"/>
            <a:ext cx="10191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b="0" i="0" u="none" strike="noStrike" cap="none" normalizeH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今天我们用的对话模型（ChatGPT、DeepSeek、Claude、豆包……）几乎都经历了三个阶段：</a:t>
            </a:r>
            <a:endParaRPr kumimoji="0" lang="zh-CN" altLang="zh-CN" sz="9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7B777E-A4E6-48E3-A2AE-BA81FE48902E}"/>
              </a:ext>
            </a:extLst>
          </p:cNvPr>
          <p:cNvSpPr txBox="1"/>
          <p:nvPr/>
        </p:nvSpPr>
        <p:spPr>
          <a:xfrm>
            <a:off x="978026" y="5577841"/>
            <a:ext cx="102359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i="0">
                <a:latin typeface="华文中宋" panose="02010600040101010101" pitchFamily="2" charset="-122"/>
                <a:ea typeface="华文中宋" panose="02010600040101010101" pitchFamily="2" charset="-122"/>
              </a:rPr>
              <a:t>而 2024 年底以来出现的推理模型（Reasoning Model，如DeepSeek-R1），本质上是在后训练阶段额外强化了"先长篇思考、再作答"的能力，并把</a:t>
            </a:r>
            <a:r>
              <a:rPr lang="zh-CN" altLang="zh-CN" b="1" i="0">
                <a:latin typeface="华文中宋" panose="02010600040101010101" pitchFamily="2" charset="-122"/>
                <a:ea typeface="华文中宋" panose="02010600040101010101" pitchFamily="2" charset="-122"/>
              </a:rPr>
              <a:t>测试时计算</a:t>
            </a:r>
            <a:r>
              <a:rPr lang="zh-CN" altLang="zh-CN" i="0">
                <a:latin typeface="华文中宋" panose="02010600040101010101" pitchFamily="2" charset="-122"/>
                <a:ea typeface="华文中宋" panose="02010600040101010101" pitchFamily="2" charset="-122"/>
              </a:rPr>
              <a:t>（test-time compute） 作为新的性能维度。</a:t>
            </a:r>
            <a:endParaRPr lang="zh-CN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1194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0BEC-63E6-68C4-7EF9-AFF0983F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4722795F-6CB7-9833-7F53-00B976D463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4" b="51527"/>
          <a:stretch/>
        </p:blipFill>
        <p:spPr>
          <a:xfrm>
            <a:off x="0" y="4610027"/>
            <a:ext cx="12209861" cy="224797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9739553-2086-1AA5-5BAB-DCA455A0A032}"/>
              </a:ext>
            </a:extLst>
          </p:cNvPr>
          <p:cNvSpPr/>
          <p:nvPr/>
        </p:nvSpPr>
        <p:spPr>
          <a:xfrm>
            <a:off x="0" y="0"/>
            <a:ext cx="12209861" cy="686943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B45E198-F7CA-BED7-EE55-223D0EF4F85A}"/>
              </a:ext>
            </a:extLst>
          </p:cNvPr>
          <p:cNvGrpSpPr/>
          <p:nvPr/>
        </p:nvGrpSpPr>
        <p:grpSpPr>
          <a:xfrm>
            <a:off x="-17865" y="1270600"/>
            <a:ext cx="12333689" cy="3640867"/>
            <a:chOff x="0" y="0"/>
            <a:chExt cx="4816593" cy="14383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578DBD-8262-15E7-649C-80DEBC7FF056}"/>
                </a:ext>
              </a:extLst>
            </p:cNvPr>
            <p:cNvSpPr/>
            <p:nvPr/>
          </p:nvSpPr>
          <p:spPr>
            <a:xfrm>
              <a:off x="0" y="0"/>
              <a:ext cx="4816592" cy="1438367"/>
            </a:xfrm>
            <a:custGeom>
              <a:avLst/>
              <a:gdLst/>
              <a:ahLst/>
              <a:cxnLst/>
              <a:rect l="l" t="t" r="r" b="b"/>
              <a:pathLst>
                <a:path w="4816592" h="1438367">
                  <a:moveTo>
                    <a:pt x="0" y="0"/>
                  </a:moveTo>
                  <a:lnTo>
                    <a:pt x="4816592" y="0"/>
                  </a:lnTo>
                  <a:lnTo>
                    <a:pt x="4816592" y="1438367"/>
                  </a:lnTo>
                  <a:lnTo>
                    <a:pt x="0" y="1438367"/>
                  </a:lnTo>
                  <a:close/>
                </a:path>
              </a:pathLst>
            </a:custGeom>
            <a:solidFill>
              <a:srgbClr val="04407E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6BEEA6D-0E96-EE65-6514-0F074A2D1882}"/>
                </a:ext>
              </a:extLst>
            </p:cNvPr>
            <p:cNvSpPr txBox="1"/>
            <p:nvPr/>
          </p:nvSpPr>
          <p:spPr>
            <a:xfrm>
              <a:off x="0" y="-85725"/>
              <a:ext cx="4816593" cy="15240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9938F33-E555-BCD0-08A4-A5F2F20201B7}"/>
              </a:ext>
            </a:extLst>
          </p:cNvPr>
          <p:cNvGrpSpPr/>
          <p:nvPr/>
        </p:nvGrpSpPr>
        <p:grpSpPr>
          <a:xfrm>
            <a:off x="5020422" y="336542"/>
            <a:ext cx="1868115" cy="186811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AF1748-E396-E760-D641-6C596487C25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4BC9247-0FC7-34F0-B37D-1ABC377B752A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A4C68A5-635C-4473-E617-10F86301FE08}"/>
              </a:ext>
            </a:extLst>
          </p:cNvPr>
          <p:cNvGrpSpPr/>
          <p:nvPr/>
        </p:nvGrpSpPr>
        <p:grpSpPr>
          <a:xfrm>
            <a:off x="5113284" y="423246"/>
            <a:ext cx="1694707" cy="169470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778ADB4-1E10-A615-8E2B-979B670E9E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407E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5666EE9-060F-46E3-7B82-C7D71076934E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2A11927-C4C0-7582-C240-9DB71D1F09B8}"/>
              </a:ext>
            </a:extLst>
          </p:cNvPr>
          <p:cNvSpPr/>
          <p:nvPr/>
        </p:nvSpPr>
        <p:spPr>
          <a:xfrm>
            <a:off x="4953895" y="684033"/>
            <a:ext cx="2001170" cy="1274292"/>
          </a:xfrm>
          <a:custGeom>
            <a:avLst/>
            <a:gdLst/>
            <a:ahLst/>
            <a:cxnLst/>
            <a:rect l="l" t="t" r="r" b="b"/>
            <a:pathLst>
              <a:path w="3001755" h="1911438">
                <a:moveTo>
                  <a:pt x="0" y="0"/>
                </a:moveTo>
                <a:lnTo>
                  <a:pt x="3001754" y="0"/>
                </a:lnTo>
                <a:lnTo>
                  <a:pt x="3001754" y="1911438"/>
                </a:lnTo>
                <a:lnTo>
                  <a:pt x="0" y="191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723661-5E84-D1CF-A82E-70B8520FC667}"/>
              </a:ext>
            </a:extLst>
          </p:cNvPr>
          <p:cNvSpPr txBox="1"/>
          <p:nvPr/>
        </p:nvSpPr>
        <p:spPr>
          <a:xfrm>
            <a:off x="894854" y="2581810"/>
            <a:ext cx="10366564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1"/>
              </a:lnSpc>
              <a:spcBef>
                <a:spcPct val="0"/>
              </a:spcBef>
            </a:pPr>
            <a:r>
              <a:rPr lang="en-US" altLang="zh-CN" sz="8334" b="1">
                <a:solidFill>
                  <a:srgbClr val="FFFFFF"/>
                </a:solidFill>
                <a:latin typeface="思源宋体 Bold"/>
                <a:ea typeface="思源宋体 Bold"/>
                <a:cs typeface="思源宋体 Bold"/>
                <a:sym typeface="思源宋体 Bold"/>
              </a:rPr>
              <a:t>Transformer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732A087-B06F-F169-2CA2-B43EAA5584B6}"/>
              </a:ext>
            </a:extLst>
          </p:cNvPr>
          <p:cNvSpPr txBox="1"/>
          <p:nvPr/>
        </p:nvSpPr>
        <p:spPr>
          <a:xfrm>
            <a:off x="5228427" y="677683"/>
            <a:ext cx="1518593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2"/>
              </a:lnSpc>
            </a:pPr>
            <a:r>
              <a:rPr lang="en-US" sz="7176" b="1">
                <a:solidFill>
                  <a:srgbClr val="FFFFFF"/>
                </a:solidFill>
                <a:latin typeface="思源宋体 Heavy"/>
                <a:ea typeface="思源宋体 Heavy"/>
                <a:cs typeface="思源宋体 Heavy"/>
                <a:sym typeface="思源宋体 Heavy"/>
              </a:rPr>
              <a:t>02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375F1BE-24B5-B715-85A9-BBAE0CFC1DF4}"/>
              </a:ext>
            </a:extLst>
          </p:cNvPr>
          <p:cNvGrpSpPr/>
          <p:nvPr/>
        </p:nvGrpSpPr>
        <p:grpSpPr>
          <a:xfrm>
            <a:off x="-308920" y="4779201"/>
            <a:ext cx="12774111" cy="264531"/>
            <a:chOff x="0" y="0"/>
            <a:chExt cx="5046563" cy="10450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3082F4B-9CC0-F197-B927-BDC3E7675846}"/>
                </a:ext>
              </a:extLst>
            </p:cNvPr>
            <p:cNvSpPr/>
            <p:nvPr/>
          </p:nvSpPr>
          <p:spPr>
            <a:xfrm>
              <a:off x="0" y="0"/>
              <a:ext cx="5046563" cy="104506"/>
            </a:xfrm>
            <a:custGeom>
              <a:avLst/>
              <a:gdLst/>
              <a:ahLst/>
              <a:cxnLst/>
              <a:rect l="l" t="t" r="r" b="b"/>
              <a:pathLst>
                <a:path w="5046563" h="104506">
                  <a:moveTo>
                    <a:pt x="0" y="0"/>
                  </a:moveTo>
                  <a:lnTo>
                    <a:pt x="5046563" y="0"/>
                  </a:lnTo>
                  <a:lnTo>
                    <a:pt x="5046563" y="104506"/>
                  </a:lnTo>
                  <a:lnTo>
                    <a:pt x="0" y="104506"/>
                  </a:lnTo>
                  <a:close/>
                </a:path>
              </a:pathLst>
            </a:custGeom>
            <a:solidFill>
              <a:srgbClr val="04407E">
                <a:alpha val="29804"/>
              </a:srgbClr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FB28F4B0-CC91-06DE-CE5A-F8BC26C33FA0}"/>
                </a:ext>
              </a:extLst>
            </p:cNvPr>
            <p:cNvSpPr txBox="1"/>
            <p:nvPr/>
          </p:nvSpPr>
          <p:spPr>
            <a:xfrm>
              <a:off x="0" y="-85725"/>
              <a:ext cx="5046563" cy="19023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47F27E3E-1826-9F66-E1D9-C9ED03C0F5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3" y="81152"/>
            <a:ext cx="3301829" cy="9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79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DF10-1849-9A5D-DB41-156516E1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2343AA41-4764-4F64-450C-EDEB530549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2809" y="1295638"/>
            <a:ext cx="5883078" cy="478298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E5E83507-B14B-2FE0-D970-08C78F13A794}"/>
              </a:ext>
            </a:extLst>
          </p:cNvPr>
          <p:cNvSpPr/>
          <p:nvPr/>
        </p:nvSpPr>
        <p:spPr>
          <a:xfrm>
            <a:off x="5938520" y="1088636"/>
            <a:ext cx="6309298" cy="5070679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90EA4F-E01B-F0B7-2BCD-9C556F51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4383A0-444B-DB26-4C6F-62E544ACA0BD}"/>
              </a:ext>
            </a:extLst>
          </p:cNvPr>
          <p:cNvSpPr/>
          <p:nvPr/>
        </p:nvSpPr>
        <p:spPr>
          <a:xfrm>
            <a:off x="968891" y="1559798"/>
            <a:ext cx="9831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>
                <a:latin typeface="Cambria Math" panose="02040503050406030204" pitchFamily="18" charset="0"/>
                <a:ea typeface="华文中宋" panose="02010600040101010101" pitchFamily="2" charset="-122"/>
              </a:rPr>
              <a:t>在 Transformer（2017，《Attention Is All You Need》）之前，序列建模主要靠 RNN / LSTM。它们有两个致命问题：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4BDEF89-594F-5111-4450-1BE4E0D416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9001F4BB-EFEB-4A19-AC45-7E61F298AB90}"/>
              </a:ext>
            </a:extLst>
          </p:cNvPr>
          <p:cNvSpPr txBox="1"/>
          <p:nvPr/>
        </p:nvSpPr>
        <p:spPr>
          <a:xfrm>
            <a:off x="1083729" y="302927"/>
            <a:ext cx="645567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3A5C"/>
                </a:solidFill>
                <a:latin typeface="Segoe UI"/>
                <a:ea typeface="Microsoft YaHei"/>
                <a:cs typeface="Segoe UI"/>
              </a:rPr>
              <a:t>为什么需要 Transformer？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0453974-E9FD-4A3C-AC3C-88953E0246A6}"/>
              </a:ext>
            </a:extLst>
          </p:cNvPr>
          <p:cNvSpPr/>
          <p:nvPr/>
        </p:nvSpPr>
        <p:spPr>
          <a:xfrm>
            <a:off x="891540" y="391160"/>
            <a:ext cx="57150" cy="381000"/>
          </a:xfrm>
          <a:prstGeom prst="rect">
            <a:avLst/>
          </a:prstGeom>
          <a:solidFill>
            <a:srgbClr val="1A3A5C"/>
          </a:solidFill>
          <a:ln>
            <a:noFill/>
          </a:ln>
        </p:spPr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8A7D54-D81F-4D60-931F-F7868FD6282A}"/>
              </a:ext>
            </a:extLst>
          </p:cNvPr>
          <p:cNvSpPr txBox="1"/>
          <p:nvPr/>
        </p:nvSpPr>
        <p:spPr>
          <a:xfrm>
            <a:off x="1371600" y="2543631"/>
            <a:ext cx="9133840" cy="1704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b="1">
                <a:latin typeface="Cambria Math" panose="02040503050406030204" pitchFamily="18" charset="0"/>
                <a:ea typeface="华文中宋" panose="02010600040101010101" pitchFamily="2" charset="-122"/>
              </a:rPr>
              <a:t>难以并行</a:t>
            </a:r>
            <a:r>
              <a:rPr lang="zh-CN" altLang="zh-CN">
                <a:latin typeface="Cambria Math" panose="02040503050406030204" pitchFamily="18" charset="0"/>
                <a:ea typeface="华文中宋" panose="02010600040101010101" pitchFamily="2" charset="-122"/>
              </a:rPr>
              <a:t>：RNN 必须一个时间步一个时间步地算，第 (t) 步依赖第 (t-1) 步的隐状态，无法把整条句子摊开同时计算，训练在 GPU 上极其低效。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b="1">
                <a:latin typeface="Cambria Math" panose="02040503050406030204" pitchFamily="18" charset="0"/>
                <a:ea typeface="华文中宋" panose="02010600040101010101" pitchFamily="2" charset="-122"/>
              </a:rPr>
              <a:t>长程依赖衰减</a:t>
            </a:r>
            <a:r>
              <a:rPr lang="zh-CN" altLang="zh-CN">
                <a:latin typeface="Cambria Math" panose="02040503050406030204" pitchFamily="18" charset="0"/>
                <a:ea typeface="华文中宋" panose="02010600040101010101" pitchFamily="2" charset="-122"/>
              </a:rPr>
              <a:t>：信息要沿着时间轴一步步传递，距离一远，梯度消失/信息丢失，"句首的主语"很难影响到"句尾的动词"。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3CAA12-71AC-4F15-834C-1BA7E44589AD}"/>
              </a:ext>
            </a:extLst>
          </p:cNvPr>
          <p:cNvSpPr/>
          <p:nvPr/>
        </p:nvSpPr>
        <p:spPr>
          <a:xfrm>
            <a:off x="968891" y="4414460"/>
            <a:ext cx="9831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en-US" altLang="zh-CN">
                <a:latin typeface="Cambria Math" panose="02040503050406030204" pitchFamily="18" charset="0"/>
                <a:ea typeface="华文中宋" panose="02010600040101010101" pitchFamily="2" charset="-122"/>
              </a:rPr>
              <a:t>Transformer</a:t>
            </a:r>
            <a:r>
              <a:rPr lang="zh-CN" altLang="en-US">
                <a:latin typeface="Cambria Math" panose="02040503050406030204" pitchFamily="18" charset="0"/>
                <a:ea typeface="华文中宋" panose="02010600040101010101" pitchFamily="2" charset="-122"/>
              </a:rPr>
              <a:t>用自注意力（</a:t>
            </a:r>
            <a:r>
              <a:rPr lang="en-US" altLang="zh-CN">
                <a:latin typeface="Cambria Math" panose="02040503050406030204" pitchFamily="18" charset="0"/>
                <a:ea typeface="华文中宋" panose="02010600040101010101" pitchFamily="2" charset="-122"/>
              </a:rPr>
              <a:t>self-attention</a:t>
            </a:r>
            <a:r>
              <a:rPr lang="zh-CN" altLang="en-US">
                <a:latin typeface="Cambria Math" panose="02040503050406030204" pitchFamily="18" charset="0"/>
                <a:ea typeface="华文中宋" panose="02010600040101010101" pitchFamily="2" charset="-122"/>
              </a:rPr>
              <a:t>） 机制解决：序列里任意两个位置都能直接对话，并且所有位置可以一次性并行计算。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endParaRPr lang="zh-CN" altLang="zh-CN">
              <a:latin typeface="Cambria Math" panose="02040503050406030204" pitchFamily="18" charset="0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7144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DF10-1849-9A5D-DB41-156516E1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2343AA41-4764-4F64-450C-EDEB530549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2809" y="1295638"/>
            <a:ext cx="5883078" cy="478298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E5E83507-B14B-2FE0-D970-08C78F13A794}"/>
              </a:ext>
            </a:extLst>
          </p:cNvPr>
          <p:cNvSpPr/>
          <p:nvPr/>
        </p:nvSpPr>
        <p:spPr>
          <a:xfrm>
            <a:off x="5938520" y="1088636"/>
            <a:ext cx="6309298" cy="5070679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90EA4F-E01B-F0B7-2BCD-9C556F51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4383A0-444B-DB26-4C6F-62E544ACA0BD}"/>
              </a:ext>
            </a:extLst>
          </p:cNvPr>
          <p:cNvSpPr/>
          <p:nvPr/>
        </p:nvSpPr>
        <p:spPr>
          <a:xfrm>
            <a:off x="968891" y="1295638"/>
            <a:ext cx="9831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en-US">
                <a:latin typeface="+mn-ea"/>
              </a:rPr>
              <a:t>注意力是让每个 </a:t>
            </a:r>
            <a:r>
              <a:rPr lang="en-US" altLang="zh-CN">
                <a:latin typeface="+mn-ea"/>
              </a:rPr>
              <a:t>token </a:t>
            </a:r>
            <a:r>
              <a:rPr lang="zh-CN" altLang="en-US">
                <a:latin typeface="+mn-ea"/>
              </a:rPr>
              <a:t>根据</a:t>
            </a:r>
            <a:r>
              <a:rPr lang="zh-CN" altLang="en-US" b="1">
                <a:latin typeface="+mn-ea"/>
              </a:rPr>
              <a:t>上下文里谁和我相关</a:t>
            </a:r>
            <a:r>
              <a:rPr lang="zh-CN" altLang="en-US">
                <a:latin typeface="+mn-ea"/>
              </a:rPr>
              <a:t>去有选择地汇聚信息：</a:t>
            </a:r>
            <a:endParaRPr lang="zh-CN" altLang="zh-CN">
              <a:latin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4BDEF89-594F-5111-4450-1BE4E0D416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9001F4BB-EFEB-4A19-AC45-7E61F298AB90}"/>
              </a:ext>
            </a:extLst>
          </p:cNvPr>
          <p:cNvSpPr txBox="1"/>
          <p:nvPr/>
        </p:nvSpPr>
        <p:spPr>
          <a:xfrm>
            <a:off x="1083729" y="302927"/>
            <a:ext cx="507831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600" b="1">
                <a:solidFill>
                  <a:srgbClr val="1A3A5C"/>
                </a:solidFill>
                <a:latin typeface="Segoe UI"/>
                <a:ea typeface="Microsoft YaHei"/>
                <a:cs typeface="Segoe UI"/>
              </a:rPr>
              <a:t>注意力机制与多头注意力</a:t>
            </a:r>
            <a:endParaRPr lang="zh-CN" sz="3600" b="1" dirty="0">
              <a:solidFill>
                <a:srgbClr val="1A3A5C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0453974-E9FD-4A3C-AC3C-88953E0246A6}"/>
              </a:ext>
            </a:extLst>
          </p:cNvPr>
          <p:cNvSpPr/>
          <p:nvPr/>
        </p:nvSpPr>
        <p:spPr>
          <a:xfrm>
            <a:off x="891540" y="391160"/>
            <a:ext cx="57150" cy="381000"/>
          </a:xfrm>
          <a:prstGeom prst="rect">
            <a:avLst/>
          </a:prstGeom>
          <a:solidFill>
            <a:srgbClr val="1A3A5C"/>
          </a:solidFill>
          <a:ln>
            <a:noFill/>
          </a:ln>
        </p:spPr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8A7D54-D81F-4D60-931F-F7868FD6282A}"/>
              </a:ext>
            </a:extLst>
          </p:cNvPr>
          <p:cNvSpPr txBox="1"/>
          <p:nvPr/>
        </p:nvSpPr>
        <p:spPr>
          <a:xfrm>
            <a:off x="1471612" y="1725765"/>
            <a:ext cx="9133840" cy="873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>
                <a:latin typeface="+mn-ea"/>
              </a:rPr>
              <a:t>每个 </a:t>
            </a:r>
            <a:r>
              <a:rPr lang="en-US" altLang="zh-CN">
                <a:latin typeface="+mn-ea"/>
              </a:rPr>
              <a:t>token </a:t>
            </a:r>
            <a:r>
              <a:rPr lang="zh-CN" altLang="en-US">
                <a:latin typeface="+mn-ea"/>
              </a:rPr>
              <a:t>会生成三样东西：</a:t>
            </a:r>
            <a:r>
              <a:rPr lang="en-US" altLang="zh-CN" b="1">
                <a:latin typeface="+mn-ea"/>
              </a:rPr>
              <a:t>Query</a:t>
            </a:r>
            <a:r>
              <a:rPr lang="zh-CN" altLang="en-US">
                <a:latin typeface="+mn-ea"/>
              </a:rPr>
              <a:t>（我想找什么）、</a:t>
            </a:r>
            <a:r>
              <a:rPr lang="en-US" altLang="zh-CN" b="1">
                <a:latin typeface="+mn-ea"/>
              </a:rPr>
              <a:t>Key</a:t>
            </a:r>
            <a:r>
              <a:rPr lang="zh-CN" altLang="en-US">
                <a:latin typeface="+mn-ea"/>
              </a:rPr>
              <a:t>（我能被什么样的查询匹配到）、</a:t>
            </a:r>
            <a:r>
              <a:rPr lang="en-US" altLang="zh-CN" b="1">
                <a:latin typeface="+mn-ea"/>
              </a:rPr>
              <a:t>Value</a:t>
            </a:r>
            <a:r>
              <a:rPr lang="zh-CN" altLang="en-US">
                <a:latin typeface="+mn-ea"/>
              </a:rPr>
              <a:t>（如果被匹配上，我能提供什么信息）。</a:t>
            </a:r>
            <a:endParaRPr lang="zh-CN" altLang="zh-CN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3CAA12-71AC-4F15-834C-1BA7E44589AD}"/>
              </a:ext>
            </a:extLst>
          </p:cNvPr>
          <p:cNvSpPr/>
          <p:nvPr/>
        </p:nvSpPr>
        <p:spPr>
          <a:xfrm>
            <a:off x="1083729" y="3610826"/>
            <a:ext cx="9831840" cy="2951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>
                <a:latin typeface="+mn-ea"/>
              </a:rPr>
              <a:t>当前 </a:t>
            </a:r>
            <a:r>
              <a:rPr lang="en-US" altLang="zh-CN">
                <a:latin typeface="+mn-ea"/>
              </a:rPr>
              <a:t>token </a:t>
            </a:r>
            <a:r>
              <a:rPr lang="zh-CN" altLang="en-US">
                <a:latin typeface="+mn-ea"/>
              </a:rPr>
              <a:t>拿自己的 </a:t>
            </a:r>
            <a:r>
              <a:rPr lang="en-US" altLang="zh-CN">
                <a:latin typeface="+mn-ea"/>
              </a:rPr>
              <a:t>Query </a:t>
            </a:r>
            <a:r>
              <a:rPr lang="zh-CN" altLang="en-US">
                <a:latin typeface="+mn-ea"/>
              </a:rPr>
              <a:t>去和所有 </a:t>
            </a:r>
            <a:r>
              <a:rPr lang="en-US" altLang="zh-CN">
                <a:latin typeface="+mn-ea"/>
              </a:rPr>
              <a:t>token </a:t>
            </a:r>
            <a:r>
              <a:rPr lang="zh-CN" altLang="en-US">
                <a:latin typeface="+mn-ea"/>
              </a:rPr>
              <a:t>的 </a:t>
            </a:r>
            <a:r>
              <a:rPr lang="en-US" altLang="zh-CN">
                <a:latin typeface="+mn-ea"/>
              </a:rPr>
              <a:t>Key </a:t>
            </a:r>
            <a:r>
              <a:rPr lang="zh-CN" altLang="en-US">
                <a:latin typeface="+mn-ea"/>
              </a:rPr>
              <a:t>做匹配，得到一组注意力权重；再用这组权重对所有 </a:t>
            </a:r>
            <a:r>
              <a:rPr lang="en-US" altLang="zh-CN">
                <a:latin typeface="+mn-ea"/>
              </a:rPr>
              <a:t>token </a:t>
            </a:r>
            <a:r>
              <a:rPr lang="zh-CN" altLang="en-US">
                <a:latin typeface="+mn-ea"/>
              </a:rPr>
              <a:t>的 </a:t>
            </a:r>
            <a:r>
              <a:rPr lang="en-US" altLang="zh-CN">
                <a:latin typeface="+mn-ea"/>
              </a:rPr>
              <a:t>Value </a:t>
            </a:r>
            <a:r>
              <a:rPr lang="zh-CN" altLang="en-US">
                <a:latin typeface="+mn-ea"/>
              </a:rPr>
              <a:t>做加权平均，结果就是当前 </a:t>
            </a:r>
            <a:r>
              <a:rPr lang="en-US" altLang="zh-CN">
                <a:latin typeface="+mn-ea"/>
              </a:rPr>
              <a:t>token </a:t>
            </a:r>
            <a:r>
              <a:rPr lang="zh-CN" altLang="en-US">
                <a:latin typeface="+mn-ea"/>
              </a:rPr>
              <a:t>在看过全局上下文后，更新出的新表示。这就是为什么注意力被称为信息路由（</a:t>
            </a:r>
            <a:r>
              <a:rPr lang="en-US" altLang="zh-CN">
                <a:latin typeface="+mn-ea"/>
              </a:rPr>
              <a:t>information routing</a:t>
            </a:r>
            <a:r>
              <a:rPr lang="zh-CN" altLang="en-US">
                <a:latin typeface="+mn-ea"/>
              </a:rPr>
              <a:t>）：它不是死板地按位置取信息，而是按语义相关性动态地提取上下文里有用的部分。</a:t>
            </a:r>
            <a:endParaRPr lang="en-US" altLang="zh-CN"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b="1">
                <a:latin typeface="+mn-ea"/>
              </a:rPr>
              <a:t>多头注意力</a:t>
            </a:r>
            <a:r>
              <a:rPr lang="zh-CN" altLang="en-US">
                <a:latin typeface="+mn-ea"/>
              </a:rPr>
              <a:t>：单一注意力只能学到一种关联模式。多头注意力把表示拆成若干个子空间，每个头独立做一次注意力，再把结果拼接。不同的头可以分别负责不同的关系。多头让模型能</a:t>
            </a:r>
            <a:r>
              <a:rPr lang="zh-CN" altLang="en-US" b="1">
                <a:latin typeface="+mn-ea"/>
              </a:rPr>
              <a:t>并行地从多个角度关注同一段上下文</a:t>
            </a:r>
            <a:r>
              <a:rPr lang="zh-CN" altLang="en-US">
                <a:latin typeface="+mn-ea"/>
              </a:rPr>
              <a:t>。</a:t>
            </a:r>
            <a:endParaRPr lang="zh-CN" altLang="zh-CN"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2E8CDD-04C8-4A1E-9328-98B595272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815" y="2687266"/>
            <a:ext cx="4734630" cy="88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33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B6F1C-C1C5-B331-DE6E-564CEEE2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30DD161-4066-6F27-9BDA-B2020A5984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2809" y="1295638"/>
            <a:ext cx="5883078" cy="478298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5C382F21-C2D4-223A-637D-937ACA710102}"/>
              </a:ext>
            </a:extLst>
          </p:cNvPr>
          <p:cNvSpPr/>
          <p:nvPr/>
        </p:nvSpPr>
        <p:spPr>
          <a:xfrm>
            <a:off x="5882702" y="1175899"/>
            <a:ext cx="6309298" cy="5070679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22D8BD-C931-B2F0-86F3-37A4BC3E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</a:t>
            </a:fld>
            <a:endParaRPr lang="zh-CN" altLang="en-US" dirty="0"/>
          </a:p>
        </p:txBody>
      </p:sp>
      <p:grpSp>
        <p:nvGrpSpPr>
          <p:cNvPr id="11" name="Group 6">
            <a:extLst>
              <a:ext uri="{FF2B5EF4-FFF2-40B4-BE49-F238E27FC236}">
                <a16:creationId xmlns:a16="http://schemas.microsoft.com/office/drawing/2014/main" id="{E0F24E11-1513-48E8-8024-C777772EC355}"/>
              </a:ext>
            </a:extLst>
          </p:cNvPr>
          <p:cNvGrpSpPr/>
          <p:nvPr/>
        </p:nvGrpSpPr>
        <p:grpSpPr>
          <a:xfrm>
            <a:off x="952500" y="449580"/>
            <a:ext cx="10273567" cy="1076343"/>
            <a:chOff x="952500" y="449580"/>
            <a:chExt cx="10273567" cy="1076343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6B28858D-953C-41F1-B828-E492A96762BC}"/>
                </a:ext>
              </a:extLst>
            </p:cNvPr>
            <p:cNvSpPr/>
            <p:nvPr/>
          </p:nvSpPr>
          <p:spPr>
            <a:xfrm>
              <a:off x="952500" y="533400"/>
              <a:ext cx="57150" cy="3810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76F29429-59FB-412A-8099-41E25B8EFD70}"/>
                </a:ext>
              </a:extLst>
            </p:cNvPr>
            <p:cNvSpPr txBox="1"/>
            <p:nvPr/>
          </p:nvSpPr>
          <p:spPr>
            <a:xfrm>
              <a:off x="1124712" y="449580"/>
              <a:ext cx="10101355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一个 </a:t>
              </a:r>
              <a:r>
                <a:rPr lang="zh-CN" sz="3200" b="1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Transformer Block</a:t>
              </a:r>
              <a:r>
                <a:rPr lang="zh-CN" altLang="en-US" sz="3200" b="1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同时包含了</a:t>
              </a:r>
              <a:r>
                <a:rPr lang="en-US" altLang="zh-CN" sz="3200" b="1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Encoder</a:t>
              </a:r>
              <a:r>
                <a:rPr lang="zh-CN" altLang="en-US" sz="3200" b="1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和</a:t>
              </a:r>
              <a:r>
                <a:rPr lang="en-US" altLang="zh-CN" sz="3200" b="1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Decoder</a:t>
              </a:r>
              <a:endParaRPr lang="zh-CN" sz="3200" b="1" dirty="0">
                <a:solidFill>
                  <a:srgbClr val="1A3A5C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36ADAAF5-1883-49B2-B82E-E99213C7D9AF}"/>
                </a:ext>
              </a:extLst>
            </p:cNvPr>
            <p:cNvSpPr txBox="1"/>
            <p:nvPr/>
          </p:nvSpPr>
          <p:spPr>
            <a:xfrm>
              <a:off x="1100702" y="1110425"/>
              <a:ext cx="6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2700" dirty="0">
                <a:solidFill>
                  <a:srgbClr val="5A6A7E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48B58997-0B8D-4BC8-8412-B2ABB7161934}"/>
              </a:ext>
            </a:extLst>
          </p:cNvPr>
          <p:cNvGrpSpPr/>
          <p:nvPr/>
        </p:nvGrpSpPr>
        <p:grpSpPr>
          <a:xfrm>
            <a:off x="952500" y="1619250"/>
            <a:ext cx="3333750" cy="4381500"/>
            <a:chOff x="952500" y="1619250"/>
            <a:chExt cx="3333750" cy="4381500"/>
          </a:xfrm>
        </p:grpSpPr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7FB51127-2E52-432F-B435-01C58C4B1285}"/>
                </a:ext>
              </a:extLst>
            </p:cNvPr>
            <p:cNvSpPr/>
            <p:nvPr/>
          </p:nvSpPr>
          <p:spPr>
            <a:xfrm>
              <a:off x="952500" y="1619250"/>
              <a:ext cx="3333750" cy="438150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pic>
          <p:nvPicPr>
            <p:cNvPr id="17" name="Image 8">
              <a:extLst>
                <a:ext uri="{FF2B5EF4-FFF2-40B4-BE49-F238E27FC236}">
                  <a16:creationId xmlns:a16="http://schemas.microsoft.com/office/drawing/2014/main" id="{A09B89F0-A19B-4548-9AE8-7680D8FF0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0305" y="1809750"/>
              <a:ext cx="2898140" cy="4000500"/>
            </a:xfrm>
            <a:prstGeom prst="rect">
              <a:avLst/>
            </a:prstGeom>
          </p:spPr>
        </p:pic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CBEF1932-3B42-4510-B46C-DA2ED58C5771}"/>
              </a:ext>
            </a:extLst>
          </p:cNvPr>
          <p:cNvGrpSpPr/>
          <p:nvPr/>
        </p:nvGrpSpPr>
        <p:grpSpPr>
          <a:xfrm>
            <a:off x="4667250" y="1619250"/>
            <a:ext cx="3507030" cy="1238250"/>
            <a:chOff x="4667250" y="1619250"/>
            <a:chExt cx="3524250" cy="1238250"/>
          </a:xfrm>
        </p:grpSpPr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2F480A82-A321-456E-AE2D-0F17AA07DAEC}"/>
                </a:ext>
              </a:extLst>
            </p:cNvPr>
            <p:cNvSpPr/>
            <p:nvPr/>
          </p:nvSpPr>
          <p:spPr>
            <a:xfrm>
              <a:off x="4667250" y="1619250"/>
              <a:ext cx="3524250" cy="123825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70C388D1-F99E-4EB2-A421-7EFC9D0315CC}"/>
                </a:ext>
              </a:extLst>
            </p:cNvPr>
            <p:cNvSpPr/>
            <p:nvPr/>
          </p:nvSpPr>
          <p:spPr>
            <a:xfrm>
              <a:off x="4667250" y="1619250"/>
              <a:ext cx="38100" cy="1238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98E2C73F-28B7-4EC9-949B-961C5C6110DA}"/>
                </a:ext>
              </a:extLst>
            </p:cNvPr>
            <p:cNvSpPr/>
            <p:nvPr/>
          </p:nvSpPr>
          <p:spPr>
            <a:xfrm>
              <a:off x="4943475" y="1857375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23" name="TextBox 13">
              <a:extLst>
                <a:ext uri="{FF2B5EF4-FFF2-40B4-BE49-F238E27FC236}">
                  <a16:creationId xmlns:a16="http://schemas.microsoft.com/office/drawing/2014/main" id="{92303DE2-E995-4B05-B110-6458009D7D70}"/>
                </a:ext>
              </a:extLst>
            </p:cNvPr>
            <p:cNvSpPr txBox="1"/>
            <p:nvPr/>
          </p:nvSpPr>
          <p:spPr>
            <a:xfrm>
              <a:off x="5324094" y="184308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多头注意力</a:t>
              </a:r>
            </a:p>
          </p:txBody>
        </p:sp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E1B5F9EC-48FC-4C5A-9DE0-E635A1A06973}"/>
                </a:ext>
              </a:extLst>
            </p:cNvPr>
            <p:cNvSpPr txBox="1"/>
            <p:nvPr/>
          </p:nvSpPr>
          <p:spPr>
            <a:xfrm>
              <a:off x="4897756" y="2305050"/>
              <a:ext cx="31292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h 个</a:t>
              </a:r>
              <a:r>
                <a:rPr 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并行头，</a:t>
              </a:r>
              <a:r>
                <a:rPr lang="zh-CN" sz="150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各关注不同模式（语法、指代、语义</a:t>
              </a:r>
              <a:r>
                <a:rPr 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…）</a:t>
              </a:r>
              <a:endParaRPr lang="zh-CN" sz="1500" dirty="0">
                <a:solidFill>
                  <a:srgbClr val="5A6A7E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25" name="Group 21">
            <a:extLst>
              <a:ext uri="{FF2B5EF4-FFF2-40B4-BE49-F238E27FC236}">
                <a16:creationId xmlns:a16="http://schemas.microsoft.com/office/drawing/2014/main" id="{E674CAFF-0B33-4424-B951-0AE732B03D69}"/>
              </a:ext>
            </a:extLst>
          </p:cNvPr>
          <p:cNvGrpSpPr/>
          <p:nvPr/>
        </p:nvGrpSpPr>
        <p:grpSpPr>
          <a:xfrm>
            <a:off x="4667250" y="3048000"/>
            <a:ext cx="3524250" cy="1238250"/>
            <a:chOff x="4667250" y="3048000"/>
            <a:chExt cx="3524250" cy="1238250"/>
          </a:xfrm>
        </p:grpSpPr>
        <p:sp>
          <p:nvSpPr>
            <p:cNvPr id="27" name="Rectangle 16">
              <a:extLst>
                <a:ext uri="{FF2B5EF4-FFF2-40B4-BE49-F238E27FC236}">
                  <a16:creationId xmlns:a16="http://schemas.microsoft.com/office/drawing/2014/main" id="{959AD765-338D-47A9-9442-7FBA82F55516}"/>
                </a:ext>
              </a:extLst>
            </p:cNvPr>
            <p:cNvSpPr/>
            <p:nvPr/>
          </p:nvSpPr>
          <p:spPr>
            <a:xfrm>
              <a:off x="4667250" y="3048000"/>
              <a:ext cx="3524250" cy="123825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30" name="Rectangle 17">
              <a:extLst>
                <a:ext uri="{FF2B5EF4-FFF2-40B4-BE49-F238E27FC236}">
                  <a16:creationId xmlns:a16="http://schemas.microsoft.com/office/drawing/2014/main" id="{7A6EC772-715D-4DEC-94CD-5F2511306788}"/>
                </a:ext>
              </a:extLst>
            </p:cNvPr>
            <p:cNvSpPr/>
            <p:nvPr/>
          </p:nvSpPr>
          <p:spPr>
            <a:xfrm>
              <a:off x="4667250" y="3048000"/>
              <a:ext cx="38100" cy="123825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DB8F498C-8356-4BB4-8544-54D92B5B6E0D}"/>
                </a:ext>
              </a:extLst>
            </p:cNvPr>
            <p:cNvSpPr/>
            <p:nvPr/>
          </p:nvSpPr>
          <p:spPr>
            <a:xfrm>
              <a:off x="4924425" y="317309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14300" y="0"/>
                  </a:moveTo>
                  <a:lnTo>
                    <a:pt x="57150" y="0"/>
                  </a:lnTo>
                  <a:lnTo>
                    <a:pt x="0" y="9525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95250"/>
                  </a:lnTo>
                  <a:lnTo>
                    <a:pt x="209550" y="0"/>
                  </a:lnTo>
                  <a:lnTo>
                    <a:pt x="152400" y="0"/>
                  </a:lnTo>
                  <a:lnTo>
                    <a:pt x="152400" y="95250"/>
                  </a:lnTo>
                  <a:lnTo>
                    <a:pt x="11430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32" name="TextBox 19">
              <a:extLst>
                <a:ext uri="{FF2B5EF4-FFF2-40B4-BE49-F238E27FC236}">
                  <a16:creationId xmlns:a16="http://schemas.microsoft.com/office/drawing/2014/main" id="{F6FC6243-F88D-4B84-8B34-CCF733CA7814}"/>
                </a:ext>
              </a:extLst>
            </p:cNvPr>
            <p:cNvSpPr txBox="1"/>
            <p:nvPr/>
          </p:nvSpPr>
          <p:spPr>
            <a:xfrm>
              <a:off x="5324094" y="3221038"/>
              <a:ext cx="17526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B6CB0"/>
                  </a:solidFill>
                  <a:latin typeface="Segoe UI"/>
                  <a:ea typeface="Microsoft YaHei"/>
                  <a:cs typeface="Segoe UI"/>
                </a:rPr>
                <a:t>前馈网络 FFN</a:t>
              </a:r>
            </a:p>
          </p:txBody>
        </p:sp>
        <p:sp>
          <p:nvSpPr>
            <p:cNvPr id="33" name="TextBox 20">
              <a:extLst>
                <a:ext uri="{FF2B5EF4-FFF2-40B4-BE49-F238E27FC236}">
                  <a16:creationId xmlns:a16="http://schemas.microsoft.com/office/drawing/2014/main" id="{A8C37529-929B-48F3-B1BF-4A2DCEA9EAA7}"/>
                </a:ext>
              </a:extLst>
            </p:cNvPr>
            <p:cNvSpPr txBox="1"/>
            <p:nvPr/>
          </p:nvSpPr>
          <p:spPr>
            <a:xfrm>
              <a:off x="4897754" y="3628804"/>
              <a:ext cx="300799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先升维→非线性→降</a:t>
              </a:r>
              <a:r>
                <a:rPr 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维。</a:t>
              </a:r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用于</a:t>
              </a:r>
              <a:r>
                <a:rPr 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存储</a:t>
              </a:r>
              <a:r>
                <a:rPr lang="zh-CN" sz="150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模型大部分</a:t>
              </a:r>
              <a:r>
                <a:rPr 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事实知识</a:t>
              </a:r>
              <a:endParaRPr lang="zh-CN" sz="1500" dirty="0">
                <a:solidFill>
                  <a:srgbClr val="5A6A7E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34" name="Group 26">
            <a:extLst>
              <a:ext uri="{FF2B5EF4-FFF2-40B4-BE49-F238E27FC236}">
                <a16:creationId xmlns:a16="http://schemas.microsoft.com/office/drawing/2014/main" id="{B5D18FC6-5681-4FA0-9F82-08183BD0D07D}"/>
              </a:ext>
            </a:extLst>
          </p:cNvPr>
          <p:cNvGrpSpPr/>
          <p:nvPr/>
        </p:nvGrpSpPr>
        <p:grpSpPr>
          <a:xfrm>
            <a:off x="4667250" y="4476748"/>
            <a:ext cx="3524250" cy="1084128"/>
            <a:chOff x="4667250" y="4476750"/>
            <a:chExt cx="3524250" cy="817090"/>
          </a:xfrm>
        </p:grpSpPr>
        <p:sp>
          <p:nvSpPr>
            <p:cNvPr id="35" name="Rectangle 22">
              <a:extLst>
                <a:ext uri="{FF2B5EF4-FFF2-40B4-BE49-F238E27FC236}">
                  <a16:creationId xmlns:a16="http://schemas.microsoft.com/office/drawing/2014/main" id="{C51EC967-438A-49CD-A3E5-E8FA5AE959E5}"/>
                </a:ext>
              </a:extLst>
            </p:cNvPr>
            <p:cNvSpPr/>
            <p:nvPr/>
          </p:nvSpPr>
          <p:spPr>
            <a:xfrm>
              <a:off x="4667250" y="4476750"/>
              <a:ext cx="3524250" cy="76200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36" name="Rectangle 23">
              <a:extLst>
                <a:ext uri="{FF2B5EF4-FFF2-40B4-BE49-F238E27FC236}">
                  <a16:creationId xmlns:a16="http://schemas.microsoft.com/office/drawing/2014/main" id="{3EE12E66-95F2-40F8-9845-0866A29B3AA0}"/>
                </a:ext>
              </a:extLst>
            </p:cNvPr>
            <p:cNvSpPr/>
            <p:nvPr/>
          </p:nvSpPr>
          <p:spPr>
            <a:xfrm>
              <a:off x="4667250" y="4476750"/>
              <a:ext cx="38100" cy="762000"/>
            </a:xfrm>
            <a:prstGeom prst="rect">
              <a:avLst/>
            </a:prstGeom>
            <a:solidFill>
              <a:srgbClr val="4895D6"/>
            </a:solidFill>
            <a:ln>
              <a:noFill/>
            </a:ln>
          </p:spPr>
        </p:sp>
        <p:sp>
          <p:nvSpPr>
            <p:cNvPr id="37" name="TextBox 24">
              <a:extLst>
                <a:ext uri="{FF2B5EF4-FFF2-40B4-BE49-F238E27FC236}">
                  <a16:creationId xmlns:a16="http://schemas.microsoft.com/office/drawing/2014/main" id="{D052A0DD-7C8B-4199-BCA4-D294FF1A75B4}"/>
                </a:ext>
              </a:extLst>
            </p:cNvPr>
            <p:cNvSpPr txBox="1"/>
            <p:nvPr/>
          </p:nvSpPr>
          <p:spPr>
            <a:xfrm>
              <a:off x="4909757" y="4535614"/>
              <a:ext cx="100027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>
                  <a:solidFill>
                    <a:srgbClr val="4895D6"/>
                  </a:solidFill>
                  <a:latin typeface="Segoe UI"/>
                  <a:ea typeface="Microsoft YaHei"/>
                  <a:cs typeface="Segoe UI"/>
                </a:rPr>
                <a:t>残差连接</a:t>
              </a:r>
              <a:endParaRPr lang="zh-CN" sz="1950" b="1" dirty="0">
                <a:solidFill>
                  <a:srgbClr val="4895D6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8" name="TextBox 25">
              <a:extLst>
                <a:ext uri="{FF2B5EF4-FFF2-40B4-BE49-F238E27FC236}">
                  <a16:creationId xmlns:a16="http://schemas.microsoft.com/office/drawing/2014/main" id="{1F482889-221D-4380-9A1E-8F4D8A6A4097}"/>
                </a:ext>
              </a:extLst>
            </p:cNvPr>
            <p:cNvSpPr txBox="1"/>
            <p:nvPr/>
          </p:nvSpPr>
          <p:spPr>
            <a:xfrm>
              <a:off x="4885046" y="4832175"/>
              <a:ext cx="3086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梯度可以跳跃传播，让几十上百层的深层网络能训起来而不退化</a:t>
              </a:r>
              <a:endParaRPr lang="zh-CN" sz="1500" dirty="0">
                <a:solidFill>
                  <a:srgbClr val="5A6A7E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39" name="Group 26">
            <a:extLst>
              <a:ext uri="{FF2B5EF4-FFF2-40B4-BE49-F238E27FC236}">
                <a16:creationId xmlns:a16="http://schemas.microsoft.com/office/drawing/2014/main" id="{971C0EF4-7794-4B74-B3FB-C9433A8CC977}"/>
              </a:ext>
            </a:extLst>
          </p:cNvPr>
          <p:cNvGrpSpPr/>
          <p:nvPr/>
        </p:nvGrpSpPr>
        <p:grpSpPr>
          <a:xfrm>
            <a:off x="8517313" y="1574697"/>
            <a:ext cx="3109669" cy="2072014"/>
            <a:chOff x="4667250" y="4476750"/>
            <a:chExt cx="3524250" cy="965249"/>
          </a:xfrm>
        </p:grpSpPr>
        <p:sp>
          <p:nvSpPr>
            <p:cNvPr id="40" name="Rectangle 22">
              <a:extLst>
                <a:ext uri="{FF2B5EF4-FFF2-40B4-BE49-F238E27FC236}">
                  <a16:creationId xmlns:a16="http://schemas.microsoft.com/office/drawing/2014/main" id="{DDBCB279-BE33-4934-B75B-F2BD2FAA49D0}"/>
                </a:ext>
              </a:extLst>
            </p:cNvPr>
            <p:cNvSpPr/>
            <p:nvPr/>
          </p:nvSpPr>
          <p:spPr>
            <a:xfrm>
              <a:off x="4667250" y="4476750"/>
              <a:ext cx="3524250" cy="76200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158C0EA5-E003-4CC2-9FD2-F8481CABFBAD}"/>
                </a:ext>
              </a:extLst>
            </p:cNvPr>
            <p:cNvSpPr/>
            <p:nvPr/>
          </p:nvSpPr>
          <p:spPr>
            <a:xfrm>
              <a:off x="4667250" y="4476750"/>
              <a:ext cx="38100" cy="762000"/>
            </a:xfrm>
            <a:prstGeom prst="rect">
              <a:avLst/>
            </a:prstGeom>
            <a:solidFill>
              <a:srgbClr val="4895D6"/>
            </a:solidFill>
            <a:ln>
              <a:noFill/>
            </a:ln>
          </p:spPr>
        </p:sp>
        <p:sp>
          <p:nvSpPr>
            <p:cNvPr id="42" name="TextBox 24">
              <a:extLst>
                <a:ext uri="{FF2B5EF4-FFF2-40B4-BE49-F238E27FC236}">
                  <a16:creationId xmlns:a16="http://schemas.microsoft.com/office/drawing/2014/main" id="{900C2982-514A-480F-BDFB-C84BA486B483}"/>
                </a:ext>
              </a:extLst>
            </p:cNvPr>
            <p:cNvSpPr txBox="1"/>
            <p:nvPr/>
          </p:nvSpPr>
          <p:spPr>
            <a:xfrm>
              <a:off x="4909757" y="4535614"/>
              <a:ext cx="1133631" cy="226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950" b="1">
                  <a:solidFill>
                    <a:srgbClr val="4895D6"/>
                  </a:solidFill>
                  <a:latin typeface="Segoe UI"/>
                  <a:ea typeface="Microsoft YaHei"/>
                  <a:cs typeface="Segoe UI"/>
                </a:rPr>
                <a:t>层归一化</a:t>
              </a:r>
              <a:endParaRPr lang="zh-CN" sz="1950" b="1" dirty="0">
                <a:solidFill>
                  <a:srgbClr val="4895D6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3" name="TextBox 25">
              <a:extLst>
                <a:ext uri="{FF2B5EF4-FFF2-40B4-BE49-F238E27FC236}">
                  <a16:creationId xmlns:a16="http://schemas.microsoft.com/office/drawing/2014/main" id="{3FA47049-3FCD-4E20-9613-D740F4A2D1C3}"/>
                </a:ext>
              </a:extLst>
            </p:cNvPr>
            <p:cNvSpPr txBox="1"/>
            <p:nvPr/>
          </p:nvSpPr>
          <p:spPr>
            <a:xfrm>
              <a:off x="4905366" y="4746100"/>
              <a:ext cx="3086118" cy="6958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用于不同层间的数值稳定，现代模型用 </a:t>
              </a:r>
              <a:r>
                <a:rPr lang="en-US" alt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Pre-Norm</a:t>
              </a:r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（先归一化再计算）</a:t>
              </a:r>
              <a:r>
                <a:rPr lang="en-US" alt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+ RMSNorm</a:t>
              </a:r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（只算均方根，比 </a:t>
              </a:r>
              <a:r>
                <a:rPr lang="en-US" alt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LayerNorm </a:t>
              </a:r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快）</a:t>
              </a:r>
              <a:endParaRPr lang="zh-CN" sz="1500" dirty="0">
                <a:solidFill>
                  <a:srgbClr val="5A6A7E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44" name="Group 15">
            <a:extLst>
              <a:ext uri="{FF2B5EF4-FFF2-40B4-BE49-F238E27FC236}">
                <a16:creationId xmlns:a16="http://schemas.microsoft.com/office/drawing/2014/main" id="{1567E6ED-09B8-4EB9-A3D6-5A5893B5EF11}"/>
              </a:ext>
            </a:extLst>
          </p:cNvPr>
          <p:cNvGrpSpPr/>
          <p:nvPr/>
        </p:nvGrpSpPr>
        <p:grpSpPr>
          <a:xfrm>
            <a:off x="8517312" y="3532330"/>
            <a:ext cx="3157957" cy="2375551"/>
            <a:chOff x="4667249" y="1619249"/>
            <a:chExt cx="3524251" cy="2277919"/>
          </a:xfrm>
        </p:grpSpPr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78509BF7-5C9E-44F2-B701-A8A287CCC75E}"/>
                </a:ext>
              </a:extLst>
            </p:cNvPr>
            <p:cNvSpPr/>
            <p:nvPr/>
          </p:nvSpPr>
          <p:spPr>
            <a:xfrm>
              <a:off x="4667250" y="1619249"/>
              <a:ext cx="3524250" cy="2277919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6" name="Rectangle 11">
              <a:extLst>
                <a:ext uri="{FF2B5EF4-FFF2-40B4-BE49-F238E27FC236}">
                  <a16:creationId xmlns:a16="http://schemas.microsoft.com/office/drawing/2014/main" id="{1209AEEE-93E3-4DA2-BA7A-1266E6F28F20}"/>
                </a:ext>
              </a:extLst>
            </p:cNvPr>
            <p:cNvSpPr/>
            <p:nvPr/>
          </p:nvSpPr>
          <p:spPr>
            <a:xfrm>
              <a:off x="4667249" y="1619249"/>
              <a:ext cx="51022" cy="21843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03E53870-DE8A-40D0-90F7-341B48D9534C}"/>
                </a:ext>
              </a:extLst>
            </p:cNvPr>
            <p:cNvSpPr/>
            <p:nvPr/>
          </p:nvSpPr>
          <p:spPr>
            <a:xfrm>
              <a:off x="4943474" y="1755775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48" name="TextBox 13">
              <a:extLst>
                <a:ext uri="{FF2B5EF4-FFF2-40B4-BE49-F238E27FC236}">
                  <a16:creationId xmlns:a16="http://schemas.microsoft.com/office/drawing/2014/main" id="{BC2CA066-4195-4677-8393-3DFCA409A5D4}"/>
                </a:ext>
              </a:extLst>
            </p:cNvPr>
            <p:cNvSpPr txBox="1"/>
            <p:nvPr/>
          </p:nvSpPr>
          <p:spPr>
            <a:xfrm>
              <a:off x="5324094" y="1741488"/>
              <a:ext cx="108216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950" b="1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位置编码</a:t>
              </a:r>
              <a:endParaRPr lang="zh-CN" sz="1950" b="1" dirty="0">
                <a:solidFill>
                  <a:srgbClr val="1A3A5C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CA02A460-C448-4ADE-84F1-C3C9A54CF93E}"/>
                </a:ext>
              </a:extLst>
            </p:cNvPr>
            <p:cNvSpPr txBox="1"/>
            <p:nvPr/>
          </p:nvSpPr>
          <p:spPr>
            <a:xfrm>
              <a:off x="4897756" y="2305050"/>
              <a:ext cx="3163656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注意力本身未关注位置，但是文本中的语义信息对上下文的位置很关注，这里通过绝对正余弦位置来表示每个</a:t>
              </a:r>
              <a:r>
                <a:rPr lang="en-US" alt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token</a:t>
              </a:r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的不同位置。后续也用</a:t>
              </a:r>
              <a:r>
                <a:rPr lang="en-US" altLang="zh-CN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RoPE</a:t>
              </a:r>
              <a:r>
                <a:rPr lang="zh-CN" altLang="en-US" sz="150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（旋转位置编码）通过旋转向量来编码位置。</a:t>
              </a:r>
              <a:endParaRPr lang="zh-CN" sz="1500" dirty="0">
                <a:solidFill>
                  <a:srgbClr val="5A6A7E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3489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7593-0419-A8FF-8252-49E0C3CF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E2D882-4357-DB6D-ED7A-80650E3C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9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B3B5F7F-82AD-A0BB-444D-319BF32F5D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id="{4836B2C8-D9F0-4DF5-BD88-B46DC2BC57A8}"/>
              </a:ext>
            </a:extLst>
          </p:cNvPr>
          <p:cNvGrpSpPr/>
          <p:nvPr/>
        </p:nvGrpSpPr>
        <p:grpSpPr>
          <a:xfrm>
            <a:off x="952500" y="515349"/>
            <a:ext cx="5865783" cy="415498"/>
            <a:chOff x="952500" y="515349"/>
            <a:chExt cx="5865783" cy="415498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678E3AA6-184B-4A2F-880D-E202E738D00D}"/>
                </a:ext>
              </a:extLst>
            </p:cNvPr>
            <p:cNvSpPr/>
            <p:nvPr/>
          </p:nvSpPr>
          <p:spPr>
            <a:xfrm>
              <a:off x="952500" y="533400"/>
              <a:ext cx="57150" cy="3810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D043D989-6476-4D49-9C5D-1473D755C265}"/>
                </a:ext>
              </a:extLst>
            </p:cNvPr>
            <p:cNvSpPr txBox="1"/>
            <p:nvPr/>
          </p:nvSpPr>
          <p:spPr>
            <a:xfrm>
              <a:off x="1201361" y="515349"/>
              <a:ext cx="5616922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>
                      <a:lumMod val="50000"/>
                    </a:schemeClr>
                  </a:solidFill>
                  <a:latin typeface="Arial"/>
                  <a:ea typeface="Microsoft YaHei"/>
                  <a:cs typeface="Arial"/>
                </a:rPr>
                <a:t>为什么</a:t>
              </a:r>
              <a:r>
                <a:rPr lang="zh-CN" sz="2700">
                  <a:solidFill>
                    <a:schemeClr val="accent5">
                      <a:lumMod val="50000"/>
                    </a:schemeClr>
                  </a:solidFill>
                  <a:latin typeface="Arial"/>
                  <a:ea typeface="Microsoft YaHei"/>
                  <a:cs typeface="Arial"/>
                </a:rPr>
                <a:t>大模型选择</a:t>
              </a:r>
              <a:r>
                <a:rPr lang="zh-CN" sz="2700" dirty="0">
                  <a:solidFill>
                    <a:schemeClr val="accent5">
                      <a:lumMod val="50000"/>
                    </a:schemeClr>
                  </a:solidFill>
                  <a:latin typeface="Arial"/>
                  <a:ea typeface="Microsoft YaHei"/>
                  <a:cs typeface="Arial"/>
                </a:rPr>
                <a:t>了 Decoder-only？</a:t>
              </a:r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DD1ECCCB-FA84-4D37-9F4A-793445D5DB00}"/>
              </a:ext>
            </a:extLst>
          </p:cNvPr>
          <p:cNvGrpSpPr/>
          <p:nvPr/>
        </p:nvGrpSpPr>
        <p:grpSpPr>
          <a:xfrm>
            <a:off x="952500" y="1180459"/>
            <a:ext cx="3429000" cy="1524000"/>
            <a:chOff x="952500" y="1666875"/>
            <a:chExt cx="3429000" cy="1524000"/>
          </a:xfrm>
        </p:grpSpPr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ED4C113A-CC8D-4C1F-8758-1D0D5211DC8A}"/>
                </a:ext>
              </a:extLst>
            </p:cNvPr>
            <p:cNvSpPr/>
            <p:nvPr/>
          </p:nvSpPr>
          <p:spPr>
            <a:xfrm>
              <a:off x="952500" y="1666875"/>
              <a:ext cx="3429000" cy="152400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5" name="TextBox 8">
              <a:extLst>
                <a:ext uri="{FF2B5EF4-FFF2-40B4-BE49-F238E27FC236}">
                  <a16:creationId xmlns:a16="http://schemas.microsoft.com/office/drawing/2014/main" id="{B6EA7F03-3A82-456A-BF00-94ED36E33193}"/>
                </a:ext>
              </a:extLst>
            </p:cNvPr>
            <p:cNvSpPr txBox="1"/>
            <p:nvPr/>
          </p:nvSpPr>
          <p:spPr>
            <a:xfrm>
              <a:off x="1227582" y="1868805"/>
              <a:ext cx="19159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8A9AB0"/>
                  </a:solidFill>
                  <a:latin typeface="Segoe UI"/>
                  <a:ea typeface="Segoe UI"/>
                  <a:cs typeface="Segoe UI"/>
                </a:rPr>
                <a:t>Encoder-only</a:t>
              </a:r>
            </a:p>
          </p:txBody>
        </p:sp>
        <p:sp>
          <p:nvSpPr>
            <p:cNvPr id="16" name="TextBox 9">
              <a:extLst>
                <a:ext uri="{FF2B5EF4-FFF2-40B4-BE49-F238E27FC236}">
                  <a16:creationId xmlns:a16="http://schemas.microsoft.com/office/drawing/2014/main" id="{740537BE-441D-4637-9E74-E0A737FC7C80}"/>
                </a:ext>
              </a:extLst>
            </p:cNvPr>
            <p:cNvSpPr txBox="1"/>
            <p:nvPr/>
          </p:nvSpPr>
          <p:spPr>
            <a:xfrm>
              <a:off x="1229868" y="2298382"/>
              <a:ext cx="30459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BERT </a:t>
              </a:r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· RoBERTa · 双向注意力</a:t>
              </a: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547FAF5C-50D8-4984-9810-D9CDA66F9BE0}"/>
                </a:ext>
              </a:extLst>
            </p:cNvPr>
            <p:cNvSpPr txBox="1"/>
            <p:nvPr/>
          </p:nvSpPr>
          <p:spPr>
            <a:xfrm>
              <a:off x="1229868" y="2631758"/>
              <a:ext cx="29152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MLM 目标与生成任务不匹配</a:t>
              </a:r>
            </a:p>
          </p:txBody>
        </p:sp>
      </p:grpSp>
      <p:grpSp>
        <p:nvGrpSpPr>
          <p:cNvPr id="18" name="Group 16">
            <a:extLst>
              <a:ext uri="{FF2B5EF4-FFF2-40B4-BE49-F238E27FC236}">
                <a16:creationId xmlns:a16="http://schemas.microsoft.com/office/drawing/2014/main" id="{86881830-8601-4439-9CAB-847592B4833E}"/>
              </a:ext>
            </a:extLst>
          </p:cNvPr>
          <p:cNvGrpSpPr/>
          <p:nvPr/>
        </p:nvGrpSpPr>
        <p:grpSpPr>
          <a:xfrm>
            <a:off x="4572000" y="1180459"/>
            <a:ext cx="3429000" cy="1524000"/>
            <a:chOff x="4572000" y="1666875"/>
            <a:chExt cx="3429000" cy="1524000"/>
          </a:xfrm>
        </p:grpSpPr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FA7D8CAE-EE78-4962-A47D-A15490642386}"/>
                </a:ext>
              </a:extLst>
            </p:cNvPr>
            <p:cNvSpPr/>
            <p:nvPr/>
          </p:nvSpPr>
          <p:spPr>
            <a:xfrm>
              <a:off x="4572000" y="1666875"/>
              <a:ext cx="3429000" cy="152400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0" name="TextBox 13">
              <a:extLst>
                <a:ext uri="{FF2B5EF4-FFF2-40B4-BE49-F238E27FC236}">
                  <a16:creationId xmlns:a16="http://schemas.microsoft.com/office/drawing/2014/main" id="{1FB07E4A-DA95-44E8-B53E-4919E437F12E}"/>
                </a:ext>
              </a:extLst>
            </p:cNvPr>
            <p:cNvSpPr txBox="1"/>
            <p:nvPr/>
          </p:nvSpPr>
          <p:spPr>
            <a:xfrm>
              <a:off x="4847082" y="1868805"/>
              <a:ext cx="24900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8A9AB0"/>
                  </a:solidFill>
                  <a:latin typeface="Segoe UI"/>
                  <a:ea typeface="Segoe UI"/>
                  <a:cs typeface="Segoe UI"/>
                </a:rPr>
                <a:t>Encoder-Decoder</a:t>
              </a:r>
            </a:p>
          </p:txBody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DB0AB02D-A077-4EAB-ABE1-4FE03F18B78C}"/>
                </a:ext>
              </a:extLst>
            </p:cNvPr>
            <p:cNvSpPr txBox="1"/>
            <p:nvPr/>
          </p:nvSpPr>
          <p:spPr>
            <a:xfrm>
              <a:off x="4849368" y="2298382"/>
              <a:ext cx="233878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T5 </a:t>
              </a:r>
              <a:r>
                <a:rPr 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en-US" alt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Seq2Seq</a:t>
              </a:r>
              <a:r>
                <a:rPr lang="zh-CN" sz="165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· 两套参数</a:t>
              </a:r>
            </a:p>
          </p:txBody>
        </p:sp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07EDE575-9B28-4A06-B78F-B4658600AC28}"/>
                </a:ext>
              </a:extLst>
            </p:cNvPr>
            <p:cNvSpPr txBox="1"/>
            <p:nvPr/>
          </p:nvSpPr>
          <p:spPr>
            <a:xfrm>
              <a:off x="4849368" y="2631758"/>
              <a:ext cx="28044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复杂度更高，翻译/摘要专用</a:t>
              </a:r>
            </a:p>
          </p:txBody>
        </p:sp>
      </p:grpSp>
      <p:grpSp>
        <p:nvGrpSpPr>
          <p:cNvPr id="24" name="Group 21">
            <a:extLst>
              <a:ext uri="{FF2B5EF4-FFF2-40B4-BE49-F238E27FC236}">
                <a16:creationId xmlns:a16="http://schemas.microsoft.com/office/drawing/2014/main" id="{15512ED4-24FC-4B7B-9B1D-56EDD827B63A}"/>
              </a:ext>
            </a:extLst>
          </p:cNvPr>
          <p:cNvGrpSpPr/>
          <p:nvPr/>
        </p:nvGrpSpPr>
        <p:grpSpPr>
          <a:xfrm>
            <a:off x="8191500" y="1180459"/>
            <a:ext cx="3048000" cy="1524000"/>
            <a:chOff x="8191500" y="1666875"/>
            <a:chExt cx="3048000" cy="1524000"/>
          </a:xfrm>
        </p:grpSpPr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F8F759B6-8576-495E-9F65-6968A647D9ED}"/>
                </a:ext>
              </a:extLst>
            </p:cNvPr>
            <p:cNvSpPr/>
            <p:nvPr/>
          </p:nvSpPr>
          <p:spPr>
            <a:xfrm>
              <a:off x="8191500" y="1666875"/>
              <a:ext cx="3048000" cy="15240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7" name="TextBox 18">
              <a:extLst>
                <a:ext uri="{FF2B5EF4-FFF2-40B4-BE49-F238E27FC236}">
                  <a16:creationId xmlns:a16="http://schemas.microsoft.com/office/drawing/2014/main" id="{AC236843-599D-4640-B877-976B2840B476}"/>
                </a:ext>
              </a:extLst>
            </p:cNvPr>
            <p:cNvSpPr txBox="1"/>
            <p:nvPr/>
          </p:nvSpPr>
          <p:spPr>
            <a:xfrm>
              <a:off x="8466582" y="1868805"/>
              <a:ext cx="19159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Decoder-only</a:t>
              </a:r>
            </a:p>
          </p:txBody>
        </p:sp>
        <p:sp>
          <p:nvSpPr>
            <p:cNvPr id="30" name="TextBox 19">
              <a:extLst>
                <a:ext uri="{FF2B5EF4-FFF2-40B4-BE49-F238E27FC236}">
                  <a16:creationId xmlns:a16="http://schemas.microsoft.com/office/drawing/2014/main" id="{18D555B6-58C5-436D-9010-733A510CA1A2}"/>
                </a:ext>
              </a:extLst>
            </p:cNvPr>
            <p:cNvSpPr txBox="1"/>
            <p:nvPr/>
          </p:nvSpPr>
          <p:spPr>
            <a:xfrm>
              <a:off x="8468868" y="2298382"/>
              <a:ext cx="26066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D0D8E4"/>
                  </a:solidFill>
                  <a:latin typeface="Arial"/>
                  <a:ea typeface="Arial"/>
                  <a:cs typeface="Arial"/>
                </a:rPr>
                <a:t>GPT · LLaMA · DeepSeek</a:t>
              </a:r>
            </a:p>
          </p:txBody>
        </p:sp>
        <p:sp>
          <p:nvSpPr>
            <p:cNvPr id="31" name="TextBox 20">
              <a:extLst>
                <a:ext uri="{FF2B5EF4-FFF2-40B4-BE49-F238E27FC236}">
                  <a16:creationId xmlns:a16="http://schemas.microsoft.com/office/drawing/2014/main" id="{D4C182EB-FE3E-4783-AD39-AF0CA78767B3}"/>
                </a:ext>
              </a:extLst>
            </p:cNvPr>
            <p:cNvSpPr txBox="1"/>
            <p:nvPr/>
          </p:nvSpPr>
          <p:spPr>
            <a:xfrm>
              <a:off x="8468868" y="2631758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0D8E4"/>
                  </a:solidFill>
                  <a:latin typeface="Arial"/>
                  <a:ea typeface="Microsoft YaHei"/>
                  <a:cs typeface="Arial"/>
                </a:rPr>
                <a:t>因果注意力 · 自回归生成</a:t>
              </a:r>
            </a:p>
          </p:txBody>
        </p:sp>
      </p:grpSp>
      <p:grpSp>
        <p:nvGrpSpPr>
          <p:cNvPr id="32" name="Group 29">
            <a:extLst>
              <a:ext uri="{FF2B5EF4-FFF2-40B4-BE49-F238E27FC236}">
                <a16:creationId xmlns:a16="http://schemas.microsoft.com/office/drawing/2014/main" id="{52634839-66C0-4DE8-B937-13AADB26E3B4}"/>
              </a:ext>
            </a:extLst>
          </p:cNvPr>
          <p:cNvGrpSpPr/>
          <p:nvPr/>
        </p:nvGrpSpPr>
        <p:grpSpPr>
          <a:xfrm>
            <a:off x="883996" y="2925946"/>
            <a:ext cx="10805008" cy="2371446"/>
            <a:chOff x="952500" y="3343554"/>
            <a:chExt cx="10805008" cy="2371446"/>
          </a:xfrm>
        </p:grpSpPr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2ADE53FA-310A-4ECE-9384-D0CF654E5A8C}"/>
                </a:ext>
              </a:extLst>
            </p:cNvPr>
            <p:cNvSpPr txBox="1"/>
            <p:nvPr/>
          </p:nvSpPr>
          <p:spPr>
            <a:xfrm>
              <a:off x="1015670" y="3343554"/>
              <a:ext cx="46907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Decoder-only 胜出的三个关键理由</a:t>
              </a:r>
            </a:p>
          </p:txBody>
        </p: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ABB1D876-4822-4206-AC87-A407DA6A2202}"/>
                </a:ext>
              </a:extLst>
            </p:cNvPr>
            <p:cNvSpPr/>
            <p:nvPr/>
          </p:nvSpPr>
          <p:spPr>
            <a:xfrm>
              <a:off x="952500" y="3790376"/>
              <a:ext cx="10287000" cy="781624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35" name="TextBox 24">
              <a:extLst>
                <a:ext uri="{FF2B5EF4-FFF2-40B4-BE49-F238E27FC236}">
                  <a16:creationId xmlns:a16="http://schemas.microsoft.com/office/drawing/2014/main" id="{1ADA4D13-A63B-454C-BAB3-6A6C441649A7}"/>
                </a:ext>
              </a:extLst>
            </p:cNvPr>
            <p:cNvSpPr txBox="1"/>
            <p:nvPr/>
          </p:nvSpPr>
          <p:spPr>
            <a:xfrm>
              <a:off x="1290752" y="3713033"/>
              <a:ext cx="10010394" cy="781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sz="18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1. 训练效率最高：一套参数、一种结构、一个</a:t>
              </a:r>
              <a:r>
                <a:rPr lang="zh-CN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目标（</a:t>
              </a:r>
              <a:r>
                <a:rPr lang="zh-CN" altLang="en-US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因果注意力</a:t>
              </a:r>
              <a:r>
                <a:rPr lang="en-US" altLang="zh-CN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CLM</a:t>
              </a:r>
              <a:r>
                <a:rPr lang="zh-CN" altLang="en-US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，每个</a:t>
              </a:r>
              <a:r>
                <a:rPr lang="en-US" altLang="zh-CN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token</a:t>
              </a:r>
              <a:r>
                <a:rPr lang="zh-CN" altLang="en-US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只能看到自己左边的 </a:t>
              </a:r>
              <a:r>
                <a:rPr lang="en-US" altLang="zh-CN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token</a:t>
              </a:r>
              <a:r>
                <a:rPr lang="zh-CN" altLang="en-US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，天然适合预测下一个词的自回归生成</a:t>
              </a:r>
              <a:r>
                <a:rPr lang="zh-CN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）</a:t>
              </a:r>
              <a:endParaRPr lang="zh-CN" sz="1800" dirty="0">
                <a:solidFill>
                  <a:srgbClr val="1A1A1A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2AD57DC9-96EA-4444-B411-99691BA31279}"/>
                </a:ext>
              </a:extLst>
            </p:cNvPr>
            <p:cNvSpPr/>
            <p:nvPr/>
          </p:nvSpPr>
          <p:spPr>
            <a:xfrm>
              <a:off x="952500" y="4667250"/>
              <a:ext cx="10287000" cy="47625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D01D7084-452A-4A5F-A907-383C523DE825}"/>
                </a:ext>
              </a:extLst>
            </p:cNvPr>
            <p:cNvSpPr txBox="1"/>
            <p:nvPr/>
          </p:nvSpPr>
          <p:spPr>
            <a:xfrm>
              <a:off x="1229106" y="4777740"/>
              <a:ext cx="715580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2. </a:t>
              </a:r>
              <a:r>
                <a:rPr lang="zh-CN" sz="180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Scaling Laws最佳</a:t>
              </a:r>
              <a:r>
                <a:rPr lang="zh-CN" sz="18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契合：参数量增长时的性能改善最稳定、最可预测</a:t>
              </a:r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F050FE5E-A8CD-4762-9DFB-9AEF4BE140C8}"/>
                </a:ext>
              </a:extLst>
            </p:cNvPr>
            <p:cNvSpPr/>
            <p:nvPr/>
          </p:nvSpPr>
          <p:spPr>
            <a:xfrm>
              <a:off x="952500" y="5238750"/>
              <a:ext cx="10287000" cy="47625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39" name="TextBox 28">
              <a:extLst>
                <a:ext uri="{FF2B5EF4-FFF2-40B4-BE49-F238E27FC236}">
                  <a16:creationId xmlns:a16="http://schemas.microsoft.com/office/drawing/2014/main" id="{E97C80CD-711D-4A5D-97F4-A44792999F77}"/>
                </a:ext>
              </a:extLst>
            </p:cNvPr>
            <p:cNvSpPr txBox="1"/>
            <p:nvPr/>
          </p:nvSpPr>
          <p:spPr>
            <a:xfrm>
              <a:off x="1229106" y="5349240"/>
              <a:ext cx="10528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3. 零样本泛化：GPT-3 证明通过提示词即可完成翻译、分类、QA 等多种任务，无需额外微调</a:t>
              </a:r>
            </a:p>
          </p:txBody>
        </p:sp>
      </p:grpSp>
      <p:grpSp>
        <p:nvGrpSpPr>
          <p:cNvPr id="40" name="Group 33">
            <a:extLst>
              <a:ext uri="{FF2B5EF4-FFF2-40B4-BE49-F238E27FC236}">
                <a16:creationId xmlns:a16="http://schemas.microsoft.com/office/drawing/2014/main" id="{13F60301-8627-4090-B704-73B80A4CE086}"/>
              </a:ext>
            </a:extLst>
          </p:cNvPr>
          <p:cNvGrpSpPr/>
          <p:nvPr/>
        </p:nvGrpSpPr>
        <p:grpSpPr>
          <a:xfrm>
            <a:off x="952500" y="5655399"/>
            <a:ext cx="9620250" cy="651332"/>
            <a:chOff x="952500" y="5970359"/>
            <a:chExt cx="15553341" cy="651332"/>
          </a:xfrm>
        </p:grpSpPr>
        <p:sp>
          <p:nvSpPr>
            <p:cNvPr id="41" name="Rectangle 30">
              <a:extLst>
                <a:ext uri="{FF2B5EF4-FFF2-40B4-BE49-F238E27FC236}">
                  <a16:creationId xmlns:a16="http://schemas.microsoft.com/office/drawing/2014/main" id="{6CAFDD55-6996-44BE-8DE9-DA2687CE6CF3}"/>
                </a:ext>
              </a:extLst>
            </p:cNvPr>
            <p:cNvSpPr/>
            <p:nvPr/>
          </p:nvSpPr>
          <p:spPr>
            <a:xfrm>
              <a:off x="952500" y="6000750"/>
              <a:ext cx="10287000" cy="4286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6DBA73AE-2B84-4A1D-82A8-1372B8AB5D09}"/>
                </a:ext>
              </a:extLst>
            </p:cNvPr>
            <p:cNvSpPr/>
            <p:nvPr/>
          </p:nvSpPr>
          <p:spPr>
            <a:xfrm>
              <a:off x="952500" y="619125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162641"/>
                    <a:pt x="162641" y="209550"/>
                    <a:pt x="104775" y="209550"/>
                  </a:cubicBezTo>
                  <a:cubicBezTo>
                    <a:pt x="46909" y="209550"/>
                    <a:pt x="0" y="162641"/>
                    <a:pt x="0" y="104775"/>
                  </a:cubicBezTo>
                  <a:cubicBezTo>
                    <a:pt x="0" y="46909"/>
                    <a:pt x="46909" y="0"/>
                    <a:pt x="104775" y="0"/>
                  </a:cubicBezTo>
                  <a:cubicBezTo>
                    <a:pt x="162641" y="0"/>
                    <a:pt x="209550" y="46909"/>
                    <a:pt x="209550" y="104775"/>
                  </a:cubicBezTo>
                  <a:close/>
                  <a:moveTo>
                    <a:pt x="91678" y="104775"/>
                  </a:moveTo>
                  <a:lnTo>
                    <a:pt x="78581" y="104775"/>
                  </a:lnTo>
                  <a:lnTo>
                    <a:pt x="78581" y="78581"/>
                  </a:lnTo>
                  <a:lnTo>
                    <a:pt x="117872" y="78581"/>
                  </a:lnTo>
                  <a:lnTo>
                    <a:pt x="117872" y="144066"/>
                  </a:lnTo>
                  <a:lnTo>
                    <a:pt x="130969" y="144066"/>
                  </a:lnTo>
                  <a:lnTo>
                    <a:pt x="130969" y="170259"/>
                  </a:lnTo>
                  <a:lnTo>
                    <a:pt x="91678" y="170259"/>
                  </a:lnTo>
                  <a:lnTo>
                    <a:pt x="91678" y="104775"/>
                  </a:lnTo>
                  <a:close/>
                  <a:moveTo>
                    <a:pt x="117872" y="65484"/>
                  </a:moveTo>
                  <a:lnTo>
                    <a:pt x="117872" y="39291"/>
                  </a:lnTo>
                  <a:lnTo>
                    <a:pt x="91678" y="39291"/>
                  </a:lnTo>
                  <a:lnTo>
                    <a:pt x="91678" y="65484"/>
                  </a:lnTo>
                  <a:lnTo>
                    <a:pt x="117872" y="65484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43" name="TextBox 32">
              <a:extLst>
                <a:ext uri="{FF2B5EF4-FFF2-40B4-BE49-F238E27FC236}">
                  <a16:creationId xmlns:a16="http://schemas.microsoft.com/office/drawing/2014/main" id="{E02D42D5-5687-46D8-9735-392ECD02F588}"/>
                </a:ext>
              </a:extLst>
            </p:cNvPr>
            <p:cNvSpPr txBox="1"/>
            <p:nvPr/>
          </p:nvSpPr>
          <p:spPr>
            <a:xfrm>
              <a:off x="1969798" y="5970359"/>
              <a:ext cx="14536043" cy="651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sz="150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BERT vs GPT 的本质分歧：理解优先（Encoder-only）vs 生成优先（Decoder-only）。GPT-3 之后，后者被证明是通向通用能力的更优路径。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9430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7593-0419-A8FF-8252-49E0C3CF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E2D882-4357-DB6D-ED7A-80650E3C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B3B5F7F-82AD-A0BB-444D-319BF32F5D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id="{4836B2C8-D9F0-4DF5-BD88-B46DC2BC57A8}"/>
              </a:ext>
            </a:extLst>
          </p:cNvPr>
          <p:cNvGrpSpPr/>
          <p:nvPr/>
        </p:nvGrpSpPr>
        <p:grpSpPr>
          <a:xfrm>
            <a:off x="952500" y="515349"/>
            <a:ext cx="1653092" cy="415498"/>
            <a:chOff x="952500" y="515349"/>
            <a:chExt cx="1653092" cy="415498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678E3AA6-184B-4A2F-880D-E202E738D00D}"/>
                </a:ext>
              </a:extLst>
            </p:cNvPr>
            <p:cNvSpPr/>
            <p:nvPr/>
          </p:nvSpPr>
          <p:spPr>
            <a:xfrm>
              <a:off x="952500" y="533400"/>
              <a:ext cx="57150" cy="3810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D043D989-6476-4D49-9C5D-1473D755C265}"/>
                </a:ext>
              </a:extLst>
            </p:cNvPr>
            <p:cNvSpPr txBox="1"/>
            <p:nvPr/>
          </p:nvSpPr>
          <p:spPr>
            <a:xfrm>
              <a:off x="1201361" y="515349"/>
              <a:ext cx="1404231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700">
                  <a:solidFill>
                    <a:schemeClr val="accent5">
                      <a:lumMod val="50000"/>
                    </a:schemeClr>
                  </a:solidFill>
                  <a:latin typeface="Arial"/>
                  <a:ea typeface="Microsoft YaHei"/>
                  <a:cs typeface="Arial"/>
                </a:rPr>
                <a:t>MoE</a:t>
              </a:r>
              <a:r>
                <a:rPr lang="zh-CN" altLang="en-US" sz="2700">
                  <a:solidFill>
                    <a:schemeClr val="accent5">
                      <a:lumMod val="50000"/>
                    </a:schemeClr>
                  </a:solidFill>
                  <a:latin typeface="Arial"/>
                  <a:ea typeface="Microsoft YaHei"/>
                  <a:cs typeface="Arial"/>
                </a:rPr>
                <a:t>架构</a:t>
              </a:r>
              <a:endParaRPr lang="zh-CN" sz="2700" dirty="0">
                <a:solidFill>
                  <a:schemeClr val="accent5">
                    <a:lumMod val="50000"/>
                  </a:schemeClr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BEDBB10E-ED81-4DF3-878E-984B808C3ECB}"/>
              </a:ext>
            </a:extLst>
          </p:cNvPr>
          <p:cNvSpPr/>
          <p:nvPr/>
        </p:nvSpPr>
        <p:spPr>
          <a:xfrm>
            <a:off x="1009650" y="1730004"/>
            <a:ext cx="9831840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en-US">
                <a:latin typeface="+mn-ea"/>
              </a:rPr>
              <a:t>随着模型变大，稠密模型的每个 </a:t>
            </a:r>
            <a:r>
              <a:rPr lang="en-US" altLang="zh-CN">
                <a:latin typeface="+mn-ea"/>
              </a:rPr>
              <a:t>token </a:t>
            </a:r>
            <a:r>
              <a:rPr lang="zh-CN" altLang="en-US">
                <a:latin typeface="+mn-ea"/>
              </a:rPr>
              <a:t>都要过全部参数，算力成本爆炸。混合专家（</a:t>
            </a:r>
            <a:r>
              <a:rPr lang="en-US" altLang="zh-CN">
                <a:latin typeface="+mn-ea"/>
              </a:rPr>
              <a:t>Mixture of Experts, MoE</a:t>
            </a:r>
            <a:r>
              <a:rPr lang="zh-CN" altLang="en-US">
                <a:latin typeface="+mn-ea"/>
              </a:rPr>
              <a:t>） 的思路是：</a:t>
            </a:r>
            <a:endParaRPr lang="en-US" altLang="zh-CN">
              <a:latin typeface="+mn-ea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>
                <a:latin typeface="+mn-ea"/>
              </a:rPr>
              <a:t>     把 </a:t>
            </a:r>
            <a:r>
              <a:rPr lang="en-US" altLang="zh-CN">
                <a:latin typeface="+mn-ea"/>
              </a:rPr>
              <a:t>FFN </a:t>
            </a:r>
            <a:r>
              <a:rPr lang="zh-CN" altLang="en-US">
                <a:latin typeface="+mn-ea"/>
              </a:rPr>
              <a:t>层替换成</a:t>
            </a:r>
            <a:r>
              <a:rPr lang="zh-CN" altLang="en-US" b="1">
                <a:latin typeface="+mn-ea"/>
              </a:rPr>
              <a:t>很多个专家 </a:t>
            </a:r>
            <a:r>
              <a:rPr lang="en-US" altLang="zh-CN" b="1">
                <a:latin typeface="+mn-ea"/>
              </a:rPr>
              <a:t>+ </a:t>
            </a:r>
            <a:r>
              <a:rPr lang="zh-CN" altLang="en-US" b="1">
                <a:latin typeface="+mn-ea"/>
              </a:rPr>
              <a:t>一个路由器</a:t>
            </a:r>
            <a:r>
              <a:rPr lang="zh-CN" altLang="en-US">
                <a:latin typeface="+mn-ea"/>
              </a:rPr>
              <a:t>，每个 </a:t>
            </a:r>
            <a:r>
              <a:rPr lang="en-US" altLang="zh-CN">
                <a:latin typeface="+mn-ea"/>
              </a:rPr>
              <a:t>token </a:t>
            </a:r>
            <a:r>
              <a:rPr lang="zh-CN" altLang="en-US">
                <a:latin typeface="+mn-ea"/>
              </a:rPr>
              <a:t>只被路由到少数几个专家去计算。</a:t>
            </a:r>
            <a:endParaRPr lang="en-US" altLang="zh-CN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9B16CB-5BDC-4D91-A290-F85C608DE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3835513"/>
            <a:ext cx="9966960" cy="2024423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4C966E8C-388C-4789-8650-6A3F5689567C}"/>
              </a:ext>
            </a:extLst>
          </p:cNvPr>
          <p:cNvSpPr txBox="1"/>
          <p:nvPr/>
        </p:nvSpPr>
        <p:spPr>
          <a:xfrm>
            <a:off x="981075" y="3199546"/>
            <a:ext cx="996696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en-US">
                <a:latin typeface="+mn-ea"/>
              </a:rPr>
              <a:t>这样就实现了 总参数量很大、但单次推理实际激活的参数量很小</a:t>
            </a:r>
            <a:endParaRPr lang="zh-CN" altLang="zh-CN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398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CA08-E94B-E992-8B25-AEEE767A6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6F0662D4-7144-3E67-EDD8-93A08B82E7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4" b="51527"/>
          <a:stretch/>
        </p:blipFill>
        <p:spPr>
          <a:xfrm>
            <a:off x="0" y="4610027"/>
            <a:ext cx="12209861" cy="224797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38B9368F-5DEB-FBD5-E677-96C1E0FD84E8}"/>
              </a:ext>
            </a:extLst>
          </p:cNvPr>
          <p:cNvSpPr/>
          <p:nvPr/>
        </p:nvSpPr>
        <p:spPr>
          <a:xfrm>
            <a:off x="0" y="-182880"/>
            <a:ext cx="12209861" cy="686943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81F69D1C-7F43-290D-27CE-548395681670}"/>
              </a:ext>
            </a:extLst>
          </p:cNvPr>
          <p:cNvGrpSpPr/>
          <p:nvPr/>
        </p:nvGrpSpPr>
        <p:grpSpPr>
          <a:xfrm>
            <a:off x="-17865" y="1270600"/>
            <a:ext cx="12333689" cy="3640867"/>
            <a:chOff x="0" y="0"/>
            <a:chExt cx="4816593" cy="14383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A4BDCC2-9D84-C46C-7F8B-196D29F8D792}"/>
                </a:ext>
              </a:extLst>
            </p:cNvPr>
            <p:cNvSpPr/>
            <p:nvPr/>
          </p:nvSpPr>
          <p:spPr>
            <a:xfrm>
              <a:off x="0" y="0"/>
              <a:ext cx="4816592" cy="1438367"/>
            </a:xfrm>
            <a:custGeom>
              <a:avLst/>
              <a:gdLst/>
              <a:ahLst/>
              <a:cxnLst/>
              <a:rect l="l" t="t" r="r" b="b"/>
              <a:pathLst>
                <a:path w="4816592" h="1438367">
                  <a:moveTo>
                    <a:pt x="0" y="0"/>
                  </a:moveTo>
                  <a:lnTo>
                    <a:pt x="4816592" y="0"/>
                  </a:lnTo>
                  <a:lnTo>
                    <a:pt x="4816592" y="1438367"/>
                  </a:lnTo>
                  <a:lnTo>
                    <a:pt x="0" y="1438367"/>
                  </a:lnTo>
                  <a:close/>
                </a:path>
              </a:pathLst>
            </a:custGeom>
            <a:solidFill>
              <a:srgbClr val="04407E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981F570-312F-4009-FF13-B3E43A8A47D1}"/>
                </a:ext>
              </a:extLst>
            </p:cNvPr>
            <p:cNvSpPr txBox="1"/>
            <p:nvPr/>
          </p:nvSpPr>
          <p:spPr>
            <a:xfrm>
              <a:off x="0" y="-85725"/>
              <a:ext cx="4816593" cy="15240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C59138-55B5-E85B-FDCC-93BA1B18DEAB}"/>
              </a:ext>
            </a:extLst>
          </p:cNvPr>
          <p:cNvGrpSpPr/>
          <p:nvPr/>
        </p:nvGrpSpPr>
        <p:grpSpPr>
          <a:xfrm>
            <a:off x="5020422" y="336542"/>
            <a:ext cx="1868115" cy="186811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F4EFF9C-935F-4483-2A95-54534320A81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ABA3138-60DF-E9C9-0B0E-D7ADCE7D68A6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366AD92-0420-DA65-985C-941BD691998B}"/>
              </a:ext>
            </a:extLst>
          </p:cNvPr>
          <p:cNvGrpSpPr/>
          <p:nvPr/>
        </p:nvGrpSpPr>
        <p:grpSpPr>
          <a:xfrm>
            <a:off x="5113284" y="423246"/>
            <a:ext cx="1694707" cy="169470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60C42F8-2D2C-EDDA-4838-570DF230EC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407E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6FFC289-F4D8-FB28-9BC4-321B4ACBA18B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43A12306-5D1E-D676-9E20-0B8C1B893B0D}"/>
              </a:ext>
            </a:extLst>
          </p:cNvPr>
          <p:cNvSpPr/>
          <p:nvPr/>
        </p:nvSpPr>
        <p:spPr>
          <a:xfrm>
            <a:off x="4953895" y="684033"/>
            <a:ext cx="2001170" cy="1274292"/>
          </a:xfrm>
          <a:custGeom>
            <a:avLst/>
            <a:gdLst/>
            <a:ahLst/>
            <a:cxnLst/>
            <a:rect l="l" t="t" r="r" b="b"/>
            <a:pathLst>
              <a:path w="3001755" h="1911438">
                <a:moveTo>
                  <a:pt x="0" y="0"/>
                </a:moveTo>
                <a:lnTo>
                  <a:pt x="3001754" y="0"/>
                </a:lnTo>
                <a:lnTo>
                  <a:pt x="3001754" y="1911438"/>
                </a:lnTo>
                <a:lnTo>
                  <a:pt x="0" y="191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7063E86-40F5-932E-FD65-AFEF7438C286}"/>
              </a:ext>
            </a:extLst>
          </p:cNvPr>
          <p:cNvSpPr txBox="1"/>
          <p:nvPr/>
        </p:nvSpPr>
        <p:spPr>
          <a:xfrm>
            <a:off x="894854" y="2480211"/>
            <a:ext cx="10366564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1"/>
              </a:lnSpc>
              <a:spcBef>
                <a:spcPct val="0"/>
              </a:spcBef>
            </a:pPr>
            <a:r>
              <a:rPr lang="en-US" altLang="zh-CN" sz="8334" b="1">
                <a:solidFill>
                  <a:srgbClr val="FFFFFF"/>
                </a:solidFill>
                <a:latin typeface="思源宋体 Bold"/>
                <a:ea typeface="思源宋体 Bold"/>
                <a:cs typeface="思源宋体 Bold"/>
                <a:sym typeface="思源宋体 Bold"/>
              </a:rPr>
              <a:t>Token</a:t>
            </a:r>
            <a:r>
              <a:rPr lang="zh-CN" altLang="en-US" sz="8334" b="1">
                <a:solidFill>
                  <a:srgbClr val="FFFFFF"/>
                </a:solidFill>
                <a:latin typeface="思源宋体 Bold"/>
                <a:ea typeface="思源宋体 Bold"/>
                <a:cs typeface="思源宋体 Bold"/>
                <a:sym typeface="思源宋体 Bold"/>
              </a:rPr>
              <a:t>化与上下文窗口</a:t>
            </a:r>
            <a:endParaRPr lang="en-US" sz="8334" b="1">
              <a:solidFill>
                <a:srgbClr val="FFFFFF"/>
              </a:solidFill>
              <a:latin typeface="思源宋体 Bold"/>
              <a:ea typeface="思源宋体 Bold"/>
              <a:cs typeface="思源宋体 Bold"/>
              <a:sym typeface="思源宋体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E1AA33F-8B87-7BBD-4732-AFCCEEDC706E}"/>
              </a:ext>
            </a:extLst>
          </p:cNvPr>
          <p:cNvSpPr txBox="1"/>
          <p:nvPr/>
        </p:nvSpPr>
        <p:spPr>
          <a:xfrm>
            <a:off x="5228427" y="677683"/>
            <a:ext cx="1518593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2"/>
              </a:lnSpc>
            </a:pPr>
            <a:r>
              <a:rPr lang="en-US" sz="7176" b="1">
                <a:solidFill>
                  <a:srgbClr val="FFFFFF"/>
                </a:solidFill>
                <a:latin typeface="思源宋体 Heavy"/>
                <a:ea typeface="思源宋体 Heavy"/>
                <a:cs typeface="思源宋体 Heavy"/>
                <a:sym typeface="思源宋体 Heavy"/>
              </a:rPr>
              <a:t>03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57CECCAB-D7C2-7985-A983-0345744CDF63}"/>
              </a:ext>
            </a:extLst>
          </p:cNvPr>
          <p:cNvGrpSpPr/>
          <p:nvPr/>
        </p:nvGrpSpPr>
        <p:grpSpPr>
          <a:xfrm>
            <a:off x="-308920" y="4779201"/>
            <a:ext cx="12774111" cy="264531"/>
            <a:chOff x="0" y="0"/>
            <a:chExt cx="5046563" cy="10450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653D813-17D1-98C7-D878-1C4D789F3DF5}"/>
                </a:ext>
              </a:extLst>
            </p:cNvPr>
            <p:cNvSpPr/>
            <p:nvPr/>
          </p:nvSpPr>
          <p:spPr>
            <a:xfrm>
              <a:off x="0" y="0"/>
              <a:ext cx="5046563" cy="104506"/>
            </a:xfrm>
            <a:custGeom>
              <a:avLst/>
              <a:gdLst/>
              <a:ahLst/>
              <a:cxnLst/>
              <a:rect l="l" t="t" r="r" b="b"/>
              <a:pathLst>
                <a:path w="5046563" h="104506">
                  <a:moveTo>
                    <a:pt x="0" y="0"/>
                  </a:moveTo>
                  <a:lnTo>
                    <a:pt x="5046563" y="0"/>
                  </a:lnTo>
                  <a:lnTo>
                    <a:pt x="5046563" y="104506"/>
                  </a:lnTo>
                  <a:lnTo>
                    <a:pt x="0" y="104506"/>
                  </a:lnTo>
                  <a:close/>
                </a:path>
              </a:pathLst>
            </a:custGeom>
            <a:solidFill>
              <a:srgbClr val="04407E">
                <a:alpha val="29804"/>
              </a:srgbClr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6DA161A-E8A1-BCF2-41C8-A416386950D4}"/>
                </a:ext>
              </a:extLst>
            </p:cNvPr>
            <p:cNvSpPr txBox="1"/>
            <p:nvPr/>
          </p:nvSpPr>
          <p:spPr>
            <a:xfrm>
              <a:off x="0" y="-85725"/>
              <a:ext cx="5046563" cy="19023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8A17FBD5-C08A-7710-9EDA-06083569AD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3" y="81152"/>
            <a:ext cx="3301829" cy="9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81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739A-65C3-B507-56D2-D7E91F03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1807FA63-088F-63DF-BA11-4EF7109CFD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2809" y="1295638"/>
            <a:ext cx="5883078" cy="478298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F48BED03-D348-CB7E-A4E9-CDBDFC827B91}"/>
              </a:ext>
            </a:extLst>
          </p:cNvPr>
          <p:cNvSpPr/>
          <p:nvPr/>
        </p:nvSpPr>
        <p:spPr>
          <a:xfrm>
            <a:off x="5828206" y="1088636"/>
            <a:ext cx="6309298" cy="5070679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C956A-1D4B-7035-F6ED-C7C5F306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B5B913F-9549-46B4-7CDB-FA6DDD6C57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F6BC43D-1217-CCB7-6A5A-B167570CC9A4}"/>
              </a:ext>
            </a:extLst>
          </p:cNvPr>
          <p:cNvSpPr txBox="1"/>
          <p:nvPr/>
        </p:nvSpPr>
        <p:spPr>
          <a:xfrm>
            <a:off x="956581" y="319293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</a:rPr>
              <a:t>Tokenization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FCA53F-AE09-86B7-D9ED-B09ED741F220}"/>
              </a:ext>
            </a:extLst>
          </p:cNvPr>
          <p:cNvSpPr/>
          <p:nvPr/>
        </p:nvSpPr>
        <p:spPr>
          <a:xfrm>
            <a:off x="1051589" y="1004013"/>
            <a:ext cx="9220172" cy="8730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</a:rPr>
              <a:t>模型无法直接处理文字，文本必须先被切分成 </a:t>
            </a:r>
            <a:r>
              <a:rPr lang="en-US" altLang="zh-CN" b="1">
                <a:solidFill>
                  <a:schemeClr val="tx1"/>
                </a:solidFill>
              </a:rPr>
              <a:t>token</a:t>
            </a:r>
            <a:r>
              <a:rPr lang="zh-CN" altLang="en-US" b="1">
                <a:solidFill>
                  <a:schemeClr val="tx1"/>
                </a:solidFill>
              </a:rPr>
              <a:t>（词元），这个切分过程叫分词（</a:t>
            </a:r>
            <a:r>
              <a:rPr lang="en-US" altLang="zh-CN" b="1">
                <a:solidFill>
                  <a:schemeClr val="tx1"/>
                </a:solidFill>
              </a:rPr>
              <a:t>tokenization</a:t>
            </a:r>
            <a:r>
              <a:rPr lang="zh-CN" altLang="en-US" b="1">
                <a:solidFill>
                  <a:schemeClr val="tx1"/>
                </a:solidFill>
              </a:rPr>
              <a:t>）。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1E6B99-BA7B-0CD7-7AF3-E690B64C3785}"/>
              </a:ext>
            </a:extLst>
          </p:cNvPr>
          <p:cNvSpPr/>
          <p:nvPr/>
        </p:nvSpPr>
        <p:spPr>
          <a:xfrm>
            <a:off x="1013089" y="2584617"/>
            <a:ext cx="9630234" cy="1155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从字符级开始，所有字符都是初始 </a:t>
            </a:r>
            <a:r>
              <a:rPr lang="en-US" altLang="zh-CN" sz="1600"/>
              <a:t>token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统计训练语料里最常一起出现的相邻 </a:t>
            </a:r>
            <a:r>
              <a:rPr lang="en-US" altLang="zh-CN" sz="1600"/>
              <a:t>token </a:t>
            </a:r>
            <a:r>
              <a:rPr lang="zh-CN" altLang="en-US" sz="1600"/>
              <a:t>对 → 合并为一个新 </a:t>
            </a:r>
            <a:r>
              <a:rPr lang="en-US" altLang="zh-CN" sz="1600"/>
              <a:t>token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反复合并，直到词表达到设定大小（如 </a:t>
            </a:r>
            <a:r>
              <a:rPr lang="en-US" altLang="zh-CN" sz="1600"/>
              <a:t>GPT-4 </a:t>
            </a:r>
            <a:r>
              <a:rPr lang="zh-CN" altLang="en-US" sz="1600"/>
              <a:t>的 </a:t>
            </a:r>
            <a:r>
              <a:rPr lang="en-US" altLang="zh-CN" sz="1600"/>
              <a:t>~100K</a:t>
            </a:r>
            <a:r>
              <a:rPr lang="zh-CN" altLang="en-US" sz="1600"/>
              <a:t>，</a:t>
            </a:r>
            <a:r>
              <a:rPr lang="en-US" altLang="zh-CN" sz="1600"/>
              <a:t>Qwen2.5 </a:t>
            </a:r>
            <a:r>
              <a:rPr lang="zh-CN" altLang="en-US" sz="1600"/>
              <a:t>的 </a:t>
            </a:r>
            <a:r>
              <a:rPr lang="en-US" altLang="zh-CN" sz="1600"/>
              <a:t>~152K</a:t>
            </a:r>
            <a:r>
              <a:rPr lang="zh-CN" altLang="en-US" sz="1600"/>
              <a:t>）</a:t>
            </a:r>
            <a:endParaRPr lang="en-US" altLang="zh-CN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6759C4-2AE5-F40E-DC68-2CAF2E8D0C82}"/>
              </a:ext>
            </a:extLst>
          </p:cNvPr>
          <p:cNvSpPr/>
          <p:nvPr/>
        </p:nvSpPr>
        <p:spPr>
          <a:xfrm>
            <a:off x="1051589" y="2130438"/>
            <a:ext cx="3825211" cy="3695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>
                <a:latin typeface="Cambria" panose="02040503050406030204" pitchFamily="18" charset="0"/>
                <a:ea typeface="Cambria" panose="02040503050406030204" pitchFamily="18" charset="0"/>
              </a:rPr>
              <a:t>主流算法：</a:t>
            </a:r>
            <a:r>
              <a:rPr lang="en-US" altLang="zh-CN" sz="1600" b="1">
                <a:latin typeface="Cambria" panose="02040503050406030204" pitchFamily="18" charset="0"/>
                <a:ea typeface="Cambria" panose="02040503050406030204" pitchFamily="18" charset="0"/>
              </a:rPr>
              <a:t>BPE</a:t>
            </a:r>
            <a:r>
              <a:rPr lang="zh-CN" altLang="en-US" sz="1600" b="1">
                <a:latin typeface="Cambria" panose="02040503050406030204" pitchFamily="18" charset="0"/>
                <a:ea typeface="Cambria" panose="02040503050406030204" pitchFamily="18" charset="0"/>
              </a:rPr>
              <a:t>（</a:t>
            </a:r>
            <a:r>
              <a:rPr lang="en-US" altLang="zh-CN" sz="1600" b="1">
                <a:latin typeface="Cambria" panose="02040503050406030204" pitchFamily="18" charset="0"/>
                <a:ea typeface="Cambria" panose="02040503050406030204" pitchFamily="18" charset="0"/>
              </a:rPr>
              <a:t>Byte-Pair Encoding</a:t>
            </a:r>
            <a:r>
              <a:rPr lang="zh-CN" altLang="en-US" sz="1600" b="1">
                <a:latin typeface="Cambria" panose="02040503050406030204" pitchFamily="18" charset="0"/>
                <a:ea typeface="Cambria" panose="02040503050406030204" pitchFamily="18" charset="0"/>
              </a:rPr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41ECDD-4289-4D79-93FB-259FE4AED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89" y="4304668"/>
            <a:ext cx="8961120" cy="235538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883137D-DD12-4BDE-AA03-7CBC69ED6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89" y="3889268"/>
            <a:ext cx="5400675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为什么要用子词（subword）而不是词或字符？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170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739A-65C3-B507-56D2-D7E91F03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1807FA63-088F-63DF-BA11-4EF7109CFD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2809" y="1295638"/>
            <a:ext cx="5883078" cy="478298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F48BED03-D348-CB7E-A4E9-CDBDFC827B91}"/>
              </a:ext>
            </a:extLst>
          </p:cNvPr>
          <p:cNvSpPr/>
          <p:nvPr/>
        </p:nvSpPr>
        <p:spPr>
          <a:xfrm>
            <a:off x="5828206" y="1088636"/>
            <a:ext cx="6309298" cy="5070679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C956A-1D4B-7035-F6ED-C7C5F306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B5B913F-9549-46B4-7CDB-FA6DDD6C57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F6BC43D-1217-CCB7-6A5A-B167570CC9A4}"/>
              </a:ext>
            </a:extLst>
          </p:cNvPr>
          <p:cNvSpPr txBox="1"/>
          <p:nvPr/>
        </p:nvSpPr>
        <p:spPr>
          <a:xfrm>
            <a:off x="956581" y="319293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</a:rPr>
              <a:t>中文税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FCA53F-AE09-86B7-D9ED-B09ED741F220}"/>
              </a:ext>
            </a:extLst>
          </p:cNvPr>
          <p:cNvSpPr/>
          <p:nvPr/>
        </p:nvSpPr>
        <p:spPr>
          <a:xfrm>
            <a:off x="1051589" y="1004013"/>
            <a:ext cx="9220172" cy="8730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</a:rPr>
              <a:t>模型无法直接处理文字，文本必须先被切分成 </a:t>
            </a:r>
            <a:r>
              <a:rPr lang="en-US" altLang="zh-CN" b="1">
                <a:solidFill>
                  <a:schemeClr val="tx1"/>
                </a:solidFill>
              </a:rPr>
              <a:t>token</a:t>
            </a:r>
            <a:r>
              <a:rPr lang="zh-CN" altLang="en-US" b="1">
                <a:solidFill>
                  <a:schemeClr val="tx1"/>
                </a:solidFill>
              </a:rPr>
              <a:t>（词元），这个切分过程叫分词（</a:t>
            </a:r>
            <a:r>
              <a:rPr lang="en-US" altLang="zh-CN" b="1">
                <a:solidFill>
                  <a:schemeClr val="tx1"/>
                </a:solidFill>
              </a:rPr>
              <a:t>tokenization</a:t>
            </a:r>
            <a:r>
              <a:rPr lang="zh-CN" altLang="en-US" b="1">
                <a:solidFill>
                  <a:schemeClr val="tx1"/>
                </a:solidFill>
              </a:rPr>
              <a:t>）。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69C6FC2-4766-4501-8085-A61B1814D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37" y="2038572"/>
            <a:ext cx="10283944" cy="316782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59DB7D8-40C9-4235-A62F-C71A31CEC8E3}"/>
              </a:ext>
            </a:extLst>
          </p:cNvPr>
          <p:cNvSpPr/>
          <p:nvPr/>
        </p:nvSpPr>
        <p:spPr>
          <a:xfrm>
            <a:off x="990629" y="5388213"/>
            <a:ext cx="10043192" cy="791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zh-CN" altLang="en-US"/>
              <a:t>调用 </a:t>
            </a:r>
            <a:r>
              <a:rPr lang="en-US" altLang="zh-CN"/>
              <a:t>API </a:t>
            </a:r>
            <a:r>
              <a:rPr lang="zh-CN" altLang="en-US"/>
              <a:t>时按 </a:t>
            </a:r>
            <a:r>
              <a:rPr lang="en-US" altLang="zh-CN"/>
              <a:t>token </a:t>
            </a:r>
            <a:r>
              <a:rPr lang="zh-CN" altLang="en-US"/>
              <a:t>计费，中文长文档成本可能直觉估计的高</a:t>
            </a:r>
            <a:endParaRPr lang="en-US" altLang="zh-CN"/>
          </a:p>
          <a:p>
            <a:pPr marL="342900" indent="-342900" algn="ctr">
              <a:buAutoNum type="arabicPeriod"/>
            </a:pPr>
            <a:r>
              <a:rPr lang="zh-CN" altLang="en-US"/>
              <a:t>用国产模型（</a:t>
            </a:r>
            <a:r>
              <a:rPr lang="en-US" altLang="zh-CN"/>
              <a:t>DeepSeek / </a:t>
            </a:r>
            <a:r>
              <a:rPr lang="zh-CN" altLang="en-US"/>
              <a:t>通义）处理中文会显著降低 </a:t>
            </a:r>
            <a:r>
              <a:rPr lang="en-US" altLang="zh-CN"/>
              <a:t>token </a:t>
            </a:r>
            <a:r>
              <a:rPr lang="zh-CN" altLang="en-US"/>
              <a:t>成本</a:t>
            </a:r>
            <a:endParaRPr lang="en-US" altLang="zh-CN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C515938-B912-4215-A01D-0BF43E665D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198" y="2038572"/>
            <a:ext cx="6770619" cy="39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51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739A-65C3-B507-56D2-D7E91F03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C956A-1D4B-7035-F6ED-C7C5F306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14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B5B913F-9549-46B4-7CDB-FA6DDD6C5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F6BC43D-1217-CCB7-6A5A-B167570CC9A4}"/>
              </a:ext>
            </a:extLst>
          </p:cNvPr>
          <p:cNvSpPr txBox="1"/>
          <p:nvPr/>
        </p:nvSpPr>
        <p:spPr>
          <a:xfrm>
            <a:off x="956581" y="319293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</a:rPr>
              <a:t>上下文窗口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FCA53F-AE09-86B7-D9ED-B09ED741F220}"/>
              </a:ext>
            </a:extLst>
          </p:cNvPr>
          <p:cNvSpPr/>
          <p:nvPr/>
        </p:nvSpPr>
        <p:spPr>
          <a:xfrm>
            <a:off x="1051589" y="1004013"/>
            <a:ext cx="9220172" cy="4575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>
                <a:solidFill>
                  <a:schemeClr val="tx1"/>
                </a:solidFill>
              </a:rPr>
              <a:t>上下文窗口：模型一次前向计算能同时看到的最大 </a:t>
            </a:r>
            <a:r>
              <a:rPr lang="en-US" altLang="zh-CN" b="1">
                <a:solidFill>
                  <a:schemeClr val="tx1"/>
                </a:solidFill>
              </a:rPr>
              <a:t>token </a:t>
            </a:r>
            <a:r>
              <a:rPr lang="zh-CN" altLang="en-US" b="1">
                <a:solidFill>
                  <a:schemeClr val="tx1"/>
                </a:solidFill>
              </a:rPr>
              <a:t>数（输入 </a:t>
            </a:r>
            <a:r>
              <a:rPr lang="en-US" altLang="zh-CN" b="1">
                <a:solidFill>
                  <a:schemeClr val="tx1"/>
                </a:solidFill>
              </a:rPr>
              <a:t>+ </a:t>
            </a:r>
            <a:r>
              <a:rPr lang="zh-CN" altLang="en-US" b="1">
                <a:solidFill>
                  <a:schemeClr val="tx1"/>
                </a:solidFill>
              </a:rPr>
              <a:t>输出共享这个预算）</a:t>
            </a:r>
            <a:endParaRPr lang="en-US" altLang="zh-CN">
              <a:solidFill>
                <a:schemeClr val="tx1"/>
              </a:solidFill>
            </a:endParaRPr>
          </a:p>
        </p:txBody>
      </p: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198AA61-F00F-4980-BDDD-E6FF6FE3ACB7}"/>
              </a:ext>
            </a:extLst>
          </p:cNvPr>
          <p:cNvGrpSpPr/>
          <p:nvPr/>
        </p:nvGrpSpPr>
        <p:grpSpPr>
          <a:xfrm>
            <a:off x="951809" y="2445635"/>
            <a:ext cx="9730014" cy="1574819"/>
            <a:chOff x="952500" y="3095625"/>
            <a:chExt cx="10287000" cy="15748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505966-2409-407D-9DA1-1B97AD7358F3}"/>
                </a:ext>
              </a:extLst>
            </p:cNvPr>
            <p:cNvSpPr/>
            <p:nvPr/>
          </p:nvSpPr>
          <p:spPr>
            <a:xfrm>
              <a:off x="952500" y="3095625"/>
              <a:ext cx="10287000" cy="1574819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15C9F1-34A8-45B9-862B-E8AD35491370}"/>
                </a:ext>
              </a:extLst>
            </p:cNvPr>
            <p:cNvSpPr txBox="1"/>
            <p:nvPr/>
          </p:nvSpPr>
          <p:spPr>
            <a:xfrm>
              <a:off x="1228344" y="3218498"/>
              <a:ext cx="46298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「中间遗忘」（Lost in the Middle）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43C3C8-D331-4DD5-8357-1961CDAFA2C5}"/>
                </a:ext>
              </a:extLst>
            </p:cNvPr>
            <p:cNvSpPr/>
            <p:nvPr/>
          </p:nvSpPr>
          <p:spPr>
            <a:xfrm>
              <a:off x="1238250" y="3667125"/>
              <a:ext cx="9715500" cy="381000"/>
            </a:xfrm>
            <a:prstGeom prst="rect">
              <a:avLst/>
            </a:prstGeom>
            <a:solidFill>
              <a:srgbClr val="D0D8E4"/>
            </a:solidFill>
            <a:ln>
              <a:noFill/>
            </a:ln>
          </p:spPr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54D1337-2484-4612-A534-090621A5201E}"/>
                </a:ext>
              </a:extLst>
            </p:cNvPr>
            <p:cNvSpPr/>
            <p:nvPr/>
          </p:nvSpPr>
          <p:spPr>
            <a:xfrm>
              <a:off x="1238250" y="3667125"/>
              <a:ext cx="19050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73EE98-E5D7-4BCC-B873-A672C7E15E9D}"/>
                </a:ext>
              </a:extLst>
            </p:cNvPr>
            <p:cNvSpPr/>
            <p:nvPr/>
          </p:nvSpPr>
          <p:spPr>
            <a:xfrm>
              <a:off x="7143750" y="3667125"/>
              <a:ext cx="38100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8F940F-AC47-4D51-8A01-BE3562DBDAC3}"/>
                </a:ext>
              </a:extLst>
            </p:cNvPr>
            <p:cNvSpPr txBox="1"/>
            <p:nvPr/>
          </p:nvSpPr>
          <p:spPr>
            <a:xfrm>
              <a:off x="1668966" y="3762375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首位效应 ✓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5032E0-078B-4CC6-B2B1-050D2575764A}"/>
                </a:ext>
              </a:extLst>
            </p:cNvPr>
            <p:cNvSpPr txBox="1"/>
            <p:nvPr/>
          </p:nvSpPr>
          <p:spPr>
            <a:xfrm>
              <a:off x="4488876" y="3742181"/>
              <a:ext cx="139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中间信息稀释 ✗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EDCC09-856A-4553-8804-667285675E2A}"/>
                </a:ext>
              </a:extLst>
            </p:cNvPr>
            <p:cNvSpPr txBox="1"/>
            <p:nvPr/>
          </p:nvSpPr>
          <p:spPr>
            <a:xfrm>
              <a:off x="8526966" y="3740604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近因效应 ✓</a:t>
              </a:r>
            </a:p>
          </p:txBody>
        </p: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1A82DE5A-B3F7-491E-871C-1BDB43C132A5}"/>
                </a:ext>
              </a:extLst>
            </p:cNvPr>
            <p:cNvSpPr txBox="1"/>
            <p:nvPr/>
          </p:nvSpPr>
          <p:spPr>
            <a:xfrm>
              <a:off x="1375647" y="4234491"/>
              <a:ext cx="69247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A7E"/>
                  </a:solidFill>
                  <a:latin typeface="Arial"/>
                  <a:ea typeface="Microsoft YaHei"/>
                  <a:cs typeface="Arial"/>
                </a:rPr>
                <a:t>注意力权重在长序列上分布不均——「埋在中间」的关键信息容易被稀释</a:t>
              </a: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FE99A023-DC8E-4AD5-BB62-EE8C1C4A379B}"/>
              </a:ext>
            </a:extLst>
          </p:cNvPr>
          <p:cNvSpPr/>
          <p:nvPr/>
        </p:nvSpPr>
        <p:spPr>
          <a:xfrm>
            <a:off x="1051589" y="1609211"/>
            <a:ext cx="9630234" cy="786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为什么有限：根源在注意力 </a:t>
            </a:r>
            <a:r>
              <a:rPr lang="en-US" altLang="zh-CN" sz="1600"/>
              <a:t>O(n²) </a:t>
            </a:r>
            <a:r>
              <a:rPr lang="zh-CN" altLang="en-US" sz="1600"/>
              <a:t>复杂度：</a:t>
            </a:r>
            <a:r>
              <a:rPr lang="en-US" altLang="zh-CN" sz="1600"/>
              <a:t>n </a:t>
            </a:r>
            <a:r>
              <a:rPr lang="zh-CN" altLang="en-US" sz="1600"/>
              <a:t>个</a:t>
            </a:r>
            <a:r>
              <a:rPr lang="en-US" altLang="zh-CN" sz="1600"/>
              <a:t>token</a:t>
            </a:r>
            <a:r>
              <a:rPr lang="zh-CN" altLang="en-US" sz="1600"/>
              <a:t>两两之间都要算相关度，序列长度翻倍，注意力和显存 ≈ </a:t>
            </a:r>
            <a:r>
              <a:rPr lang="en-US" altLang="zh-CN" sz="1600"/>
              <a:t>4 </a:t>
            </a:r>
            <a:r>
              <a:rPr lang="zh-CN" altLang="en-US" sz="1600"/>
              <a:t>倍。这不仅是算力问题，更是内存带宽问题。</a:t>
            </a:r>
            <a:endParaRPr lang="en-US" altLang="zh-CN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F35A74-B79C-407D-A8F8-74CBF9088736}"/>
              </a:ext>
            </a:extLst>
          </p:cNvPr>
          <p:cNvSpPr/>
          <p:nvPr/>
        </p:nvSpPr>
        <p:spPr>
          <a:xfrm>
            <a:off x="9315201" y="4244198"/>
            <a:ext cx="1913120" cy="2315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在</a:t>
            </a:r>
            <a:r>
              <a:rPr lang="en-US" altLang="zh-CN" sz="1400"/>
              <a:t>claude code</a:t>
            </a:r>
            <a:r>
              <a:rPr lang="zh-CN" altLang="en-US" sz="1400"/>
              <a:t>中，可以使用</a:t>
            </a:r>
            <a:r>
              <a:rPr lang="en-US" altLang="zh-CN" sz="1400"/>
              <a:t>/compact</a:t>
            </a:r>
            <a:r>
              <a:rPr lang="zh-CN" altLang="en-US" sz="1400"/>
              <a:t>（</a:t>
            </a:r>
            <a:r>
              <a:rPr lang="en-US" altLang="zh-CN" sz="1400"/>
              <a:t>statusline setup)</a:t>
            </a:r>
            <a:r>
              <a:rPr lang="zh-CN" altLang="en-US" sz="1400"/>
              <a:t>、</a:t>
            </a:r>
            <a:r>
              <a:rPr lang="en-US" altLang="zh-CN" sz="1400"/>
              <a:t>/clear</a:t>
            </a:r>
            <a:r>
              <a:rPr lang="zh-CN" altLang="en-US" sz="1400"/>
              <a:t>、</a:t>
            </a:r>
            <a:r>
              <a:rPr lang="en-US" altLang="zh-CN" sz="1400"/>
              <a:t>/memory</a:t>
            </a:r>
            <a:r>
              <a:rPr lang="zh-CN" altLang="en-US" sz="1400"/>
              <a:t>来处理上下文</a:t>
            </a:r>
            <a:endParaRPr lang="en-US" altLang="zh-CN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CBC6F1-D414-44FF-A793-7C5888B1C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09" y="4349252"/>
            <a:ext cx="8358243" cy="210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31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8B8E-BA71-587E-66AB-CF2501F3E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BA7DF6A0-C85C-C528-8375-AE2135FDC5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4" b="51527"/>
          <a:stretch/>
        </p:blipFill>
        <p:spPr>
          <a:xfrm>
            <a:off x="0" y="4610027"/>
            <a:ext cx="12209861" cy="224797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3ED99379-3C5E-E9EF-1B98-791A26FEF29D}"/>
              </a:ext>
            </a:extLst>
          </p:cNvPr>
          <p:cNvSpPr/>
          <p:nvPr/>
        </p:nvSpPr>
        <p:spPr>
          <a:xfrm>
            <a:off x="0" y="0"/>
            <a:ext cx="12209861" cy="686943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36B0EE0A-6B12-11C6-D14F-CBF5EBDA7256}"/>
              </a:ext>
            </a:extLst>
          </p:cNvPr>
          <p:cNvGrpSpPr/>
          <p:nvPr/>
        </p:nvGrpSpPr>
        <p:grpSpPr>
          <a:xfrm>
            <a:off x="-17865" y="1270600"/>
            <a:ext cx="12333689" cy="3640867"/>
            <a:chOff x="0" y="0"/>
            <a:chExt cx="4816593" cy="14383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D2EDB7-6FEF-7878-EB9A-43C1771C6A83}"/>
                </a:ext>
              </a:extLst>
            </p:cNvPr>
            <p:cNvSpPr/>
            <p:nvPr/>
          </p:nvSpPr>
          <p:spPr>
            <a:xfrm>
              <a:off x="0" y="0"/>
              <a:ext cx="4816592" cy="1438367"/>
            </a:xfrm>
            <a:custGeom>
              <a:avLst/>
              <a:gdLst/>
              <a:ahLst/>
              <a:cxnLst/>
              <a:rect l="l" t="t" r="r" b="b"/>
              <a:pathLst>
                <a:path w="4816592" h="1438367">
                  <a:moveTo>
                    <a:pt x="0" y="0"/>
                  </a:moveTo>
                  <a:lnTo>
                    <a:pt x="4816592" y="0"/>
                  </a:lnTo>
                  <a:lnTo>
                    <a:pt x="4816592" y="1438367"/>
                  </a:lnTo>
                  <a:lnTo>
                    <a:pt x="0" y="1438367"/>
                  </a:lnTo>
                  <a:close/>
                </a:path>
              </a:pathLst>
            </a:custGeom>
            <a:solidFill>
              <a:srgbClr val="04407E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33ABFBD-CCC0-65E3-D04D-D13514C342C3}"/>
                </a:ext>
              </a:extLst>
            </p:cNvPr>
            <p:cNvSpPr txBox="1"/>
            <p:nvPr/>
          </p:nvSpPr>
          <p:spPr>
            <a:xfrm>
              <a:off x="0" y="-85725"/>
              <a:ext cx="4816593" cy="15240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7A0C0D5-C0D3-0734-C260-34B663A278F0}"/>
              </a:ext>
            </a:extLst>
          </p:cNvPr>
          <p:cNvGrpSpPr/>
          <p:nvPr/>
        </p:nvGrpSpPr>
        <p:grpSpPr>
          <a:xfrm>
            <a:off x="5020422" y="336542"/>
            <a:ext cx="1868115" cy="186811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7458969-D61C-A0D5-1D2F-813A596A53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56BF9DC-06F1-6BD6-96CA-F2E0CC3E38FD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69A9911-BD61-E656-B1D2-6DC0EF454EF3}"/>
              </a:ext>
            </a:extLst>
          </p:cNvPr>
          <p:cNvGrpSpPr/>
          <p:nvPr/>
        </p:nvGrpSpPr>
        <p:grpSpPr>
          <a:xfrm>
            <a:off x="5113284" y="423246"/>
            <a:ext cx="1694707" cy="169470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71A7D15-0126-C67F-5174-73EB72AE59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407E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403E40F-4ECF-8CBE-406D-26A58434E0F5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0F52522-D069-7FAC-22F4-C55098551806}"/>
              </a:ext>
            </a:extLst>
          </p:cNvPr>
          <p:cNvSpPr/>
          <p:nvPr/>
        </p:nvSpPr>
        <p:spPr>
          <a:xfrm>
            <a:off x="4953895" y="684033"/>
            <a:ext cx="2001170" cy="1274292"/>
          </a:xfrm>
          <a:custGeom>
            <a:avLst/>
            <a:gdLst/>
            <a:ahLst/>
            <a:cxnLst/>
            <a:rect l="l" t="t" r="r" b="b"/>
            <a:pathLst>
              <a:path w="3001755" h="1911438">
                <a:moveTo>
                  <a:pt x="0" y="0"/>
                </a:moveTo>
                <a:lnTo>
                  <a:pt x="3001754" y="0"/>
                </a:lnTo>
                <a:lnTo>
                  <a:pt x="3001754" y="1911438"/>
                </a:lnTo>
                <a:lnTo>
                  <a:pt x="0" y="191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E8B057E-05AF-3889-B324-CB8093B3A8AB}"/>
              </a:ext>
            </a:extLst>
          </p:cNvPr>
          <p:cNvSpPr txBox="1"/>
          <p:nvPr/>
        </p:nvSpPr>
        <p:spPr>
          <a:xfrm>
            <a:off x="771197" y="2530110"/>
            <a:ext cx="10366564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1"/>
              </a:lnSpc>
              <a:spcBef>
                <a:spcPct val="0"/>
              </a:spcBef>
            </a:pPr>
            <a:r>
              <a:rPr lang="zh-CN" altLang="en-US" sz="8334" b="1">
                <a:solidFill>
                  <a:srgbClr val="FFFFFF"/>
                </a:solidFill>
                <a:latin typeface="思源宋体 Bold"/>
                <a:ea typeface="思源宋体 Bold"/>
                <a:cs typeface="思源宋体 Bold"/>
                <a:sym typeface="思源宋体 Bold"/>
              </a:rPr>
              <a:t>预训练</a:t>
            </a:r>
            <a:endParaRPr lang="en-US" sz="8334" b="1">
              <a:solidFill>
                <a:srgbClr val="FFFFFF"/>
              </a:solidFill>
              <a:latin typeface="思源宋体 Bold"/>
              <a:ea typeface="思源宋体 Bold"/>
              <a:cs typeface="思源宋体 Bold"/>
              <a:sym typeface="思源宋体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6F2A77D-EB05-22B4-500D-9C41CFF3B5E5}"/>
              </a:ext>
            </a:extLst>
          </p:cNvPr>
          <p:cNvSpPr txBox="1"/>
          <p:nvPr/>
        </p:nvSpPr>
        <p:spPr>
          <a:xfrm>
            <a:off x="5228427" y="677683"/>
            <a:ext cx="1518593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2"/>
              </a:lnSpc>
            </a:pPr>
            <a:r>
              <a:rPr lang="en-US" sz="7176" b="1">
                <a:solidFill>
                  <a:srgbClr val="FFFFFF"/>
                </a:solidFill>
                <a:latin typeface="思源宋体 Heavy"/>
                <a:ea typeface="思源宋体 Heavy"/>
                <a:cs typeface="思源宋体 Heavy"/>
                <a:sym typeface="思源宋体 Heavy"/>
              </a:rPr>
              <a:t>04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73CB618-98D1-828A-0E9D-7715A94AC94B}"/>
              </a:ext>
            </a:extLst>
          </p:cNvPr>
          <p:cNvGrpSpPr/>
          <p:nvPr/>
        </p:nvGrpSpPr>
        <p:grpSpPr>
          <a:xfrm>
            <a:off x="-308920" y="4779201"/>
            <a:ext cx="12774111" cy="264531"/>
            <a:chOff x="0" y="0"/>
            <a:chExt cx="5046563" cy="10450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D3FC39F-58EF-918E-68D1-28F14E714DD9}"/>
                </a:ext>
              </a:extLst>
            </p:cNvPr>
            <p:cNvSpPr/>
            <p:nvPr/>
          </p:nvSpPr>
          <p:spPr>
            <a:xfrm>
              <a:off x="0" y="0"/>
              <a:ext cx="5046563" cy="104506"/>
            </a:xfrm>
            <a:custGeom>
              <a:avLst/>
              <a:gdLst/>
              <a:ahLst/>
              <a:cxnLst/>
              <a:rect l="l" t="t" r="r" b="b"/>
              <a:pathLst>
                <a:path w="5046563" h="104506">
                  <a:moveTo>
                    <a:pt x="0" y="0"/>
                  </a:moveTo>
                  <a:lnTo>
                    <a:pt x="5046563" y="0"/>
                  </a:lnTo>
                  <a:lnTo>
                    <a:pt x="5046563" y="104506"/>
                  </a:lnTo>
                  <a:lnTo>
                    <a:pt x="0" y="104506"/>
                  </a:lnTo>
                  <a:close/>
                </a:path>
              </a:pathLst>
            </a:custGeom>
            <a:solidFill>
              <a:srgbClr val="04407E">
                <a:alpha val="29804"/>
              </a:srgbClr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EA358CA-BB8B-0037-5974-D6600ED08404}"/>
                </a:ext>
              </a:extLst>
            </p:cNvPr>
            <p:cNvSpPr txBox="1"/>
            <p:nvPr/>
          </p:nvSpPr>
          <p:spPr>
            <a:xfrm>
              <a:off x="0" y="-85725"/>
              <a:ext cx="5046563" cy="19023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A1591E30-D5D6-E6B7-1ECB-C03CEFFC76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3" y="81152"/>
            <a:ext cx="3301829" cy="9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85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EEB41-242B-A737-DCF3-C82AEA82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A6D7BC7-6D02-5974-A953-CFCA445687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2809" y="1295638"/>
            <a:ext cx="5883078" cy="478298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3C195C37-DAE8-BA7C-FBC9-B6E9F45A8E7F}"/>
              </a:ext>
            </a:extLst>
          </p:cNvPr>
          <p:cNvSpPr/>
          <p:nvPr/>
        </p:nvSpPr>
        <p:spPr>
          <a:xfrm>
            <a:off x="5702563" y="1088636"/>
            <a:ext cx="6309298" cy="5070679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6D394F-E277-8CDE-DDA3-14A47BE6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16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5847758-37FD-CEFD-999E-4B527BCC04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8C2C728-FB3B-7F81-6570-30233B4945A4}"/>
              </a:ext>
            </a:extLst>
          </p:cNvPr>
          <p:cNvSpPr txBox="1"/>
          <p:nvPr/>
        </p:nvSpPr>
        <p:spPr>
          <a:xfrm>
            <a:off x="956581" y="319293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</a:rPr>
              <a:t>目标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73FEC3-9F29-18D4-E6E8-AC799B837612}"/>
              </a:ext>
            </a:extLst>
          </p:cNvPr>
          <p:cNvSpPr/>
          <p:nvPr/>
        </p:nvSpPr>
        <p:spPr>
          <a:xfrm>
            <a:off x="1051589" y="1214941"/>
            <a:ext cx="9553233" cy="4575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</a:rPr>
              <a:t>预训练目标：对每个位置 </a:t>
            </a:r>
            <a:r>
              <a:rPr lang="en-US" altLang="zh-CN" b="1">
                <a:solidFill>
                  <a:schemeClr val="tx1"/>
                </a:solidFill>
              </a:rPr>
              <a:t>t</a:t>
            </a:r>
            <a:r>
              <a:rPr lang="zh-CN" altLang="en-US" b="1">
                <a:solidFill>
                  <a:schemeClr val="tx1"/>
                </a:solidFill>
              </a:rPr>
              <a:t>，模型基于前面所有</a:t>
            </a:r>
            <a:r>
              <a:rPr lang="en-US" altLang="zh-CN" b="1">
                <a:solidFill>
                  <a:schemeClr val="tx1"/>
                </a:solidFill>
              </a:rPr>
              <a:t>token</a:t>
            </a:r>
            <a:r>
              <a:rPr lang="zh-CN" altLang="en-US" b="1">
                <a:solidFill>
                  <a:schemeClr val="tx1"/>
                </a:solidFill>
              </a:rPr>
              <a:t>预测下一个 </a:t>
            </a:r>
            <a:r>
              <a:rPr lang="en-US" altLang="zh-CN" b="1">
                <a:solidFill>
                  <a:schemeClr val="tx1"/>
                </a:solidFill>
              </a:rPr>
              <a:t>token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2442A2-0387-9B70-A094-8B82E449D390}"/>
              </a:ext>
            </a:extLst>
          </p:cNvPr>
          <p:cNvSpPr/>
          <p:nvPr/>
        </p:nvSpPr>
        <p:spPr>
          <a:xfrm>
            <a:off x="904426" y="5812701"/>
            <a:ext cx="10218685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ea"/>
              </a:rPr>
              <a:t>数据清洗与配比是预训练中最影响效果的工程。去重（训练集和测试集不能有重叠）、质量过滤、去毒（移除有害内容）、去个人信息，这些工程细节往往决定模型的最终能力上限。</a:t>
            </a:r>
            <a:endParaRPr lang="en-US" altLang="zh-CN" sz="160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D088BC-4062-4505-8478-BA2FA9984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528" y="1728225"/>
            <a:ext cx="4372944" cy="113696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5A02677-8AB9-4A51-BEFE-1894182BD5B0}"/>
              </a:ext>
            </a:extLst>
          </p:cNvPr>
          <p:cNvSpPr/>
          <p:nvPr/>
        </p:nvSpPr>
        <p:spPr>
          <a:xfrm>
            <a:off x="1051589" y="2818481"/>
            <a:ext cx="9553233" cy="4575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</a:rPr>
              <a:t>训练数据构成：质量与配比决定模型的上限</a:t>
            </a:r>
            <a:endParaRPr lang="en-US" altLang="zh-CN">
              <a:solidFill>
                <a:srgbClr val="C0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47231A-6CE6-4CCB-829A-8374AF201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2372" y="3483044"/>
            <a:ext cx="5560381" cy="217163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6BEF1A31-609F-43E2-AF67-73F45BA8F34D}"/>
              </a:ext>
            </a:extLst>
          </p:cNvPr>
          <p:cNvSpPr/>
          <p:nvPr/>
        </p:nvSpPr>
        <p:spPr>
          <a:xfrm>
            <a:off x="1051589" y="3711609"/>
            <a:ext cx="9553233" cy="14424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由预训练得到的模型通常称为基座模型，而由于基座模型的核心任务在于下一个词预测，因此只学会了续写文本而非回答问题。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后训练的过程就是要把这种续写能力改造成应答能力，也就是进行微调（</a:t>
            </a:r>
            <a:r>
              <a:rPr lang="en-US" altLang="zh-CN">
                <a:solidFill>
                  <a:schemeClr val="tx1"/>
                </a:solidFill>
              </a:rPr>
              <a:t>ICL</a:t>
            </a:r>
            <a:r>
              <a:rPr lang="zh-CN" altLang="en-US">
                <a:solidFill>
                  <a:schemeClr val="tx1"/>
                </a:solidFill>
              </a:rPr>
              <a:t>）。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1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94E2-0BFA-36A7-7239-385CA318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A70AC6-ACE3-6613-1786-37C98EE1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17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C0E5C82-DC3C-F929-6FB2-5E4FF0FE2E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16BEB07-9EFA-1519-AC6A-BCE57AFBC859}"/>
              </a:ext>
            </a:extLst>
          </p:cNvPr>
          <p:cNvSpPr txBox="1"/>
          <p:nvPr/>
        </p:nvSpPr>
        <p:spPr>
          <a:xfrm>
            <a:off x="956581" y="319293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</a:rPr>
              <a:t>Scaling Laws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DFE7FA-BA80-3D16-4DF8-70FF2285DF0E}"/>
              </a:ext>
            </a:extLst>
          </p:cNvPr>
          <p:cNvSpPr/>
          <p:nvPr/>
        </p:nvSpPr>
        <p:spPr>
          <a:xfrm>
            <a:off x="1075390" y="1045693"/>
            <a:ext cx="1021868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latin typeface="+mn-ea"/>
              </a:rPr>
              <a:t>Scaling Laws</a:t>
            </a:r>
            <a:r>
              <a:rPr lang="zh-CN" altLang="en-US">
                <a:latin typeface="+mn-ea"/>
              </a:rPr>
              <a:t>：预训练损失随参数量 </a:t>
            </a:r>
            <a:r>
              <a:rPr lang="en-US" altLang="zh-CN">
                <a:latin typeface="+mn-ea"/>
              </a:rPr>
              <a:t>N</a:t>
            </a:r>
            <a:r>
              <a:rPr lang="zh-CN" altLang="en-US">
                <a:latin typeface="+mn-ea"/>
              </a:rPr>
              <a:t>、数据量 </a:t>
            </a:r>
            <a:r>
              <a:rPr lang="en-US" altLang="zh-CN">
                <a:latin typeface="+mn-ea"/>
              </a:rPr>
              <a:t>D</a:t>
            </a:r>
            <a:r>
              <a:rPr lang="zh-CN" altLang="en-US">
                <a:latin typeface="+mn-ea"/>
              </a:rPr>
              <a:t>、计算量 </a:t>
            </a:r>
            <a:r>
              <a:rPr lang="en-US" altLang="zh-CN">
                <a:latin typeface="+mn-ea"/>
              </a:rPr>
              <a:t>C </a:t>
            </a:r>
            <a:r>
              <a:rPr lang="zh-CN" altLang="en-US">
                <a:latin typeface="+mn-ea"/>
              </a:rPr>
              <a:t>的增长，呈平滑的幂律下降。</a:t>
            </a:r>
            <a:endParaRPr lang="en-US" altLang="zh-CN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03AC5E-AC70-E388-C76B-843ED7DF39C6}"/>
              </a:ext>
            </a:extLst>
          </p:cNvPr>
          <p:cNvSpPr txBox="1"/>
          <p:nvPr/>
        </p:nvSpPr>
        <p:spPr>
          <a:xfrm>
            <a:off x="1134288" y="3497458"/>
            <a:ext cx="9923424" cy="45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核心公式：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AAA68A-E931-4180-A056-65A62185A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255" y="1766625"/>
            <a:ext cx="7724813" cy="16623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6FCC23-EA5C-48F0-92CF-C9B901D8E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338" y="3866979"/>
            <a:ext cx="2887323" cy="129697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E419DFE-4138-42AF-9FBA-108D71031155}"/>
              </a:ext>
            </a:extLst>
          </p:cNvPr>
          <p:cNvSpPr txBox="1"/>
          <p:nvPr/>
        </p:nvSpPr>
        <p:spPr>
          <a:xfrm>
            <a:off x="1075390" y="5170535"/>
            <a:ext cx="9923424" cy="87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Chinchilla-optimal </a:t>
            </a:r>
            <a:r>
              <a:rPr lang="zh-CN" altLang="en-US"/>
              <a:t>给出了每个参数大约配多少 </a:t>
            </a:r>
            <a:r>
              <a:rPr lang="en-US" altLang="zh-CN"/>
              <a:t>token</a:t>
            </a:r>
            <a:r>
              <a:rPr lang="zh-CN" altLang="en-US"/>
              <a:t>的经验比例。投入</a:t>
            </a:r>
            <a:r>
              <a:rPr lang="zh-CN" altLang="en-US" b="1"/>
              <a:t>更多算力 </a:t>
            </a:r>
            <a:r>
              <a:rPr lang="en-US" altLang="zh-CN" b="1"/>
              <a:t>+ </a:t>
            </a:r>
            <a:r>
              <a:rPr lang="zh-CN" altLang="en-US" b="1"/>
              <a:t>更多数据 </a:t>
            </a:r>
            <a:r>
              <a:rPr lang="en-US" altLang="zh-CN" b="1"/>
              <a:t>+ </a:t>
            </a:r>
            <a:r>
              <a:rPr lang="zh-CN" altLang="en-US" b="1"/>
              <a:t>更大模型几乎总能让模型变得更好</a:t>
            </a:r>
            <a:r>
              <a:rPr lang="zh-CN" altLang="en-US"/>
              <a:t>，且能事先预测会好多少。</a:t>
            </a:r>
          </a:p>
        </p:txBody>
      </p:sp>
    </p:spTree>
    <p:extLst>
      <p:ext uri="{BB962C8B-B14F-4D97-AF65-F5344CB8AC3E}">
        <p14:creationId xmlns:p14="http://schemas.microsoft.com/office/powerpoint/2010/main" val="1569257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94E2-0BFA-36A7-7239-385CA318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A70AC6-ACE3-6613-1786-37C98EE1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18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C0E5C82-DC3C-F929-6FB2-5E4FF0FE2E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188" y="131810"/>
            <a:ext cx="2413086" cy="71070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16BEB07-9EFA-1519-AC6A-BCE57AFBC859}"/>
              </a:ext>
            </a:extLst>
          </p:cNvPr>
          <p:cNvSpPr txBox="1"/>
          <p:nvPr/>
        </p:nvSpPr>
        <p:spPr>
          <a:xfrm>
            <a:off x="956581" y="319293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</a:rPr>
              <a:t>Scaling Laws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DFE7FA-BA80-3D16-4DF8-70FF2285DF0E}"/>
              </a:ext>
            </a:extLst>
          </p:cNvPr>
          <p:cNvSpPr/>
          <p:nvPr/>
        </p:nvSpPr>
        <p:spPr>
          <a:xfrm>
            <a:off x="1075390" y="842493"/>
            <a:ext cx="1021868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latin typeface="+mn-ea"/>
              </a:rPr>
              <a:t>Scaling Laws</a:t>
            </a:r>
            <a:r>
              <a:rPr lang="zh-CN" altLang="en-US">
                <a:latin typeface="+mn-ea"/>
              </a:rPr>
              <a:t>：预训练损失随参数量 </a:t>
            </a:r>
            <a:r>
              <a:rPr lang="en-US" altLang="zh-CN">
                <a:latin typeface="+mn-ea"/>
              </a:rPr>
              <a:t>N</a:t>
            </a:r>
            <a:r>
              <a:rPr lang="zh-CN" altLang="en-US">
                <a:latin typeface="+mn-ea"/>
              </a:rPr>
              <a:t>、数据量 </a:t>
            </a:r>
            <a:r>
              <a:rPr lang="en-US" altLang="zh-CN">
                <a:latin typeface="+mn-ea"/>
              </a:rPr>
              <a:t>D</a:t>
            </a:r>
            <a:r>
              <a:rPr lang="zh-CN" altLang="en-US">
                <a:latin typeface="+mn-ea"/>
              </a:rPr>
              <a:t>、计算量 </a:t>
            </a:r>
            <a:r>
              <a:rPr lang="en-US" altLang="zh-CN">
                <a:latin typeface="+mn-ea"/>
              </a:rPr>
              <a:t>C </a:t>
            </a:r>
            <a:r>
              <a:rPr lang="zh-CN" altLang="en-US">
                <a:latin typeface="+mn-ea"/>
              </a:rPr>
              <a:t>的增长，呈平滑的幂律下降。</a:t>
            </a:r>
            <a:endParaRPr lang="en-US" altLang="zh-CN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03AC5E-AC70-E388-C76B-843ED7DF39C6}"/>
              </a:ext>
            </a:extLst>
          </p:cNvPr>
          <p:cNvSpPr txBox="1"/>
          <p:nvPr/>
        </p:nvSpPr>
        <p:spPr>
          <a:xfrm>
            <a:off x="1075390" y="1272173"/>
            <a:ext cx="9923424" cy="294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目前，</a:t>
            </a:r>
            <a:r>
              <a:rPr lang="en-US" altLang="zh-CN"/>
              <a:t>Scling Laws</a:t>
            </a:r>
            <a:r>
              <a:rPr lang="zh-CN" altLang="en-US"/>
              <a:t>有三大关键变化：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数据墙（</a:t>
            </a:r>
            <a:r>
              <a:rPr lang="en-US" altLang="zh-CN"/>
              <a:t>Data Wall</a:t>
            </a:r>
            <a:r>
              <a:rPr lang="zh-CN" altLang="en-US"/>
              <a:t>）：高质量文本正在耗尽</a:t>
            </a:r>
            <a:r>
              <a:rPr lang="en-US" altLang="zh-CN"/>
              <a:t>——</a:t>
            </a:r>
            <a:r>
              <a:rPr lang="zh-CN" altLang="en-US"/>
              <a:t>预计 </a:t>
            </a:r>
            <a:r>
              <a:rPr lang="en-US" altLang="zh-CN"/>
              <a:t>2026-2028 </a:t>
            </a:r>
            <a:r>
              <a:rPr lang="zh-CN" altLang="en-US"/>
              <a:t>年即将用尽所有高质量文本资源。当不得不重复使用数据时，边际收益指数级衰减（</a:t>
            </a:r>
            <a:r>
              <a:rPr lang="en-US" altLang="zh-CN"/>
              <a:t>Lovelace et al., 2026</a:t>
            </a:r>
            <a:r>
              <a:rPr lang="zh-CN" altLang="en-US"/>
              <a:t>）。更大的模型对数据重复更敏感。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边际收益放缓：</a:t>
            </a:r>
            <a:r>
              <a:rPr lang="en-US" altLang="zh-CN"/>
              <a:t>GPT-4 → GPT-4.5 </a:t>
            </a:r>
            <a:r>
              <a:rPr lang="zh-CN" altLang="en-US"/>
              <a:t>的提升幅度远小于 </a:t>
            </a:r>
            <a:r>
              <a:rPr lang="en-US" altLang="zh-CN"/>
              <a:t>GPT-3 → GPT-4</a:t>
            </a:r>
            <a:r>
              <a:rPr lang="zh-CN" altLang="en-US"/>
              <a:t>，尽管算力投入相当或更大。纯粹靠</a:t>
            </a:r>
            <a:r>
              <a:rPr lang="en-US" altLang="zh-CN"/>
              <a:t>"</a:t>
            </a:r>
            <a:r>
              <a:rPr lang="zh-CN" altLang="en-US"/>
              <a:t>更多参数 </a:t>
            </a:r>
            <a:r>
              <a:rPr lang="en-US" altLang="zh-CN"/>
              <a:t>+ </a:t>
            </a:r>
            <a:r>
              <a:rPr lang="zh-CN" altLang="en-US"/>
              <a:t>更多数据</a:t>
            </a:r>
            <a:r>
              <a:rPr lang="en-US" altLang="zh-CN"/>
              <a:t>"</a:t>
            </a:r>
            <a:r>
              <a:rPr lang="zh-CN" altLang="en-US"/>
              <a:t>的路径正在进入收益递减区间。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范式转移：业界不再只砸钱在预训练上，正在进行新的范式转移：</a:t>
            </a:r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04FE99-9784-429F-9377-892B2E3B1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481" y="4337139"/>
            <a:ext cx="6957242" cy="220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50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CDD3-798E-3019-69F0-D0384590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6358BA1B-5B77-4CB7-C4FD-F9BFFC9068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61" y="-2854"/>
            <a:ext cx="12209861" cy="68580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D3B7F1E-674D-DA57-3526-A73C685706DE}"/>
              </a:ext>
            </a:extLst>
          </p:cNvPr>
          <p:cNvSpPr/>
          <p:nvPr/>
        </p:nvSpPr>
        <p:spPr>
          <a:xfrm>
            <a:off x="-17862" y="0"/>
            <a:ext cx="12209861" cy="686943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EF8E0CB-C477-26BE-C060-CC6A3116223D}"/>
              </a:ext>
            </a:extLst>
          </p:cNvPr>
          <p:cNvGrpSpPr/>
          <p:nvPr/>
        </p:nvGrpSpPr>
        <p:grpSpPr>
          <a:xfrm>
            <a:off x="2812688" y="4623828"/>
            <a:ext cx="2631421" cy="441329"/>
            <a:chOff x="0" y="0"/>
            <a:chExt cx="1039574" cy="17435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694CC1-696D-BEBC-FF79-EED24EB4C779}"/>
                </a:ext>
              </a:extLst>
            </p:cNvPr>
            <p:cNvSpPr/>
            <p:nvPr/>
          </p:nvSpPr>
          <p:spPr>
            <a:xfrm>
              <a:off x="0" y="0"/>
              <a:ext cx="1039574" cy="174352"/>
            </a:xfrm>
            <a:custGeom>
              <a:avLst/>
              <a:gdLst/>
              <a:ahLst/>
              <a:cxnLst/>
              <a:rect l="l" t="t" r="r" b="b"/>
              <a:pathLst>
                <a:path w="1039574" h="174352">
                  <a:moveTo>
                    <a:pt x="87176" y="0"/>
                  </a:moveTo>
                  <a:lnTo>
                    <a:pt x="952398" y="0"/>
                  </a:lnTo>
                  <a:cubicBezTo>
                    <a:pt x="1000544" y="0"/>
                    <a:pt x="1039574" y="39030"/>
                    <a:pt x="1039574" y="87176"/>
                  </a:cubicBezTo>
                  <a:lnTo>
                    <a:pt x="1039574" y="87176"/>
                  </a:lnTo>
                  <a:cubicBezTo>
                    <a:pt x="1039574" y="135322"/>
                    <a:pt x="1000544" y="174352"/>
                    <a:pt x="952398" y="174352"/>
                  </a:cubicBezTo>
                  <a:lnTo>
                    <a:pt x="87176" y="174352"/>
                  </a:lnTo>
                  <a:cubicBezTo>
                    <a:pt x="39030" y="174352"/>
                    <a:pt x="0" y="135322"/>
                    <a:pt x="0" y="87176"/>
                  </a:cubicBezTo>
                  <a:lnTo>
                    <a:pt x="0" y="87176"/>
                  </a:lnTo>
                  <a:cubicBezTo>
                    <a:pt x="0" y="39030"/>
                    <a:pt x="39030" y="0"/>
                    <a:pt x="871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52D6996-6013-5CFE-A370-78A1B53A4E86}"/>
                </a:ext>
              </a:extLst>
            </p:cNvPr>
            <p:cNvSpPr txBox="1"/>
            <p:nvPr/>
          </p:nvSpPr>
          <p:spPr>
            <a:xfrm>
              <a:off x="0" y="-57150"/>
              <a:ext cx="1039574" cy="2315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1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5D158BA-DD47-BF6B-0C06-48CE3F50EC1B}"/>
              </a:ext>
            </a:extLst>
          </p:cNvPr>
          <p:cNvGrpSpPr/>
          <p:nvPr/>
        </p:nvGrpSpPr>
        <p:grpSpPr>
          <a:xfrm>
            <a:off x="6374248" y="4623828"/>
            <a:ext cx="2631421" cy="441329"/>
            <a:chOff x="0" y="0"/>
            <a:chExt cx="1039574" cy="17435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A0D2496-364D-842E-79CB-04324CBE7E8B}"/>
                </a:ext>
              </a:extLst>
            </p:cNvPr>
            <p:cNvSpPr/>
            <p:nvPr/>
          </p:nvSpPr>
          <p:spPr>
            <a:xfrm>
              <a:off x="0" y="0"/>
              <a:ext cx="1039574" cy="174352"/>
            </a:xfrm>
            <a:custGeom>
              <a:avLst/>
              <a:gdLst/>
              <a:ahLst/>
              <a:cxnLst/>
              <a:rect l="l" t="t" r="r" b="b"/>
              <a:pathLst>
                <a:path w="1039574" h="174352">
                  <a:moveTo>
                    <a:pt x="87176" y="0"/>
                  </a:moveTo>
                  <a:lnTo>
                    <a:pt x="952398" y="0"/>
                  </a:lnTo>
                  <a:cubicBezTo>
                    <a:pt x="1000544" y="0"/>
                    <a:pt x="1039574" y="39030"/>
                    <a:pt x="1039574" y="87176"/>
                  </a:cubicBezTo>
                  <a:lnTo>
                    <a:pt x="1039574" y="87176"/>
                  </a:lnTo>
                  <a:cubicBezTo>
                    <a:pt x="1039574" y="135322"/>
                    <a:pt x="1000544" y="174352"/>
                    <a:pt x="952398" y="174352"/>
                  </a:cubicBezTo>
                  <a:lnTo>
                    <a:pt x="87176" y="174352"/>
                  </a:lnTo>
                  <a:cubicBezTo>
                    <a:pt x="39030" y="174352"/>
                    <a:pt x="0" y="135322"/>
                    <a:pt x="0" y="87176"/>
                  </a:cubicBezTo>
                  <a:lnTo>
                    <a:pt x="0" y="87176"/>
                  </a:lnTo>
                  <a:cubicBezTo>
                    <a:pt x="0" y="39030"/>
                    <a:pt x="39030" y="0"/>
                    <a:pt x="871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38A09F9-6ABC-AB83-DBF2-B911DA1B4A90}"/>
                </a:ext>
              </a:extLst>
            </p:cNvPr>
            <p:cNvSpPr txBox="1"/>
            <p:nvPr/>
          </p:nvSpPr>
          <p:spPr>
            <a:xfrm>
              <a:off x="0" y="-57150"/>
              <a:ext cx="1039574" cy="2315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1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1F3C614-B1B1-04EF-5D2F-7A42CA04A427}"/>
              </a:ext>
            </a:extLst>
          </p:cNvPr>
          <p:cNvGrpSpPr/>
          <p:nvPr/>
        </p:nvGrpSpPr>
        <p:grpSpPr>
          <a:xfrm>
            <a:off x="-291056" y="1473504"/>
            <a:ext cx="12774111" cy="3740398"/>
            <a:chOff x="0" y="0"/>
            <a:chExt cx="5046563" cy="14776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0E05A58-E968-48C1-3ED7-206AAE02491C}"/>
                </a:ext>
              </a:extLst>
            </p:cNvPr>
            <p:cNvSpPr/>
            <p:nvPr/>
          </p:nvSpPr>
          <p:spPr>
            <a:xfrm>
              <a:off x="0" y="0"/>
              <a:ext cx="5046563" cy="1477688"/>
            </a:xfrm>
            <a:custGeom>
              <a:avLst/>
              <a:gdLst/>
              <a:ahLst/>
              <a:cxnLst/>
              <a:rect l="l" t="t" r="r" b="b"/>
              <a:pathLst>
                <a:path w="5046563" h="1477688">
                  <a:moveTo>
                    <a:pt x="0" y="0"/>
                  </a:moveTo>
                  <a:lnTo>
                    <a:pt x="5046563" y="0"/>
                  </a:lnTo>
                  <a:lnTo>
                    <a:pt x="5046563" y="1477688"/>
                  </a:lnTo>
                  <a:lnTo>
                    <a:pt x="0" y="1477688"/>
                  </a:lnTo>
                  <a:close/>
                </a:path>
              </a:pathLst>
            </a:custGeom>
            <a:solidFill>
              <a:srgbClr val="04407E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B1942F5-15BC-FD8D-4B6B-00A255EA3173}"/>
                </a:ext>
              </a:extLst>
            </p:cNvPr>
            <p:cNvSpPr txBox="1"/>
            <p:nvPr/>
          </p:nvSpPr>
          <p:spPr>
            <a:xfrm>
              <a:off x="0" y="-85725"/>
              <a:ext cx="5046563" cy="156341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6365C26-D6EA-CC47-DB22-398400724C4A}"/>
              </a:ext>
            </a:extLst>
          </p:cNvPr>
          <p:cNvGrpSpPr/>
          <p:nvPr/>
        </p:nvGrpSpPr>
        <p:grpSpPr>
          <a:xfrm>
            <a:off x="-291056" y="5083337"/>
            <a:ext cx="12774111" cy="261129"/>
            <a:chOff x="0" y="0"/>
            <a:chExt cx="5046563" cy="10316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D6F4781-8238-F199-74BC-A02667C16046}"/>
                </a:ext>
              </a:extLst>
            </p:cNvPr>
            <p:cNvSpPr/>
            <p:nvPr/>
          </p:nvSpPr>
          <p:spPr>
            <a:xfrm>
              <a:off x="0" y="0"/>
              <a:ext cx="5046563" cy="103162"/>
            </a:xfrm>
            <a:custGeom>
              <a:avLst/>
              <a:gdLst/>
              <a:ahLst/>
              <a:cxnLst/>
              <a:rect l="l" t="t" r="r" b="b"/>
              <a:pathLst>
                <a:path w="5046563" h="103162">
                  <a:moveTo>
                    <a:pt x="0" y="0"/>
                  </a:moveTo>
                  <a:lnTo>
                    <a:pt x="5046563" y="0"/>
                  </a:lnTo>
                  <a:lnTo>
                    <a:pt x="5046563" y="103162"/>
                  </a:lnTo>
                  <a:lnTo>
                    <a:pt x="0" y="103162"/>
                  </a:lnTo>
                  <a:close/>
                </a:path>
              </a:pathLst>
            </a:custGeom>
            <a:solidFill>
              <a:srgbClr val="04407E">
                <a:alpha val="29804"/>
              </a:srgbClr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CD5EC48-4F89-68DC-C6F0-307EE2514A0E}"/>
                </a:ext>
              </a:extLst>
            </p:cNvPr>
            <p:cNvSpPr txBox="1"/>
            <p:nvPr/>
          </p:nvSpPr>
          <p:spPr>
            <a:xfrm>
              <a:off x="0" y="-85725"/>
              <a:ext cx="5046563" cy="1888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D9FB81E-DFEE-815A-C101-F6218742C62F}"/>
              </a:ext>
            </a:extLst>
          </p:cNvPr>
          <p:cNvGrpSpPr/>
          <p:nvPr/>
        </p:nvGrpSpPr>
        <p:grpSpPr>
          <a:xfrm>
            <a:off x="-291056" y="1357290"/>
            <a:ext cx="12774111" cy="261129"/>
            <a:chOff x="0" y="0"/>
            <a:chExt cx="5046563" cy="103162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D4708C9-29D3-AD71-CE76-3C129431D79C}"/>
                </a:ext>
              </a:extLst>
            </p:cNvPr>
            <p:cNvSpPr/>
            <p:nvPr/>
          </p:nvSpPr>
          <p:spPr>
            <a:xfrm>
              <a:off x="0" y="0"/>
              <a:ext cx="5046563" cy="103162"/>
            </a:xfrm>
            <a:custGeom>
              <a:avLst/>
              <a:gdLst/>
              <a:ahLst/>
              <a:cxnLst/>
              <a:rect l="l" t="t" r="r" b="b"/>
              <a:pathLst>
                <a:path w="5046563" h="103162">
                  <a:moveTo>
                    <a:pt x="0" y="0"/>
                  </a:moveTo>
                  <a:lnTo>
                    <a:pt x="5046563" y="0"/>
                  </a:lnTo>
                  <a:lnTo>
                    <a:pt x="5046563" y="103162"/>
                  </a:lnTo>
                  <a:lnTo>
                    <a:pt x="0" y="103162"/>
                  </a:lnTo>
                  <a:close/>
                </a:path>
              </a:pathLst>
            </a:custGeom>
            <a:solidFill>
              <a:srgbClr val="04407E">
                <a:alpha val="29804"/>
              </a:srgbClr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99B161A-0AA0-041C-F622-89A174592A64}"/>
                </a:ext>
              </a:extLst>
            </p:cNvPr>
            <p:cNvSpPr txBox="1"/>
            <p:nvPr/>
          </p:nvSpPr>
          <p:spPr>
            <a:xfrm>
              <a:off x="0" y="-85725"/>
              <a:ext cx="5046563" cy="1888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4323BB6-182E-31DD-4898-7AF91E3AB3EB}"/>
              </a:ext>
            </a:extLst>
          </p:cNvPr>
          <p:cNvGrpSpPr/>
          <p:nvPr/>
        </p:nvGrpSpPr>
        <p:grpSpPr>
          <a:xfrm>
            <a:off x="4829816" y="-197795"/>
            <a:ext cx="2532369" cy="253236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E018BDF-A4B4-C42F-0A3F-64E6EC1A3E4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3C992C8-9C24-2887-F7DA-9127180691BE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16"/>
                </a:lnSpc>
              </a:pPr>
              <a:endParaRPr sz="1200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494D6F7-8271-8B85-EC28-7417026D8264}"/>
              </a:ext>
            </a:extLst>
          </p:cNvPr>
          <p:cNvSpPr/>
          <p:nvPr/>
        </p:nvSpPr>
        <p:spPr>
          <a:xfrm>
            <a:off x="5098012" y="704055"/>
            <a:ext cx="2072177" cy="1319507"/>
          </a:xfrm>
          <a:custGeom>
            <a:avLst/>
            <a:gdLst/>
            <a:ahLst/>
            <a:cxnLst/>
            <a:rect l="l" t="t" r="r" b="b"/>
            <a:pathLst>
              <a:path w="3108265" h="1979261">
                <a:moveTo>
                  <a:pt x="0" y="0"/>
                </a:moveTo>
                <a:lnTo>
                  <a:pt x="3108264" y="0"/>
                </a:lnTo>
                <a:lnTo>
                  <a:pt x="3108264" y="1979261"/>
                </a:lnTo>
                <a:lnTo>
                  <a:pt x="0" y="1979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B719EFC-A5DC-49D9-77DA-8DE79198AB5B}"/>
              </a:ext>
            </a:extLst>
          </p:cNvPr>
          <p:cNvSpPr txBox="1"/>
          <p:nvPr/>
        </p:nvSpPr>
        <p:spPr>
          <a:xfrm>
            <a:off x="872465" y="2639726"/>
            <a:ext cx="11003565" cy="1212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89"/>
              </a:lnSpc>
            </a:pPr>
            <a:r>
              <a:rPr lang="zh-CN" altLang="en-US" sz="54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思源宋体 Bold"/>
                <a:sym typeface="思源宋体 Bold"/>
              </a:rPr>
              <a:t>欢迎批评指正！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1AD3D8C-0820-18B4-35FF-14AC0A4637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05" y="287362"/>
            <a:ext cx="3301829" cy="972457"/>
          </a:xfrm>
          <a:prstGeom prst="rect">
            <a:avLst/>
          </a:prstGeom>
        </p:spPr>
      </p:pic>
      <p:sp>
        <p:nvSpPr>
          <p:cNvPr id="29" name="Freeform 5">
            <a:extLst>
              <a:ext uri="{FF2B5EF4-FFF2-40B4-BE49-F238E27FC236}">
                <a16:creationId xmlns:a16="http://schemas.microsoft.com/office/drawing/2014/main" id="{BEA5D12B-033C-46D8-09FD-E7A95C00859B}"/>
              </a:ext>
            </a:extLst>
          </p:cNvPr>
          <p:cNvSpPr>
            <a:spLocks noEditPoints="1"/>
          </p:cNvSpPr>
          <p:nvPr/>
        </p:nvSpPr>
        <p:spPr bwMode="auto">
          <a:xfrm>
            <a:off x="11358564" y="4336484"/>
            <a:ext cx="555624" cy="489478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E869F79B-C518-4A4B-8B00-36D06AE41DE1}"/>
              </a:ext>
            </a:extLst>
          </p:cNvPr>
          <p:cNvSpPr txBox="1"/>
          <p:nvPr/>
        </p:nvSpPr>
        <p:spPr>
          <a:xfrm>
            <a:off x="9841121" y="5500710"/>
            <a:ext cx="270916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altLang="zh-CN" sz="2000" b="1" spc="176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思源宋体 Semi-Bold"/>
                <a:sym typeface="思源宋体 Semi-Bold"/>
              </a:rPr>
              <a:t>2026-7-7</a:t>
            </a:r>
            <a:endParaRPr lang="en-US" sz="2000" b="1" spc="176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思源宋体 Semi-Bold"/>
              <a:sym typeface="思源宋体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506330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扁平化课堂学术汇报PPT模板"/>
</p:tagLst>
</file>

<file path=ppt/theme/theme1.xml><?xml version="1.0" encoding="utf-8"?>
<a:theme xmlns:a="http://schemas.openxmlformats.org/drawingml/2006/main" name="Office 主题">
  <a:themeElements>
    <a:clrScheme name="工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3A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6460</TotalTime>
  <Words>1757</Words>
  <Application>Microsoft Office PowerPoint</Application>
  <PresentationFormat>宽屏</PresentationFormat>
  <Paragraphs>138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华文中宋</vt:lpstr>
      <vt:lpstr>思源宋体 Bold</vt:lpstr>
      <vt:lpstr>思源宋体 Heavy</vt:lpstr>
      <vt:lpstr>微软雅黑</vt:lpstr>
      <vt:lpstr>Arial</vt:lpstr>
      <vt:lpstr>Calibri</vt:lpstr>
      <vt:lpstr>Cambria</vt:lpstr>
      <vt:lpstr>Cambria Math</vt:lpstr>
      <vt:lpstr>Consolas</vt:lpstr>
      <vt:lpstr>Open Sans</vt:lpstr>
      <vt:lpstr>Segoe UI</vt:lpstr>
      <vt:lpstr>Verdana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</dc:title>
  <dc:subject>tukuppt</dc:subject>
  <dc:creator>www.tukuppt.com</dc:creator>
  <cp:lastModifiedBy>冉芸 梁</cp:lastModifiedBy>
  <cp:revision>169</cp:revision>
  <dcterms:created xsi:type="dcterms:W3CDTF">2015-10-24T01:57:00Z</dcterms:created>
  <dcterms:modified xsi:type="dcterms:W3CDTF">2026-07-07T09:31:12Z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2052-10.1.0.6206</vt:lpwstr>
  </property>
</Properties>
</file>