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1" r:id="rId5"/>
    <p:sldId id="262" r:id="rId6"/>
    <p:sldId id="263" r:id="rId7"/>
    <p:sldId id="264" r:id="rId8"/>
    <p:sldId id="265" r:id="rId9"/>
    <p:sldId id="274" r:id="rId10"/>
    <p:sldId id="275" r:id="rId11"/>
    <p:sldId id="266" r:id="rId12"/>
    <p:sldId id="267" r:id="rId13"/>
    <p:sldId id="273" r:id="rId14"/>
    <p:sldId id="268" r:id="rId15"/>
    <p:sldId id="272" r:id="rId16"/>
    <p:sldId id="276" r:id="rId17"/>
    <p:sldId id="277" r:id="rId18"/>
    <p:sldId id="278" r:id="rId19"/>
    <p:sldId id="279" r:id="rId20"/>
    <p:sldId id="280" r:id="rId21"/>
    <p:sldId id="281" r:id="rId22"/>
    <p:sldId id="260" r:id="rId23"/>
    <p:sldId id="282" r:id="rId24"/>
    <p:sldId id="283" r:id="rId25"/>
    <p:sldId id="284" r:id="rId26"/>
    <p:sldId id="288" r:id="rId27"/>
    <p:sldId id="289" r:id="rId28"/>
    <p:sldId id="290" r:id="rId29"/>
    <p:sldId id="258" r:id="rId30"/>
    <p:sldId id="259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2" d="100"/>
          <a:sy n="72" d="100"/>
        </p:scale>
        <p:origin x="645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4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大语言模型学习汇报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从"预测下一个词"到涌现智能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1828800" cy="25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0">
                <a:solidFill>
                  <a:srgbClr val="888888"/>
                </a:solidFill>
                <a:latin typeface="Segoe UI" panose="020B0502040204020203"/>
              </a:defRPr>
            </a:pPr>
            <a:r>
              <a:t>学习汇报  |  2026年7月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1  |  问题背景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语言模型的本质任务是什么？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语言模型 (Language Model) 的任务极其简单：</a:t>
            </a:r>
          </a:p>
          <a:p>
            <a:pPr algn="l">
              <a:spcAft>
                <a:spcPts val="390"/>
              </a:spcAft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给定前文  →  预测下一个词（token）的概率分布</a:t>
            </a:r>
          </a:p>
          <a:p>
            <a:pPr algn="l">
              <a:spcAft>
                <a:spcPts val="390"/>
              </a:spcAft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P( wₜ | w₁, w₂, ..., wₜ₋₁ )</a:t>
            </a:r>
          </a:p>
          <a:p>
            <a:pPr algn="l">
              <a:spcAft>
                <a:spcPts val="390"/>
              </a:spcAft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这看起来只是一个"文字接龙"游戏。但正是这个简单的自监督任务，</a:t>
            </a:r>
          </a:p>
          <a:p>
            <a:pPr algn="l">
              <a:spcAft>
                <a:spcPts val="390"/>
              </a:spcAft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当模型足够大、数据足够多时，涌现出了令人惊讶的智能。</a:t>
            </a:r>
          </a:p>
        </p:txBody>
      </p:sp>
      <p:pic>
        <p:nvPicPr>
          <p:cNvPr id="9" name="Picture 8" descr="emerg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502920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572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核心洞见：为了准确"预测下一个词"，模型必须学会语法、事实、推理、上下文理解——这些恰好构成了我们所说的"智能"。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 · Encoder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Transformer Encoder：双向理解的核心引擎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Encoder 的定位与结构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Encoder 的任务：将输入序列编码为富含上下文的连续表示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原始论文 (Attention Is All You Need, 2017) 中：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Encoder 堆叠 N=6 个完全相同的 Block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每个 Block 包含两个子层：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① Multi-Head Self-Attention（双向）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② Feed-Forward Network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每个子层后接：Add（残差连接）+ LayerNorm（层归一化）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Encoder vs Decoder 的关键差异：</a:t>
            </a:r>
          </a:p>
          <a:p>
            <a:pPr algn="l">
              <a:spcAft>
                <a:spcPts val="390"/>
              </a:spcAft>
              <a:defRPr sz="11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  • Encoder：双向 Self-Attention — 每个词看到所有其他词</a:t>
            </a:r>
          </a:p>
          <a:p>
            <a:pPr algn="l">
              <a:spcAft>
                <a:spcPts val="390"/>
              </a:spcAft>
              <a:defRPr sz="11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  • Decoder：因果遮罩 Self-Attention — 每个词只能看到之前的词</a:t>
            </a:r>
          </a:p>
          <a:p>
            <a:pPr algn="l">
              <a:spcAft>
                <a:spcPts val="390"/>
              </a:spcAft>
              <a:defRPr sz="1100" b="1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• Decoder 额外含 Cross-Attention 层，用于关注 Encoder 输出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Encoder 输出的是一组向量 K/V，供 Decoder 的 Cross-Attention 使用。</a:t>
            </a:r>
          </a:p>
        </p:txBody>
      </p:sp>
      <p:pic>
        <p:nvPicPr>
          <p:cNvPr id="9" name="Picture 8" descr="encoder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9728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 · Encoder Step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Step 1：Tokenization — Encoder 接收的第一道工序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Encoder 的输入：任意文本 → Token ID 序列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无论是编码还是生成，模型都只能处理数字（矩阵运算）。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Tokenization 是所有 NLP 模型的共同入口——Encoder 也不例外。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三种分词策略对比：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1. Word-level (词级分词)  →  直观但 OOV 问题严重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"the cat sat" → ["the", "cat", "sat"]    未登录词 (OOV) 无法处理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2. Character-level (字符级)  →  无 OOV 但序列太长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"cat" → ["c", "a", "t"]    每个字符一个 token，语义信息稀疏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3. Subword (子词分词) ✅  →  当前主流方案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"tokenization" → ["token", "ization"]    高频词完整保留，低频词拆为子词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 平衡了词汇表大小与 OOV 问题，Encoder 和 Decoder 共享同一词表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BPE (Byte Pair Encoding) 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核心流程：迭代合并最常共现的 token 对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初始：每个字符是一个独立 token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文本: "low low low" → [l, o, w, _, l, o, w, ...]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迭代：统计 → 合并 → 重复，直到词表达到目标大小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  Round 1: (l, o) 频率最高 → 合并为 'lo'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  Round 2: (lo, w) 频率最高 → 合并为 'low'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  Round 3: (low, _) 频率最高 → 合并为 'low '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... 持续 N 轮 ...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最终结果：词汇表大小 = 训练轮数（人为设定）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GPT-1:  ~40,000  (BPE)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BERT:   ~30,000  (WordPiece, BPE 变体)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GPT-4:  ~100,277 (cl100k_base)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0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Encoder &amp; Decoder 的 Tokenization 完全一致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（原论文的 Encoder 和 Decoder 共享同一个 Embedding 矩阵）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 · Encoder Step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Step 2：Token Embedding — 为 Encoder 构建语义空间的基础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Embedding：Encoder 看到的不再是 ID，而是含义向量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486400" cy="383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数学定义：Embedding = 一个可学习的查找表 E ∈ R^(V × d_model)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V = 词汇表大小    d_model = 模型隐藏维度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对输入序列的每个 token ID tᵢ，查表得到其向量表示：</a:t>
            </a:r>
          </a:p>
          <a:p>
            <a:pPr algn="l">
              <a:spcAft>
                <a:spcPts val="390"/>
              </a:spcAft>
              <a:defRPr sz="12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  xᵢ = E[tᵢ, :]   ∈ R^(d_model)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这条向量就是 Encoder 第一层的输入。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原论文中 Encoder 和 Decoder 共享 Embedding 矩阵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Embedding 维度与模型规模：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Original Transformer:  d_model = 512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BERT-Base:            d_model = 768   (E: 30k×768 ≈ 23M 参数)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BERT-Large:           d_model = 1024  (E: 30k×1024 ≈ 31M 参数)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0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Embedding 层已经占模型总参数的不小比例！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正是因为参数多，Embedding 才能学到丰富的语义信息。</a:t>
            </a:r>
          </a:p>
        </p:txBody>
      </p:sp>
      <p:pic>
        <p:nvPicPr>
          <p:cNvPr id="9" name="Picture 8" descr="embedding_vis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71600"/>
            <a:ext cx="50292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核心洞见：Embedding 将离散 token ID 映射为连续语义坐标。在这个空间中，「距离 ≈ 语义相似度」。Encoder 的后续 Attention 层正是在这个连续空间上做运算，这也是它能捕获复杂语言模式的基础。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 · Encoder Step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Step 3：Positional Encoding — 让 Encoder 知道词在哪里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6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Encoder 的 Self-Attention 天然不具备位置感知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486400" cy="368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问题：Self-Attention 计算的是 token 之间的相似度——</a:t>
            </a:r>
          </a:p>
          <a:p>
            <a:pPr algn="l">
              <a:spcAft>
                <a:spcPts val="390"/>
              </a:spcAft>
              <a:defRPr sz="1200" b="0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  同一个句子，"狗追猫" 和 "猫追狗" → Attention 矩阵完全相同！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解决方案：Sinusoidal Positional Encoding（位置编码）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在 Embedding 向量上加上一个位置相关的向量 PE(pos)：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  PE(pos, 2i)    = sin( pos / 10000^(2i / d_model) )</a:t>
            </a:r>
          </a:p>
          <a:p>
            <a:pPr algn="l">
              <a:spcAft>
                <a:spcPts val="390"/>
              </a:spcAft>
              <a:defRPr sz="13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  PE(pos, 2i+1)  = cos( pos / 10000^(2i / d_model) 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pos = 位置索引 (0, 1, 2, ..., seq_len-1)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i   = 维度索引 (0, 1, ..., d_model/2 - 1)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设计巧思：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偶维度 sin + 奇维度 cos → 每个位置有唯一的 d_model 维编码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  • PE(pos+k) 可由 PE(pos) 线性表示 → 允许模型学习相对位置关系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  • 可外推 → 训练时未见过的长度也能直接编码 (sin/cos 定义在所有位置)</a:t>
            </a:r>
          </a:p>
        </p:txBody>
      </p:sp>
      <p:pic>
        <p:nvPicPr>
          <p:cNvPr id="9" name="Picture 8" descr="positional_enco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71600"/>
            <a:ext cx="502920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Encoder &amp; Decoder 的位置编码完全相同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074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原论文中 Encoder 和 Decoder 都用相同的 Sinusoidal PE。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这保证了两个模块对位置信息的理解是一致的。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0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现代改进：RoPE (旋转位置编码)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通过对 Q、K 施加旋转来注入位置信息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内积 Q^T·K 自动包含 token 间的相对位置差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  • LLaMA / GPT-NeoX 等模型采用，效果优于 Sinusoidal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 · Encoder Step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Step 4：Encoder 的双向 Self-Attention — 全局视野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① 从 Embedding 生成 Q, K,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输入：X = [x₁, x₂, ..., xₙ] ∈ R^(n × d_model)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（每个 xᵢ 已经是 Embedding + Positional Encoding）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Q = X · W_Q     W_Q ∈ R^(d_model × d_k)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K = X · W_K     W_K ∈ R^(d_model × d_k)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V = X · W_V     W_V ∈ R^(d_model × d_v)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原论文: d_model=512, h=8 → d_k = d_v = 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② 核心公式：Scaled Dot-Product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6563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Attention(Q,K,V) = softmax( Q·K^T / √d_k ) · V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分步拆解：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(a) scores = Q · K^T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[n×d_k] · [d_k×n] → [n×n]  每个元素 = queryᵢ 与 keyⱼ 的内积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(b) scaled = scores / √d_k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防止 d_k 过大时内积值爆炸 → softmax 梯度消失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(c) weights = softmax(scaled, dim=-1)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[n×n]  每行是一个概率分布（行和为 1）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(d) output = weights · V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[n×n] · [n×d_v] → [n×d_v]  对所有 Value 加权平均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时间复杂度：O(n²·d_model)   n = 序列长度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——这也是长序列处理的瓶颈所在。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32778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③ 关键差异：有无因果遮罩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86563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1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Encoder：双向 Attention（无 Mask）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每个 token 关注所有 token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充分融合前后上下文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适用于「理解」任务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(BERT、分类、问答)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Decoder：因果 Attention（有 Mask）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每个 token 只能关注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当前位置及之前的 token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未来位置被设为 -∞ (mask)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适用于「生成」任务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(GPT、机器翻译)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因果遮罩的具体实现：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mask[i, j] =  0      (如果 j ≤ i)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mask[i, j] = -∞      (如果 j &gt; i)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softmax(-∞) → 0，未来位置的权重被清零</a:t>
            </a:r>
          </a:p>
        </p:txBody>
      </p:sp>
      <p:pic>
        <p:nvPicPr>
          <p:cNvPr id="13" name="Picture 12" descr="multihead_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555" y="5120640"/>
            <a:ext cx="54864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75120" y="5623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④ Multi-Head：多个子空间并行</a:t>
            </a:r>
            <a:br/>
            <a:r>
              <a:t>  每个头有自己的 W_Q、W_K、W_V → 关注不同模式。</a:t>
            </a:r>
            <a:br/>
            <a:r>
              <a:t>  MultiHead = Concat(head₁,...,head_h) · W_O</a:t>
            </a:r>
            <a:br/>
            <a:r>
              <a:t>  不同头的分工（经可解释性研究发现）：语法头、指代头、位置头、语义头…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注意力机制：直觉解释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图书馆检索类比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5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Q (Query)   — 你要找什么？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你拿着一个问题走进图书馆，想知道答案</a:t>
            </a:r>
          </a:p>
          <a:p>
            <a:pPr algn="l">
              <a:spcAft>
                <a:spcPts val="39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5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K (Key)     — 我有什么？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每本书的书脊上贴着标签，描述它的内容</a:t>
            </a:r>
          </a:p>
          <a:p>
            <a:pPr algn="l">
              <a:spcAft>
                <a:spcPts val="39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V (Value)   — 实际内容是什么？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每本书的正文是真正的信息</a:t>
            </a:r>
          </a:p>
          <a:p>
            <a:pPr algn="l">
              <a:spcAft>
                <a:spcPts val="39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注意力 = 扫描所有书的标签(Q·K)，找到最相关的，取其内容的加权平均</a:t>
            </a:r>
          </a:p>
        </p:txBody>
      </p:sp>
      <p:pic>
        <p:nvPicPr>
          <p:cNvPr id="9" name="Picture 8" descr="qkv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63040"/>
            <a:ext cx="548640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Self-Attention 的特例：Q, K, V 都来自同一句话——让句子"自己看自己"，理解词与词之间的关系。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注意力权重可视化：词与词的关联强度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pic>
        <p:nvPicPr>
          <p:cNvPr id="7" name="Picture 6" descr="attention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6400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如何读这张图？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纵轴 = 当前词 (Query)</a:t>
            </a:r>
          </a:p>
          <a:p>
            <a:pPr algn="l">
              <a:spcAft>
                <a:spcPts val="39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横轴 = 被关注的词 (Key)</a:t>
            </a:r>
          </a:p>
          <a:p>
            <a:pPr algn="l">
              <a:spcAft>
                <a:spcPts val="39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0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颜色越深 = 关注度越高</a:t>
            </a:r>
          </a:p>
          <a:p>
            <a:pPr algn="l">
              <a:spcAft>
                <a:spcPts val="39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 · Encoder Step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Step 5：FFN + Residual + LayerNorm — 让 Encoder 更深更强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Feed-Forward Network (FFN)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3657600" cy="313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2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公式：FFN(x) = ReLU(x·W₁ + b₁)·W₂ + b₂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为什么需要 FFN？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Attention 本质是线性加权——缺少非线性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FFN 引入非线性激活 → 表达能力质的飞跃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FFN 是模型「知识存储」的主要位置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逐位置独立运算——Encoder 中所有位置并行处理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维度变化（原论文）：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d_model (512) → FFN 中间层 (2048, 4× d_model) → d_model (512)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FFN 的参数量：W₁ (512×2048) + W₂ (2048×512) ≈ 2.1M / 层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Encoder 有 6 层 → FFN 总参数 ≈ 12.6M（仅 Encoder 的 FFN 部分）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Residual Connection (残差连接)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3657600" cy="413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2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公式：Output = LayerNorm(x + Sublayer(x))</a:t>
            </a:r>
          </a:p>
          <a:p>
            <a:pPr algn="l">
              <a:spcAft>
                <a:spcPts val="39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为什么 Transformer 必须用残差？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深层网络的核心难题：梯度消失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反向传播时梯度通过链式法则逐层相乘——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层数越深，前面层的梯度越小，几乎不更新。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残差的解决方案：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提供一条「身份映射」路径，让梯度直达浅层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每层只需学习「残差」= 期望输出 − 输入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• 即使 Sublayer 学得很差，输出也不会比输入更差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直观类比：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无残差：每层从零构造 + 容易丢失原始信息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  有残差：每层只需对输入做「增量修正」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0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Encoder 中有两处残差连接：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① Self-Attention 后:  x→SA→Add→LN</a:t>
            </a:r>
          </a:p>
          <a:p>
            <a:pPr algn="l">
              <a:spcAft>
                <a:spcPts val="39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② FFN 后:       x→FFN→Add→LN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645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Layer 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0"/>
            <a:ext cx="2926080" cy="1764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1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LayerNorm(x) = γ · (x-μ)/σ + β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γ, β 是可学习的缩放和偏移参数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μ, σ 对每个样本的 d_model 维度单独计算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Encoder 最终输出：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6 层处理后得到富含上下文的 K, V 矩阵</a:t>
            </a:r>
          </a:p>
          <a:p>
            <a:pPr algn="l">
              <a:spcAft>
                <a:spcPts val="390"/>
              </a:spcAft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传递给 Decoder 的 Cross-Attention 层使用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 · 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多层堆叠 &amp; 输出分布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为什么需要多层堆叠？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GPT-2 Small:  12 层, 每层 12 个注意力头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GPT-3:        96 层, 每层 96 个注意力头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不同层学到不同的语言抽象：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底层 (1-4层):   词法/句法模式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中层 (5-8层):   语义关系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高层 (9-12层):  抽象推理/知识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这被称为 "progressive abstraction"——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模型逐层构建对语言越来越抽象的理解。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最终的输出：概率分布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最后一层 hidden state →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线性投影到词汇表大小 →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Softmax 归一化 →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每个词的预测概率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词表大小示例：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GPT-2: ~50,000 个 token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GPT-4: ~100,000 个 token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模型输出的是一个概率向量——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"下一个词"只是这个分布中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概率最高的那个 token。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采样策略：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greedy (贪心)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top-k / top-p (核采样)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temperature (温度调节)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</a:t>
            </a:r>
            <a:r>
              <a:rPr lang="en-US"/>
              <a:t>2</a:t>
            </a:r>
            <a:r>
              <a:t>  |  问题背景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从 RNN 到 Transformer：为什么要革新？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RNN 的核心痛点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1. 顺序处理，无法并行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像读书一样必须逐字逐句，训练极慢</a:t>
            </a:r>
          </a:p>
          <a:p>
            <a:pPr algn="l">
              <a:spcAft>
                <a:spcPts val="39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2. 长距离依赖消失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第1个词的信息传到第100个词时已几乎消失</a:t>
            </a:r>
          </a:p>
          <a:p>
            <a:pPr algn="l">
              <a:spcAft>
                <a:spcPts val="39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3. 梯度消失/爆炸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反向传播经过长链后，梯度趋近于0</a:t>
            </a:r>
          </a:p>
        </p:txBody>
      </p:sp>
      <p:pic>
        <p:nvPicPr>
          <p:cNvPr id="9" name="Picture 8" descr="rnn_vs_transform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463040"/>
            <a:ext cx="7498079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关键突破：Transformer 用 Self-Attention 让每个词都能"一眼看到"所有其他词，O(1)的路径长度解决了长距离依赖问题。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"大"模型的"大"体现在哪些维度？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pic>
        <p:nvPicPr>
          <p:cNvPr id="7" name="Picture 6" descr="scale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5156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参数量 (Parameters)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模型中的可训练权重数量</a:t>
            </a:r>
            <a:br/>
            <a:r>
              <a:t>GPT-3: 175B  |  GPT-4: ~1.8T (估计)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训练数据 (Data)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训练所用的文本总量</a:t>
            </a:r>
            <a:br/>
            <a:r>
              <a:t>GPT-3: ~570GB  |  GPT-4: ~13TB (估计)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算力 (Compute)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训练所用的 GPU 计算量</a:t>
            </a:r>
            <a:br/>
            <a:r>
              <a:t>GPT-3: ~3,640 PF-days  |  GPT-4: ~78,000 (估计)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4  |  思考与展望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我的疑问与思考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1005840" y="1737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幻觉问题 (Hallucination)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005840" y="2057400"/>
            <a:ext cx="100584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模型会编造看似合理但完全错误的事实。既然模型只是在"预测下一个词"，它并不真正"知道"什么是真什么是假。这是否意味着单纯扩大规模无法根本解决幻觉？</a:t>
            </a: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962025" y="2946400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rPr lang="en-US"/>
              <a:t>2</a:t>
            </a:r>
            <a:r>
              <a:t>. 我们真的理解这些模型吗？</a:t>
            </a: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962025" y="3568700"/>
            <a:ext cx="100584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数以亿计的参数交互产生的结果，目前主要是"现象学"研究——我们看到能力涌现，但并不完全理解机制。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4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Tokenization 与上下文窗口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大模型的"眼睛"和"视野"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1828800" cy="25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0">
                <a:solidFill>
                  <a:srgbClr val="888888"/>
                </a:solidFill>
                <a:latin typeface="Segoe UI" panose="020B0502040204020203"/>
              </a:defRPr>
            </a:pPr>
            <a:r>
              <a:t>学习汇报  |  2026年7月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1  |  问题背景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什么是 Token？为什么模型按 Token 计费？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Token = 模型处理的"最小单位"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语言模型不是逐字阅读，而是逐 token 处理。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Token 是文本被切分后的最小语义单元，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它可能是一个完整的词、一个词的一部分、</a:t>
            </a:r>
          </a:p>
          <a:p>
            <a:pPr algn="l">
              <a:spcAft>
                <a:spcPts val="39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一个标点符号，甚至是一个字节。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"Hello world!" → ["Hello", " world", "!"]</a:t>
            </a:r>
          </a:p>
          <a:p>
            <a:pPr algn="l">
              <a:spcAft>
                <a:spcPts val="39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3 个字符 → 3 个 token（正好相等，纯属巧合）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词汇表通常包含 5万~25万 个 token。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模型每步输出都是"词汇表上的概率分布"。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为什么 API 按 token 计费？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计算量 = 输入 token 数 × 输出 token 数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每次生成一个 token 都要做一次完整的前向传播。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Token 是"计算复杂度"的直接代理：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输入 100 tokens → 模型处理 100 次 attention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输出 50 tokens → 模型再处理 50 次（自回归）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为什么不是按"字符"计费？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"Hello" (5字符) = 1 token → 1 次前向传播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"你好"  (2字符) = 2 tokens → 2 次前向传播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按字符计费无法反映真实计算量。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1  |  问题背景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如何进行Token化？—— BPE (Byte Pair Encoding) 算法详解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5486400" cy="441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▌BPE 五步流程</a:t>
            </a:r>
          </a:p>
          <a:p>
            <a:pPr algn="l">
              <a:spcAft>
                <a:spcPts val="36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500" b="1">
                <a:solidFill>
                  <a:srgbClr val="3498DB"/>
                </a:solidFill>
              </a:rPr>
              <a:t>Step 1 — 初始化</a:t>
            </a:r>
            <a:endParaRPr sz="1500" b="1">
              <a:solidFill>
                <a:srgbClr val="3498DB"/>
              </a:solidFill>
            </a:endParaRPr>
          </a:p>
          <a:p>
            <a:pPr algn="l">
              <a:spcAft>
                <a:spcPts val="36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将所有训练文本拆分为字符序列，构建初始词汇表</a:t>
            </a:r>
          </a:p>
          <a:p>
            <a:pPr algn="l">
              <a:spcAft>
                <a:spcPts val="36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每个唯一字符 = 一个 token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例："low low lower" → 词汇表 {l, o, w, _, e, r}</a:t>
            </a:r>
          </a:p>
          <a:p>
            <a:pPr algn="l">
              <a:spcAft>
                <a:spcPts val="360"/>
              </a:spcAft>
              <a:defRPr sz="15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Step 2 — 统计频率</a:t>
            </a:r>
          </a:p>
          <a:p>
            <a:pPr algn="l">
              <a:spcAft>
                <a:spcPts val="36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扫描整个语料，统计所有相邻 token 对的共现次数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例：(l, o) 出现 3 次，(o, w) 出现 3 次，(w, _) 出现 1 次...</a:t>
            </a:r>
          </a:p>
          <a:p>
            <a:pPr algn="l">
              <a:spcAft>
                <a:spcPts val="360"/>
              </a:spcAft>
              <a:defRPr sz="15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Step 3 — 合并最高频对</a:t>
            </a:r>
          </a:p>
          <a:p>
            <a:pPr algn="l">
              <a:spcAft>
                <a:spcPts val="36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选出频率最高的 token 对，合并为一个新 token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例：(l, o) 频率最高 → 新 token "lo" 加入词汇表</a:t>
            </a:r>
          </a:p>
          <a:p>
            <a:pPr algn="l">
              <a:spcAft>
                <a:spcPts val="360"/>
              </a:spcAft>
              <a:defRPr sz="15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Step 4 — 迭代</a:t>
            </a:r>
          </a:p>
          <a:p>
            <a:pPr algn="l">
              <a:spcAft>
                <a:spcPts val="36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将合并后的新 token 序列作为输入，重复 Step 2-3</a:t>
            </a:r>
          </a:p>
          <a:p>
            <a:pPr algn="l">
              <a:spcAft>
                <a:spcPts val="36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每次迭代词汇表 +1</a:t>
            </a:r>
          </a:p>
          <a:p>
            <a:pPr algn="l">
              <a:spcAft>
                <a:spcPts val="360"/>
              </a:spcAft>
              <a:defRPr sz="15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Step 5 — 终止</a:t>
            </a:r>
          </a:p>
          <a:p>
            <a:pPr algn="l">
              <a:spcAft>
                <a:spcPts val="36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当词汇表大小达到预设目标（如 100,000），停止合并</a:t>
            </a:r>
          </a:p>
          <a:p>
            <a:pPr algn="l">
              <a:spcAft>
                <a:spcPts val="36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最终词汇表 = 初始字符 + 所有合并出的子词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▌BPE 合并过程：实例演示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输入语料： "low" "low" "lower" "newest" "widest"</a:t>
            </a:r>
          </a:p>
          <a:p>
            <a:pPr algn="l">
              <a:spcAft>
                <a:spcPts val="3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初始词汇表（字符级）：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{l, o, w, e, r, n, s, t, i, d, _}</a:t>
            </a:r>
          </a:p>
          <a:p>
            <a:pPr algn="l">
              <a:spcAft>
                <a:spcPts val="3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第1次合并: (l, o) → "lo"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第2次合并: (lo, w) → "low"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第3次合并: (e, s) → "es"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第4次合并: (es, t) → "est"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第5次合并: (e, r) → "er"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...</a:t>
            </a:r>
          </a:p>
          <a:p>
            <a:pPr algn="l">
              <a:spcAft>
                <a:spcPts val="3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最终词汇表（部分）：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{l, o, w, e, r, n, s, t, d, _,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lo, low, es, est, er, ...}</a:t>
            </a:r>
          </a:p>
          <a:p>
            <a:pPr algn="l">
              <a:spcAft>
                <a:spcPts val="3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→ "lowest" 的切分: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方案1: [low] [est] = 2 tokens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方案2: [low] [e] [st] = 3 tokens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→ BPE 总是选最少 token 的切分 (贪婪)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43600"/>
            <a:ext cx="5494655" cy="618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BPE 的核心思想：通过迭代合并高频字符对，学习到介于字符和词之间的「子词」表示——既保留了常见词的完整性，又能用多个子词组合表示罕见词。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1  |  问题背景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WordPiece / Unigram / SentencePiece：三大主流替代方案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WordPiece (BERT)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核心差异：用「概率」而非「频率」选择合并对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工作机制：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① 初始化：与BPE相同的字符级词汇表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② 每次选使训练语料「语言模型概率」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最大化的 token 对进行合并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③ 公式：选择 score =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count(pair) / (count(tok1)×count(tok2))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最大的对 —— 避免高频但无意义的合并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④ 用「##」前缀标记非词首子词：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「playing」→ [play] [##ing]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关键特性：概率驱动 → 对罕见词更友好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2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代表模型：BERT, DistilBERT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词汇表：~30,000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Unigram (T5 / mBART)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核心差异：从大词汇表「删」而非「增」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工作机制：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① 初始化：构建一个超大的种子词汇表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（包含所有常见子串）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② 计算每个 token 对总损失的影响：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loss(token) = 移除该token后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训练数据似然度的减少量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③ 每次删除影响最小的 token（约 10-20%）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④ 重复②③ → 词汇表逐步缩减到目标大小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关键特性：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概率式切分：每段文本存在多条可能路径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训练时选概率最高的路径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更灵活 → 更适合多语言场景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2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代表模型：T5, mBART, XLNet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词汇表：~32,000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SentencePiece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核心差异：语言无关 + 空格可见 + 无损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工作机制：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① 不依赖「空格」分词 —— 空格是普通字符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将空格映射为「_」统一处理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② 直接在原始 Unicode 文本上训练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无需任何语言相关的预处理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③ 底层算法可选 BPE 或 Unigram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（通常选择 Unigram 以获得更好概率模型）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④ 编码/解码完全可逆 —— 信息无损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关键特性：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对所有语言「一视同仁」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中文/日文/韩文/阿拉伯文 → 无需特殊处理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所有字符都被保留（包括空格和换行）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decode(encode(text)) ≡ text 保证成立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代表模型：Gemini, Llama, DeepSeek</a:t>
            </a:r>
          </a:p>
          <a:p>
            <a:pPr algn="l">
              <a:spcAft>
                <a:spcPts val="33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词汇表：~128K~256K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309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BPE（频率驱动）适合大多数任务 | WordPiece（概率驱动）更关注训练数据似然度 | Unigram（删减驱动）更灵活适合多语言 | SentencePiece（语言无关）是未来的趋势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1  |  问题背景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Tokenizer 不是通用的！—— 训练数据如何"塑造"词汇表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▌为什么"语言税"是 tokenizer 层面的问题？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Tokenization 不是数学上的确定性算法——它从训练语料中"学"出合并规则。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4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以 GPT 系列为例（cl100k_base）：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训练语料 90%+ 为英文文本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BPE 迭代中，英文高频词对持续被合并 → 最终 1 token / 常用词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中文/日文/韩文的字符对→在语料中出现频率极低→很少达到合并阈值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因此非拉丁字符几乎每个字仍是 1-2 个独立 token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关键对比（同一 tokenizer，不同语言）：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」 "the"   → 1 token     (英文最常见词，合并上百次的结果)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」 "的"   → 1 token     (中文最常见字，但仅作为单字保留)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」 "language" → 1 token (字母组合反复出现后合并)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」 "语言"  → 2 tokens   (中文字符对未达合并阈值)</a:t>
            </a:r>
          </a:p>
          <a:p>
            <a:pPr algn="l">
              <a:spcAft>
                <a:spcPts val="33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3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本质：tokenizer 的合并过程是语料分布的"函数"。语料偏斜 → 词汇表偏斜 → 计费不公。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▌不同模型的 tokenizer 语料策略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5720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GPT 系列 (cl100k_base):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语料: 英文 &gt; 90%, 非英文 &lt; 10%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中文 token 效率: 每字 ≈ 1.0-1.5 tokens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"语言模型通过预测下一个词" = 26 tokens</a:t>
            </a:r>
          </a:p>
          <a:p>
            <a:pPr algn="l">
              <a:spcAft>
                <a:spcPts val="3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Qwen 2.5: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语料: 中文 30% + 英文 30% + 多语言 40%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中文 token 效率: 每字 ≈ 0.7-1.0 tokens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"语言模型通过预测下一个词" = 14 tokens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中文常用二字词合并为单 token: 「我们」「一个」...</a:t>
            </a:r>
          </a:p>
          <a:p>
            <a:pPr algn="l">
              <a:spcAft>
                <a:spcPts val="3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DeepSeek V3: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语料: 均衡 40+ 语言分布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中文每字 ≈ 0.6-0.9 tokens（更优）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"语言模型通过预测下一个词" = 12 tokens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中/日/韩/阿均受益 → 多语言公平性最佳</a:t>
            </a:r>
          </a:p>
          <a:p>
            <a:pPr algn="l">
              <a:spcAft>
                <a:spcPts val="30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→ 选择模型 = 选择 tokenizer = 选择成本结构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309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解决路径：① 扩大目标语言训练语料比例 ② 使用多语言均衡的 tokenizer（如 Qwen 的 multilingual tokenizer） ③ 探索按「有效信息量」而非 token 计费的可能性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上下文窗口：128K/200K/1M 意味什么？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>
            <p:custDataLst>
              <p:tags r:id="rId1"/>
            </p:custDataLst>
          </p:nvPr>
        </p:nvSpPr>
        <p:spPr>
          <a:xfrm>
            <a:off x="786130" y="4761865"/>
            <a:ext cx="503618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长上下文不意味"理解"了全部</a:t>
            </a:r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773430" y="5027295"/>
            <a:ext cx="6520180" cy="15132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/>
              <a:t>• 窗口大 ≠ 所有内容被同等关注</a:t>
            </a:r>
            <a:endParaRPr sz="1800"/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/>
              <a:t>• 中间信息容易被"遗忘"（见下页）</a:t>
            </a:r>
            <a:endParaRPr sz="1800"/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/>
              <a:t>• 注意力分布极度不均匀</a:t>
            </a:r>
            <a:endParaRPr sz="1800"/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/>
              <a:t>• O(n²) 计算成本：100K 窗口是 4K 的 625 倍</a:t>
            </a:r>
            <a:endParaRPr sz="1800"/>
          </a:p>
        </p:txBody>
      </p:sp>
      <p:sp>
        <p:nvSpPr>
          <p:cNvPr id="12" name="文本框 11"/>
          <p:cNvSpPr txBox="1"/>
          <p:nvPr/>
        </p:nvSpPr>
        <p:spPr>
          <a:xfrm>
            <a:off x="773430" y="1064260"/>
            <a:ext cx="10382250" cy="3766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上下文窗口 = </a:t>
            </a:r>
            <a:r>
              <a:rPr lang="en-US" altLang="zh-CN"/>
              <a:t>Transformer </a:t>
            </a:r>
            <a:r>
              <a:rPr lang="zh-CN" altLang="en-US"/>
              <a:t>模型单次前向传播能一次性读取、处理的最大 </a:t>
            </a:r>
            <a:r>
              <a:rPr lang="en-US" altLang="zh-CN"/>
              <a:t>token </a:t>
            </a:r>
            <a:r>
              <a:rPr lang="zh-CN" altLang="en-US"/>
              <a:t>总数。</a:t>
            </a:r>
            <a:endParaRPr lang="zh-CN" altLang="en-US"/>
          </a:p>
          <a:p>
            <a:r>
              <a:rPr lang="zh-CN" altLang="en-US"/>
              <a:t>包含两部分：</a:t>
            </a:r>
            <a:endParaRPr lang="zh-CN" altLang="en-US"/>
          </a:p>
          <a:p>
            <a:r>
              <a:rPr lang="zh-CN" altLang="en-US"/>
              <a:t>输入提示词（用户问题、文档、历史对话）</a:t>
            </a:r>
            <a:endParaRPr lang="zh-CN" altLang="en-US"/>
          </a:p>
          <a:p>
            <a:r>
              <a:rPr lang="zh-CN" altLang="en-US"/>
              <a:t>模型生成的输出回复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底层约束</a:t>
            </a:r>
            <a:r>
              <a:rPr lang="en-US" altLang="zh-CN"/>
              <a:t>:</a:t>
            </a:r>
            <a:endParaRPr lang="zh-CN" altLang="en-US"/>
          </a:p>
          <a:p>
            <a:r>
              <a:rPr lang="zh-CN" altLang="en-US"/>
              <a:t>位置编码长度上限：训练时位置编码只预训练 / 可学习到固定长度，超过长度没有位置向量，模型不知道时序；</a:t>
            </a:r>
            <a:endParaRPr lang="zh-CN" altLang="en-US"/>
          </a:p>
          <a:p>
            <a:r>
              <a:rPr lang="zh-CN" altLang="en-US"/>
              <a:t>注意力计算算力与显存约束： 越大显存、耗时暴涨。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128k:</a:t>
            </a:r>
            <a:r>
              <a:rPr lang="zh-CN" altLang="en-US"/>
              <a:t>整本中篇小说、完整论文合集、几十份合同、上万行代码、几十轮长对话历史全部塞进上下文；</a:t>
            </a:r>
            <a:endParaRPr lang="zh-CN" altLang="en-US"/>
          </a:p>
          <a:p>
            <a:r>
              <a:rPr lang="en-US" altLang="zh-CN"/>
              <a:t>200K:</a:t>
            </a:r>
            <a:r>
              <a:rPr lang="zh-CN" altLang="en-US"/>
              <a:t>容纳超长篇单一材料：完整长篇小说、连续几百轮历史对话；</a:t>
            </a:r>
            <a:endParaRPr lang="zh-CN" altLang="en-US"/>
          </a:p>
          <a:p>
            <a:r>
              <a:rPr lang="en-US" altLang="zh-CN"/>
              <a:t>1M（</a:t>
            </a:r>
            <a:r>
              <a:rPr lang="zh-CN" altLang="en-US"/>
              <a:t>百万 </a:t>
            </a:r>
            <a:r>
              <a:rPr lang="en-US" altLang="zh-CN"/>
              <a:t>token）:</a:t>
            </a:r>
            <a:r>
              <a:rPr lang="zh-CN" altLang="en-US"/>
              <a:t>一整本几十万字书籍、完整代码仓库、全年所有业务日志；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"Lost in the Middle"：上下文窗口不意味什么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8</a:t>
            </a:r>
          </a:p>
        </p:txBody>
      </p:sp>
      <p:pic>
        <p:nvPicPr>
          <p:cNvPr id="7" name="Picture 6" descr="lost_in_midd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64008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371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Liu et al. (2023) 的实验发现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840480" cy="37122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390"/>
              </a:spcAft>
              <a:defRPr sz="1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上下文越大，"中间"信息越容易被模型忽略。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三个位置的检索准确率：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开头 (0-10%):  ～85%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中间 (40-60%): ~55%  ← 谷底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结尾 (90-100%): ～82%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实践启示：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最重要的指令放开头（System Prompt）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最新的上下文放结尾（Recency Bias）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需要引用的事实放首尾，不要埋在中段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"Lost in the Middle"：</a:t>
            </a:r>
            <a:r>
              <a:rPr lang="zh-CN"/>
              <a:t>原因分析</a:t>
            </a:r>
            <a:endParaRPr lang="zh-CN"/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8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6130" y="1343660"/>
            <a:ext cx="6377940" cy="5085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先天原因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因果掩码与首因效应：因果掩码确保模型在预测当前</a:t>
            </a:r>
            <a:r>
              <a:rPr lang="en-US" altLang="zh-CN"/>
              <a:t>token</a:t>
            </a:r>
            <a:r>
              <a:rPr lang="zh-CN" altLang="en-US"/>
              <a:t>时，只能看到它之前的</a:t>
            </a:r>
            <a:r>
              <a:rPr lang="en-US" altLang="zh-CN"/>
              <a:t>token。</a:t>
            </a:r>
            <a:r>
              <a:rPr lang="zh-CN" altLang="en-US"/>
              <a:t>在深层网络中，这种机制导致信息流形成了不对称的依赖图。早期的</a:t>
            </a:r>
            <a:r>
              <a:rPr lang="en-US" altLang="zh-CN"/>
              <a:t>token</a:t>
            </a:r>
            <a:r>
              <a:rPr lang="zh-CN" altLang="en-US"/>
              <a:t>位于大量计算路径的上游，其梯度影响力会随着网络深度增加而呈指数级增长，形成了强大的“首因效应”。这解释了为什么模型会过度关注开头的内容。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残差连接（</a:t>
            </a:r>
            <a:r>
              <a:rPr lang="en-US" altLang="zh-CN"/>
              <a:t>Residual Connections）</a:t>
            </a:r>
            <a:r>
              <a:rPr lang="zh-CN" altLang="en-US"/>
              <a:t>与近因效应：残差连接为梯度从最终输出直接传回给最后一个</a:t>
            </a:r>
            <a:r>
              <a:rPr lang="en-US" altLang="zh-CN"/>
              <a:t>token</a:t>
            </a:r>
            <a:r>
              <a:rPr lang="zh-CN" altLang="en-US"/>
              <a:t>提供了“高速公路”，使其成为一个独立的信息锚点，形成了“近因效应”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后天训练</a:t>
            </a:r>
            <a:r>
              <a:rPr lang="en-US" altLang="zh-CN"/>
              <a:t>:</a:t>
            </a:r>
            <a:endParaRPr lang="en-US" altLang="zh-CN"/>
          </a:p>
          <a:p>
            <a:r>
              <a:rPr>
                <a:sym typeface="+mn-ea"/>
              </a:rPr>
              <a:t>训练数据中关键信息通常在开头或结尾</a:t>
            </a:r>
            <a:r>
              <a:rPr lang="en-US">
                <a:sym typeface="+mn-ea"/>
              </a:rPr>
              <a:t>,</a:t>
            </a:r>
            <a:r>
              <a:rPr lang="zh-CN" altLang="en-US">
                <a:sym typeface="+mn-ea"/>
              </a:rPr>
              <a:t>大模型养成了首尾偏好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位置编码导致远距离依赖缩减</a:t>
            </a:r>
            <a:endParaRPr lang="zh-CN" altLang="en-US">
              <a:sym typeface="+mn-ea"/>
            </a:endParaRPr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2" name="Picture 8" descr="encoder_architecture.png"/>
          <p:cNvPicPr>
            <a:picLocks noChangeAspect="1"/>
          </p:cNvPicPr>
          <p:nvPr/>
        </p:nvPicPr>
        <p:blipFill>
          <a:blip r:embed="rId1"/>
          <a:srcRect l="49352" b="-1793"/>
          <a:stretch>
            <a:fillRect/>
          </a:stretch>
        </p:blipFill>
        <p:spPr>
          <a:xfrm>
            <a:off x="7856855" y="1330325"/>
            <a:ext cx="4030345" cy="50971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130" y="59436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为什么模型数不清 "strawberry" 里有几个 r？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9</a:t>
            </a:r>
          </a:p>
        </p:txBody>
      </p:sp>
      <p:pic>
        <p:nvPicPr>
          <p:cNvPr id="7" name="Picture 6" descr="strawber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64008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Tokenizer 导致的"盲区"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"strawberry" → [str][aw][berry]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字母 r 藏在 token 内部 → 模型"看不见"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同类失败案例：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反向拼写单词（token 不可逆）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数某个字母出现次数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判断单词音节数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找出第N个字母是什么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数字也被"任意"切分：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"12345" → [123][45]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"0.00001" → [0][.][000][01]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→ 解释了为什么模型算术能力差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大小写敏感性：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"hello" vs "Hello" vs "HELLO"</a:t>
            </a:r>
          </a:p>
          <a:p>
            <a:pPr algn="l">
              <a:spcAft>
                <a:spcPts val="390"/>
              </a:spcAft>
              <a:defRPr sz="11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是三个不同的 token ID → 不同向量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核心机制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上下文越满越好吗？—— 质量 vs 数量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10</a:t>
            </a:r>
          </a:p>
        </p:txBody>
      </p:sp>
      <p:pic>
        <p:nvPicPr>
          <p:cNvPr id="7" name="Picture 6" descr="context_qua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68580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上下文填充的代价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塞得越满 ≠ 表现越好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负面影响：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关键信息被噪音稀释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2. 注意力分散到无关内容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3. 中间遗忘效应加剧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4. 延迟增加（TTFT 更长）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5. 成本线性增长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最佳实践：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精选相关上下文，宁缺毋滥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给长文档加"目录"或摘要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用 RAG 检索 + 少量高质上下文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关键信息用特殊标记突出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1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经验法则: 20%-50% 窗口利用率通常最佳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4  |  思考与展望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我的疑问与思考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14</a:t>
            </a: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1005840" y="1737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Tokenizer 是否能进化到"字符级感知"？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005840" y="2057400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当前的 BPE tokenizer 丢失了字符级信息，导致模型在字母/笔画级任务上表现差。</a:t>
            </a:r>
            <a:r>
              <a:rPr lang="en-US" sz="1600"/>
              <a:t>Tokenizer</a:t>
            </a:r>
            <a:r>
              <a:rPr lang="zh-CN" altLang="en-US" sz="1600"/>
              <a:t>是否可以在保持高效率高质量的前提下完成字符级的感知</a:t>
            </a:r>
            <a:endParaRPr lang="zh-CN" altLang="en-US" sz="1600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005840" y="3566795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2. 长上下文</a:t>
            </a:r>
            <a:r>
              <a:rPr lang="zh-CN"/>
              <a:t>窗口是否有必要进一步扩大</a:t>
            </a:r>
            <a:r>
              <a:t>？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963295" y="3903980"/>
            <a:ext cx="10058400" cy="13887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 1K → 2K → 128K → 200K → 1M → 10M...持续扩展的边际收益在递减。Lost in the Middle 效应表明：窗口越大，中间越容易被忽略。如果 1M 上下文的中间 500K 几乎没有被有效利用，"更大窗口"是否</a:t>
            </a:r>
            <a:r>
              <a:rPr lang="zh-CN" sz="1600"/>
              <a:t>收益不大</a:t>
            </a:r>
            <a:r>
              <a:rPr sz="1600"/>
              <a:t>？更高效的上下文压缩/选择性注意力是否是更好的方向？</a:t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42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大模型预训练解密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 · 算力 · Scaling Laws · 涌现 · 从基座到对话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1828800" cy="25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0">
                <a:solidFill>
                  <a:srgbClr val="888888"/>
                </a:solidFill>
                <a:latin typeface="Segoe UI" panose="020B0502040204020203"/>
              </a:defRPr>
            </a:pPr>
            <a:r>
              <a:t>学习汇报  |  2026年7月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6165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155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87452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预训练数据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76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数据从哪来 · 规模多大 · 数据清洗为什么重要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542032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274320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Scaling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44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幂律关系 · Chinchilla 修正 · 大力出奇迹的工程实践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410712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3611880"/>
            <a:ext cx="457200" cy="4572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涌现能力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9136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大模型"突然"变聪明 · 规模是关键变量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4279392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0" y="448056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 panose="020B0502040204020203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预训练的成本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7823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硬件/运营/隐性成本 · 为什么高校实验室做不了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5148072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1600" y="534924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 panose="020B0502040204020203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从基座到对话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6509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Base Model → SFT → RLHF · 你用的不是"原版"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1  |  预训练数据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预训练的数据从哪来？规模多大？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pic>
        <p:nvPicPr>
          <p:cNvPr id="7" name="Picture 6" descr="data_sourc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58521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核心矛盾：预训练数据的"量"和"质"同样重要。未经清洗的原始网页噪音极大（广告、垃圾、重复），清洗后通常只保留 10-30%。GPT-3 用 570GB 文本（从 45TB 原始数据中过滤），Llama 3 已达 15T tokens——优质文本数据正在成为稀缺资源。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1  |  预训练数据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数据清洗：Garbage In, Garbage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不清洗/清洗不足的后果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1. 毒性内容注入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模型学会生成仇恨言论、暴力内容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2. 基准污染 (Benchmark Contamination)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测试集文本混入训练集 — 评测结果作废</a:t>
            </a:r>
          </a:p>
          <a:p>
            <a:pPr algn="l">
              <a:spcAft>
                <a:spcPts val="39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 例：C4 数据集中发现了 MMLU 题库原文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3. 个人隐私泄露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邮箱、电话、地址等 PII 混入训练数据</a:t>
            </a:r>
          </a:p>
          <a:p>
            <a:pPr algn="l">
              <a:spcAft>
                <a:spcPts val="39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   → 模型可能在生成中复现这些信息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4. 重复文本降低训练效率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重复数据 = 浪费算力，且导致记忆而非泛化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关键清洗技术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去重 (Deduplication)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MinHash / SimHash LSH 近邻去重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精确匹配 + 模糊匹配 (n-gram 重叠)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→ 可以去掉 50%+ 的重复内容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质量过滤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困惑度 (Perplexity) 过滤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启发式规则 (长度、特殊字符比例)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训练轻量分类器评分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毒性检测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Perspective API / 自定义毒性分类器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PII 检测与脱敏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数据配比 (Data Mix)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确定各来源（网页/书/代码/百科）的最优比例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Llama 3: 50% 通用网页 + 其他各 ~10%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Scaling Laws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Scaling Laws 说了什么？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pic>
        <p:nvPicPr>
          <p:cNvPr id="7" name="Picture 6" descr="scaling_law_pow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76072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Kaplan et al. (OpenAI, 2020) 核心发现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572000" cy="465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 lang="en-US" altLang="zh-CN"/>
              <a:t>Transformer </a:t>
            </a:r>
            <a:r>
              <a:rPr lang="zh-CN" altLang="en-US"/>
              <a:t>自回归语言模型的测试交叉熵损失 </a:t>
            </a:r>
            <a:r>
              <a:rPr lang="en-US" altLang="zh-CN"/>
              <a:t>L</a:t>
            </a:r>
            <a:r>
              <a:rPr lang="zh-CN" altLang="en-US"/>
              <a:t>，与三个核心资源变量呈幂律关系；在双对数 </a:t>
            </a:r>
            <a:r>
              <a:rPr lang="en-US" altLang="zh-CN"/>
              <a:t>log-log </a:t>
            </a:r>
            <a:r>
              <a:rPr lang="zh-CN" altLang="en-US"/>
              <a:t>坐标系下是一条直线，可外推预测更大模型效果、规划算力预算。</a:t>
            </a:r>
            <a:endParaRPr lang="zh-CN" altLang="en-US"/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endParaRPr lang="zh-CN" altLang="en-US"/>
          </a:p>
          <a:p>
            <a:pPr algn="l">
              <a:spcAft>
                <a:spcPts val="390"/>
              </a:spcAft>
              <a:defRPr sz="13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1. 模型大小定律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参数量每增 10×，Loss 下降约 0.15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2. 数据量定律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训练数据每增 10×，Loss 下降约 0.25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3. 算力量定律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算力每增 10×，Loss 下降约 0.20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核心洞见：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"大力出奇迹"有理论基础 →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只要加算力、加数据，Loss 一定会降 →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这直接催生了 GPT-3/4 等千亿/万亿参数模型。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82920" y="5002530"/>
            <a:ext cx="6557645" cy="1264285"/>
          </a:xfrm>
          <a:prstGeom prst="rect">
            <a:avLst/>
          </a:prstGeom>
          <a:solidFill>
            <a:srgbClr val="F8F9FA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300" i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重要修正 — Chinchilla 定律 (DeepMind, 2022)：Kaplan 低估了数据的重要性。最优配置：每 1 个参数配 ~20 个训练 token（而非 Kaplan 建议的 1.5 token/param）。Llama 系列采用 Chinchilla 策略：小模型 + 更多数据 ≈ 大模型 + 更少数据的表现。</a:t>
            </a:r>
          </a:p>
          <a:p>
            <a:pPr algn="r">
              <a:defRPr sz="1000">
                <a:solidFill>
                  <a:srgbClr val="888888"/>
                </a:solidFill>
                <a:latin typeface="Segoe UI" panose="020B0502040204020203"/>
              </a:defRPr>
            </a:pPr>
            <a:r>
              <a:t>Hoffmann et al., "Training Compute-Optimal Large Language Models", NeurIPS 2022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2  |  Scaling Laws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Scaling Laws 如何指导了"大力出奇迹"？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pic>
        <p:nvPicPr>
          <p:cNvPr id="7" name="Picture 6" descr="scaling_law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05156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48463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Scaling Laws 驱动下的模型规模扩张史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5303520"/>
            <a:ext cx="91440" cy="914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5257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9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2018: BERT</a:t>
            </a:r>
            <a:br/>
            <a:r>
              <a:t>0.3B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805297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75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先证实了预训练范式的有效性</a:t>
            </a:r>
          </a:p>
        </p:txBody>
      </p:sp>
      <p:sp>
        <p:nvSpPr>
          <p:cNvPr id="12" name="Oval 11"/>
          <p:cNvSpPr/>
          <p:nvPr/>
        </p:nvSpPr>
        <p:spPr>
          <a:xfrm>
            <a:off x="3063239" y="5303520"/>
            <a:ext cx="91440" cy="914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399" y="5257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9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2019: GPT-2</a:t>
            </a:r>
            <a:br/>
            <a:r>
              <a:t>1.5B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19" y="5805297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75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展示了规模带来的文本生成质量跃升</a:t>
            </a:r>
          </a:p>
        </p:txBody>
      </p:sp>
      <p:sp>
        <p:nvSpPr>
          <p:cNvPr id="15" name="Oval 14"/>
          <p:cNvSpPr/>
          <p:nvPr/>
        </p:nvSpPr>
        <p:spPr>
          <a:xfrm>
            <a:off x="4937759" y="5303520"/>
            <a:ext cx="91440" cy="914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19" y="5257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9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2020: GPT-3</a:t>
            </a:r>
            <a:br/>
            <a:r>
              <a:t>175B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5805297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75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Scaling Laws 论文发表 → 确认幂律趋势 → 直接推动千亿参数</a:t>
            </a:r>
          </a:p>
        </p:txBody>
      </p:sp>
      <p:sp>
        <p:nvSpPr>
          <p:cNvPr id="18" name="Oval 17"/>
          <p:cNvSpPr/>
          <p:nvPr/>
        </p:nvSpPr>
        <p:spPr>
          <a:xfrm>
            <a:off x="6812279" y="5303520"/>
            <a:ext cx="91440" cy="914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39" y="5257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9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2022: PaLM</a:t>
            </a:r>
            <a:br/>
            <a:r>
              <a:t>540B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19" y="5805297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75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进一步将算力推到极限，涌现出推理能力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5303520"/>
            <a:ext cx="91440" cy="914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5257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9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2023: GPT-4</a:t>
            </a:r>
            <a:br/>
            <a:r>
              <a:t>~1.8T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5717667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75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Scaling Laws 的集大成者：万亿参数 + 海量数据 + 万卡集群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3  |  涌现能力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涌现：为什么大模型会"突然"变聪明？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pic>
        <p:nvPicPr>
          <p:cNvPr id="7" name="Picture 6" descr="emerg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502920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什么是涌现 (Emergence)？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涌现 = 小模型完全不具备、但当参数/算力/数据跨越某个临界点后突然出现的能力。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典型涌现能力：思维链推理 (Chain-of-Thought)、多步算术、代码生成、指令遵循、跨语言迁移。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关键争议：Wei et al. (2022) 认为涌现是真实的能力跃迁；Schaeffer et al. (2023) 则认为这是非线性评估指标造成的"海市蜃楼"——</a:t>
            </a:r>
          </a:p>
          <a:p>
            <a:pPr algn="l">
              <a:spcAft>
                <a:spcPts val="39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使用连续指标（如 Token-level 概率）后，能力随规模平滑增长。但这不改变核心结论——规模仍然是这些能力的前提条件。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4  |  预训练的成本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预训练为什么贵到只有少数公司做得起？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pic>
        <p:nvPicPr>
          <p:cNvPr id="7" name="Picture 6" descr="training_co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05156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00584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硬件成本</a:t>
            </a: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1005840" y="5212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H100: ~$30K/张, 万卡集群 = $300M+</a:t>
            </a:r>
            <a:br/>
            <a:r>
              <a:t>  H200/B200 价格更高</a:t>
            </a:r>
            <a:br/>
            <a:r>
              <a:t>• 网络: InfiniBand / NVLink</a:t>
            </a:r>
            <a:br/>
            <a:r>
              <a:t>• 存储: PB级高速存储系统</a:t>
            </a:r>
            <a:br/>
            <a:r>
              <a:t>• 数据中心: 建设/租赁成本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448056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运营成本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480560" y="5212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电力: 1万张H100 ≈ 10MW</a:t>
            </a:r>
            <a:br/>
            <a:r>
              <a:t>  ≈ 每月 $1M+ 电费</a:t>
            </a:r>
            <a:br/>
            <a:r>
              <a:t>• 冷却: 液冷/风冷系统</a:t>
            </a:r>
            <a:br/>
            <a:r>
              <a:t>• 网络带宽: 跨节点通信开销</a:t>
            </a:r>
            <a:br/>
            <a:r>
              <a:t>• Llama 4 预估训练成本 ~$150M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7955279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9B59B6"/>
                </a:solidFill>
                <a:latin typeface="微软雅黑" panose="020B0503020204020204" charset="-122"/>
              </a:defRPr>
            </a:pPr>
            <a:r>
              <a:t>隐性成本</a:t>
            </a: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7955279" y="5212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失败重跑: 训练不稳定/崩溃</a:t>
            </a:r>
            <a:br/>
            <a:r>
              <a:t>  可能浪费数十万美元</a:t>
            </a:r>
            <a:br/>
            <a:r>
              <a:t>• 人才: 顶级ML工程师年薪 $500K+</a:t>
            </a:r>
            <a:br/>
            <a:r>
              <a:t>• 试错: 多次消融实验验证设计</a:t>
            </a:r>
            <a:br/>
            <a:r>
              <a:t>• 数据实验: 配比/清洗策略迭代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4  |  预训练的成本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我们实验室为什么不做预训练？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公司（OpenAI/Google/Meta）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万卡 GPU 集群 (H100/B200)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年投入 $10B+ 级别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自建数据中心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数百人全职团队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失败成本可承受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目标是 AGI / 商业变现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能做的事：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从头训练 GPT-4 级模型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探索 Scaling Laws 的极限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多模态预训练（Sora, GPT-4o）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19050" cy="4114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高校实验室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几十~几百张 GPU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年预算 $100K-$1M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校内集群 / 租用云GPU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几个博士生 + 导师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资源紧张，每次实验需精打细算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目标是论文发表 / 学术突破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更合理的策略：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使用开源基座模型 (Llama, Qwen)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做 SFT / RLHF / 对齐研究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特定领域的继续预训练 (CPT)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高效微调 (LoRA, QLoRA)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数据/评估/可解释性研究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19050" cy="4114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9B59B6"/>
                </a:solidFill>
                <a:latin typeface="微软雅黑" panose="020B0503020204020204" charset="-122"/>
              </a:defRPr>
            </a:pPr>
            <a:r>
              <a:t>我们能做什么？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站在巨人肩膀上：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领域继续预训练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医学/法律/金融垂直领域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数据量小（~GB），成本可控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2. 指令微调 + 对齐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几十条高质量数据即可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LoRA 只需 1-2 张 GPU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3. 评估与理解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测试基座模型的极限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机制可解释性研究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4. 数据工程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高质量数据的价值发现</a:t>
            </a:r>
          </a:p>
          <a:p>
            <a:pPr algn="l">
              <a:spcAft>
                <a:spcPts val="390"/>
              </a:spcAft>
              <a:defRPr sz="1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合成数据生成方法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035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一句话总结：预训练是"炼钢"，做研究是"用钢材建房子"。我们需要理解钢是怎么炼的，但不需要自己从零建钢厂。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4  |  预训练的成本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预训练的技术全景：练出好模型需要什么？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3D 并行策略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2785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数据并行 (DP / FSDP)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每张 GPU 持有完整模型副本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各自处理不同的 mini-batch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梯度通信后求平均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最基础、最易实现的并行方式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张量并行 (Tensor Parallel)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将单层权重矩阵切分到多张 GPU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Megatron-LM 方案：按列/行切分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解决单层过大放不下一张卡的问题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流水线并行 (Pipeline Parallel)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将模型不同层分到不同 GPU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GPipe: 微批次流水线减少空闲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层数过多时的分层方案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实际训练：三者叠加使用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GPT-4: 数据 × 流水线 × 张量 三维混合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训练效率与稳定性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混合精度训练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FP16/BF16 前向 + FP32 主权重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显存减半，速度翻倍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几乎不损失精度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梯度累积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多步小 batch 累积后再更新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在有限显存下模拟大 batch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激活检查点 (Gradient Checkpointing)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不存储所有中间激活值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反向传播时重新计算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以 20% 计算换 50%+ 显存节省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Flash Attention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IO-aware 精确注意力算法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显存 O(n) 替代 O(n²)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长序列训练的关键使能技术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ZeRO 优化器 (DeepSpeed)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ZeRO-1/2/3: 分片优化器状态/梯度/参数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极大降低单卡显存需求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训练稳定性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888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Loss Spike —— 最可怕的噩梦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训练数十天后 Loss 突然飙升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可能永远无法恢复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3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应对措施：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梯度裁剪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限制梯度范数上限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防止单步更新过大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学习率 Warmup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从极小 LR 线性增长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→ 避免训练初期的震荡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定期 checkpoint 与回滚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发现 spike 后回退到健康时刻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跳过"坏数据"批次继续训练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390"/>
              </a:spcAft>
              <a:defRPr sz="12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Embedding 归一化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LayerNorm / RMSNorm 置于前馈之前</a:t>
            </a:r>
          </a:p>
          <a:p>
            <a:pPr algn="l">
              <a:spcAft>
                <a:spcPts val="39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Pre-LN 架构替代 Post-LN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5  |  Base Model → Chat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基座模型 vs 对话模型：你用的不是"原版"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79525"/>
            <a:ext cx="5029200" cy="9867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什么是基座模型 (Base Model)？</a:t>
            </a:r>
          </a:p>
          <a:p>
            <a:pPr algn="l">
              <a:spcAft>
                <a:spcPts val="520"/>
              </a:spcAft>
              <a:defRPr sz="1800" b="1">
                <a:solidFill>
                  <a:srgbClr val="3498DB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3930" y="1567180"/>
            <a:ext cx="5029200" cy="5361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39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预训练阶段的直接产物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基座模型是通过在海量文本上进行自监督学习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（预测下一个 token）训练得到的原始模型。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它不做任何特殊任务——它只会"续写"。</a:t>
            </a:r>
          </a:p>
          <a:p>
            <a:pPr algn="l">
              <a:spcAft>
                <a:spcPts val="39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预训练过程：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输入：TB-PB 级别的互联网文本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方法：自回归语言建模 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目标：最小化预测下一个词的交叉熵损失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输出：一个"知道一切但不会回答"的模型</a:t>
            </a:r>
          </a:p>
          <a:p>
            <a:pPr algn="l">
              <a:spcAft>
                <a:spcPts val="390"/>
              </a:spcAft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关键特性：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拥有压缩在参数中的世界知识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具备强大的模式和规律识别能力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但——它不理解"问题"和"回答"的区别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它看到文本就会继续写，而非给出精炼答案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rgbClr val="888888"/>
                </a:solidFill>
              </a:rPr>
              <a:t>例：给基座模型输入"1+1=?"</a:t>
            </a:r>
            <a:endParaRPr sz="1200">
              <a:solidFill>
                <a:srgbClr val="888888"/>
              </a:solidFill>
            </a:endParaRPr>
          </a:p>
          <a:p>
            <a:pPr algn="l">
              <a:spcAft>
                <a:spcPts val="39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它可能会续写"2</a:t>
            </a:r>
            <a:br/>
            <a:r>
              <a:t>2+2=4</a:t>
            </a:r>
            <a:br/>
            <a:r>
              <a:t>3+3=6..."</a:t>
            </a:r>
          </a:p>
          <a:p>
            <a:pPr algn="l">
              <a:spcAft>
                <a:spcPts val="390"/>
              </a:spcAft>
              <a:defRPr sz="12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而不是停在"2"。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1770" y="11099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8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如何从基座变成对话模型？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43355"/>
            <a:ext cx="5029200" cy="54140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390"/>
              </a:spcAft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训练全流程的三阶段</a:t>
            </a:r>
          </a:p>
          <a:p>
            <a:pPr algn="l">
              <a:spcAft>
                <a:spcPts val="390"/>
              </a:spcAft>
              <a:defRPr sz="1300" b="1">
                <a:solidFill>
                  <a:srgbClr val="3498DB"/>
                </a:solidFill>
                <a:latin typeface="微软雅黑" panose="020B0503020204020204" charset="-122"/>
              </a:defRPr>
            </a:pPr>
            <a:r>
              <a:t>Stage 1 — 预训练 (Pre-training)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海量互联网文本，自监督学习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产物：基座模型 </a:t>
            </a:r>
          </a:p>
          <a:p>
            <a:pPr algn="l">
              <a:spcAft>
                <a:spcPts val="390"/>
              </a:spcAft>
              <a:defRPr sz="13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Stage 2 — 指令微调 (SFT)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引入对话模板 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</a:t>
            </a:r>
            <a:r>
              <a:rPr lang="zh-CN"/>
              <a:t>引入</a:t>
            </a:r>
            <a:r>
              <a:t>数万~数十万条高质量 (指令, 回答) 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教会模型"回答问题"而非"续写"</a:t>
            </a:r>
          </a:p>
          <a:p>
            <a:pPr algn="l">
              <a:spcAft>
                <a:spcPts val="390"/>
              </a:spcAft>
              <a:defRPr sz="1300" b="1">
                <a:solidFill>
                  <a:srgbClr val="9B59B6"/>
                </a:solidFill>
                <a:latin typeface="微软雅黑" panose="020B0503020204020204" charset="-122"/>
              </a:defRPr>
            </a:pPr>
            <a:r>
              <a:t>Stage 3 — 对齐训练 </a:t>
            </a:r>
            <a:r>
              <a:rPr lang="en-US"/>
              <a:t>(RLHF)</a:t>
            </a:r>
            <a:endParaRPr lang="en-US"/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人类标注者比较回答并选择更优者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训练奖励模型 → 强化学习优化策略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目标：Helpful + Honest + Harmless</a:t>
            </a:r>
          </a:p>
          <a:p>
            <a:pPr algn="l">
              <a:spcAft>
                <a:spcPts val="390"/>
              </a:spcAft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核心认知：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基座模型 → SFT → RLHF，每一步都在"驯化"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99% 的知识来自预训练，SFT/RLHF 只让模型"听话"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• GPT-1 (2018) → GPT-3 (2020) → ChatGPT (2022)</a:t>
            </a:r>
          </a:p>
          <a:p>
            <a:pPr algn="l">
              <a:spcAft>
                <a:spcPts val="39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从"能续写"到"能回答"再到"人人都能用"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000" b="1">
                <a:solidFill>
                  <a:srgbClr val="2C3E50"/>
                </a:solidFill>
                <a:latin typeface="Segoe UI" panose="020B0502040204020203"/>
              </a:defRPr>
            </a:pPr>
            <a:r>
              <a:t>Section 6  |  思考与展望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我的疑问与思考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1005840" y="1737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Scaling Laws 何时碰壁？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005840" y="2029968"/>
            <a:ext cx="10058400" cy="1953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5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en-US" altLang="zh-CN" sz="1600"/>
              <a:t>“</a:t>
            </a:r>
            <a:r>
              <a:rPr lang="zh-CN" altLang="en-US" sz="1600"/>
              <a:t>只要堆参数、堆数据，性能就会稳步提升</a:t>
            </a:r>
            <a:r>
              <a:rPr lang="en-US" altLang="zh-CN" sz="1600"/>
              <a:t>”</a:t>
            </a:r>
            <a:r>
              <a:rPr lang="zh-CN" altLang="en-US" sz="1600"/>
              <a:t>的时代正在落幕</a:t>
            </a:r>
            <a:endParaRPr lang="zh-CN" altLang="en-US" sz="1600"/>
          </a:p>
          <a:p>
            <a:pPr algn="l">
              <a:spcAft>
                <a:spcPts val="600"/>
              </a:spcAft>
              <a:defRPr sz="115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优质文本数据已接近耗尽</a:t>
            </a:r>
            <a:r>
              <a:rPr lang="en-US" sz="1600"/>
              <a:t>,</a:t>
            </a:r>
            <a:r>
              <a:rPr sz="1600"/>
              <a:t>"全网"还有多少未使用的优质数据？</a:t>
            </a:r>
            <a:endParaRPr sz="1600"/>
          </a:p>
          <a:p>
            <a:pPr algn="l">
              <a:spcAft>
                <a:spcPts val="600"/>
              </a:spcAft>
              <a:defRPr sz="115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合成数据能否替代真实数据？模型吃自己生成的数据</a:t>
            </a:r>
            <a:r>
              <a:rPr lang="zh-CN" sz="1600"/>
              <a:t>可不可行</a:t>
            </a:r>
            <a:r>
              <a:rPr sz="1600"/>
              <a:t>？</a:t>
            </a:r>
            <a:endParaRPr sz="1600"/>
          </a:p>
          <a:p>
            <a:pPr algn="l">
              <a:spcAft>
                <a:spcPts val="600"/>
              </a:spcAft>
              <a:defRPr sz="115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en-US" altLang="zh-CN" sz="1600">
                <a:sym typeface="+mn-ea"/>
              </a:rPr>
              <a:t>AI</a:t>
            </a:r>
            <a:r>
              <a:rPr lang="zh-CN" altLang="en-US" sz="1600">
                <a:sym typeface="+mn-ea"/>
              </a:rPr>
              <a:t>领域正从信奉一条“铁律”，转向探索一套更复杂、多维度的“新法则”。</a:t>
            </a:r>
            <a:endParaRPr lang="zh-CN" altLang="en-US" sz="1600">
              <a:sym typeface="+mn-ea"/>
            </a:endParaRPr>
          </a:p>
          <a:p>
            <a:pPr algn="l">
              <a:spcAft>
                <a:spcPts val="600"/>
              </a:spcAft>
              <a:defRPr sz="115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lang="zh-CN" altLang="en-US" sz="1600"/>
          </a:p>
          <a:p>
            <a:pPr algn="l">
              <a:spcAft>
                <a:spcPts val="600"/>
              </a:spcAft>
              <a:defRPr sz="115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28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总结：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51560"/>
            <a:ext cx="102412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20"/>
              </a:spcAft>
              <a:defRPr sz="9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69164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数据是真正的护城河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385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预训练数据的质量和规模比模型架构更重要。清洗、去重、配比——这些"脏活累活"决定了模型的上限。数据工程可能是学术界最被低估的研究方向。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606040"/>
            <a:ext cx="411480" cy="4114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60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Scaling Laws 是工程蓝图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529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"大力出奇迹"不是口号，是有数学保证的。但 Chinchilla 定律告诉我们：数据和参数要同步增长，盲目堆参数而数据不够是浪费。MoE 可能是下一阶段的"性价比之选"。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520440"/>
            <a:ext cx="411480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747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规模催生涌现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673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大模型"突然"拥有的能力（推理、代码、思维链）在小模型上完全不存在。无论涌现是真实的还是度量偏差——跨过规模门槛是获得这些能力的前提。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434840"/>
            <a:ext cx="411480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3891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预训练的技术门槛极高且还在上升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817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3D 并行、混合精度、训练稳定性——基础设施的复杂性让预训练成为少数玩家的游戏。万卡集群 + 数月训练 = 数亿美元投入。学术界应聚焦下游研究与高效方法。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349240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03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基座模型 ≠ 你用的模型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5961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ChatGPT 的背后是 Base Model → SFT → RLHF 三层递进。99% 的知识来自预训练，对齐只让它"会说人话"。理解这个区别，才能理解大模型的能力与局限。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6309360"/>
            <a:ext cx="10241280" cy="411480"/>
          </a:xfrm>
          <a:prstGeom prst="rect">
            <a:avLst/>
          </a:prstGeom>
          <a:solidFill>
            <a:srgbClr val="F8F9FA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300" i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"The best way to predict the future is to invent it." — Alan Kay  |  感谢聆听，欢迎讨论！</a:t>
            </a:r>
          </a:p>
          <a:p>
            <a:pPr algn="r">
              <a:defRPr sz="1000">
                <a:solidFill>
                  <a:srgbClr val="888888"/>
                </a:solidFill>
                <a:latin typeface="Segoe UI" panose="020B0502040204020203"/>
              </a:defRPr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6.4,&quot;left&quot;:75.75,&quot;top&quot;:136.8,&quot;width&quot;:795.45}"/>
</p:tagLst>
</file>

<file path=ppt/tags/tag2.xml><?xml version="1.0" encoding="utf-8"?>
<p:tagLst xmlns:p="http://schemas.openxmlformats.org/presentationml/2006/main">
  <p:tag name="KSO_WM_DIAGRAM_VIRTUALLY_FRAME" val="{&quot;height&quot;:356.4,&quot;left&quot;:75.75,&quot;top&quot;:136.8,&quot;width&quot;:795.45}"/>
</p:tagLst>
</file>

<file path=ppt/tags/tag3.xml><?xml version="1.0" encoding="utf-8"?>
<p:tagLst xmlns:p="http://schemas.openxmlformats.org/presentationml/2006/main">
  <p:tag name="KSO_WM_DIAGRAM_VIRTUALLY_FRAME" val="{&quot;height&quot;:356.4,&quot;left&quot;:75.75,&quot;top&quot;:136.8,&quot;width&quot;:795.45}"/>
</p:tagLst>
</file>

<file path=ppt/tags/tag4.xml><?xml version="1.0" encoding="utf-8"?>
<p:tagLst xmlns:p="http://schemas.openxmlformats.org/presentationml/2006/main">
  <p:tag name="KSO_WM_DIAGRAM_VIRTUALLY_FRAME" val="{&quot;height&quot;:356.4,&quot;left&quot;:75.75,&quot;top&quot;:136.8,&quot;width&quot;:795.45}"/>
</p:tagLst>
</file>

<file path=ppt/tags/tag5.xml><?xml version="1.0" encoding="utf-8"?>
<p:tagLst xmlns:p="http://schemas.openxmlformats.org/presentationml/2006/main">
  <p:tag name="KSO_WM_DIAGRAM_VIRTUALLY_FRAME" val="{&quot;height&quot;:144.5,&quot;left&quot;:-40.45,&quot;top&quot;:374.95,&quot;width&quot;:954.85}"/>
</p:tagLst>
</file>

<file path=ppt/tags/tag6.xml><?xml version="1.0" encoding="utf-8"?>
<p:tagLst xmlns:p="http://schemas.openxmlformats.org/presentationml/2006/main">
  <p:tag name="KSO_WM_DIAGRAM_VIRTUALLY_FRAME" val="{&quot;height&quot;:144.5,&quot;left&quot;:-40.45,&quot;top&quot;:374.95,&quot;width&quot;:954.85}"/>
</p:tagLst>
</file>

<file path=ppt/tags/tag7.xml><?xml version="1.0" encoding="utf-8"?>
<p:tagLst xmlns:p="http://schemas.openxmlformats.org/presentationml/2006/main">
  <p:tag name="KSO_WM_DIAGRAM_VIRTUALLY_FRAME" val="{&quot;height&quot;:352.8,&quot;left&quot;:79.2,&quot;top&quot;:136.8,&quot;width&quot;:792}"/>
</p:tagLst>
</file>

<file path=ppt/tags/tag8.xml><?xml version="1.0" encoding="utf-8"?>
<p:tagLst xmlns:p="http://schemas.openxmlformats.org/presentationml/2006/main">
  <p:tag name="KSO_WM_DIAGRAM_VIRTUALLY_FRAME" val="{&quot;height&quot;:352.8,&quot;left&quot;:79.2,&quot;top&quot;:136.8,&quot;width&quot;:792}"/>
</p:tagLst>
</file>

<file path=ppt/tags/tag9.xml><?xml version="1.0" encoding="utf-8"?>
<p:tagLst xmlns:p="http://schemas.openxmlformats.org/presentationml/2006/main">
  <p:tag name="KSO_WM_DIAGRAM_VIRTUALLY_FRAME" val="{&quot;height&quot;:352.8,&quot;left&quot;:79.2,&quot;top&quot;:136.8,&quot;width&quot;:792}"/>
</p:tagLst>
</file>

<file path=ppt/tags/tag10.xml><?xml version="1.0" encoding="utf-8"?>
<p:tagLst xmlns:p="http://schemas.openxmlformats.org/presentationml/2006/main">
  <p:tag name="KSO_WM_DIAGRAM_VIRTUALLY_FRAME" val="{&quot;height&quot;:352.8,&quot;left&quot;:79.2,&quot;top&quot;:136.8,&quot;width&quot;:792}"/>
</p:tagLst>
</file>

<file path=ppt/tags/tag11.xml><?xml version="1.0" encoding="utf-8"?>
<p:tagLst xmlns:p="http://schemas.openxmlformats.org/presentationml/2006/main">
  <p:tag name="KSO_WM_DIAGRAM_VIRTUALLY_FRAME" val="{&quot;height&quot;:100.8,&quot;left&quot;:79.2,&quot;top&quot;:381.6,&quot;width&quot;:799.1999212598424}"/>
</p:tagLst>
</file>

<file path=ppt/tags/tag12.xml><?xml version="1.0" encoding="utf-8"?>
<p:tagLst xmlns:p="http://schemas.openxmlformats.org/presentationml/2006/main">
  <p:tag name="KSO_WM_DIAGRAM_VIRTUALLY_FRAME" val="{&quot;height&quot;:100.8,&quot;left&quot;:79.2,&quot;top&quot;:381.6,&quot;width&quot;:799.1999212598424}"/>
</p:tagLst>
</file>

<file path=ppt/tags/tag13.xml><?xml version="1.0" encoding="utf-8"?>
<p:tagLst xmlns:p="http://schemas.openxmlformats.org/presentationml/2006/main">
  <p:tag name="KSO_WM_DIAGRAM_VIRTUALLY_FRAME" val="{&quot;height&quot;:100.8,&quot;left&quot;:79.2,&quot;top&quot;:381.6,&quot;width&quot;:799.1999212598424}"/>
</p:tagLst>
</file>

<file path=ppt/tags/tag14.xml><?xml version="1.0" encoding="utf-8"?>
<p:tagLst xmlns:p="http://schemas.openxmlformats.org/presentationml/2006/main">
  <p:tag name="KSO_WM_DIAGRAM_VIRTUALLY_FRAME" val="{&quot;height&quot;:100.8,&quot;left&quot;:79.2,&quot;top&quot;:381.6,&quot;width&quot;:799.1999212598424}"/>
</p:tagLst>
</file>

<file path=ppt/tags/tag15.xml><?xml version="1.0" encoding="utf-8"?>
<p:tagLst xmlns:p="http://schemas.openxmlformats.org/presentationml/2006/main">
  <p:tag name="KSO_WM_DIAGRAM_VIRTUALLY_FRAME" val="{&quot;height&quot;:100.8,&quot;left&quot;:79.2,&quot;top&quot;:381.6,&quot;width&quot;:799.1999212598424}"/>
</p:tagLst>
</file>

<file path=ppt/tags/tag16.xml><?xml version="1.0" encoding="utf-8"?>
<p:tagLst xmlns:p="http://schemas.openxmlformats.org/presentationml/2006/main">
  <p:tag name="KSO_WM_DIAGRAM_VIRTUALLY_FRAME" val="{&quot;height&quot;:100.8,&quot;left&quot;:79.2,&quot;top&quot;:381.6,&quot;width&quot;:799.1999212598424}"/>
</p:tagLst>
</file>

<file path=ppt/tags/tag17.xml><?xml version="1.0" encoding="utf-8"?>
<p:tagLst xmlns:p="http://schemas.openxmlformats.org/presentationml/2006/main">
  <p:tag name="KSO_WM_DIAGRAM_VIRTUALLY_FRAME" val="{&quot;height&quot;:388.08000000000004,&quot;left&quot;:67,&quot;top&quot;:136.8,&quot;width&quot;:804.2}"/>
</p:tagLst>
</file>

<file path=ppt/tags/tag18.xml><?xml version="1.0" encoding="utf-8"?>
<p:tagLst xmlns:p="http://schemas.openxmlformats.org/presentationml/2006/main">
  <p:tag name="KSO_WM_DIAGRAM_VIRTUALLY_FRAME" val="{&quot;height&quot;:388.08000000000004,&quot;left&quot;:67,&quot;top&quot;:136.8,&quot;width&quot;:804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17276</Words>
  <Application>WPS 演示</Application>
  <PresentationFormat>宽屏</PresentationFormat>
  <Paragraphs>1140</Paragraphs>
  <Slides>38</Slides>
  <Notes>0</Notes>
  <HiddenSlides>6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8" baseType="lpstr">
      <vt:lpstr>Arial</vt:lpstr>
      <vt:lpstr>宋体</vt:lpstr>
      <vt:lpstr>Wingdings</vt:lpstr>
      <vt:lpstr>Arial</vt:lpstr>
      <vt:lpstr>微软雅黑</vt:lpstr>
      <vt:lpstr>Segoe UI</vt:lpstr>
      <vt:lpstr>Calibri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一帆风顺</cp:lastModifiedBy>
  <cp:revision>5</cp:revision>
  <dcterms:created xsi:type="dcterms:W3CDTF">2013-01-27T09:14:00Z</dcterms:created>
  <dcterms:modified xsi:type="dcterms:W3CDTF">2026-07-07T12:22:24Z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1E32E42172C24B29924803E96F35CCAD_12</vt:lpwstr>
  </property>
</Properties>
</file>