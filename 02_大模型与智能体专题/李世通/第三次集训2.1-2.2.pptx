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    <Relationship Id="rId1" Type="http://schemas.openxmlformats.org/officeDocument/2006/relationships/extended-properties" Target="docProps/app.xml"/>
    <Relationship Id="rId2" Type="http://schemas.openxmlformats.org/package/2006/relationships/metadata/core-properties" Target="docProps/core.xml"/>
    <Relationship Id="rId3" Type="http://schemas.openxmlformats.org/officeDocument/2006/relationships/officeDocument" Target="ppt/presentation.xml"/>
    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    <Relationship Id="rId1" Type="http://schemas.openxmlformats.org/officeDocument/2006/relationships/theme" Target="../theme/theme1.xml"/>
    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    <Relationships xmlns="http://schemas.openxmlformats.org/package/2006/relationships">
      <Relationship Id="rId1" Type="http://schemas.openxmlformats.org/officeDocument/2006/relationships/notesMaster" Target="../notesMasters/notesMaster1.xml"/>
      <Relationship Id="rId2" Type="http://schemas.openxmlformats.org/officeDocument/2006/relationships/slide" Target="../slides/slide1.xml"/>
    </Relationships>
</file>

<file path=ppt/notesSlides/_rels/notesSlide2.xml.rels><?xml version="1.0" encoding="UTF-8" standalone="yes"?>
    <Relationships xmlns="http://schemas.openxmlformats.org/package/2006/relationships">
      <Relationship Id="rId1" Type="http://schemas.openxmlformats.org/officeDocument/2006/relationships/notesMaster" Target="../notesMasters/notesMaster1.xml"/>
      <Relationship Id="rId2" Type="http://schemas.openxmlformats.org/officeDocument/2006/relationships/slide" Target="../slides/slide2.xml"/>
    </Relationships>
</file>

<file path=ppt/notesSlides/_rels/notesSlide3.xml.rels><?xml version="1.0" encoding="UTF-8" standalone="yes"?>
    <Relationships xmlns="http://schemas.openxmlformats.org/package/2006/relationships">
      <Relationship Id="rId1" Type="http://schemas.openxmlformats.org/officeDocument/2006/relationships/notesMaster" Target="../notesMasters/notesMaster1.xml"/>
      <Relationship Id="rId2" Type="http://schemas.openxmlformats.org/officeDocument/2006/relationships/slide" Target="../slides/slide3.xml"/>
    </Relationships>
</file>

<file path=ppt/notesSlides/_rels/notesSlide4.xml.rels><?xml version="1.0" encoding="UTF-8" standalone="yes"?>
    <Relationships xmlns="http://schemas.openxmlformats.org/package/2006/relationships">
      <Relationship Id="rId1" Type="http://schemas.openxmlformats.org/officeDocument/2006/relationships/notesMaster" Target="../notesMasters/notesMaster1.xml"/>
      <Relationship Id="rId2" Type="http://schemas.openxmlformats.org/officeDocument/2006/relationships/slide" Target="../slides/slide4.xml"/>
    </Relationships>
</file>

<file path=ppt/notesSlides/_rels/notesSlide5.xml.rels><?xml version="1.0" encoding="UTF-8" standalone="yes"?>
    <Relationships xmlns="http://schemas.openxmlformats.org/package/2006/relationships">
      <Relationship Id="rId1" Type="http://schemas.openxmlformats.org/officeDocument/2006/relationships/notesMaster" Target="../notesMasters/notesMaster1.xml"/>
      <Relationship Id="rId2" Type="http://schemas.openxmlformats.org/officeDocument/2006/relationships/slide" Target="../slides/slide5.xml"/>
    </Relationships>
</file>

<file path=ppt/notesSlides/_rels/notesSlide6.xml.rels><?xml version="1.0" encoding="UTF-8" standalone="yes"?>
    <Relationships xmlns="http://schemas.openxmlformats.org/package/2006/relationships">
      <Relationship Id="rId1" Type="http://schemas.openxmlformats.org/officeDocument/2006/relationships/notesMaster" Target="../notesMasters/notesMaster1.xml"/>
      <Relationship Id="rId2" Type="http://schemas.openxmlformats.org/officeDocument/2006/relationships/slide" Target="../slides/slide6.xml"/>
    </Relationships>
</file>

<file path=ppt/notesSlides/_rels/notesSlide7.xml.rels><?xml version="1.0" encoding="UTF-8" standalone="yes"?>
    <Relationships xmlns="http://schemas.openxmlformats.org/package/2006/relationships">
      <Relationship Id="rId1" Type="http://schemas.openxmlformats.org/officeDocument/2006/relationships/notesMaster" Target="../notesMasters/notesMaster1.xml"/>
      <Relationship Id="rId2" Type="http://schemas.openxmlformats.org/officeDocument/2006/relationships/slide" Target="../slides/slide7.xml"/>
    </Relationships>
</file>

<file path=ppt/notesSlides/_rels/notesSlide8.xml.rels><?xml version="1.0" encoding="UTF-8" standalone="yes"?>
    <Relationships xmlns="http://schemas.openxmlformats.org/package/2006/relationships">
      <Relationship Id="rId1" Type="http://schemas.openxmlformats.org/officeDocument/2006/relationships/notesMaster" Target="../notesMasters/notesMaster1.xml"/>
      <Relationship Id="rId2" Type="http://schemas.openxmlformats.org/officeDocument/2006/relationships/slide" Target="../slides/slide8.xml"/>
    </Relationships>
</file>

<file path=ppt/notesSlides/_rels/notesSlide9.xml.rels><?xml version="1.0" encoding="UTF-8" standalone="yes"?>
    <Relationships xmlns="http://schemas.openxmlformats.org/package/2006/relationships">
      <Relationship Id="rId1" Type="http://schemas.openxmlformats.org/officeDocument/2006/relationships/notesMaster" Target="../notesMasters/notesMaster1.xml"/>
      <Relationship Id="rId2" Type="http://schemas.openxmlformats.org/officeDocument/2006/relationships/slide" Target="../slides/slide9.xml"/>
    </Relationships>
</file>

<file path=ppt/notesSlides/_rels/notesSlide10.xml.rels><?xml version="1.0" encoding="UTF-8" standalone="yes"?>
    <Relationships xmlns="http://schemas.openxmlformats.org/package/2006/relationships">
      <Relationship Id="rId1" Type="http://schemas.openxmlformats.org/officeDocument/2006/relationships/notesMaster" Target="../notesMasters/notesMaster1.xml"/>
      <Relationship Id="rId2" Type="http://schemas.openxmlformats.org/officeDocument/2006/relationships/slide" Target="../slides/slide10.xml"/>
    </Relationships>
</file>

<file path=ppt/notesSlides/_rels/notesSlide11.xml.rels><?xml version="1.0" encoding="UTF-8" standalone="yes"?>
    <Relationships xmlns="http://schemas.openxmlformats.org/package/2006/relationships">
      <Relationship Id="rId1" Type="http://schemas.openxmlformats.org/officeDocument/2006/relationships/notesMaster" Target="../notesMasters/notesMaster1.xml"/>
      <Relationship Id="rId2" Type="http://schemas.openxmlformats.org/officeDocument/2006/relationships/slide" Target="../slides/slide11.xml"/>
    </Relationships>
</file>

<file path=ppt/notesSlides/_rels/notesSlide12.xml.rels><?xml version="1.0" encoding="UTF-8" standalone="yes"?>
    <Relationships xmlns="http://schemas.openxmlformats.org/package/2006/relationships">
      <Relationship Id="rId1" Type="http://schemas.openxmlformats.org/officeDocument/2006/relationships/notesMaster" Target="../notesMasters/notesMaster1.xml"/>
      <Relationship Id="rId2" Type="http://schemas.openxmlformats.org/officeDocument/2006/relationships/slide" Target="../slides/slide12.xml"/>
    </Relationships>
</file>

<file path=ppt/notesSlides/_rels/notesSlide13.xml.rels><?xml version="1.0" encoding="UTF-8" standalone="yes"?>
    <Relationships xmlns="http://schemas.openxmlformats.org/package/2006/relationships">
      <Relationship Id="rId1" Type="http://schemas.openxmlformats.org/officeDocument/2006/relationships/notesMaster" Target="../notesMasters/notesMaster1.xml"/>
      <Relationship Id="rId2" Type="http://schemas.openxmlformats.org/officeDocument/2006/relationships/slide" Target="../slides/slide13.xml"/>
    </Relationships>
</file>

<file path=ppt/notesSlides/_rels/notesSlide14.xml.rels><?xml version="1.0" encoding="UTF-8" standalone="yes"?>
    <Relationships xmlns="http://schemas.openxmlformats.org/package/2006/relationships">
      <Relationship Id="rId1" Type="http://schemas.openxmlformats.org/officeDocument/2006/relationships/notesMaster" Target="../notesMasters/notesMaster1.xml"/>
      <Relationship Id="rId2" Type="http://schemas.openxmlformats.org/officeDocument/2006/relationships/slide" Target="../slides/slide14.xml"/>
    </Relationships>
</file>

<file path=ppt/notesSlides/_rels/notesSlide15.xml.rels><?xml version="1.0" encoding="UTF-8" standalone="yes"?>
    <Relationships xmlns="http://schemas.openxmlformats.org/package/2006/relationships">
      <Relationship Id="rId1" Type="http://schemas.openxmlformats.org/officeDocument/2006/relationships/notesMaster" Target="../notesMasters/notesMaster1.xml"/>
      <Relationship Id="rId2" Type="http://schemas.openxmlformats.org/officeDocument/2006/relationships/slide" Target="../slides/slide15.xml"/>
    </Relationships>
</file>

<file path=ppt/notesSlides/_rels/notesSlide16.xml.rels><?xml version="1.0" encoding="UTF-8" standalone="yes"?>
    <Relationships xmlns="http://schemas.openxmlformats.org/package/2006/relationships">
      <Relationship Id="rId1" Type="http://schemas.openxmlformats.org/officeDocument/2006/relationships/notesMaster" Target="../notesMasters/notesMaster1.xml"/>
      <Relationship Id="rId2" Type="http://schemas.openxmlformats.org/officeDocument/2006/relationships/slide" Target="../slides/slide16.xml"/>
    </Relationships>
</file>

<file path=ppt/notesSlides/_rels/notesSlide17.xml.rels><?xml version="1.0" encoding="UTF-8" standalone="yes"?>
    <Relationships xmlns="http://schemas.openxmlformats.org/package/2006/relationships">
      <Relationship Id="rId1" Type="http://schemas.openxmlformats.org/officeDocument/2006/relationships/notesMaster" Target="../notesMasters/notesMaster1.xml"/>
      <Relationship Id="rId2" Type="http://schemas.openxmlformats.org/officeDocument/2006/relationships/slide" Target="../slides/slide17.xml"/>
    </Relationships>
</file>

<file path=ppt/notesSlides/_rels/notesSlide18.xml.rels><?xml version="1.0" encoding="UTF-8" standalone="yes"?>
    <Relationships xmlns="http://schemas.openxmlformats.org/package/2006/relationships">
      <Relationship Id="rId1" Type="http://schemas.openxmlformats.org/officeDocument/2006/relationships/notesMaster" Target="../notesMasters/notesMaster1.xml"/>
      <Relationship Id="rId2" Type="http://schemas.openxmlformats.org/officeDocument/2006/relationships/slide" Target="../slides/slide18.xml"/>
    </Relationships>
</file>

<file path=ppt/notesSlides/_rels/notesSlide19.xml.rels><?xml version="1.0" encoding="UTF-8" standalone="yes"?>
    <Relationships xmlns="http://schemas.openxmlformats.org/package/2006/relationships">
      <Relationship Id="rId1" Type="http://schemas.openxmlformats.org/officeDocument/2006/relationships/notesMaster" Target="../notesMasters/notesMaster1.xml"/>
      <Relationship Id="rId2" Type="http://schemas.openxmlformats.org/officeDocument/2006/relationships/slide" Target="../slides/slide19.xml"/>
    </Relationships>
</file>

<file path=ppt/notesSlides/_rels/notesSlide20.xml.rels><?xml version="1.0" encoding="UTF-8" standalone="yes"?>
    <Relationships xmlns="http://schemas.openxmlformats.org/package/2006/relationships">
      <Relationship Id="rId1" Type="http://schemas.openxmlformats.org/officeDocument/2006/relationships/notesMaster" Target="../notesMasters/notesMaster1.xml"/>
      <Relationship Id="rId2" Type="http://schemas.openxmlformats.org/officeDocument/2006/relationships/slide" Target="../slides/slide20.xml"/>
    </Relationships>
</file>

<file path=ppt/notesSlides/_rels/notesSlide21.xml.rels><?xml version="1.0" encoding="UTF-8" standalone="yes"?>
    <Relationships xmlns="http://schemas.openxmlformats.org/package/2006/relationships">
      <Relationship Id="rId1" Type="http://schemas.openxmlformats.org/officeDocument/2006/relationships/notesMaster" Target="../notesMasters/notesMaster1.xml"/>
      <Relationship Id="rId2" Type="http://schemas.openxmlformats.org/officeDocument/2006/relationships/slide" Target="../slides/slide21.xml"/>
    </Relationships>
</file>

<file path=ppt/notesSlides/_rels/notesSlide22.xml.rels><?xml version="1.0" encoding="UTF-8" standalone="yes"?>
    <Relationships xmlns="http://schemas.openxmlformats.org/package/2006/relationships">
      <Relationship Id="rId1" Type="http://schemas.openxmlformats.org/officeDocument/2006/relationships/notesMaster" Target="../notesMasters/notesMaster1.xml"/>
      <Relationship Id="rId2" Type="http://schemas.openxmlformats.org/officeDocument/2006/relationships/slide" Target="../slides/slide22.xml"/>
    </Relationships>
</file>

<file path=ppt/notesSlides/_rels/notesSlide23.xml.rels><?xml version="1.0" encoding="UTF-8" standalone="yes"?>
    <Relationships xmlns="http://schemas.openxmlformats.org/package/2006/relationships">
      <Relationship Id="rId1" Type="http://schemas.openxmlformats.org/officeDocument/2006/relationships/notesMaster" Target="../notesMasters/notesMaster1.xml"/>
      <Relationship Id="rId2" Type="http://schemas.openxmlformats.org/officeDocument/2006/relationships/slide" Target="../slides/slide23.xml"/>
    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/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/>
        </p:spPr>
      </p:sp>
      <p:sp>
        <p:nvSpPr>
          <p:cNvPr id="4" name="Shape 4"/>
          <p:cNvSpPr/>
          <p:nvPr/>
        </p:nvSpPr>
        <p:spPr>
          <a:xfrm>
            <a:off x="4381500" y="571500"/>
            <a:ext cx="381000" cy="9525"/>
          </a:xfrm>
          <a:prstGeom prst="rect">
            <a:avLst/>
          </a:prstGeom>
          <a:solidFill>
            <a:srgbClr val="9C4246"/>
          </a:solidFill>
          <a:ln/>
        </p:spPr>
      </p:sp>
      <p:sp>
        <p:nvSpPr>
          <p:cNvPr id="5" name="TextBox 6"/>
          <p:cNvSpPr/>
          <p:nvPr/>
        </p:nvSpPr>
        <p:spPr>
          <a:xfrm>
            <a:off x="2978125" y="771525"/>
            <a:ext cx="3187712" cy="5120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4151"/>
              </a:lnSpc>
              <a:buNone/>
            </a:pPr>
            <a:r>
              <a:rPr lang="en-US" sz="3706" b="1" spc="-93" kern="0" dirty="0">
                <a:solidFill>
                  <a:srgbClr val="1B150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大模型 API 基础</a:t>
            </a:r>
            <a:endParaRPr lang="en-US" sz="3706" dirty="0"/>
          </a:p>
        </p:txBody>
      </p:sp>
      <p:sp>
        <p:nvSpPr>
          <p:cNvPr id="6" name="TextBox 8"/>
          <p:cNvSpPr/>
          <p:nvPr/>
        </p:nvSpPr>
        <p:spPr>
          <a:xfrm>
            <a:off x="3636727" y="1416918"/>
            <a:ext cx="187054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622"/>
              </a:lnSpc>
              <a:buNone/>
            </a:pPr>
            <a:r>
              <a:rPr lang="en-US" sz="1081" spc="11" kern="0" dirty="0">
                <a:solidFill>
                  <a:srgbClr val="625D5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messages · 采样参数 · 流式输出</a:t>
            </a:r>
            <a:endParaRPr lang="en-US" sz="1081" dirty="0"/>
          </a:p>
        </p:txBody>
      </p:sp>
      <p:sp>
        <p:nvSpPr>
          <p:cNvPr id="7" name="TextBox 10"/>
          <p:cNvSpPr/>
          <p:nvPr/>
        </p:nvSpPr>
        <p:spPr>
          <a:xfrm>
            <a:off x="2773859" y="1655043"/>
            <a:ext cx="359624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622"/>
              </a:lnSpc>
              <a:buNone/>
            </a:pPr>
            <a:r>
              <a:rPr lang="en-US" sz="1081" spc="11" kern="0" dirty="0">
                <a:solidFill>
                  <a:srgbClr val="625D5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LLM API Fundamentals — 从请求结构到流式响应的完整梳理</a:t>
            </a:r>
            <a:endParaRPr lang="en-US" sz="1081" dirty="0"/>
          </a:p>
        </p:txBody>
      </p:sp>
      <p:sp>
        <p:nvSpPr>
          <p:cNvPr id="8" name="TextBox 12"/>
          <p:cNvSpPr/>
          <p:nvPr/>
        </p:nvSpPr>
        <p:spPr>
          <a:xfrm>
            <a:off x="4204729" y="4468416"/>
            <a:ext cx="734504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579" dirty="0">
                <a:solidFill>
                  <a:srgbClr val="625D5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学习汇报 · 2026 年 7 月</a:t>
            </a:r>
            <a:endParaRPr lang="en-US" sz="579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/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/>
        </p:spPr>
      </p:sp>
      <p:sp>
        <p:nvSpPr>
          <p:cNvPr id="4" name="TextBox 6"/>
          <p:cNvSpPr/>
          <p:nvPr/>
        </p:nvSpPr>
        <p:spPr>
          <a:xfrm>
            <a:off x="476250" y="342900"/>
            <a:ext cx="146707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11"/>
              </a:lnSpc>
              <a:buNone/>
            </a:pPr>
            <a:r>
              <a:rPr lang="en-US" sz="541" spc="54" kern="0" dirty="0">
                <a:solidFill>
                  <a:srgbClr val="9C424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目录</a:t>
            </a:r>
            <a:endParaRPr lang="en-US" sz="541" dirty="0"/>
          </a:p>
        </p:txBody>
      </p:sp>
      <p:sp>
        <p:nvSpPr>
          <p:cNvPr id="5" name="Shape 8"/>
          <p:cNvSpPr/>
          <p:nvPr/>
        </p:nvSpPr>
        <p:spPr>
          <a:xfrm>
            <a:off x="670582" y="388144"/>
            <a:ext cx="381000" cy="9525"/>
          </a:xfrm>
          <a:prstGeom prst="rect">
            <a:avLst/>
          </a:prstGeom>
          <a:solidFill>
            <a:srgbClr val="9C4246"/>
          </a:solidFill>
          <a:ln/>
        </p:spPr>
      </p:sp>
      <p:sp>
        <p:nvSpPr>
          <p:cNvPr id="6" name="TextBox 11"/>
          <p:cNvSpPr/>
          <p:nvPr/>
        </p:nvSpPr>
        <p:spPr>
          <a:xfrm>
            <a:off x="476250" y="614363"/>
            <a:ext cx="8191500" cy="224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22"/>
              </a:lnSpc>
              <a:buNone/>
            </a:pPr>
            <a:r>
              <a:rPr lang="en-US" sz="1544" b="1" spc="-23" kern="0" dirty="0">
                <a:solidFill>
                  <a:srgbClr val="1B150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本次汇报围绕四个核心问题展开</a:t>
            </a:r>
            <a:endParaRPr lang="en-US" sz="1544" dirty="0"/>
          </a:p>
        </p:txBody>
      </p:sp>
      <p:sp>
        <p:nvSpPr>
          <p:cNvPr id="7" name="Shape 15"/>
          <p:cNvSpPr/>
          <p:nvPr/>
        </p:nvSpPr>
        <p:spPr>
          <a:xfrm>
            <a:off x="476250" y="1029630"/>
            <a:ext cx="8191500" cy="459804"/>
          </a:xfrm>
          <a:prstGeom prst="rect">
            <a:avLst/>
          </a:prstGeom>
          <a:noFill/>
          <a:ln/>
        </p:spPr>
      </p:sp>
      <p:pic>
        <p:nvPicPr>
          <p:cNvPr id="8" name="Picture 15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6250" y="1029630"/>
            <a:ext cx="8191500" cy="459804"/>
          </a:xfrm>
          <a:prstGeom prst="rect">
            <a:avLst/>
          </a:prstGeom>
        </p:spPr>
      </p:pic>
      <p:sp>
        <p:nvSpPr>
          <p:cNvPr id="9" name="TextBox 17"/>
          <p:cNvSpPr/>
          <p:nvPr/>
        </p:nvSpPr>
        <p:spPr>
          <a:xfrm>
            <a:off x="476250" y="1115355"/>
            <a:ext cx="1524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2"/>
              </a:lnSpc>
              <a:buNone/>
            </a:pPr>
            <a:r>
              <a:rPr lang="en-US" sz="695" b="1" spc="42" kern="0" dirty="0">
                <a:solidFill>
                  <a:srgbClr val="9C424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695" dirty="0"/>
          </a:p>
        </p:txBody>
      </p:sp>
      <p:sp>
        <p:nvSpPr>
          <p:cNvPr id="10" name="TextBox 21"/>
          <p:cNvSpPr/>
          <p:nvPr/>
        </p:nvSpPr>
        <p:spPr>
          <a:xfrm>
            <a:off x="723900" y="1115355"/>
            <a:ext cx="2793541" cy="155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57"/>
              </a:lnSpc>
              <a:buNone/>
            </a:pPr>
            <a:r>
              <a:rPr lang="en-US" sz="811" b="1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请求与响应结构</a:t>
            </a:r>
            <a:endParaRPr lang="en-US" sz="811" dirty="0"/>
          </a:p>
        </p:txBody>
      </p:sp>
      <p:sp>
        <p:nvSpPr>
          <p:cNvPr id="11" name="TextBox 23"/>
          <p:cNvSpPr/>
          <p:nvPr/>
        </p:nvSpPr>
        <p:spPr>
          <a:xfrm>
            <a:off x="723900" y="1270360"/>
            <a:ext cx="2793541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2"/>
              </a:lnSpc>
              <a:buNone/>
            </a:pPr>
            <a:r>
              <a:rPr lang="en-US" sz="695" dirty="0">
                <a:solidFill>
                  <a:srgbClr val="625D5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API 调用长什么样？system / user / assistant 三种角色各自承担什么职责？</a:t>
            </a:r>
            <a:endParaRPr lang="en-US" sz="695" dirty="0"/>
          </a:p>
        </p:txBody>
      </p:sp>
      <p:sp>
        <p:nvSpPr>
          <p:cNvPr id="12" name="Shape 27"/>
          <p:cNvSpPr/>
          <p:nvPr/>
        </p:nvSpPr>
        <p:spPr>
          <a:xfrm>
            <a:off x="476250" y="1527535"/>
            <a:ext cx="8191500" cy="459805"/>
          </a:xfrm>
          <a:prstGeom prst="rect">
            <a:avLst/>
          </a:prstGeom>
          <a:noFill/>
          <a:ln/>
        </p:spPr>
      </p:sp>
      <p:pic>
        <p:nvPicPr>
          <p:cNvPr id="13" name="Picture 27" descr="__type_image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250" y="1527535"/>
            <a:ext cx="8191500" cy="459805"/>
          </a:xfrm>
          <a:prstGeom prst="rect">
            <a:avLst/>
          </a:prstGeom>
        </p:spPr>
      </p:pic>
      <p:sp>
        <p:nvSpPr>
          <p:cNvPr id="14" name="TextBox 29"/>
          <p:cNvSpPr/>
          <p:nvPr/>
        </p:nvSpPr>
        <p:spPr>
          <a:xfrm>
            <a:off x="476250" y="1613260"/>
            <a:ext cx="1524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2"/>
              </a:lnSpc>
              <a:buNone/>
            </a:pPr>
            <a:r>
              <a:rPr lang="en-US" sz="695" b="1" spc="42" kern="0" dirty="0">
                <a:solidFill>
                  <a:srgbClr val="9C424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695" dirty="0"/>
          </a:p>
        </p:txBody>
      </p:sp>
      <p:sp>
        <p:nvSpPr>
          <p:cNvPr id="15" name="TextBox 33"/>
          <p:cNvSpPr/>
          <p:nvPr/>
        </p:nvSpPr>
        <p:spPr>
          <a:xfrm>
            <a:off x="723900" y="1613260"/>
            <a:ext cx="2230487" cy="155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57"/>
              </a:lnSpc>
              <a:buNone/>
            </a:pPr>
            <a:r>
              <a:rPr lang="en-US" sz="811" b="1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无状态性与多轮对话</a:t>
            </a:r>
            <a:endParaRPr lang="en-US" sz="811" dirty="0"/>
          </a:p>
        </p:txBody>
      </p:sp>
      <p:sp>
        <p:nvSpPr>
          <p:cNvPr id="16" name="TextBox 35"/>
          <p:cNvSpPr/>
          <p:nvPr/>
        </p:nvSpPr>
        <p:spPr>
          <a:xfrm>
            <a:off x="723900" y="1768264"/>
            <a:ext cx="2230487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2"/>
              </a:lnSpc>
              <a:buNone/>
            </a:pPr>
            <a:r>
              <a:rPr lang="en-US" sz="695" dirty="0">
                <a:solidFill>
                  <a:srgbClr val="625D5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为什么 API 不保存对话历史？多轮对话在客户端如何实现？</a:t>
            </a:r>
            <a:endParaRPr lang="en-US" sz="695" dirty="0"/>
          </a:p>
        </p:txBody>
      </p:sp>
      <p:sp>
        <p:nvSpPr>
          <p:cNvPr id="17" name="Shape 39"/>
          <p:cNvSpPr/>
          <p:nvPr/>
        </p:nvSpPr>
        <p:spPr>
          <a:xfrm>
            <a:off x="476250" y="2025439"/>
            <a:ext cx="8191500" cy="459804"/>
          </a:xfrm>
          <a:prstGeom prst="rect">
            <a:avLst/>
          </a:prstGeom>
          <a:noFill/>
          <a:ln/>
        </p:spPr>
      </p:sp>
      <p:pic>
        <p:nvPicPr>
          <p:cNvPr id="18" name="Picture 39" descr="__type_image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6250" y="2025439"/>
            <a:ext cx="8191500" cy="459804"/>
          </a:xfrm>
          <a:prstGeom prst="rect">
            <a:avLst/>
          </a:prstGeom>
        </p:spPr>
      </p:pic>
      <p:sp>
        <p:nvSpPr>
          <p:cNvPr id="19" name="TextBox 41"/>
          <p:cNvSpPr/>
          <p:nvPr/>
        </p:nvSpPr>
        <p:spPr>
          <a:xfrm>
            <a:off x="476250" y="2111164"/>
            <a:ext cx="1524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2"/>
              </a:lnSpc>
              <a:buNone/>
            </a:pPr>
            <a:r>
              <a:rPr lang="en-US" sz="695" b="1" spc="42" kern="0" dirty="0">
                <a:solidFill>
                  <a:srgbClr val="9C424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695" dirty="0"/>
          </a:p>
        </p:txBody>
      </p:sp>
      <p:sp>
        <p:nvSpPr>
          <p:cNvPr id="20" name="TextBox 45"/>
          <p:cNvSpPr/>
          <p:nvPr/>
        </p:nvSpPr>
        <p:spPr>
          <a:xfrm>
            <a:off x="723900" y="2111164"/>
            <a:ext cx="2564830" cy="155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57"/>
              </a:lnSpc>
              <a:buNone/>
            </a:pPr>
            <a:r>
              <a:rPr lang="en-US" sz="811" b="1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采样参数调优</a:t>
            </a:r>
            <a:endParaRPr lang="en-US" sz="811" dirty="0"/>
          </a:p>
        </p:txBody>
      </p:sp>
      <p:sp>
        <p:nvSpPr>
          <p:cNvPr id="21" name="TextBox 47"/>
          <p:cNvSpPr/>
          <p:nvPr/>
        </p:nvSpPr>
        <p:spPr>
          <a:xfrm>
            <a:off x="723900" y="2266169"/>
            <a:ext cx="2564830" cy="128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2"/>
              </a:lnSpc>
              <a:buNone/>
            </a:pPr>
            <a:r>
              <a:rPr lang="en-US" sz="695" dirty="0">
                <a:solidFill>
                  <a:srgbClr val="625D5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temperature、max_tokens 等参数怎么调？什么任务该用什么温度？</a:t>
            </a:r>
            <a:endParaRPr lang="en-US" sz="695" dirty="0"/>
          </a:p>
        </p:txBody>
      </p:sp>
      <p:sp>
        <p:nvSpPr>
          <p:cNvPr id="22" name="Shape 51"/>
          <p:cNvSpPr/>
          <p:nvPr/>
        </p:nvSpPr>
        <p:spPr>
          <a:xfrm>
            <a:off x="476250" y="2523344"/>
            <a:ext cx="8191500" cy="459805"/>
          </a:xfrm>
          <a:prstGeom prst="rect">
            <a:avLst/>
          </a:prstGeom>
          <a:noFill/>
          <a:ln/>
        </p:spPr>
      </p:sp>
      <p:pic>
        <p:nvPicPr>
          <p:cNvPr id="23" name="Picture 51" descr="__type_image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6250" y="2523344"/>
            <a:ext cx="8191500" cy="459805"/>
          </a:xfrm>
          <a:prstGeom prst="rect">
            <a:avLst/>
          </a:prstGeom>
        </p:spPr>
      </p:pic>
      <p:sp>
        <p:nvSpPr>
          <p:cNvPr id="24" name="TextBox 53"/>
          <p:cNvSpPr/>
          <p:nvPr/>
        </p:nvSpPr>
        <p:spPr>
          <a:xfrm>
            <a:off x="476250" y="2609069"/>
            <a:ext cx="152400" cy="128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2"/>
              </a:lnSpc>
              <a:buNone/>
            </a:pPr>
            <a:r>
              <a:rPr lang="en-US" sz="695" b="1" spc="42" kern="0" dirty="0">
                <a:solidFill>
                  <a:srgbClr val="9C424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695" dirty="0"/>
          </a:p>
        </p:txBody>
      </p:sp>
      <p:sp>
        <p:nvSpPr>
          <p:cNvPr id="25" name="TextBox 57"/>
          <p:cNvSpPr/>
          <p:nvPr/>
        </p:nvSpPr>
        <p:spPr>
          <a:xfrm>
            <a:off x="723900" y="2609069"/>
            <a:ext cx="2657475" cy="155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57"/>
              </a:lnSpc>
              <a:buNone/>
            </a:pPr>
            <a:r>
              <a:rPr lang="en-US" sz="811" b="1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流式输出</a:t>
            </a:r>
            <a:endParaRPr lang="en-US" sz="811" dirty="0"/>
          </a:p>
        </p:txBody>
      </p:sp>
      <p:sp>
        <p:nvSpPr>
          <p:cNvPr id="26" name="TextBox 59"/>
          <p:cNvSpPr/>
          <p:nvPr/>
        </p:nvSpPr>
        <p:spPr>
          <a:xfrm>
            <a:off x="723900" y="2764073"/>
            <a:ext cx="2657475" cy="128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2"/>
              </a:lnSpc>
              <a:buNone/>
            </a:pPr>
            <a:r>
              <a:rPr lang="en-US" sz="695" dirty="0">
                <a:solidFill>
                  <a:srgbClr val="625D5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非流式响应存在什么体验问题？流式输出在协议层和代码层如何实现？</a:t>
            </a:r>
            <a:endParaRPr lang="en-US" sz="695" dirty="0"/>
          </a:p>
        </p:txBody>
      </p:sp>
      <p:sp>
        <p:nvSpPr>
          <p:cNvPr id="27" name="TextBox 64"/>
          <p:cNvSpPr/>
          <p:nvPr/>
        </p:nvSpPr>
        <p:spPr>
          <a:xfrm>
            <a:off x="8805453" y="4898231"/>
            <a:ext cx="71847" cy="928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53"/>
              </a:lnSpc>
              <a:buNone/>
            </a:pPr>
            <a:r>
              <a:rPr lang="en-US" sz="502" spc="40" kern="0" dirty="0">
                <a:solidFill>
                  <a:srgbClr val="625D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50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/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/>
        </p:spPr>
      </p:sp>
      <p:sp>
        <p:nvSpPr>
          <p:cNvPr id="4" name="TextBox 8"/>
          <p:cNvSpPr/>
          <p:nvPr/>
        </p:nvSpPr>
        <p:spPr>
          <a:xfrm>
            <a:off x="428625" y="342900"/>
            <a:ext cx="760102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11"/>
              </a:lnSpc>
              <a:buNone/>
            </a:pPr>
            <a:r>
              <a:rPr lang="en-US" sz="541" spc="54" kern="0" dirty="0">
                <a:solidFill>
                  <a:srgbClr val="9C424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1 · 请求与响应</a:t>
            </a:r>
            <a:endParaRPr lang="en-US" sz="541" dirty="0"/>
          </a:p>
        </p:txBody>
      </p:sp>
      <p:sp>
        <p:nvSpPr>
          <p:cNvPr id="5" name="Shape 10"/>
          <p:cNvSpPr/>
          <p:nvPr/>
        </p:nvSpPr>
        <p:spPr>
          <a:xfrm>
            <a:off x="1236352" y="385763"/>
            <a:ext cx="228600" cy="14287"/>
          </a:xfrm>
          <a:prstGeom prst="rect">
            <a:avLst/>
          </a:prstGeom>
          <a:solidFill>
            <a:srgbClr val="9C4246"/>
          </a:solidFill>
          <a:ln/>
        </p:spPr>
      </p:sp>
      <p:sp>
        <p:nvSpPr>
          <p:cNvPr id="6" name="TextBox 13"/>
          <p:cNvSpPr/>
          <p:nvPr/>
        </p:nvSpPr>
        <p:spPr>
          <a:xfrm>
            <a:off x="428625" y="557212"/>
            <a:ext cx="8286750" cy="224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22"/>
              </a:lnSpc>
              <a:buNone/>
            </a:pPr>
            <a:r>
              <a:rPr lang="en-US" sz="1544" b="1" spc="-23" kern="0" dirty="0">
                <a:solidFill>
                  <a:srgbClr val="1B150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一次 API 调用的请求体长什么样？</a:t>
            </a:r>
            <a:endParaRPr lang="en-US" sz="1544" dirty="0"/>
          </a:p>
        </p:txBody>
      </p:sp>
      <p:sp>
        <p:nvSpPr>
          <p:cNvPr id="7" name="Shape 17"/>
          <p:cNvSpPr/>
          <p:nvPr/>
        </p:nvSpPr>
        <p:spPr>
          <a:xfrm>
            <a:off x="428625" y="896280"/>
            <a:ext cx="4057650" cy="3904320"/>
          </a:xfrm>
          <a:prstGeom prst="roundRect">
            <a:avLst>
              <a:gd name="adj" fmla="val 754"/>
            </a:avLst>
          </a:prstGeom>
          <a:solidFill>
            <a:srgbClr val="F3F2ED"/>
          </a:solidFill>
          <a:ln w="4903">
            <a:solidFill>
              <a:srgbClr val="D9D7D2"/>
            </a:solidFill>
            <a:prstDash val="solid"/>
          </a:ln>
        </p:spPr>
      </p:sp>
      <p:sp>
        <p:nvSpPr>
          <p:cNvPr id="8" name="TextBox 19"/>
          <p:cNvSpPr/>
          <p:nvPr/>
        </p:nvSpPr>
        <p:spPr>
          <a:xfrm>
            <a:off x="547687" y="996293"/>
            <a:ext cx="3819525" cy="17609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POST /v1/chat/completions</a:t>
            </a:r>
            <a:endParaRPr lang="en-US" sz="560" dirty="0"/>
          </a:p>
          <a:p>
            <a:pPr algn="l" indent="0" marL="0">
              <a:lnSpc>
                <a:spcPts val="840"/>
              </a:lnSpc>
              <a:buNone/>
            </a:pPr>
            <a:endParaRPr lang="en-US" sz="560" dirty="0"/>
          </a:p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endParaRPr lang="en-US" sz="560" dirty="0"/>
          </a:p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"model": "gpt-4o",</a:t>
            </a:r>
            <a:endParaRPr lang="en-US" sz="560" dirty="0"/>
          </a:p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"messages": [</a:t>
            </a:r>
            <a:endParaRPr lang="en-US" sz="560" dirty="0"/>
          </a:p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{"role": "system",</a:t>
            </a:r>
            <a:endParaRPr lang="en-US" sz="560" dirty="0"/>
          </a:p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"content": "你是一个精通机器</a:t>
            </a:r>
            <a:endParaRPr lang="en-US" sz="560" dirty="0"/>
          </a:p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学习的助教，回答应严谨。"},</a:t>
            </a:r>
            <a:endParaRPr lang="en-US" sz="560" dirty="0"/>
          </a:p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{"role": "user",</a:t>
            </a:r>
            <a:endParaRPr lang="en-US" sz="560" dirty="0"/>
          </a:p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"content": "解释 Transformer 的</a:t>
            </a:r>
            <a:endParaRPr lang="en-US" sz="560" dirty="0"/>
          </a:p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自注意力机制"}</a:t>
            </a:r>
            <a:endParaRPr lang="en-US" sz="560" dirty="0"/>
          </a:p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],</a:t>
            </a:r>
            <a:endParaRPr lang="en-US" sz="560" dirty="0"/>
          </a:p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"temperature": 0.3,</a:t>
            </a:r>
            <a:endParaRPr lang="en-US" sz="560" dirty="0"/>
          </a:p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"max_tokens": 2048,</a:t>
            </a:r>
            <a:endParaRPr lang="en-US" sz="560" dirty="0"/>
          </a:p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"top_p": 1.0,</a:t>
            </a:r>
            <a:endParaRPr lang="en-US" sz="560" dirty="0"/>
          </a:p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"stream": false</a:t>
            </a:r>
            <a:endParaRPr lang="en-US" sz="560" dirty="0"/>
          </a:p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560" dirty="0"/>
          </a:p>
        </p:txBody>
      </p:sp>
      <p:sp>
        <p:nvSpPr>
          <p:cNvPr id="9" name="TextBox 26"/>
          <p:cNvSpPr/>
          <p:nvPr/>
        </p:nvSpPr>
        <p:spPr>
          <a:xfrm>
            <a:off x="4657725" y="896280"/>
            <a:ext cx="405765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95" b="1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model </a:t>
            </a:r>
            <a:r>
              <a:rPr lang="en-US" sz="579" b="1" dirty="0">
                <a:solidFill>
                  <a:srgbClr val="625D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（必需）</a:t>
            </a:r>
            <a:endParaRPr lang="en-US" sz="695" dirty="0"/>
          </a:p>
        </p:txBody>
      </p:sp>
      <p:sp>
        <p:nvSpPr>
          <p:cNvPr id="10" name="TextBox 28"/>
          <p:cNvSpPr/>
          <p:nvPr/>
        </p:nvSpPr>
        <p:spPr>
          <a:xfrm>
            <a:off x="4657725" y="1024868"/>
            <a:ext cx="4057650" cy="128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2"/>
              </a:lnSpc>
              <a:buNone/>
            </a:pPr>
            <a:r>
              <a:rPr lang="en-US" sz="695" dirty="0">
                <a:solidFill>
                  <a:srgbClr val="625D5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模型标识符。不同模型有不同的能力、价格和上下文窗口。选模型时要同时考虑任务需求和成本。</a:t>
            </a:r>
            <a:endParaRPr lang="en-US" sz="695" dirty="0"/>
          </a:p>
        </p:txBody>
      </p:sp>
      <p:sp>
        <p:nvSpPr>
          <p:cNvPr id="11" name="TextBox 33"/>
          <p:cNvSpPr/>
          <p:nvPr/>
        </p:nvSpPr>
        <p:spPr>
          <a:xfrm>
            <a:off x="4657725" y="1229655"/>
            <a:ext cx="405765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95" b="1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messages </a:t>
            </a:r>
            <a:r>
              <a:rPr lang="en-US" sz="579" b="1" dirty="0">
                <a:solidFill>
                  <a:srgbClr val="625D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（必需）</a:t>
            </a:r>
            <a:endParaRPr lang="en-US" sz="695" dirty="0"/>
          </a:p>
        </p:txBody>
      </p:sp>
      <p:sp>
        <p:nvSpPr>
          <p:cNvPr id="12" name="TextBox 35"/>
          <p:cNvSpPr/>
          <p:nvPr/>
        </p:nvSpPr>
        <p:spPr>
          <a:xfrm>
            <a:off x="4657725" y="1358243"/>
            <a:ext cx="40576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2"/>
              </a:lnSpc>
              <a:buNone/>
            </a:pPr>
            <a:r>
              <a:rPr lang="en-US" sz="695" dirty="0">
                <a:solidFill>
                  <a:srgbClr val="625D5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对话消息数组，按时间顺序排列。这是整个 API 调用中最重要的结构——不仅承载当前问题，还承载全部对话历史和系统指令。</a:t>
            </a:r>
            <a:endParaRPr lang="en-US" sz="695" dirty="0"/>
          </a:p>
        </p:txBody>
      </p:sp>
      <p:sp>
        <p:nvSpPr>
          <p:cNvPr id="13" name="TextBox 40"/>
          <p:cNvSpPr/>
          <p:nvPr/>
        </p:nvSpPr>
        <p:spPr>
          <a:xfrm>
            <a:off x="4657725" y="1691618"/>
            <a:ext cx="4057650" cy="128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95" b="1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temperature </a:t>
            </a:r>
            <a:r>
              <a:rPr lang="en-US" sz="579" b="1" dirty="0">
                <a:solidFill>
                  <a:srgbClr val="625D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（可选，默认 1.0）</a:t>
            </a:r>
            <a:endParaRPr lang="en-US" sz="695" dirty="0"/>
          </a:p>
        </p:txBody>
      </p:sp>
      <p:sp>
        <p:nvSpPr>
          <p:cNvPr id="14" name="TextBox 42"/>
          <p:cNvSpPr/>
          <p:nvPr/>
        </p:nvSpPr>
        <p:spPr>
          <a:xfrm>
            <a:off x="4657725" y="1820205"/>
            <a:ext cx="405765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2"/>
              </a:lnSpc>
              <a:buNone/>
            </a:pPr>
            <a:r>
              <a:rPr lang="en-US" sz="695" dirty="0">
                <a:solidFill>
                  <a:srgbClr val="625D5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控制随机性的核心参数（0–2）。越低输出越确定，越高越有"创意"但也越容易产生幻觉。</a:t>
            </a:r>
            <a:endParaRPr lang="en-US" sz="695" dirty="0"/>
          </a:p>
        </p:txBody>
      </p:sp>
      <p:sp>
        <p:nvSpPr>
          <p:cNvPr id="15" name="TextBox 47"/>
          <p:cNvSpPr/>
          <p:nvPr/>
        </p:nvSpPr>
        <p:spPr>
          <a:xfrm>
            <a:off x="4657725" y="2024993"/>
            <a:ext cx="405765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95" b="1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max_tokens </a:t>
            </a:r>
            <a:r>
              <a:rPr lang="en-US" sz="579" b="1" dirty="0">
                <a:solidFill>
                  <a:srgbClr val="625D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（可选）</a:t>
            </a:r>
            <a:endParaRPr lang="en-US" sz="695" dirty="0"/>
          </a:p>
        </p:txBody>
      </p:sp>
      <p:sp>
        <p:nvSpPr>
          <p:cNvPr id="16" name="TextBox 49"/>
          <p:cNvSpPr/>
          <p:nvPr/>
        </p:nvSpPr>
        <p:spPr>
          <a:xfrm>
            <a:off x="4657725" y="2153580"/>
            <a:ext cx="405765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2"/>
              </a:lnSpc>
              <a:buNone/>
            </a:pPr>
            <a:r>
              <a:rPr lang="en-US" sz="695" dirty="0">
                <a:solidFill>
                  <a:srgbClr val="625D5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输出 token 上限（不含输入）。太小会截断回答，太大浪费成本。</a:t>
            </a:r>
            <a:endParaRPr lang="en-US" sz="695" dirty="0"/>
          </a:p>
        </p:txBody>
      </p:sp>
      <p:sp>
        <p:nvSpPr>
          <p:cNvPr id="17" name="TextBox 54"/>
          <p:cNvSpPr/>
          <p:nvPr/>
        </p:nvSpPr>
        <p:spPr>
          <a:xfrm>
            <a:off x="4657725" y="2358368"/>
            <a:ext cx="405765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95" b="1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stream </a:t>
            </a:r>
            <a:r>
              <a:rPr lang="en-US" sz="579" b="1" dirty="0">
                <a:solidFill>
                  <a:srgbClr val="625D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（可选，默认 false）</a:t>
            </a:r>
            <a:endParaRPr lang="en-US" sz="695" dirty="0"/>
          </a:p>
        </p:txBody>
      </p:sp>
      <p:sp>
        <p:nvSpPr>
          <p:cNvPr id="18" name="TextBox 56"/>
          <p:cNvSpPr/>
          <p:nvPr/>
        </p:nvSpPr>
        <p:spPr>
          <a:xfrm>
            <a:off x="4657725" y="2486955"/>
            <a:ext cx="4057650" cy="128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2"/>
              </a:lnSpc>
              <a:buNone/>
            </a:pPr>
            <a:r>
              <a:rPr lang="en-US" sz="695" dirty="0">
                <a:solidFill>
                  <a:srgbClr val="625D5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是否启用流式输出。true 时模型逐 token 推送结果（SSE 协议）。</a:t>
            </a:r>
            <a:endParaRPr lang="en-US" sz="695" dirty="0"/>
          </a:p>
        </p:txBody>
      </p:sp>
      <p:sp>
        <p:nvSpPr>
          <p:cNvPr id="19" name="TextBox 62"/>
          <p:cNvSpPr/>
          <p:nvPr/>
        </p:nvSpPr>
        <p:spPr>
          <a:xfrm>
            <a:off x="8805453" y="4898231"/>
            <a:ext cx="71847" cy="928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53"/>
              </a:lnSpc>
              <a:buNone/>
            </a:pPr>
            <a:r>
              <a:rPr lang="en-US" sz="502" spc="40" kern="0" dirty="0">
                <a:solidFill>
                  <a:srgbClr val="625D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50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/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/>
        </p:spPr>
      </p:sp>
      <p:sp>
        <p:nvSpPr>
          <p:cNvPr id="4" name="TextBox 8"/>
          <p:cNvSpPr/>
          <p:nvPr/>
        </p:nvSpPr>
        <p:spPr>
          <a:xfrm>
            <a:off x="381000" y="266700"/>
            <a:ext cx="760102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11"/>
              </a:lnSpc>
              <a:buNone/>
            </a:pPr>
            <a:r>
              <a:rPr lang="en-US" sz="541" spc="54" kern="0" dirty="0">
                <a:solidFill>
                  <a:srgbClr val="9C424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1 · 请求与响应</a:t>
            </a:r>
            <a:endParaRPr lang="en-US" sz="541" dirty="0"/>
          </a:p>
        </p:txBody>
      </p:sp>
      <p:sp>
        <p:nvSpPr>
          <p:cNvPr id="5" name="Shape 10"/>
          <p:cNvSpPr/>
          <p:nvPr/>
        </p:nvSpPr>
        <p:spPr>
          <a:xfrm>
            <a:off x="1188727" y="309563"/>
            <a:ext cx="228600" cy="14287"/>
          </a:xfrm>
          <a:prstGeom prst="rect">
            <a:avLst/>
          </a:prstGeom>
          <a:solidFill>
            <a:srgbClr val="9C4246"/>
          </a:solidFill>
          <a:ln/>
        </p:spPr>
      </p:sp>
      <p:sp>
        <p:nvSpPr>
          <p:cNvPr id="6" name="TextBox 13"/>
          <p:cNvSpPr/>
          <p:nvPr/>
        </p:nvSpPr>
        <p:spPr>
          <a:xfrm>
            <a:off x="381000" y="481013"/>
            <a:ext cx="8382000" cy="224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22"/>
              </a:lnSpc>
              <a:buNone/>
            </a:pPr>
            <a:r>
              <a:rPr lang="en-US" sz="1544" b="1" spc="-23" kern="0" dirty="0">
                <a:solidFill>
                  <a:srgbClr val="1B150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/ user / assistant 三种角色的设计与分工</a:t>
            </a:r>
            <a:endParaRPr lang="en-US" sz="1544" dirty="0"/>
          </a:p>
        </p:txBody>
      </p:sp>
      <p:sp>
        <p:nvSpPr>
          <p:cNvPr id="7" name="Shape 15"/>
          <p:cNvSpPr/>
          <p:nvPr/>
        </p:nvSpPr>
        <p:spPr>
          <a:xfrm>
            <a:off x="381000" y="820080"/>
            <a:ext cx="8382000" cy="1927250"/>
          </a:xfrm>
          <a:prstGeom prst="roundRect">
            <a:avLst>
              <a:gd name="adj" fmla="val 1018"/>
            </a:avLst>
          </a:prstGeom>
          <a:noFill/>
          <a:ln w="4903">
            <a:solidFill>
              <a:srgbClr val="D9D7D2"/>
            </a:solidFill>
            <a:prstDash val="solid"/>
          </a:ln>
        </p:spPr>
      </p:sp>
      <p:graphicFrame>
        <p:nvGraphicFramePr>
          <p:cNvPr id="5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5763" y="824843"/>
          <a:ext cx="8372475" cy="914400"/>
        </p:xfrm>
        <a:graphic>
          <a:graphicData uri="http://schemas.openxmlformats.org/drawingml/2006/table">
            <a:tbl>
              <a:tblPr/>
              <a:tblGrid>
                <a:gridCol w="837233"/>
                <a:gridCol w="1004664"/>
                <a:gridCol w="2930352"/>
                <a:gridCol w="360022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40"/>
                        </a:lnSpc>
                        <a:buNone/>
                      </a:pPr>
                      <a:r>
                        <a:rPr lang="en-US" sz="579" b="1" spc="12" kern="0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角色</a:t>
                      </a:r>
                      <a:endParaRPr lang="en-US" sz="579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83355" marR="83355" marT="63742" marB="6374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806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40"/>
                        </a:lnSpc>
                        <a:buNone/>
                      </a:pPr>
                      <a:r>
                        <a:rPr lang="en-US" sz="579" b="1" spc="12" kern="0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由谁提供</a:t>
                      </a:r>
                      <a:endParaRPr lang="en-US" sz="579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83355" marR="83355" marT="63742" marB="6374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806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40"/>
                        </a:lnSpc>
                        <a:buNone/>
                      </a:pPr>
                      <a:r>
                        <a:rPr lang="en-US" sz="579" b="1" spc="12" kern="0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在对话中的作用</a:t>
                      </a:r>
                      <a:endParaRPr lang="en-US" sz="579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83355" marR="83355" marT="63742" marB="6374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806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40"/>
                        </a:lnSpc>
                        <a:buNone/>
                      </a:pPr>
                      <a:r>
                        <a:rPr lang="en-US" sz="579" b="1" spc="12" kern="0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典型用法</a:t>
                      </a:r>
                      <a:endParaRPr lang="en-US" sz="579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83355" marR="83355" marT="63742" marB="6374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806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40"/>
                        </a:lnSpc>
                        <a:buNone/>
                      </a:pPr>
                      <a:r>
                        <a:rPr lang="en-US" sz="579" b="1" dirty="0">
                          <a:solidFill>
                            <a:srgbClr val="9C424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system</a:t>
                      </a:r>
                      <a:endParaRPr lang="en-US" sz="579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83355" marR="83355" marT="53936" marB="5393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57"/>
                        </a:lnSpc>
                        <a:buNone/>
                      </a:pPr>
                      <a:r>
                        <a:rPr lang="en-US" sz="811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开发者（代码中硬编码或配置读取）</a:t>
                      </a:r>
                      <a:endParaRPr lang="en-US" sz="811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83355" marR="83355" marT="53936" marB="5393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57"/>
                        </a:lnSpc>
                        <a:buNone/>
                      </a:pPr>
                      <a:r>
                        <a:rPr lang="en-US" sz="811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设定模型的全局行为规范、角色身份、输出格式约束、安全边界和知识范围。系统消息不触发模型直接回复——它只在模型生成每个后续 token 时作为隐式条件参与计算。</a:t>
                      </a:r>
                      <a:endParaRPr lang="en-US" sz="811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83355" marR="83355" marT="53936" marB="5393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57"/>
                        </a:lnSpc>
                        <a:buNone/>
                      </a:pPr>
                      <a:r>
                        <a:rPr lang="en-US" sz="811" dirty="0">
                          <a:solidFill>
                            <a:srgbClr val="625D56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"你是一个严谨的学术助教，回答必须基于教材和论文，不确定时请明确说'不确定'。"</a:t>
                      </a:r>
                      <a:endParaRPr lang="en-US" sz="811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83355" marR="83355" marT="53936" marB="5393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40"/>
                        </a:lnSpc>
                        <a:buNone/>
                      </a:pPr>
                      <a:r>
                        <a:rPr lang="en-US" sz="579" b="1" dirty="0">
                          <a:solidFill>
                            <a:srgbClr val="9C424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user</a:t>
                      </a:r>
                      <a:endParaRPr lang="en-US" sz="579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83355" marR="83355" marT="53936" marB="5393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57"/>
                        </a:lnSpc>
                        <a:buNone/>
                      </a:pPr>
                      <a:r>
                        <a:rPr lang="en-US" sz="811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最终用户或开发者模拟</a:t>
                      </a:r>
                      <a:endParaRPr lang="en-US" sz="811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83355" marR="83355" marT="53936" marB="5393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57"/>
                        </a:lnSpc>
                        <a:buNone/>
                      </a:pPr>
                      <a:r>
                        <a:rPr lang="en-US" sz="811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代表人类一侧的提问、指令或反馈。一条请求中可包含多条 user 消息。在多轮场景中，user 消息与 assistant 消息交替出现，构成对话主干。</a:t>
                      </a:r>
                      <a:endParaRPr lang="en-US" sz="811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83355" marR="83355" marT="53936" marB="5393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57"/>
                        </a:lnSpc>
                        <a:buNone/>
                      </a:pPr>
                      <a:r>
                        <a:rPr lang="en-US" sz="811" dirty="0">
                          <a:solidFill>
                            <a:srgbClr val="625D56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"Transformer 中的残差连接为什么能缓解梯度消失？"</a:t>
                      </a:r>
                      <a:endParaRPr lang="en-US" sz="811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83355" marR="83355" marT="53936" marB="5393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40"/>
                        </a:lnSpc>
                        <a:buNone/>
                      </a:pPr>
                      <a:r>
                        <a:rPr lang="en-US" sz="579" b="1" dirty="0">
                          <a:solidFill>
                            <a:srgbClr val="9C424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assistant</a:t>
                      </a:r>
                      <a:endParaRPr lang="en-US" sz="579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83355" marR="83355" marT="53936" marB="5393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57"/>
                        </a:lnSpc>
                        <a:buNone/>
                      </a:pPr>
                      <a:r>
                        <a:rPr lang="en-US" sz="811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模型生成（历史回复），也可由开发者预填</a:t>
                      </a:r>
                      <a:endParaRPr lang="en-US" sz="811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83355" marR="83355" marT="53936" marB="5393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57"/>
                        </a:lnSpc>
                        <a:buNone/>
                      </a:pPr>
                      <a:r>
                        <a:rPr lang="en-US" sz="811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代表模型一侧的历史回复。将之前的 assistant 消息放入请求可以让模型知道上下文。开发者也可预填开头来强制模型按特定格式续写（如强制输出 JSON）。</a:t>
                      </a:r>
                      <a:endParaRPr lang="en-US" sz="811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83355" marR="83355" marT="53936" marB="5393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57"/>
                        </a:lnSpc>
                        <a:buNone/>
                      </a:pPr>
                      <a:r>
                        <a:rPr lang="en-US" sz="811" dirty="0">
                          <a:solidFill>
                            <a:srgbClr val="625D56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预填技巧：</a:t>
                      </a:r>
                      <a:endParaRPr lang="en-US" sz="811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  <a:p>
                      <a:pPr algn="l" indent="0" marL="0">
                        <a:lnSpc>
                          <a:spcPts val="1257"/>
                        </a:lnSpc>
                        <a:buNone/>
                      </a:pPr>
                      <a:r>
                        <a:rPr lang="en-US" sz="656" dirty="0">
                          <a:solidFill>
                            <a:srgbClr val="625D5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{"role":"assistant", "content":"{"reasoning":"</a:t>
                      </a:r>
                      <a:r>
                        <a:rPr lang="en-US" sz="811" dirty="0">
                          <a:solidFill>
                            <a:srgbClr val="625D56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→ 模型会续写 JSON 剩余部分</a:t>
                      </a:r>
                      <a:endParaRPr lang="en-US" sz="811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83355" marR="83355" marT="53936" marB="5393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id="9" name="Picture 20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000" y="2880680"/>
            <a:ext cx="8382000" cy="405259"/>
          </a:xfrm>
          <a:prstGeom prst="rect">
            <a:avLst/>
          </a:prstGeom>
        </p:spPr>
      </p:pic>
      <p:sp>
        <p:nvSpPr>
          <p:cNvPr id="10" name="TextBox 20"/>
          <p:cNvSpPr/>
          <p:nvPr/>
        </p:nvSpPr>
        <p:spPr>
          <a:xfrm>
            <a:off x="381000" y="2880680"/>
            <a:ext cx="8382000" cy="405259"/>
          </a:xfrm>
          <a:prstGeom prst="rect">
            <a:avLst/>
          </a:prstGeom>
          <a:noFill/>
          <a:ln/>
        </p:spPr>
        <p:txBody>
          <a:bodyPr wrap="square" lIns="98065" tIns="49032" rIns="0" bIns="49032" rtlCol="0" anchor="t">
            <a:spAutoFit/>
          </a:bodyPr>
          <a:lstStyle/>
          <a:p>
            <a:pPr algn="l" indent="0" marL="0">
              <a:lnSpc>
                <a:spcPts val="1257"/>
              </a:lnSpc>
              <a:buNone/>
            </a:pPr>
            <a:r>
              <a:rPr lang="en-US" sz="811" b="1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关键理解：</a:t>
            </a:r>
            <a:r>
              <a:rPr lang="en-US" sz="811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三种角色的分工不对称——system 是背景设定（持续生效但不被回复）；user 和 assistant 构成对话主干（交替出现）；开发者的控制力从 system → user → assistant 依次递减。</a:t>
            </a:r>
            <a:endParaRPr lang="en-US" sz="811" dirty="0"/>
          </a:p>
        </p:txBody>
      </p:sp>
      <p:sp>
        <p:nvSpPr>
          <p:cNvPr id="11" name="TextBox 23"/>
          <p:cNvSpPr/>
          <p:nvPr/>
        </p:nvSpPr>
        <p:spPr>
          <a:xfrm>
            <a:off x="8805453" y="4898231"/>
            <a:ext cx="71847" cy="928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53"/>
              </a:lnSpc>
              <a:buNone/>
            </a:pPr>
            <a:r>
              <a:rPr lang="en-US" sz="502" spc="40" kern="0" dirty="0">
                <a:solidFill>
                  <a:srgbClr val="625D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502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/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/>
        </p:spPr>
      </p:sp>
      <p:sp>
        <p:nvSpPr>
          <p:cNvPr id="4" name="TextBox 8"/>
          <p:cNvSpPr/>
          <p:nvPr/>
        </p:nvSpPr>
        <p:spPr>
          <a:xfrm>
            <a:off x="381000" y="266700"/>
            <a:ext cx="760102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11"/>
              </a:lnSpc>
              <a:buNone/>
            </a:pPr>
            <a:r>
              <a:rPr lang="en-US" sz="541" spc="54" kern="0" dirty="0">
                <a:solidFill>
                  <a:srgbClr val="9C424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1 · 请求与响应</a:t>
            </a:r>
            <a:endParaRPr lang="en-US" sz="541" dirty="0"/>
          </a:p>
        </p:txBody>
      </p:sp>
      <p:sp>
        <p:nvSpPr>
          <p:cNvPr id="5" name="Shape 10"/>
          <p:cNvSpPr/>
          <p:nvPr/>
        </p:nvSpPr>
        <p:spPr>
          <a:xfrm>
            <a:off x="1188727" y="309563"/>
            <a:ext cx="228600" cy="14287"/>
          </a:xfrm>
          <a:prstGeom prst="rect">
            <a:avLst/>
          </a:prstGeom>
          <a:solidFill>
            <a:srgbClr val="9C4246"/>
          </a:solidFill>
          <a:ln/>
        </p:spPr>
      </p:sp>
      <p:sp>
        <p:nvSpPr>
          <p:cNvPr id="6" name="TextBox 13"/>
          <p:cNvSpPr/>
          <p:nvPr/>
        </p:nvSpPr>
        <p:spPr>
          <a:xfrm>
            <a:off x="381000" y="461963"/>
            <a:ext cx="8382000" cy="224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22"/>
              </a:lnSpc>
              <a:buNone/>
            </a:pPr>
            <a:r>
              <a:rPr lang="en-US" sz="1544" b="1" spc="-23" kern="0" dirty="0">
                <a:solidFill>
                  <a:srgbClr val="1B150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一次 API 调用的响应体长什么样？</a:t>
            </a:r>
            <a:endParaRPr lang="en-US" sz="1544" dirty="0"/>
          </a:p>
        </p:txBody>
      </p:sp>
      <p:sp>
        <p:nvSpPr>
          <p:cNvPr id="7" name="Shape 17"/>
          <p:cNvSpPr/>
          <p:nvPr/>
        </p:nvSpPr>
        <p:spPr>
          <a:xfrm>
            <a:off x="381000" y="781980"/>
            <a:ext cx="4105275" cy="4094820"/>
          </a:xfrm>
          <a:prstGeom prst="roundRect">
            <a:avLst>
              <a:gd name="adj" fmla="val 718"/>
            </a:avLst>
          </a:prstGeom>
          <a:solidFill>
            <a:srgbClr val="F3F2ED"/>
          </a:solidFill>
          <a:ln w="4903">
            <a:solidFill>
              <a:srgbClr val="D9D7D2"/>
            </a:solidFill>
            <a:prstDash val="solid"/>
          </a:ln>
        </p:spPr>
      </p:sp>
      <p:sp>
        <p:nvSpPr>
          <p:cNvPr id="8" name="TextBox 19"/>
          <p:cNvSpPr/>
          <p:nvPr/>
        </p:nvSpPr>
        <p:spPr>
          <a:xfrm>
            <a:off x="500063" y="881993"/>
            <a:ext cx="3867150" cy="21436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"id": "chatcmpl-9xK3mNpQrRt7YvW2sDf8AaBc",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"object": "chat.completion",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"created": 1720080000,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"model": "gpt-4o-2024-05-13",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"system_fingerprint": "fp_abc123def456",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"choices": [{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"index": 0,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"message": {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"role": "assistant",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"content": "自注意力机制的计算可以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分解为以下步骤：\n\n1. 对输入序列中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的每个 token，通过三个可学习的权重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矩阵分别生成 Query、Key 和 Value……"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},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"finish_reason": "stop"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}],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"usage": {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"prompt_tokens": 142,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"completion_tokens": 318,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"total_tokens": 460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}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521" dirty="0"/>
          </a:p>
        </p:txBody>
      </p:sp>
      <p:sp>
        <p:nvSpPr>
          <p:cNvPr id="9" name="TextBox 26"/>
          <p:cNvSpPr/>
          <p:nvPr/>
        </p:nvSpPr>
        <p:spPr>
          <a:xfrm>
            <a:off x="4657725" y="781980"/>
            <a:ext cx="410527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2"/>
              </a:lnSpc>
              <a:buNone/>
            </a:pPr>
            <a:r>
              <a:rPr lang="en-US" sz="695" b="1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choices[0].message</a:t>
            </a:r>
            <a:endParaRPr lang="en-US" sz="695" dirty="0"/>
          </a:p>
        </p:txBody>
      </p:sp>
      <p:sp>
        <p:nvSpPr>
          <p:cNvPr id="10" name="TextBox 28"/>
          <p:cNvSpPr/>
          <p:nvPr/>
        </p:nvSpPr>
        <p:spPr>
          <a:xfrm>
            <a:off x="4657725" y="910568"/>
            <a:ext cx="4105275" cy="128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2"/>
              </a:lnSpc>
              <a:buNone/>
            </a:pPr>
            <a:r>
              <a:rPr lang="en-US" sz="695" dirty="0">
                <a:solidFill>
                  <a:srgbClr val="625D5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模型的回复。role 固定为 "assistant"，content 包含完整的生成文本。</a:t>
            </a:r>
            <a:endParaRPr lang="en-US" sz="695" dirty="0"/>
          </a:p>
        </p:txBody>
      </p:sp>
      <p:sp>
        <p:nvSpPr>
          <p:cNvPr id="11" name="TextBox 33"/>
          <p:cNvSpPr/>
          <p:nvPr/>
        </p:nvSpPr>
        <p:spPr>
          <a:xfrm>
            <a:off x="4657725" y="1039155"/>
            <a:ext cx="410527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2"/>
              </a:lnSpc>
              <a:buNone/>
            </a:pPr>
            <a:r>
              <a:rPr lang="en-US" sz="695" b="1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finish_reason</a:t>
            </a:r>
            <a:endParaRPr lang="en-US" sz="695" dirty="0"/>
          </a:p>
        </p:txBody>
      </p:sp>
      <p:sp>
        <p:nvSpPr>
          <p:cNvPr id="12" name="TextBox 35"/>
          <p:cNvSpPr/>
          <p:nvPr/>
        </p:nvSpPr>
        <p:spPr>
          <a:xfrm>
            <a:off x="4657725" y="1167743"/>
            <a:ext cx="41052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2"/>
              </a:lnSpc>
              <a:buNone/>
            </a:pPr>
            <a:r>
              <a:rPr lang="en-US" sz="579" dirty="0">
                <a:solidFill>
                  <a:srgbClr val="625D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"stop"</a:t>
            </a:r>
            <a:r>
              <a:rPr lang="en-US" sz="695" dirty="0">
                <a:solidFill>
                  <a:srgbClr val="625D5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（正常结束）/ </a:t>
            </a:r>
            <a:r>
              <a:rPr lang="en-US" sz="579" dirty="0">
                <a:solidFill>
                  <a:srgbClr val="625D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"length"</a:t>
            </a:r>
            <a:r>
              <a:rPr lang="en-US" sz="695" dirty="0">
                <a:solidFill>
                  <a:srgbClr val="625D5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（达到 max_tokens 截断，回答可能不完整）/ </a:t>
            </a:r>
            <a:r>
              <a:rPr lang="en-US" sz="579" dirty="0">
                <a:solidFill>
                  <a:srgbClr val="625D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"content_filter"</a:t>
            </a:r>
            <a:r>
              <a:rPr lang="en-US" sz="695" dirty="0">
                <a:solidFill>
                  <a:srgbClr val="625D5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（安全过滤拦截）/ </a:t>
            </a:r>
            <a:r>
              <a:rPr lang="en-US" sz="579" dirty="0">
                <a:solidFill>
                  <a:srgbClr val="625D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"tool_calls"</a:t>
            </a:r>
            <a:r>
              <a:rPr lang="en-US" sz="695" dirty="0">
                <a:solidFill>
                  <a:srgbClr val="625D5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（模型决定调用函数）。开发者必须根据 finish_reason 判断是否需要重试或调整参数。</a:t>
            </a:r>
            <a:endParaRPr lang="en-US" sz="579" dirty="0"/>
          </a:p>
        </p:txBody>
      </p:sp>
      <p:sp>
        <p:nvSpPr>
          <p:cNvPr id="13" name="TextBox 40"/>
          <p:cNvSpPr/>
          <p:nvPr/>
        </p:nvSpPr>
        <p:spPr>
          <a:xfrm>
            <a:off x="4657725" y="1424918"/>
            <a:ext cx="410527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95" b="1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usage </a:t>
            </a:r>
            <a:r>
              <a:rPr lang="en-US" sz="579" b="1" dirty="0">
                <a:solidFill>
                  <a:srgbClr val="625D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（token 用量统计）</a:t>
            </a:r>
            <a:endParaRPr lang="en-US" sz="695" dirty="0"/>
          </a:p>
        </p:txBody>
      </p:sp>
      <p:sp>
        <p:nvSpPr>
          <p:cNvPr id="14" name="TextBox 42"/>
          <p:cNvSpPr/>
          <p:nvPr/>
        </p:nvSpPr>
        <p:spPr>
          <a:xfrm>
            <a:off x="4657725" y="1553505"/>
            <a:ext cx="41052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2"/>
              </a:lnSpc>
              <a:buNone/>
            </a:pPr>
            <a:r>
              <a:rPr lang="en-US" sz="695" dirty="0">
                <a:solidFill>
                  <a:srgbClr val="625D5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prompt_tokens（输入 token 数）、completion_tokens（输出 token 数）、total_tokens（合计）。这是计费依据，也是开发者控制成本的关键指标。</a:t>
            </a:r>
            <a:endParaRPr lang="en-US" sz="695" dirty="0"/>
          </a:p>
        </p:txBody>
      </p:sp>
      <p:sp>
        <p:nvSpPr>
          <p:cNvPr id="15" name="TextBox 47"/>
          <p:cNvSpPr/>
          <p:nvPr/>
        </p:nvSpPr>
        <p:spPr>
          <a:xfrm>
            <a:off x="4657725" y="1810680"/>
            <a:ext cx="4105275" cy="128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2"/>
              </a:lnSpc>
              <a:buNone/>
            </a:pPr>
            <a:r>
              <a:rPr lang="en-US" sz="695" b="1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system_fingerprint</a:t>
            </a:r>
            <a:endParaRPr lang="en-US" sz="695" dirty="0"/>
          </a:p>
        </p:txBody>
      </p:sp>
      <p:sp>
        <p:nvSpPr>
          <p:cNvPr id="16" name="TextBox 49"/>
          <p:cNvSpPr/>
          <p:nvPr/>
        </p:nvSpPr>
        <p:spPr>
          <a:xfrm>
            <a:off x="4657725" y="1939268"/>
            <a:ext cx="41052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2"/>
              </a:lnSpc>
              <a:buNone/>
            </a:pPr>
            <a:r>
              <a:rPr lang="en-US" sz="695" dirty="0">
                <a:solidFill>
                  <a:srgbClr val="625D5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模型后端配置指纹。当服务商更新模型权重或推理配置时此值变化，开发者可据此判断模型行为是否可能变更。</a:t>
            </a:r>
            <a:endParaRPr lang="en-US" sz="695" dirty="0"/>
          </a:p>
        </p:txBody>
      </p:sp>
      <p:sp>
        <p:nvSpPr>
          <p:cNvPr id="17" name="TextBox 55"/>
          <p:cNvSpPr/>
          <p:nvPr/>
        </p:nvSpPr>
        <p:spPr>
          <a:xfrm>
            <a:off x="8805453" y="4898231"/>
            <a:ext cx="71847" cy="928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53"/>
              </a:lnSpc>
              <a:buNone/>
            </a:pPr>
            <a:r>
              <a:rPr lang="en-US" sz="502" spc="40" kern="0" dirty="0">
                <a:solidFill>
                  <a:srgbClr val="625D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502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/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/>
        </p:spPr>
      </p:sp>
      <p:sp>
        <p:nvSpPr>
          <p:cNvPr id="4" name="TextBox 8"/>
          <p:cNvSpPr/>
          <p:nvPr/>
        </p:nvSpPr>
        <p:spPr>
          <a:xfrm>
            <a:off x="428625" y="342900"/>
            <a:ext cx="980145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11"/>
              </a:lnSpc>
              <a:buNone/>
            </a:pPr>
            <a:r>
              <a:rPr lang="en-US" sz="541" spc="54" kern="0" dirty="0">
                <a:solidFill>
                  <a:srgbClr val="9C424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2 · 无状态与多轮对话</a:t>
            </a:r>
            <a:endParaRPr lang="en-US" sz="541" dirty="0"/>
          </a:p>
        </p:txBody>
      </p:sp>
      <p:sp>
        <p:nvSpPr>
          <p:cNvPr id="5" name="Shape 10"/>
          <p:cNvSpPr/>
          <p:nvPr/>
        </p:nvSpPr>
        <p:spPr>
          <a:xfrm>
            <a:off x="1456395" y="385763"/>
            <a:ext cx="228600" cy="14287"/>
          </a:xfrm>
          <a:prstGeom prst="rect">
            <a:avLst/>
          </a:prstGeom>
          <a:solidFill>
            <a:srgbClr val="9C4246"/>
          </a:solidFill>
          <a:ln/>
        </p:spPr>
      </p:sp>
      <p:sp>
        <p:nvSpPr>
          <p:cNvPr id="6" name="TextBox 13"/>
          <p:cNvSpPr/>
          <p:nvPr/>
        </p:nvSpPr>
        <p:spPr>
          <a:xfrm>
            <a:off x="428625" y="576263"/>
            <a:ext cx="8286750" cy="224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22"/>
              </a:lnSpc>
              <a:buNone/>
            </a:pPr>
            <a:r>
              <a:rPr lang="en-US" sz="1544" b="1" spc="-23" kern="0" dirty="0">
                <a:solidFill>
                  <a:srgbClr val="1B150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为什么说 LLM API 是"无状态"的？</a:t>
            </a:r>
            <a:endParaRPr lang="en-US" sz="1544" dirty="0"/>
          </a:p>
        </p:txBody>
      </p:sp>
      <p:sp>
        <p:nvSpPr>
          <p:cNvPr id="7" name="TextBox 15"/>
          <p:cNvSpPr/>
          <p:nvPr/>
        </p:nvSpPr>
        <p:spPr>
          <a:xfrm>
            <a:off x="428625" y="934380"/>
            <a:ext cx="7143749" cy="310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57"/>
              </a:lnSpc>
              <a:buNone/>
            </a:pPr>
            <a:r>
              <a:rPr lang="en-US" sz="811" b="1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无状态（Stateless）的精确含义：</a:t>
            </a:r>
            <a:r>
              <a:rPr lang="en-US" sz="811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每次 API 调用都是一个完全独立的计算。服务端</a:t>
            </a:r>
            <a:r>
              <a:rPr lang="en-US" sz="811" b="1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不维护</a:t>
            </a:r>
            <a:r>
              <a:rPr lang="en-US" sz="811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任何与特定用户或对话关联的持久状态——不保存对话历史、不维护 session、不记录你上一轮问了什么。每次调用就像给一位记忆力只有"一条消息"的专家递一张新纸条——你必须把之前所有的往来记录重新抄上去。</a:t>
            </a:r>
            <a:endParaRPr lang="en-US" sz="811" dirty="0"/>
          </a:p>
        </p:txBody>
      </p:sp>
      <p:sp>
        <p:nvSpPr>
          <p:cNvPr id="8" name="Shape 17"/>
          <p:cNvSpPr/>
          <p:nvPr/>
        </p:nvSpPr>
        <p:spPr>
          <a:xfrm>
            <a:off x="428625" y="1377739"/>
            <a:ext cx="8286750" cy="1407244"/>
          </a:xfrm>
          <a:prstGeom prst="roundRect">
            <a:avLst>
              <a:gd name="adj" fmla="val 1394"/>
            </a:avLst>
          </a:prstGeom>
          <a:noFill/>
          <a:ln w="4903">
            <a:solidFill>
              <a:srgbClr val="D9D7D2"/>
            </a:solidFill>
            <a:prstDash val="solid"/>
          </a:ln>
        </p:spPr>
      </p:sp>
      <p:graphicFrame>
        <p:nvGraphicFramePr>
          <p:cNvPr id="7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3387" y="1382502"/>
          <a:ext cx="8277225" cy="914400"/>
        </p:xfrm>
        <a:graphic>
          <a:graphicData uri="http://schemas.openxmlformats.org/drawingml/2006/table">
            <a:tbl>
              <a:tblPr/>
              <a:tblGrid>
                <a:gridCol w="1324347"/>
                <a:gridCol w="695287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40"/>
                        </a:lnSpc>
                        <a:buNone/>
                      </a:pPr>
                      <a:r>
                        <a:rPr lang="en-US" sz="579" b="1" spc="12" kern="0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动机</a:t>
                      </a:r>
                      <a:endParaRPr lang="en-US" sz="579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83355" marR="83355" marT="63742" marB="6374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806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40"/>
                        </a:lnSpc>
                        <a:buNone/>
                      </a:pPr>
                      <a:r>
                        <a:rPr lang="en-US" sz="579" b="1" spc="12" kern="0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说明</a:t>
                      </a:r>
                      <a:endParaRPr lang="en-US" sz="579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83355" marR="83355" marT="63742" marB="6374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806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952"/>
                        </a:lnSpc>
                        <a:buNone/>
                      </a:pPr>
                      <a:r>
                        <a:rPr lang="en-US" sz="656" b="1" dirty="0">
                          <a:solidFill>
                            <a:srgbClr val="9C4246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水平扩展</a:t>
                      </a:r>
                      <a:endParaRPr lang="en-US" sz="656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83355" marR="83355" marT="53936" marB="5393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57"/>
                        </a:lnSpc>
                        <a:buNone/>
                      </a:pPr>
                      <a:r>
                        <a:rPr lang="en-US" sz="811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API 服务由成千上万个计算节点组成。如果每个节点都需要访问共享的对话状态存储，就必须把同一用户的连续请求路由到同一节点（sticky session），这在负载均衡层面开销巨大。无状态意味着任意请求可路由到任意节点，扩展性不受状态存储瓶颈限制。</a:t>
                      </a:r>
                      <a:endParaRPr lang="en-US" sz="811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83355" marR="83355" marT="53936" marB="5393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952"/>
                        </a:lnSpc>
                        <a:buNone/>
                      </a:pPr>
                      <a:r>
                        <a:rPr lang="en-US" sz="656" b="1" dirty="0">
                          <a:solidFill>
                            <a:srgbClr val="9C4246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故障恢复</a:t>
                      </a:r>
                      <a:endParaRPr lang="en-US" sz="656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83355" marR="83355" marT="53936" marB="5393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57"/>
                        </a:lnSpc>
                        <a:buNone/>
                      </a:pPr>
                      <a:r>
                        <a:rPr lang="en-US" sz="811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如果一个节点在生成过程中崩溃，无状态设计允许请求被简单重试到另一个节点——不需要恢复丢失的对话状态。</a:t>
                      </a:r>
                      <a:endParaRPr lang="en-US" sz="811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83355" marR="83355" marT="53936" marB="5393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952"/>
                        </a:lnSpc>
                        <a:buNone/>
                      </a:pPr>
                      <a:r>
                        <a:rPr lang="en-US" sz="656" b="1" dirty="0">
                          <a:solidFill>
                            <a:srgbClr val="9C4246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隐私与合规</a:t>
                      </a:r>
                      <a:endParaRPr lang="en-US" sz="656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83355" marR="83355" marT="53936" marB="5393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57"/>
                        </a:lnSpc>
                        <a:buNone/>
                      </a:pPr>
                      <a:r>
                        <a:rPr lang="en-US" sz="811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不在服务端存储用户对话历史，降低数据泄露风险面。用户数据只存在于传输过程和客户端本地。</a:t>
                      </a:r>
                      <a:endParaRPr lang="en-US" sz="811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83355" marR="83355" marT="53936" marB="5393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952"/>
                        </a:lnSpc>
                        <a:buNone/>
                      </a:pPr>
                      <a:r>
                        <a:rPr lang="en-US" sz="656" b="1" dirty="0">
                          <a:solidFill>
                            <a:srgbClr val="9C4246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计费清晰</a:t>
                      </a:r>
                      <a:endParaRPr lang="en-US" sz="656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83355" marR="83355" marT="53936" marB="5393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57"/>
                        </a:lnSpc>
                        <a:buNone/>
                      </a:pPr>
                      <a:r>
                        <a:rPr lang="en-US" sz="811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每次调用费用完全由当次请求中的 token 数决定，不存在"维护 session"的隐性成本。</a:t>
                      </a:r>
                      <a:endParaRPr lang="en-US" sz="811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83355" marR="83355" marT="53936" marB="5393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id="10" name="Picture 22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8625" y="2937383"/>
            <a:ext cx="8286750" cy="405259"/>
          </a:xfrm>
          <a:prstGeom prst="rect">
            <a:avLst/>
          </a:prstGeom>
        </p:spPr>
      </p:pic>
      <p:sp>
        <p:nvSpPr>
          <p:cNvPr id="11" name="TextBox 22"/>
          <p:cNvSpPr/>
          <p:nvPr/>
        </p:nvSpPr>
        <p:spPr>
          <a:xfrm>
            <a:off x="428625" y="2937383"/>
            <a:ext cx="8286750" cy="405259"/>
          </a:xfrm>
          <a:prstGeom prst="rect">
            <a:avLst/>
          </a:prstGeom>
          <a:noFill/>
          <a:ln/>
        </p:spPr>
        <p:txBody>
          <a:bodyPr wrap="square" lIns="98065" tIns="49032" rIns="0" bIns="49032" rtlCol="0" anchor="t">
            <a:spAutoFit/>
          </a:bodyPr>
          <a:lstStyle/>
          <a:p>
            <a:pPr algn="l" indent="0" marL="0">
              <a:lnSpc>
                <a:spcPts val="1257"/>
              </a:lnSpc>
              <a:buNone/>
            </a:pPr>
            <a:r>
              <a:rPr lang="en-US" sz="811" b="1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核心推论：</a:t>
            </a:r>
            <a:r>
              <a:rPr lang="en-US" sz="811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无状态是服务端的特性，但端到端的对话系统需要状态——这意味着"记住对话"的责任完全落到了</a:t>
            </a:r>
            <a:r>
              <a:rPr lang="en-US" sz="811" b="1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客户端</a:t>
            </a:r>
            <a:r>
              <a:rPr lang="en-US" sz="811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。开发者必须在自己的代码中维护完整的 messages 数组，并在每次新请求时将整个数组发送给 API。</a:t>
            </a:r>
            <a:endParaRPr lang="en-US" sz="811" dirty="0"/>
          </a:p>
        </p:txBody>
      </p:sp>
      <p:sp>
        <p:nvSpPr>
          <p:cNvPr id="12" name="TextBox 25"/>
          <p:cNvSpPr/>
          <p:nvPr/>
        </p:nvSpPr>
        <p:spPr>
          <a:xfrm>
            <a:off x="8805453" y="4898231"/>
            <a:ext cx="71847" cy="928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53"/>
              </a:lnSpc>
              <a:buNone/>
            </a:pPr>
            <a:r>
              <a:rPr lang="en-US" sz="502" spc="40" kern="0" dirty="0">
                <a:solidFill>
                  <a:srgbClr val="625D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502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/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/>
        </p:spPr>
      </p:sp>
      <p:sp>
        <p:nvSpPr>
          <p:cNvPr id="4" name="TextBox 8"/>
          <p:cNvSpPr/>
          <p:nvPr/>
        </p:nvSpPr>
        <p:spPr>
          <a:xfrm>
            <a:off x="381000" y="266700"/>
            <a:ext cx="980145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11"/>
              </a:lnSpc>
              <a:buNone/>
            </a:pPr>
            <a:r>
              <a:rPr lang="en-US" sz="541" spc="54" kern="0" dirty="0">
                <a:solidFill>
                  <a:srgbClr val="9C424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2 · 无状态与多轮对话</a:t>
            </a:r>
            <a:endParaRPr lang="en-US" sz="541" dirty="0"/>
          </a:p>
        </p:txBody>
      </p:sp>
      <p:sp>
        <p:nvSpPr>
          <p:cNvPr id="5" name="Shape 10"/>
          <p:cNvSpPr/>
          <p:nvPr/>
        </p:nvSpPr>
        <p:spPr>
          <a:xfrm>
            <a:off x="1408770" y="309563"/>
            <a:ext cx="228600" cy="14287"/>
          </a:xfrm>
          <a:prstGeom prst="rect">
            <a:avLst/>
          </a:prstGeom>
          <a:solidFill>
            <a:srgbClr val="9C4246"/>
          </a:solidFill>
          <a:ln/>
        </p:spPr>
      </p:sp>
      <p:sp>
        <p:nvSpPr>
          <p:cNvPr id="6" name="TextBox 13"/>
          <p:cNvSpPr/>
          <p:nvPr/>
        </p:nvSpPr>
        <p:spPr>
          <a:xfrm>
            <a:off x="381000" y="461963"/>
            <a:ext cx="8382000" cy="224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22"/>
              </a:lnSpc>
              <a:buNone/>
            </a:pPr>
            <a:r>
              <a:rPr lang="en-US" sz="1544" b="1" spc="-23" kern="0" dirty="0">
                <a:solidFill>
                  <a:srgbClr val="1B150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多轮对话的实现：客户端充当"外部存储器"</a:t>
            </a:r>
            <a:endParaRPr lang="en-US" sz="1544" dirty="0"/>
          </a:p>
        </p:txBody>
      </p:sp>
      <p:sp>
        <p:nvSpPr>
          <p:cNvPr id="7" name="TextBox 15"/>
          <p:cNvSpPr/>
          <p:nvPr/>
        </p:nvSpPr>
        <p:spPr>
          <a:xfrm>
            <a:off x="381000" y="781980"/>
            <a:ext cx="714375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2"/>
              </a:lnSpc>
              <a:buNone/>
            </a:pPr>
            <a:r>
              <a:rPr lang="en-US" sz="695" dirty="0">
                <a:solidFill>
                  <a:srgbClr val="625D5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核心思路：客户端维护完整的 messages 数组，每次请求时将完整对话历史拼接进去。以下以两轮对话为例，展示消息数组的拼接变化：</a:t>
            </a:r>
            <a:endParaRPr lang="en-US" sz="695" dirty="0"/>
          </a:p>
        </p:txBody>
      </p:sp>
      <p:sp>
        <p:nvSpPr>
          <p:cNvPr id="8" name="Shape 19"/>
          <p:cNvSpPr/>
          <p:nvPr/>
        </p:nvSpPr>
        <p:spPr>
          <a:xfrm>
            <a:off x="381000" y="1005818"/>
            <a:ext cx="4105275" cy="3147082"/>
          </a:xfrm>
          <a:prstGeom prst="roundRect">
            <a:avLst>
              <a:gd name="adj" fmla="val 935"/>
            </a:avLst>
          </a:prstGeom>
          <a:solidFill>
            <a:srgbClr val="F3F2ED"/>
          </a:solidFill>
          <a:ln w="4903">
            <a:solidFill>
              <a:srgbClr val="D9D7D2"/>
            </a:solidFill>
            <a:prstDash val="solid"/>
          </a:ln>
        </p:spPr>
      </p:sp>
      <p:sp>
        <p:nvSpPr>
          <p:cNvPr id="9" name="TextBox 21"/>
          <p:cNvSpPr/>
          <p:nvPr/>
        </p:nvSpPr>
        <p:spPr>
          <a:xfrm>
            <a:off x="500063" y="1105830"/>
            <a:ext cx="3867150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79" dirty="0">
                <a:solidFill>
                  <a:srgbClr val="9C424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第 1 轮请求（用户首次提问）</a:t>
            </a:r>
            <a:endParaRPr lang="en-US" sz="579" dirty="0"/>
          </a:p>
        </p:txBody>
      </p:sp>
      <p:sp>
        <p:nvSpPr>
          <p:cNvPr id="10" name="TextBox 23"/>
          <p:cNvSpPr/>
          <p:nvPr/>
        </p:nvSpPr>
        <p:spPr>
          <a:xfrm>
            <a:off x="500063" y="1266565"/>
            <a:ext cx="3867150" cy="1035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messages = [</a:t>
            </a:r>
            <a:endParaRPr lang="en-US" sz="560" dirty="0"/>
          </a:p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{ role: "system",</a:t>
            </a:r>
            <a:endParaRPr lang="en-US" sz="560" dirty="0"/>
          </a:p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content: "你是数学老师，用中文教学。" },</a:t>
            </a:r>
            <a:endParaRPr lang="en-US" sz="560" dirty="0"/>
          </a:p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{ role: "user",</a:t>
            </a:r>
            <a:endParaRPr lang="en-US" sz="560" dirty="0"/>
          </a:p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content: "什么是傅里叶变换？" }</a:t>
            </a:r>
            <a:endParaRPr lang="en-US" sz="560" dirty="0"/>
          </a:p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]</a:t>
            </a:r>
            <a:endParaRPr lang="en-US" sz="560" dirty="0"/>
          </a:p>
          <a:p>
            <a:pPr algn="l" indent="0" marL="0">
              <a:lnSpc>
                <a:spcPts val="840"/>
              </a:lnSpc>
              <a:buNone/>
            </a:pPr>
            <a:endParaRPr lang="en-US" sz="560" dirty="0"/>
          </a:p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模型回复：</a:t>
            </a:r>
            <a:endParaRPr lang="en-US" sz="560" dirty="0"/>
          </a:p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"傅里叶变换是将时域信号分解为</a:t>
            </a:r>
            <a:endParaRPr lang="en-US" sz="560" dirty="0"/>
          </a:p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频域分量的数学工具……"</a:t>
            </a:r>
            <a:endParaRPr lang="en-US" sz="560" dirty="0"/>
          </a:p>
        </p:txBody>
      </p:sp>
      <p:sp>
        <p:nvSpPr>
          <p:cNvPr id="11" name="Shape 26"/>
          <p:cNvSpPr/>
          <p:nvPr/>
        </p:nvSpPr>
        <p:spPr>
          <a:xfrm>
            <a:off x="4657725" y="1005818"/>
            <a:ext cx="4105275" cy="3147082"/>
          </a:xfrm>
          <a:prstGeom prst="roundRect">
            <a:avLst>
              <a:gd name="adj" fmla="val 935"/>
            </a:avLst>
          </a:prstGeom>
          <a:solidFill>
            <a:srgbClr val="F3F2ED"/>
          </a:solidFill>
          <a:ln w="4903">
            <a:solidFill>
              <a:srgbClr val="D9D7D2"/>
            </a:solidFill>
            <a:prstDash val="solid"/>
          </a:ln>
        </p:spPr>
      </p:sp>
      <p:sp>
        <p:nvSpPr>
          <p:cNvPr id="12" name="TextBox 28"/>
          <p:cNvSpPr/>
          <p:nvPr/>
        </p:nvSpPr>
        <p:spPr>
          <a:xfrm>
            <a:off x="4776787" y="1105830"/>
            <a:ext cx="3867150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79" dirty="0">
                <a:solidFill>
                  <a:srgbClr val="9C424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第 2 轮请求（用户追问）</a:t>
            </a:r>
            <a:endParaRPr lang="en-US" sz="579" dirty="0"/>
          </a:p>
        </p:txBody>
      </p:sp>
      <p:sp>
        <p:nvSpPr>
          <p:cNvPr id="13" name="TextBox 30"/>
          <p:cNvSpPr/>
          <p:nvPr/>
        </p:nvSpPr>
        <p:spPr>
          <a:xfrm>
            <a:off x="4776787" y="1266565"/>
            <a:ext cx="3867150" cy="155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messages = [</a:t>
            </a:r>
            <a:endParaRPr lang="en-US" sz="560" dirty="0"/>
          </a:p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{ role: "system",</a:t>
            </a:r>
            <a:endParaRPr lang="en-US" sz="560" dirty="0"/>
          </a:p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content: "你是数学老师，用中文教学。" },</a:t>
            </a:r>
            <a:endParaRPr lang="en-US" sz="560" dirty="0"/>
          </a:p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{ role: "user",</a:t>
            </a:r>
            <a:endParaRPr lang="en-US" sz="560" dirty="0"/>
          </a:p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content: "什么是傅里叶变换？" },</a:t>
            </a:r>
            <a:endParaRPr lang="en-US" sz="560" dirty="0"/>
          </a:p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{ role: "assistant",              ← 关键！</a:t>
            </a:r>
            <a:endParaRPr lang="en-US" sz="560" dirty="0"/>
          </a:p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content: "傅里叶变换是将时域……" },</a:t>
            </a:r>
            <a:endParaRPr lang="en-US" sz="560" dirty="0"/>
          </a:p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{ role: "user",</a:t>
            </a:r>
            <a:endParaRPr lang="en-US" sz="560" dirty="0"/>
          </a:p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content: "离散傅里叶变换和连续版本</a:t>
            </a:r>
            <a:endParaRPr lang="en-US" sz="560" dirty="0"/>
          </a:p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有什么区别？" }     ← 新问题</a:t>
            </a:r>
            <a:endParaRPr lang="en-US" sz="560" dirty="0"/>
          </a:p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]</a:t>
            </a:r>
            <a:endParaRPr lang="en-US" sz="560" dirty="0"/>
          </a:p>
          <a:p>
            <a:pPr algn="l" indent="0" marL="0">
              <a:lnSpc>
                <a:spcPts val="840"/>
              </a:lnSpc>
              <a:buNone/>
            </a:pPr>
            <a:endParaRPr lang="en-US" sz="560" dirty="0"/>
          </a:p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模型回复：</a:t>
            </a:r>
            <a:endParaRPr lang="en-US" sz="560" dirty="0"/>
          </a:p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"主要区别在于积分变求和，且频域</a:t>
            </a:r>
            <a:endParaRPr lang="en-US" sz="560" dirty="0"/>
          </a:p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也变为离散的……"</a:t>
            </a:r>
            <a:endParaRPr lang="en-US" sz="560" dirty="0"/>
          </a:p>
        </p:txBody>
      </p:sp>
      <p:sp>
        <p:nvSpPr>
          <p:cNvPr id="14" name="TextBox 36"/>
          <p:cNvSpPr/>
          <p:nvPr/>
        </p:nvSpPr>
        <p:spPr>
          <a:xfrm>
            <a:off x="381000" y="4248150"/>
            <a:ext cx="83820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2"/>
              </a:lnSpc>
              <a:buNone/>
            </a:pPr>
            <a:r>
              <a:rPr lang="en-US" sz="695" b="1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实际开发中的三个工程挑战：</a:t>
            </a:r>
            <a:endParaRPr lang="en-US" sz="695" dirty="0"/>
          </a:p>
        </p:txBody>
      </p:sp>
      <p:sp>
        <p:nvSpPr>
          <p:cNvPr id="15" name="TextBox 38"/>
          <p:cNvSpPr/>
          <p:nvPr/>
        </p:nvSpPr>
        <p:spPr>
          <a:xfrm>
            <a:off x="381000" y="4414837"/>
            <a:ext cx="83820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2"/>
              </a:lnSpc>
              <a:buNone/>
            </a:pPr>
            <a:r>
              <a:rPr lang="en-US" sz="695" b="1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① 上下文窗口管理</a:t>
            </a:r>
            <a:r>
              <a:rPr lang="en-US" sz="695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— 每次请求 messages 持续增长，需用滑动窗口 / 摘要压缩 / 智能裁剪策略防止超窗。</a:t>
            </a:r>
            <a:endParaRPr lang="en-US" sz="695" dirty="0"/>
          </a:p>
        </p:txBody>
      </p:sp>
      <p:sp>
        <p:nvSpPr>
          <p:cNvPr id="16" name="TextBox 40"/>
          <p:cNvSpPr/>
          <p:nvPr/>
        </p:nvSpPr>
        <p:spPr>
          <a:xfrm>
            <a:off x="381000" y="4581525"/>
            <a:ext cx="83820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2"/>
              </a:lnSpc>
              <a:buNone/>
            </a:pPr>
            <a:r>
              <a:rPr lang="en-US" sz="695" b="1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② Token 成本线性增长</a:t>
            </a:r>
            <a:r>
              <a:rPr lang="en-US" sz="695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— 50 轮长对话的最后一轮，prompt token 成本可达第一轮的 50 倍，需设轮次上限或做取舍。</a:t>
            </a:r>
            <a:endParaRPr lang="en-US" sz="695" dirty="0"/>
          </a:p>
        </p:txBody>
      </p:sp>
      <p:sp>
        <p:nvSpPr>
          <p:cNvPr id="17" name="TextBox 42"/>
          <p:cNvSpPr/>
          <p:nvPr/>
        </p:nvSpPr>
        <p:spPr>
          <a:xfrm>
            <a:off x="381000" y="4748213"/>
            <a:ext cx="8382000" cy="128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2"/>
              </a:lnSpc>
              <a:buNone/>
            </a:pPr>
            <a:r>
              <a:rPr lang="en-US" sz="695" b="1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③ 框架封装</a:t>
            </a:r>
            <a:r>
              <a:rPr lang="en-US" sz="695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— 主流 SDK（OpenAI、LangChain、Vercel AI SDK）内置对话历史管理，开发者通常不需要手动拼接数组。</a:t>
            </a:r>
            <a:endParaRPr lang="en-US" sz="695" dirty="0"/>
          </a:p>
        </p:txBody>
      </p:sp>
      <p:sp>
        <p:nvSpPr>
          <p:cNvPr id="18" name="TextBox 46"/>
          <p:cNvSpPr/>
          <p:nvPr/>
        </p:nvSpPr>
        <p:spPr>
          <a:xfrm>
            <a:off x="8805453" y="4898231"/>
            <a:ext cx="71847" cy="928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53"/>
              </a:lnSpc>
              <a:buNone/>
            </a:pPr>
            <a:r>
              <a:rPr lang="en-US" sz="502" spc="40" kern="0" dirty="0">
                <a:solidFill>
                  <a:srgbClr val="625D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</a:t>
            </a:r>
            <a:endParaRPr lang="en-US" sz="502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/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/>
        </p:spPr>
      </p:sp>
      <p:sp>
        <p:nvSpPr>
          <p:cNvPr id="4" name="TextBox 8"/>
          <p:cNvSpPr/>
          <p:nvPr/>
        </p:nvSpPr>
        <p:spPr>
          <a:xfrm>
            <a:off x="381000" y="266700"/>
            <a:ext cx="686767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11"/>
              </a:lnSpc>
              <a:buNone/>
            </a:pPr>
            <a:r>
              <a:rPr lang="en-US" sz="541" spc="54" kern="0" dirty="0">
                <a:solidFill>
                  <a:srgbClr val="9C424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3 · 采样参数</a:t>
            </a:r>
            <a:endParaRPr lang="en-US" sz="541" dirty="0"/>
          </a:p>
        </p:txBody>
      </p:sp>
      <p:sp>
        <p:nvSpPr>
          <p:cNvPr id="5" name="Shape 10"/>
          <p:cNvSpPr/>
          <p:nvPr/>
        </p:nvSpPr>
        <p:spPr>
          <a:xfrm>
            <a:off x="1115392" y="309563"/>
            <a:ext cx="228600" cy="14287"/>
          </a:xfrm>
          <a:prstGeom prst="rect">
            <a:avLst/>
          </a:prstGeom>
          <a:solidFill>
            <a:srgbClr val="9C4246"/>
          </a:solidFill>
          <a:ln/>
        </p:spPr>
      </p:sp>
      <p:sp>
        <p:nvSpPr>
          <p:cNvPr id="6" name="TextBox 13"/>
          <p:cNvSpPr/>
          <p:nvPr/>
        </p:nvSpPr>
        <p:spPr>
          <a:xfrm>
            <a:off x="381000" y="366713"/>
            <a:ext cx="8382000" cy="224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22"/>
              </a:lnSpc>
              <a:buNone/>
            </a:pPr>
            <a:r>
              <a:rPr lang="en-US" sz="1544" b="1" spc="-23" kern="0" dirty="0">
                <a:solidFill>
                  <a:srgbClr val="1B150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temperature 参数：技术原理与行为表现</a:t>
            </a:r>
            <a:endParaRPr lang="en-US" sz="1544" dirty="0"/>
          </a:p>
        </p:txBody>
      </p:sp>
      <p:sp>
        <p:nvSpPr>
          <p:cNvPr id="7" name="TextBox 19"/>
          <p:cNvSpPr/>
          <p:nvPr/>
        </p:nvSpPr>
        <p:spPr>
          <a:xfrm>
            <a:off x="381000" y="591480"/>
            <a:ext cx="410527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2"/>
              </a:lnSpc>
              <a:buNone/>
            </a:pPr>
            <a:r>
              <a:rPr lang="en-US" sz="695" b="1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temperature 在采样流程中的位置：</a:t>
            </a:r>
            <a:endParaRPr lang="en-US" sz="695" dirty="0"/>
          </a:p>
        </p:txBody>
      </p:sp>
      <p:sp>
        <p:nvSpPr>
          <p:cNvPr id="8" name="Shape 21"/>
          <p:cNvSpPr/>
          <p:nvPr/>
        </p:nvSpPr>
        <p:spPr>
          <a:xfrm>
            <a:off x="381000" y="720068"/>
            <a:ext cx="4105275" cy="1235869"/>
          </a:xfrm>
          <a:prstGeom prst="roundRect">
            <a:avLst>
              <a:gd name="adj" fmla="val 2380"/>
            </a:avLst>
          </a:prstGeom>
          <a:solidFill>
            <a:srgbClr val="F3F2ED"/>
          </a:solidFill>
          <a:ln w="4903">
            <a:solidFill>
              <a:srgbClr val="D9D7D2"/>
            </a:solidFill>
            <a:prstDash val="solid"/>
          </a:ln>
        </p:spPr>
      </p:sp>
      <p:sp>
        <p:nvSpPr>
          <p:cNvPr id="9" name="TextBox 23"/>
          <p:cNvSpPr/>
          <p:nvPr/>
        </p:nvSpPr>
        <p:spPr>
          <a:xfrm>
            <a:off x="500063" y="820080"/>
            <a:ext cx="3867150" cy="1035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1: 计算 logits</a:t>
            </a:r>
            <a:endParaRPr lang="en-US" sz="560" dirty="0"/>
          </a:p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对词表中每个 token i，输出原始分数 z_i</a:t>
            </a:r>
            <a:endParaRPr lang="en-US" sz="560" dirty="0"/>
          </a:p>
          <a:p>
            <a:pPr algn="l" indent="0" marL="0">
              <a:lnSpc>
                <a:spcPts val="840"/>
              </a:lnSpc>
              <a:buNone/>
            </a:pPr>
            <a:endParaRPr lang="en-US" sz="560" dirty="0"/>
          </a:p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2: 温度缩放 (temperature scaling)</a:t>
            </a:r>
            <a:endParaRPr lang="en-US" sz="560" dirty="0"/>
          </a:p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z_i' = z_i / T    （T 就是 temperature）</a:t>
            </a:r>
            <a:endParaRPr lang="en-US" sz="560" dirty="0"/>
          </a:p>
          <a:p>
            <a:pPr algn="l" indent="0" marL="0">
              <a:lnSpc>
                <a:spcPts val="840"/>
              </a:lnSpc>
              <a:buNone/>
            </a:pPr>
            <a:endParaRPr lang="en-US" sz="560" dirty="0"/>
          </a:p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3: Softmax → 概率分布</a:t>
            </a:r>
            <a:endParaRPr lang="en-US" sz="560" dirty="0"/>
          </a:p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P(i) = exp(z_i') / Σ_j exp(z_j')</a:t>
            </a:r>
            <a:endParaRPr lang="en-US" sz="560" dirty="0"/>
          </a:p>
          <a:p>
            <a:pPr algn="l" indent="0" marL="0">
              <a:lnSpc>
                <a:spcPts val="840"/>
              </a:lnSpc>
              <a:buNone/>
            </a:pPr>
            <a:endParaRPr lang="en-US" sz="560" dirty="0"/>
          </a:p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4: 按概率采样 → 得到下一个 token</a:t>
            </a:r>
            <a:endParaRPr lang="en-US" sz="560" dirty="0"/>
          </a:p>
        </p:txBody>
      </p:sp>
      <p:pic>
        <p:nvPicPr>
          <p:cNvPr id="10" name="Picture 26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000" y="1974986"/>
            <a:ext cx="4105275" cy="481012"/>
          </a:xfrm>
          <a:prstGeom prst="rect">
            <a:avLst/>
          </a:prstGeom>
        </p:spPr>
      </p:pic>
      <p:sp>
        <p:nvSpPr>
          <p:cNvPr id="11" name="TextBox 26"/>
          <p:cNvSpPr/>
          <p:nvPr/>
        </p:nvSpPr>
        <p:spPr>
          <a:xfrm>
            <a:off x="381000" y="1974986"/>
            <a:ext cx="4105275" cy="481012"/>
          </a:xfrm>
          <a:prstGeom prst="rect">
            <a:avLst/>
          </a:prstGeom>
          <a:noFill/>
          <a:ln/>
        </p:spPr>
        <p:txBody>
          <a:bodyPr wrap="square" lIns="98065" tIns="49032" rIns="0" bIns="49032" rtlCol="0" anchor="t">
            <a:spAutoFit/>
          </a:bodyPr>
          <a:lstStyle/>
          <a:p>
            <a:pPr algn="l" indent="0" marL="0">
              <a:lnSpc>
                <a:spcPts val="1042"/>
              </a:lnSpc>
              <a:buNone/>
            </a:pPr>
            <a:r>
              <a:rPr lang="en-US" sz="695" b="1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 → 0⁺：</a:t>
            </a:r>
            <a:r>
              <a:rPr lang="en-US" sz="695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概率分布高度"尖锐"，最高分 token 获接近 1.0 的概率，输出几乎确定。</a:t>
            </a:r>
            <a:endParaRPr lang="en-US" sz="695" dirty="0"/>
          </a:p>
          <a:p>
            <a:pPr algn="l" indent="0" marL="0">
              <a:lnSpc>
                <a:spcPts val="1042"/>
              </a:lnSpc>
              <a:buNone/>
            </a:pPr>
            <a:r>
              <a:rPr lang="en-US" sz="695" b="1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 = 1.0：</a:t>
            </a:r>
            <a:r>
              <a:rPr lang="en-US" sz="695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保持模型原始不确定性水平（大多数模型默认值）。</a:t>
            </a:r>
            <a:endParaRPr lang="en-US" sz="695" dirty="0"/>
          </a:p>
          <a:p>
            <a:pPr algn="l" indent="0" marL="0">
              <a:lnSpc>
                <a:spcPts val="1042"/>
              </a:lnSpc>
              <a:buNone/>
            </a:pPr>
            <a:r>
              <a:rPr lang="en-US" sz="695" b="1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 → 2.0：</a:t>
            </a:r>
            <a:r>
              <a:rPr lang="en-US" sz="695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概率分布变得"平坦"，低概率 token 也被放大，输出随机且不可预测。</a:t>
            </a:r>
            <a:endParaRPr lang="en-US" sz="695" dirty="0"/>
          </a:p>
        </p:txBody>
      </p:sp>
      <p:sp>
        <p:nvSpPr>
          <p:cNvPr id="12" name="Shape 29"/>
          <p:cNvSpPr/>
          <p:nvPr/>
        </p:nvSpPr>
        <p:spPr>
          <a:xfrm>
            <a:off x="4657725" y="591480"/>
            <a:ext cx="4105275" cy="4156733"/>
          </a:xfrm>
          <a:prstGeom prst="roundRect">
            <a:avLst>
              <a:gd name="adj" fmla="val 478"/>
            </a:avLst>
          </a:prstGeom>
          <a:noFill/>
          <a:ln w="4903">
            <a:solidFill>
              <a:srgbClr val="D9D7D2"/>
            </a:solidFill>
            <a:prstDash val="solid"/>
          </a:ln>
        </p:spPr>
      </p:sp>
      <p:graphicFrame>
        <p:nvGraphicFramePr>
          <p:cNvPr id="9" name="Table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2488" y="596243"/>
          <a:ext cx="4095750" cy="914400"/>
        </p:xfrm>
        <a:graphic>
          <a:graphicData uri="http://schemas.openxmlformats.org/drawingml/2006/table">
            <a:tbl>
              <a:tblPr/>
              <a:tblGrid>
                <a:gridCol w="491468"/>
                <a:gridCol w="1146795"/>
                <a:gridCol w="2457487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728"/>
                        </a:lnSpc>
                        <a:buNone/>
                      </a:pPr>
                      <a:r>
                        <a:rPr lang="en-US" sz="502" b="1" spc="10" kern="0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T 值</a:t>
                      </a:r>
                      <a:endParaRPr lang="en-US" sz="502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63742" marR="63742" marT="49032" marB="490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806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728"/>
                        </a:lnSpc>
                        <a:buNone/>
                      </a:pPr>
                      <a:r>
                        <a:rPr lang="en-US" sz="502" b="1" spc="10" kern="0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重复 10 次的输出一致性</a:t>
                      </a:r>
                      <a:endParaRPr lang="en-US" sz="502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63742" marR="63742" marT="49032" marB="490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806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728"/>
                        </a:lnSpc>
                        <a:buNone/>
                      </a:pPr>
                      <a:r>
                        <a:rPr lang="en-US" sz="502" b="1" spc="10" kern="0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适合的任务心理模型</a:t>
                      </a:r>
                      <a:endParaRPr lang="en-US" sz="502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63742" marR="63742" marT="49032" marB="490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806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728"/>
                        </a:lnSpc>
                        <a:buNone/>
                      </a:pPr>
                      <a:r>
                        <a:rPr lang="en-US" sz="502" b="1" dirty="0">
                          <a:solidFill>
                            <a:srgbClr val="9C424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0.0</a:t>
                      </a:r>
                      <a:endParaRPr lang="en-US" sz="502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40"/>
                        </a:lnSpc>
                        <a:buNone/>
                      </a:pPr>
                      <a:r>
                        <a:rPr lang="en-US" sz="560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10 次几乎完全相同</a:t>
                      </a:r>
                      <a:endParaRPr lang="en-US" sz="56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40"/>
                        </a:lnSpc>
                        <a:buNone/>
                      </a:pPr>
                      <a:r>
                        <a:rPr lang="en-US" sz="560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查字典——正确答案只有一个</a:t>
                      </a:r>
                      <a:endParaRPr lang="en-US" sz="56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728"/>
                        </a:lnSpc>
                        <a:buNone/>
                      </a:pPr>
                      <a:r>
                        <a:rPr lang="en-US" sz="502" b="1" dirty="0">
                          <a:solidFill>
                            <a:srgbClr val="9C424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0.3</a:t>
                      </a:r>
                      <a:endParaRPr lang="en-US" sz="502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40"/>
                        </a:lnSpc>
                        <a:buNone/>
                      </a:pPr>
                      <a:r>
                        <a:rPr lang="en-US" sz="560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8–9 次高度相似，措辞微调</a:t>
                      </a:r>
                      <a:endParaRPr lang="en-US" sz="56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40"/>
                        </a:lnSpc>
                        <a:buNone/>
                      </a:pPr>
                      <a:r>
                        <a:rPr lang="en-US" sz="560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严谨的专家——追求准确，允许表述风格有轻微变化</a:t>
                      </a:r>
                      <a:endParaRPr lang="en-US" sz="56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728"/>
                        </a:lnSpc>
                        <a:buNone/>
                      </a:pPr>
                      <a:r>
                        <a:rPr lang="en-US" sz="502" b="1" dirty="0">
                          <a:solidFill>
                            <a:srgbClr val="9C424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0.7</a:t>
                      </a:r>
                      <a:endParaRPr lang="en-US" sz="502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40"/>
                        </a:lnSpc>
                        <a:buNone/>
                      </a:pPr>
                      <a:r>
                        <a:rPr lang="en-US" sz="560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5–6 次大体一致，结构可能不同</a:t>
                      </a:r>
                      <a:endParaRPr lang="en-US" sz="56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40"/>
                        </a:lnSpc>
                        <a:buNone/>
                      </a:pPr>
                      <a:r>
                        <a:rPr lang="en-US" sz="560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有经验的作者——在合理范围内追求表达多样性</a:t>
                      </a:r>
                      <a:endParaRPr lang="en-US" sz="56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728"/>
                        </a:lnSpc>
                        <a:buNone/>
                      </a:pPr>
                      <a:r>
                        <a:rPr lang="en-US" sz="502" b="1" dirty="0">
                          <a:solidFill>
                            <a:srgbClr val="9C424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1.0</a:t>
                      </a:r>
                      <a:endParaRPr lang="en-US" sz="502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40"/>
                        </a:lnSpc>
                        <a:buNone/>
                      </a:pPr>
                      <a:r>
                        <a:rPr lang="en-US" sz="560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3–4 次主题相关，细节差异大</a:t>
                      </a:r>
                      <a:endParaRPr lang="en-US" sz="56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40"/>
                        </a:lnSpc>
                        <a:buNone/>
                      </a:pPr>
                      <a:r>
                        <a:rPr lang="en-US" sz="560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头脑风暴伙伴——每次给不同角度</a:t>
                      </a:r>
                      <a:endParaRPr lang="en-US" sz="56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728"/>
                        </a:lnSpc>
                        <a:buNone/>
                      </a:pPr>
                      <a:r>
                        <a:rPr lang="en-US" sz="502" b="1" dirty="0">
                          <a:solidFill>
                            <a:srgbClr val="9C424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1.5+</a:t>
                      </a:r>
                      <a:endParaRPr lang="en-US" sz="502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40"/>
                        </a:lnSpc>
                        <a:buNone/>
                      </a:pPr>
                      <a:r>
                        <a:rPr lang="en-US" sz="560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每次结果都可能出乎意料</a:t>
                      </a:r>
                      <a:endParaRPr lang="en-US" sz="56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40"/>
                        </a:lnSpc>
                        <a:buNone/>
                      </a:pPr>
                      <a:r>
                        <a:rPr lang="en-US" sz="560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随机生成器——可能产生不合逻辑的输出</a:t>
                      </a:r>
                      <a:endParaRPr lang="en-US" sz="56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4" name="TextBox 35"/>
          <p:cNvSpPr/>
          <p:nvPr/>
        </p:nvSpPr>
        <p:spPr>
          <a:xfrm>
            <a:off x="381000" y="4748213"/>
            <a:ext cx="8382000" cy="128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2"/>
              </a:lnSpc>
              <a:buNone/>
            </a:pPr>
            <a:r>
              <a:rPr lang="en-US" sz="695" b="1" dirty="0">
                <a:solidFill>
                  <a:srgbClr val="625D5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注意：</a:t>
            </a:r>
            <a:r>
              <a:rPr lang="en-US" sz="695" dirty="0">
                <a:solidFill>
                  <a:srgbClr val="625D5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temperature = 0 并不能保证 100% 可复现——GPU 浮点计算的非确定性仍可能导致微小差异。如需严格可复现，应同时设置 temperature=0 和固定的 seed 参数。</a:t>
            </a:r>
            <a:endParaRPr lang="en-US" sz="695" dirty="0"/>
          </a:p>
        </p:txBody>
      </p:sp>
      <p:sp>
        <p:nvSpPr>
          <p:cNvPr id="15" name="TextBox 38"/>
          <p:cNvSpPr/>
          <p:nvPr/>
        </p:nvSpPr>
        <p:spPr>
          <a:xfrm>
            <a:off x="8805453" y="4898231"/>
            <a:ext cx="71847" cy="928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53"/>
              </a:lnSpc>
              <a:buNone/>
            </a:pPr>
            <a:r>
              <a:rPr lang="en-US" sz="502" spc="40" kern="0" dirty="0">
                <a:solidFill>
                  <a:srgbClr val="625D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</a:t>
            </a:r>
            <a:endParaRPr lang="en-US" sz="502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/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/>
        </p:spPr>
      </p:sp>
      <p:sp>
        <p:nvSpPr>
          <p:cNvPr id="4" name="TextBox 8"/>
          <p:cNvSpPr/>
          <p:nvPr/>
        </p:nvSpPr>
        <p:spPr>
          <a:xfrm>
            <a:off x="381000" y="266700"/>
            <a:ext cx="686767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11"/>
              </a:lnSpc>
              <a:buNone/>
            </a:pPr>
            <a:r>
              <a:rPr lang="en-US" sz="541" spc="54" kern="0" dirty="0">
                <a:solidFill>
                  <a:srgbClr val="9C424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3 · 采样参数</a:t>
            </a:r>
            <a:endParaRPr lang="en-US" sz="541" dirty="0"/>
          </a:p>
        </p:txBody>
      </p:sp>
      <p:sp>
        <p:nvSpPr>
          <p:cNvPr id="5" name="Shape 10"/>
          <p:cNvSpPr/>
          <p:nvPr/>
        </p:nvSpPr>
        <p:spPr>
          <a:xfrm>
            <a:off x="1115392" y="309563"/>
            <a:ext cx="228600" cy="14287"/>
          </a:xfrm>
          <a:prstGeom prst="rect">
            <a:avLst/>
          </a:prstGeom>
          <a:solidFill>
            <a:srgbClr val="9C4246"/>
          </a:solidFill>
          <a:ln/>
        </p:spPr>
      </p:sp>
      <p:sp>
        <p:nvSpPr>
          <p:cNvPr id="6" name="TextBox 13"/>
          <p:cNvSpPr/>
          <p:nvPr/>
        </p:nvSpPr>
        <p:spPr>
          <a:xfrm>
            <a:off x="381000" y="461963"/>
            <a:ext cx="8382000" cy="224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22"/>
              </a:lnSpc>
              <a:buNone/>
            </a:pPr>
            <a:r>
              <a:rPr lang="en-US" sz="1544" b="1" spc="-23" kern="0" dirty="0">
                <a:solidFill>
                  <a:srgbClr val="1B150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其他关键参数详细说明</a:t>
            </a:r>
            <a:endParaRPr lang="en-US" sz="1544" dirty="0"/>
          </a:p>
        </p:txBody>
      </p:sp>
      <p:sp>
        <p:nvSpPr>
          <p:cNvPr id="7" name="Shape 15"/>
          <p:cNvSpPr/>
          <p:nvPr/>
        </p:nvSpPr>
        <p:spPr>
          <a:xfrm>
            <a:off x="381000" y="781980"/>
            <a:ext cx="8382000" cy="4094820"/>
          </a:xfrm>
          <a:prstGeom prst="roundRect">
            <a:avLst>
              <a:gd name="adj" fmla="val 479"/>
            </a:avLst>
          </a:prstGeom>
          <a:noFill/>
          <a:ln w="4903">
            <a:solidFill>
              <a:srgbClr val="D9D7D2"/>
            </a:solidFill>
            <a:prstDash val="solid"/>
          </a:ln>
        </p:spPr>
      </p:sp>
      <p:graphicFrame>
        <p:nvGraphicFramePr>
          <p:cNvPr id="10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5763" y="786743"/>
          <a:ext cx="8372475" cy="914400"/>
        </p:xfrm>
        <a:graphic>
          <a:graphicData uri="http://schemas.openxmlformats.org/drawingml/2006/table">
            <a:tbl>
              <a:tblPr/>
              <a:tblGrid>
                <a:gridCol w="1172133"/>
                <a:gridCol w="2344266"/>
                <a:gridCol w="1172133"/>
                <a:gridCol w="368394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728"/>
                        </a:lnSpc>
                        <a:buNone/>
                      </a:pPr>
                      <a:r>
                        <a:rPr lang="en-US" sz="502" b="1" spc="10" kern="0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参数</a:t>
                      </a:r>
                      <a:endParaRPr lang="en-US" sz="502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63742" marR="63742" marT="49032" marB="490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806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728"/>
                        </a:lnSpc>
                        <a:buNone/>
                      </a:pPr>
                      <a:r>
                        <a:rPr lang="en-US" sz="502" b="1" spc="10" kern="0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技术含义</a:t>
                      </a:r>
                      <a:endParaRPr lang="en-US" sz="502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63742" marR="63742" marT="49032" marB="490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806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728"/>
                        </a:lnSpc>
                        <a:buNone/>
                      </a:pPr>
                      <a:r>
                        <a:rPr lang="en-US" sz="502" b="1" spc="10" kern="0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取值范围</a:t>
                      </a:r>
                      <a:endParaRPr lang="en-US" sz="502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63742" marR="63742" marT="49032" marB="490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806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728"/>
                        </a:lnSpc>
                        <a:buNone/>
                      </a:pPr>
                      <a:r>
                        <a:rPr lang="en-US" sz="502" b="1" spc="10" kern="0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推荐用法</a:t>
                      </a:r>
                      <a:endParaRPr lang="en-US" sz="502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63742" marR="63742" marT="49032" marB="490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806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728"/>
                        </a:lnSpc>
                        <a:buNone/>
                      </a:pPr>
                      <a:r>
                        <a:rPr lang="en-US" sz="502" b="1" dirty="0">
                          <a:solidFill>
                            <a:srgbClr val="9C424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max_tokens</a:t>
                      </a:r>
                      <a:endParaRPr lang="en-US" sz="502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68"/>
                        </a:lnSpc>
                        <a:buNone/>
                      </a:pPr>
                      <a:r>
                        <a:rPr lang="en-US" sz="560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限制模型生成的最大 token 数（仅输出部分）。达到限制时立即停止，finish_reason = "length"。</a:t>
                      </a:r>
                      <a:endParaRPr lang="en-US" sz="56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68"/>
                        </a:lnSpc>
                        <a:buNone/>
                      </a:pPr>
                      <a:r>
                        <a:rPr lang="en-US" sz="560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1 ~ 上下文窗口上限</a:t>
                      </a:r>
                      <a:endParaRPr lang="en-US" sz="56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68"/>
                        </a:lnSpc>
                        <a:buNone/>
                      </a:pPr>
                      <a:r>
                        <a:rPr lang="en-US" sz="560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根据任务估算所需输出长度：短问答 256–512，中等篇幅 1024–2048，长文 4096+。留 20% 余量防止截断。</a:t>
                      </a:r>
                      <a:endParaRPr lang="en-US" sz="56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728"/>
                        </a:lnSpc>
                        <a:buNone/>
                      </a:pPr>
                      <a:r>
                        <a:rPr lang="en-US" sz="502" b="1" dirty="0">
                          <a:solidFill>
                            <a:srgbClr val="9C424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top_p</a:t>
                      </a:r>
                      <a:endParaRPr lang="en-US" sz="502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68"/>
                        </a:lnSpc>
                        <a:buNone/>
                      </a:pPr>
                      <a:r>
                        <a:rPr lang="en-US" sz="560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核采样：对所有 token 按概率降序排列，只保留累积概率达到 p 的那部分参与采样，其余概率置零。不改变 logits 缩放，只做截断。</a:t>
                      </a:r>
                      <a:endParaRPr lang="en-US" sz="56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68"/>
                        </a:lnSpc>
                        <a:buNone/>
                      </a:pPr>
                      <a:r>
                        <a:rPr lang="en-US" sz="560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0.0 ~ 1.0</a:t>
                      </a:r>
                      <a:endParaRPr lang="en-US" sz="56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  <a:p>
                      <a:pPr algn="l" indent="0" marL="0">
                        <a:lnSpc>
                          <a:spcPts val="868"/>
                        </a:lnSpc>
                        <a:buNone/>
                      </a:pPr>
                      <a:r>
                        <a:rPr lang="en-US" sz="560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(默认 1.0)</a:t>
                      </a:r>
                      <a:endParaRPr lang="en-US" sz="56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68"/>
                        </a:lnSpc>
                        <a:buNone/>
                      </a:pPr>
                      <a:r>
                        <a:rPr lang="en-US" sz="560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一般设 0.9 或保持默认 1.0。不建议同时大幅调整 temperature 和 top_p，两者叠加效果难以预测。OpenAI 官方建议只调一个。</a:t>
                      </a:r>
                      <a:endParaRPr lang="en-US" sz="56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728"/>
                        </a:lnSpc>
                        <a:buNone/>
                      </a:pPr>
                      <a:r>
                        <a:rPr lang="en-US" sz="502" b="1" dirty="0">
                          <a:solidFill>
                            <a:srgbClr val="9C424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frequency_penalty</a:t>
                      </a:r>
                      <a:endParaRPr lang="en-US" sz="502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68"/>
                        </a:lnSpc>
                        <a:buNone/>
                      </a:pPr>
                      <a:r>
                        <a:rPr lang="en-US" sz="560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对已在本轮输出中出现过的 token 施加惩罚——每出现一次后续 logit 就扣减一个惩罚值。抑制短语和词汇的逐字重复。</a:t>
                      </a:r>
                      <a:endParaRPr lang="en-US" sz="56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68"/>
                        </a:lnSpc>
                        <a:buNone/>
                      </a:pPr>
                      <a:r>
                        <a:rPr lang="en-US" sz="560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-2.0 ~ 2.0</a:t>
                      </a:r>
                      <a:endParaRPr lang="en-US" sz="56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  <a:p>
                      <a:pPr algn="l" indent="0" marL="0">
                        <a:lnSpc>
                          <a:spcPts val="868"/>
                        </a:lnSpc>
                        <a:buNone/>
                      </a:pPr>
                      <a:r>
                        <a:rPr lang="en-US" sz="560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(默认 0.0)</a:t>
                      </a:r>
                      <a:endParaRPr lang="en-US" sz="56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68"/>
                        </a:lnSpc>
                        <a:buNone/>
                      </a:pPr>
                      <a:r>
                        <a:rPr lang="en-US" sz="560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长文生成设 0.3–0.5；需要精确术语重复的任务（代码、说明书）保持 0。过高会让模型"故意避开"常用词。</a:t>
                      </a:r>
                      <a:endParaRPr lang="en-US" sz="56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728"/>
                        </a:lnSpc>
                        <a:buNone/>
                      </a:pPr>
                      <a:r>
                        <a:rPr lang="en-US" sz="502" b="1" dirty="0">
                          <a:solidFill>
                            <a:srgbClr val="9C424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presence_penalty</a:t>
                      </a:r>
                      <a:endParaRPr lang="en-US" sz="502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68"/>
                        </a:lnSpc>
                        <a:buNone/>
                      </a:pPr>
                      <a:r>
                        <a:rPr lang="en-US" sz="560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token 只要出现过至少一次就被惩罚（不论次数），惩罚值固定。鼓励模型谈论新话题、引入更多样词汇。</a:t>
                      </a:r>
                      <a:endParaRPr lang="en-US" sz="56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68"/>
                        </a:lnSpc>
                        <a:buNone/>
                      </a:pPr>
                      <a:r>
                        <a:rPr lang="en-US" sz="560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-2.0 ~ 2.0</a:t>
                      </a:r>
                      <a:endParaRPr lang="en-US" sz="56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  <a:p>
                      <a:pPr algn="l" indent="0" marL="0">
                        <a:lnSpc>
                          <a:spcPts val="868"/>
                        </a:lnSpc>
                        <a:buNone/>
                      </a:pPr>
                      <a:r>
                        <a:rPr lang="en-US" sz="560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(默认 0.0)</a:t>
                      </a:r>
                      <a:endParaRPr lang="en-US" sz="56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68"/>
                        </a:lnSpc>
                        <a:buNone/>
                      </a:pPr>
                      <a:r>
                        <a:rPr lang="en-US" sz="560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头脑风暴、创意生成设 0.3–0.6；需要集中在单一主题上时谨慎使用——过高会让模型不断跳到新话题。</a:t>
                      </a:r>
                      <a:endParaRPr lang="en-US" sz="56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728"/>
                        </a:lnSpc>
                        <a:buNone/>
                      </a:pPr>
                      <a:r>
                        <a:rPr lang="en-US" sz="502" b="1" dirty="0">
                          <a:solidFill>
                            <a:srgbClr val="9C424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stop</a:t>
                      </a:r>
                      <a:endParaRPr lang="en-US" sz="502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68"/>
                        </a:lnSpc>
                        <a:buNone/>
                      </a:pPr>
                      <a:r>
                        <a:rPr lang="en-US" sz="560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指定一个或多个停止序列（字符串）。模型输出匹配任一序列时立即停止，停止序列本身不出现在输出中。</a:t>
                      </a:r>
                      <a:endParaRPr lang="en-US" sz="56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68"/>
                        </a:lnSpc>
                        <a:buNone/>
                      </a:pPr>
                      <a:r>
                        <a:rPr lang="en-US" sz="560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最多 4 个字符串，每个最长 256 字符</a:t>
                      </a:r>
                      <a:endParaRPr lang="en-US" sz="56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68"/>
                        </a:lnSpc>
                        <a:buNone/>
                      </a:pPr>
                      <a:r>
                        <a:rPr lang="en-US" sz="560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结构化输出：设 stop: ["\n\n", "END"] 让模型只生成一段；设 stop: ["&lt;/output&gt;"] 在闭合标签处自然停止。</a:t>
                      </a:r>
                      <a:endParaRPr lang="en-US" sz="56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728"/>
                        </a:lnSpc>
                        <a:buNone/>
                      </a:pPr>
                      <a:r>
                        <a:rPr lang="en-US" sz="502" b="1" dirty="0">
                          <a:solidFill>
                            <a:srgbClr val="9C424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seed</a:t>
                      </a:r>
                      <a:endParaRPr lang="en-US" sz="502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68"/>
                        </a:lnSpc>
                        <a:buNone/>
                      </a:pPr>
                      <a:r>
                        <a:rPr lang="en-US" sz="560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设定随机数生成器种子。在 temperature=0 的前提下，相同 seed + 相同 prompt 产生相同输出。</a:t>
                      </a:r>
                      <a:endParaRPr lang="en-US" sz="56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68"/>
                        </a:lnSpc>
                        <a:buNone/>
                      </a:pPr>
                      <a:r>
                        <a:rPr lang="en-US" sz="560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任意整数</a:t>
                      </a:r>
                      <a:endParaRPr lang="en-US" sz="56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68"/>
                        </a:lnSpc>
                        <a:buNone/>
                      </a:pPr>
                      <a:r>
                        <a:rPr lang="en-US" sz="560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调试和 A/B 测试时使用。生产环境通常不设。</a:t>
                      </a:r>
                      <a:endParaRPr lang="en-US" sz="56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728"/>
                        </a:lnSpc>
                        <a:buNone/>
                      </a:pPr>
                      <a:r>
                        <a:rPr lang="en-US" sz="502" b="1" dirty="0">
                          <a:solidFill>
                            <a:srgbClr val="9C424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n</a:t>
                      </a:r>
                      <a:endParaRPr lang="en-US" sz="502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68"/>
                        </a:lnSpc>
                        <a:buNone/>
                      </a:pPr>
                      <a:r>
                        <a:rPr lang="en-US" sz="560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一次请求中并行生成多少个候选回复。每个候选独立从概率分布中采样。输出 token 费用 × n，但 prompt token 费用共享。</a:t>
                      </a:r>
                      <a:endParaRPr lang="en-US" sz="56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68"/>
                        </a:lnSpc>
                        <a:buNone/>
                      </a:pPr>
                      <a:r>
                        <a:rPr lang="en-US" sz="560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1 ~ 128</a:t>
                      </a:r>
                      <a:endParaRPr lang="en-US" sz="56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68"/>
                        </a:lnSpc>
                        <a:buNone/>
                      </a:pPr>
                      <a:r>
                        <a:rPr lang="en-US" sz="560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需要多个候选方案时使用（如提供 3 个标题让用户选择）。</a:t>
                      </a:r>
                      <a:endParaRPr lang="en-US" sz="56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9" name="TextBox 21"/>
          <p:cNvSpPr/>
          <p:nvPr/>
        </p:nvSpPr>
        <p:spPr>
          <a:xfrm>
            <a:off x="8805453" y="4898231"/>
            <a:ext cx="71847" cy="928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53"/>
              </a:lnSpc>
              <a:buNone/>
            </a:pPr>
            <a:r>
              <a:rPr lang="en-US" sz="502" spc="40" kern="0" dirty="0">
                <a:solidFill>
                  <a:srgbClr val="625D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</a:t>
            </a:r>
            <a:endParaRPr lang="en-US" sz="502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/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/>
        </p:spPr>
      </p:sp>
      <p:sp>
        <p:nvSpPr>
          <p:cNvPr id="4" name="TextBox 8"/>
          <p:cNvSpPr/>
          <p:nvPr/>
        </p:nvSpPr>
        <p:spPr>
          <a:xfrm>
            <a:off x="381000" y="266700"/>
            <a:ext cx="686767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11"/>
              </a:lnSpc>
              <a:buNone/>
            </a:pPr>
            <a:r>
              <a:rPr lang="en-US" sz="541" spc="54" kern="0" dirty="0">
                <a:solidFill>
                  <a:srgbClr val="9C424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3 · 采样参数</a:t>
            </a:r>
            <a:endParaRPr lang="en-US" sz="541" dirty="0"/>
          </a:p>
        </p:txBody>
      </p:sp>
      <p:sp>
        <p:nvSpPr>
          <p:cNvPr id="5" name="Shape 10"/>
          <p:cNvSpPr/>
          <p:nvPr/>
        </p:nvSpPr>
        <p:spPr>
          <a:xfrm>
            <a:off x="1115392" y="309563"/>
            <a:ext cx="228600" cy="14287"/>
          </a:xfrm>
          <a:prstGeom prst="rect">
            <a:avLst/>
          </a:prstGeom>
          <a:solidFill>
            <a:srgbClr val="9C4246"/>
          </a:solidFill>
          <a:ln/>
        </p:spPr>
      </p:sp>
      <p:sp>
        <p:nvSpPr>
          <p:cNvPr id="6" name="TextBox 13"/>
          <p:cNvSpPr/>
          <p:nvPr/>
        </p:nvSpPr>
        <p:spPr>
          <a:xfrm>
            <a:off x="381000" y="461963"/>
            <a:ext cx="8382000" cy="224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22"/>
              </a:lnSpc>
              <a:buNone/>
            </a:pPr>
            <a:r>
              <a:rPr lang="en-US" sz="1544" b="1" spc="-23" kern="0" dirty="0">
                <a:solidFill>
                  <a:srgbClr val="1B150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什么任务该用什么温度？按任务类型推荐参数配置</a:t>
            </a:r>
            <a:endParaRPr lang="en-US" sz="1544" dirty="0"/>
          </a:p>
        </p:txBody>
      </p:sp>
      <p:sp>
        <p:nvSpPr>
          <p:cNvPr id="7" name="Shape 15"/>
          <p:cNvSpPr/>
          <p:nvPr/>
        </p:nvSpPr>
        <p:spPr>
          <a:xfrm>
            <a:off x="381000" y="781980"/>
            <a:ext cx="8382000" cy="3730265"/>
          </a:xfrm>
          <a:prstGeom prst="roundRect">
            <a:avLst>
              <a:gd name="adj" fmla="val 526"/>
            </a:avLst>
          </a:prstGeom>
          <a:noFill/>
          <a:ln w="4903">
            <a:solidFill>
              <a:srgbClr val="D9D7D2"/>
            </a:solidFill>
            <a:prstDash val="solid"/>
          </a:ln>
        </p:spPr>
      </p:sp>
      <p:graphicFrame>
        <p:nvGraphicFramePr>
          <p:cNvPr id="11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5763" y="786743"/>
          <a:ext cx="8372475" cy="914400"/>
        </p:xfrm>
        <a:graphic>
          <a:graphicData uri="http://schemas.openxmlformats.org/drawingml/2006/table">
            <a:tbl>
              <a:tblPr/>
              <a:tblGrid>
                <a:gridCol w="1339565"/>
                <a:gridCol w="837233"/>
                <a:gridCol w="669764"/>
                <a:gridCol w="4521175"/>
                <a:gridCol w="100473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728"/>
                        </a:lnSpc>
                        <a:buNone/>
                      </a:pPr>
                      <a:r>
                        <a:rPr lang="en-US" sz="502" b="1" spc="10" kern="0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任务类型</a:t>
                      </a:r>
                      <a:endParaRPr lang="en-US" sz="502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63742" marR="63742" marT="49032" marB="490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806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728"/>
                        </a:lnSpc>
                        <a:buNone/>
                      </a:pPr>
                      <a:r>
                        <a:rPr lang="en-US" sz="502" b="1" spc="10" kern="0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temperature</a:t>
                      </a:r>
                      <a:endParaRPr lang="en-US" sz="502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63742" marR="63742" marT="49032" marB="490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806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728"/>
                        </a:lnSpc>
                        <a:buNone/>
                      </a:pPr>
                      <a:r>
                        <a:rPr lang="en-US" sz="502" b="1" spc="10" kern="0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top_p</a:t>
                      </a:r>
                      <a:endParaRPr lang="en-US" sz="502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63742" marR="63742" marT="49032" marB="490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806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728"/>
                        </a:lnSpc>
                        <a:buNone/>
                      </a:pPr>
                      <a:r>
                        <a:rPr lang="en-US" sz="502" b="1" spc="10" kern="0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理由</a:t>
                      </a:r>
                      <a:endParaRPr lang="en-US" sz="502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63742" marR="63742" marT="49032" marB="490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806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728"/>
                        </a:lnSpc>
                        <a:buNone/>
                      </a:pPr>
                      <a:r>
                        <a:rPr lang="en-US" sz="502" b="1" spc="10" kern="0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其他建议</a:t>
                      </a:r>
                      <a:endParaRPr lang="en-US" sz="502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63742" marR="63742" marT="49032" marB="490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806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68"/>
                        </a:lnSpc>
                        <a:buNone/>
                      </a:pPr>
                      <a:r>
                        <a:rPr lang="en-US" sz="560" b="1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代码生成</a:t>
                      </a:r>
                      <a:endParaRPr lang="en-US" sz="56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728"/>
                        </a:lnSpc>
                        <a:buNone/>
                      </a:pPr>
                      <a:r>
                        <a:rPr lang="en-US" sz="502" b="1" dirty="0">
                          <a:solidFill>
                            <a:srgbClr val="9C424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0.0–0.2</a:t>
                      </a:r>
                      <a:endParaRPr lang="en-US" sz="502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728"/>
                        </a:lnSpc>
                        <a:buNone/>
                      </a:pPr>
                      <a:r>
                        <a:rPr lang="en-US" sz="502" dirty="0">
                          <a:solidFill>
                            <a:srgbClr val="1B150D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1.0</a:t>
                      </a:r>
                      <a:endParaRPr lang="en-US" sz="502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68"/>
                        </a:lnSpc>
                        <a:buNone/>
                      </a:pPr>
                      <a:r>
                        <a:rPr lang="en-US" sz="560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代码的正确性是二元的——要么对要么错。不确定性只会引入 bug。</a:t>
                      </a:r>
                      <a:endParaRPr lang="en-US" sz="56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68"/>
                        </a:lnSpc>
                        <a:buNone/>
                      </a:pPr>
                      <a:r>
                        <a:rPr lang="en-US" sz="560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固定 seed 便于调试</a:t>
                      </a:r>
                      <a:endParaRPr lang="en-US" sz="56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68"/>
                        </a:lnSpc>
                        <a:buNone/>
                      </a:pPr>
                      <a:r>
                        <a:rPr lang="en-US" sz="560" b="1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数学推理 / 逻辑推断</a:t>
                      </a:r>
                      <a:endParaRPr lang="en-US" sz="56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728"/>
                        </a:lnSpc>
                        <a:buNone/>
                      </a:pPr>
                      <a:r>
                        <a:rPr lang="en-US" sz="502" b="1" dirty="0">
                          <a:solidFill>
                            <a:srgbClr val="9C424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0.0</a:t>
                      </a:r>
                      <a:endParaRPr lang="en-US" sz="502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728"/>
                        </a:lnSpc>
                        <a:buNone/>
                      </a:pPr>
                      <a:r>
                        <a:rPr lang="en-US" sz="502" dirty="0">
                          <a:solidFill>
                            <a:srgbClr val="1B150D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1.0</a:t>
                      </a:r>
                      <a:endParaRPr lang="en-US" sz="502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68"/>
                        </a:lnSpc>
                        <a:buNone/>
                      </a:pPr>
                      <a:r>
                        <a:rPr lang="en-US" sz="560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推理链上每一步都必须准确，随机性会破坏推理正确性。</a:t>
                      </a:r>
                      <a:endParaRPr lang="en-US" sz="56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68"/>
                        </a:lnSpc>
                        <a:buNone/>
                      </a:pPr>
                      <a:r>
                        <a:rPr lang="en-US" sz="560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配合 CoT prompt</a:t>
                      </a:r>
                      <a:endParaRPr lang="en-US" sz="56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68"/>
                        </a:lnSpc>
                        <a:buNone/>
                      </a:pPr>
                      <a:r>
                        <a:rPr lang="en-US" sz="560" b="1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结构化数据提取（JSON）</a:t>
                      </a:r>
                      <a:endParaRPr lang="en-US" sz="56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728"/>
                        </a:lnSpc>
                        <a:buNone/>
                      </a:pPr>
                      <a:r>
                        <a:rPr lang="en-US" sz="502" b="1" dirty="0">
                          <a:solidFill>
                            <a:srgbClr val="9C424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0.0–0.1</a:t>
                      </a:r>
                      <a:endParaRPr lang="en-US" sz="502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728"/>
                        </a:lnSpc>
                        <a:buNone/>
                      </a:pPr>
                      <a:r>
                        <a:rPr lang="en-US" sz="502" dirty="0">
                          <a:solidFill>
                            <a:srgbClr val="1B150D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1.0</a:t>
                      </a:r>
                      <a:endParaRPr lang="en-US" sz="502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68"/>
                        </a:lnSpc>
                        <a:buNone/>
                      </a:pPr>
                      <a:r>
                        <a:rPr lang="en-US" sz="560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JSON 格式有严格语法要求，任何随机性都可能导致解析失败。</a:t>
                      </a:r>
                      <a:endParaRPr lang="en-US" sz="56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68"/>
                        </a:lnSpc>
                        <a:buNone/>
                      </a:pPr>
                      <a:r>
                        <a:rPr lang="en-US" sz="560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使用 structured output 模式</a:t>
                      </a:r>
                      <a:endParaRPr lang="en-US" sz="56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68"/>
                        </a:lnSpc>
                        <a:buNone/>
                      </a:pPr>
                      <a:r>
                        <a:rPr lang="en-US" sz="560" b="1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事实性问答</a:t>
                      </a:r>
                      <a:endParaRPr lang="en-US" sz="56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728"/>
                        </a:lnSpc>
                        <a:buNone/>
                      </a:pPr>
                      <a:r>
                        <a:rPr lang="en-US" sz="502" b="1" dirty="0">
                          <a:solidFill>
                            <a:srgbClr val="9C424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0.1–0.3</a:t>
                      </a:r>
                      <a:endParaRPr lang="en-US" sz="502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728"/>
                        </a:lnSpc>
                        <a:buNone/>
                      </a:pPr>
                      <a:r>
                        <a:rPr lang="en-US" sz="502" dirty="0">
                          <a:solidFill>
                            <a:srgbClr val="1B150D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1.0</a:t>
                      </a:r>
                      <a:endParaRPr lang="en-US" sz="502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68"/>
                        </a:lnSpc>
                        <a:buNone/>
                      </a:pPr>
                      <a:r>
                        <a:rPr lang="en-US" sz="560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需要准确但措辞可有轻微变化。温度略高于 0 让回答更自然。</a:t>
                      </a:r>
                      <a:endParaRPr lang="en-US" sz="56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68"/>
                        </a:lnSpc>
                        <a:buNone/>
                      </a:pPr>
                      <a:r>
                        <a:rPr lang="en-US" sz="560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可配合 RAG</a:t>
                      </a:r>
                      <a:endParaRPr lang="en-US" sz="56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68"/>
                        </a:lnSpc>
                        <a:buNone/>
                      </a:pPr>
                      <a:r>
                        <a:rPr lang="en-US" sz="560" b="1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翻译</a:t>
                      </a:r>
                      <a:endParaRPr lang="en-US" sz="56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728"/>
                        </a:lnSpc>
                        <a:buNone/>
                      </a:pPr>
                      <a:r>
                        <a:rPr lang="en-US" sz="502" b="1" dirty="0">
                          <a:solidFill>
                            <a:srgbClr val="9C424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0.2–0.4</a:t>
                      </a:r>
                      <a:endParaRPr lang="en-US" sz="502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728"/>
                        </a:lnSpc>
                        <a:buNone/>
                      </a:pPr>
                      <a:r>
                        <a:rPr lang="en-US" sz="502" dirty="0">
                          <a:solidFill>
                            <a:srgbClr val="1B150D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1.0</a:t>
                      </a:r>
                      <a:endParaRPr lang="en-US" sz="502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68"/>
                        </a:lnSpc>
                        <a:buNone/>
                      </a:pPr>
                      <a:r>
                        <a:rPr lang="en-US" sz="560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语义忠实是硬约束，但同一句话可有多种等价的翻译方式。</a:t>
                      </a:r>
                      <a:endParaRPr lang="en-US" sz="56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68"/>
                        </a:lnSpc>
                        <a:buNone/>
                      </a:pPr>
                      <a:r>
                        <a:rPr lang="en-US" sz="560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—</a:t>
                      </a:r>
                      <a:endParaRPr lang="en-US" sz="56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68"/>
                        </a:lnSpc>
                        <a:buNone/>
                      </a:pPr>
                      <a:r>
                        <a:rPr lang="en-US" sz="560" b="1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文本摘要</a:t>
                      </a:r>
                      <a:endParaRPr lang="en-US" sz="56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728"/>
                        </a:lnSpc>
                        <a:buNone/>
                      </a:pPr>
                      <a:r>
                        <a:rPr lang="en-US" sz="502" b="1" dirty="0">
                          <a:solidFill>
                            <a:srgbClr val="9C424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0.3–0.5</a:t>
                      </a:r>
                      <a:endParaRPr lang="en-US" sz="502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728"/>
                        </a:lnSpc>
                        <a:buNone/>
                      </a:pPr>
                      <a:r>
                        <a:rPr lang="en-US" sz="502" dirty="0">
                          <a:solidFill>
                            <a:srgbClr val="1B150D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1.0</a:t>
                      </a:r>
                      <a:endParaRPr lang="en-US" sz="502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68"/>
                        </a:lnSpc>
                        <a:buNone/>
                      </a:pPr>
                      <a:r>
                        <a:rPr lang="en-US" sz="560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核心信息必须保留，但摘要措辞和结构可有多种合理写法。</a:t>
                      </a:r>
                      <a:endParaRPr lang="en-US" sz="56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68"/>
                        </a:lnSpc>
                        <a:buNone/>
                      </a:pPr>
                      <a:r>
                        <a:rPr lang="en-US" sz="560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frequency_penalty=0.3</a:t>
                      </a:r>
                      <a:endParaRPr lang="en-US" sz="56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68"/>
                        </a:lnSpc>
                        <a:buNone/>
                      </a:pPr>
                      <a:r>
                        <a:rPr lang="en-US" sz="560" b="1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通用对话 / 客服</a:t>
                      </a:r>
                      <a:endParaRPr lang="en-US" sz="56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728"/>
                        </a:lnSpc>
                        <a:buNone/>
                      </a:pPr>
                      <a:r>
                        <a:rPr lang="en-US" sz="502" b="1" dirty="0">
                          <a:solidFill>
                            <a:srgbClr val="9C424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0.5–0.7</a:t>
                      </a:r>
                      <a:endParaRPr lang="en-US" sz="502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728"/>
                        </a:lnSpc>
                        <a:buNone/>
                      </a:pPr>
                      <a:r>
                        <a:rPr lang="en-US" sz="502" dirty="0">
                          <a:solidFill>
                            <a:srgbClr val="1B150D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0.9</a:t>
                      </a:r>
                      <a:endParaRPr lang="en-US" sz="502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68"/>
                        </a:lnSpc>
                        <a:buNone/>
                      </a:pPr>
                      <a:r>
                        <a:rPr lang="en-US" sz="560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需要自然流畅的表达，但回答不能偏离事实或安全边界。0.7 是社区普遍认可的"对话甜点"。</a:t>
                      </a:r>
                      <a:endParaRPr lang="en-US" sz="56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68"/>
                        </a:lnSpc>
                        <a:buNone/>
                      </a:pPr>
                      <a:r>
                        <a:rPr lang="en-US" sz="560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—</a:t>
                      </a:r>
                      <a:endParaRPr lang="en-US" sz="56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68"/>
                        </a:lnSpc>
                        <a:buNone/>
                      </a:pPr>
                      <a:r>
                        <a:rPr lang="en-US" sz="560" b="1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创意写作</a:t>
                      </a:r>
                      <a:endParaRPr lang="en-US" sz="56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728"/>
                        </a:lnSpc>
                        <a:buNone/>
                      </a:pPr>
                      <a:r>
                        <a:rPr lang="en-US" sz="502" b="1" dirty="0">
                          <a:solidFill>
                            <a:srgbClr val="9C424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0.7–0.9</a:t>
                      </a:r>
                      <a:endParaRPr lang="en-US" sz="502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728"/>
                        </a:lnSpc>
                        <a:buNone/>
                      </a:pPr>
                      <a:r>
                        <a:rPr lang="en-US" sz="502" dirty="0">
                          <a:solidFill>
                            <a:srgbClr val="1B150D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0.9</a:t>
                      </a:r>
                      <a:endParaRPr lang="en-US" sz="502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68"/>
                        </a:lnSpc>
                        <a:buNone/>
                      </a:pPr>
                      <a:r>
                        <a:rPr lang="en-US" sz="560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多样性是核心需求——每次生成应有不同的情节、措辞和结构。</a:t>
                      </a:r>
                      <a:endParaRPr lang="en-US" sz="56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68"/>
                        </a:lnSpc>
                        <a:buNone/>
                      </a:pPr>
                      <a:r>
                        <a:rPr lang="en-US" sz="560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presence_penalty=0.3</a:t>
                      </a:r>
                      <a:endParaRPr lang="en-US" sz="56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68"/>
                        </a:lnSpc>
                        <a:buNone/>
                      </a:pPr>
                      <a:r>
                        <a:rPr lang="en-US" sz="560" b="1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头脑风暴</a:t>
                      </a:r>
                      <a:endParaRPr lang="en-US" sz="56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728"/>
                        </a:lnSpc>
                        <a:buNone/>
                      </a:pPr>
                      <a:r>
                        <a:rPr lang="en-US" sz="502" b="1" dirty="0">
                          <a:solidFill>
                            <a:srgbClr val="9C424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0.8–1.0</a:t>
                      </a:r>
                      <a:endParaRPr lang="en-US" sz="502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728"/>
                        </a:lnSpc>
                        <a:buNone/>
                      </a:pPr>
                      <a:r>
                        <a:rPr lang="en-US" sz="502" dirty="0">
                          <a:solidFill>
                            <a:srgbClr val="1B150D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0.95</a:t>
                      </a:r>
                      <a:endParaRPr lang="en-US" sz="502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68"/>
                        </a:lnSpc>
                        <a:buNone/>
                      </a:pPr>
                      <a:r>
                        <a:rPr lang="en-US" sz="560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需要大量不同想法，甚至希望模型"敢想敢说"。</a:t>
                      </a:r>
                      <a:endParaRPr lang="en-US" sz="56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68"/>
                        </a:lnSpc>
                        <a:buNone/>
                      </a:pPr>
                      <a:r>
                        <a:rPr lang="en-US" sz="560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presence_penalty=0.5, n=3</a:t>
                      </a:r>
                      <a:endParaRPr lang="en-US" sz="56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68"/>
                        </a:lnSpc>
                        <a:buNone/>
                      </a:pPr>
                      <a:r>
                        <a:rPr lang="en-US" sz="560" b="1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极端创意 / 诗歌</a:t>
                      </a:r>
                      <a:endParaRPr lang="en-US" sz="56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728"/>
                        </a:lnSpc>
                        <a:buNone/>
                      </a:pPr>
                      <a:r>
                        <a:rPr lang="en-US" sz="502" b="1" dirty="0">
                          <a:solidFill>
                            <a:srgbClr val="9C424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0.9–1.2</a:t>
                      </a:r>
                      <a:endParaRPr lang="en-US" sz="502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728"/>
                        </a:lnSpc>
                        <a:buNone/>
                      </a:pPr>
                      <a:r>
                        <a:rPr lang="en-US" sz="502" dirty="0">
                          <a:solidFill>
                            <a:srgbClr val="1B150D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1.0</a:t>
                      </a:r>
                      <a:endParaRPr lang="en-US" sz="502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68"/>
                        </a:lnSpc>
                        <a:buNone/>
                      </a:pPr>
                      <a:r>
                        <a:rPr lang="en-US" sz="560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追求意外和诗意表达，甚至允许一定程度的不合逻辑。</a:t>
                      </a:r>
                      <a:endParaRPr lang="en-US" sz="56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68"/>
                        </a:lnSpc>
                        <a:buNone/>
                      </a:pPr>
                      <a:r>
                        <a:rPr lang="en-US" sz="560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—</a:t>
                      </a:r>
                      <a:endParaRPr lang="en-US" sz="56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id="9" name="Picture 20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000" y="4626546"/>
            <a:ext cx="8382000" cy="250254"/>
          </a:xfrm>
          <a:prstGeom prst="rect">
            <a:avLst/>
          </a:prstGeom>
        </p:spPr>
      </p:pic>
      <p:sp>
        <p:nvSpPr>
          <p:cNvPr id="10" name="TextBox 20"/>
          <p:cNvSpPr/>
          <p:nvPr/>
        </p:nvSpPr>
        <p:spPr>
          <a:xfrm>
            <a:off x="381000" y="4626546"/>
            <a:ext cx="8382000" cy="250254"/>
          </a:xfrm>
          <a:prstGeom prst="rect">
            <a:avLst/>
          </a:prstGeom>
          <a:noFill/>
          <a:ln/>
        </p:spPr>
        <p:txBody>
          <a:bodyPr wrap="square" lIns="98065" tIns="49032" rIns="0" bIns="49032" rtlCol="0" anchor="t">
            <a:spAutoFit/>
          </a:bodyPr>
          <a:lstStyle/>
          <a:p>
            <a:pPr algn="l" indent="0" marL="0">
              <a:lnSpc>
                <a:spcPts val="1257"/>
              </a:lnSpc>
              <a:buNone/>
            </a:pPr>
            <a:r>
              <a:rPr lang="en-US" sz="811" b="1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经验法则：</a:t>
            </a:r>
            <a:r>
              <a:rPr lang="en-US" sz="811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正确答案只有一种 → temperature 接近 0；有多种好的答案 → temperature 0.5–0.7；追求出人意料 → temperature 0.8+；不确定 → 从 0.3 开始，观察结果后逐步上调。</a:t>
            </a:r>
            <a:endParaRPr lang="en-US" sz="811" dirty="0"/>
          </a:p>
        </p:txBody>
      </p:sp>
      <p:sp>
        <p:nvSpPr>
          <p:cNvPr id="11" name="TextBox 23"/>
          <p:cNvSpPr/>
          <p:nvPr/>
        </p:nvSpPr>
        <p:spPr>
          <a:xfrm>
            <a:off x="8805453" y="4898231"/>
            <a:ext cx="71847" cy="928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53"/>
              </a:lnSpc>
              <a:buNone/>
            </a:pPr>
            <a:r>
              <a:rPr lang="en-US" sz="502" spc="40" kern="0" dirty="0">
                <a:solidFill>
                  <a:srgbClr val="625D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</a:t>
            </a:r>
            <a:endParaRPr lang="en-US" sz="502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/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/>
        </p:spPr>
      </p:sp>
      <p:sp>
        <p:nvSpPr>
          <p:cNvPr id="4" name="TextBox 8"/>
          <p:cNvSpPr/>
          <p:nvPr/>
        </p:nvSpPr>
        <p:spPr>
          <a:xfrm>
            <a:off x="428625" y="342900"/>
            <a:ext cx="686767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11"/>
              </a:lnSpc>
              <a:buNone/>
            </a:pPr>
            <a:r>
              <a:rPr lang="en-US" sz="541" spc="54" kern="0" dirty="0">
                <a:solidFill>
                  <a:srgbClr val="9C424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4 · 流式输出</a:t>
            </a:r>
            <a:endParaRPr lang="en-US" sz="541" dirty="0"/>
          </a:p>
        </p:txBody>
      </p:sp>
      <p:sp>
        <p:nvSpPr>
          <p:cNvPr id="5" name="Shape 10"/>
          <p:cNvSpPr/>
          <p:nvPr/>
        </p:nvSpPr>
        <p:spPr>
          <a:xfrm>
            <a:off x="1163017" y="385763"/>
            <a:ext cx="228600" cy="14287"/>
          </a:xfrm>
          <a:prstGeom prst="rect">
            <a:avLst/>
          </a:prstGeom>
          <a:solidFill>
            <a:srgbClr val="9C4246"/>
          </a:solidFill>
          <a:ln/>
        </p:spPr>
      </p:sp>
      <p:sp>
        <p:nvSpPr>
          <p:cNvPr id="6" name="TextBox 13"/>
          <p:cNvSpPr/>
          <p:nvPr/>
        </p:nvSpPr>
        <p:spPr>
          <a:xfrm>
            <a:off x="428625" y="576263"/>
            <a:ext cx="8286750" cy="224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22"/>
              </a:lnSpc>
              <a:buNone/>
            </a:pPr>
            <a:r>
              <a:rPr lang="en-US" sz="1544" b="1" spc="-23" kern="0" dirty="0">
                <a:solidFill>
                  <a:srgbClr val="1B150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流式输出解决什么体验问题？协议层怎么实现？</a:t>
            </a:r>
            <a:endParaRPr lang="en-US" sz="1544" dirty="0"/>
          </a:p>
        </p:txBody>
      </p:sp>
      <p:sp>
        <p:nvSpPr>
          <p:cNvPr id="7" name="TextBox 19"/>
          <p:cNvSpPr/>
          <p:nvPr/>
        </p:nvSpPr>
        <p:spPr>
          <a:xfrm>
            <a:off x="428625" y="934380"/>
            <a:ext cx="4057650" cy="155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57"/>
              </a:lnSpc>
              <a:buNone/>
            </a:pPr>
            <a:r>
              <a:rPr lang="en-US" sz="811" b="1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非流式响应的"白屏等待"困境：</a:t>
            </a:r>
            <a:endParaRPr lang="en-US" sz="811" dirty="0"/>
          </a:p>
        </p:txBody>
      </p:sp>
      <p:sp>
        <p:nvSpPr>
          <p:cNvPr id="8" name="Shape 21"/>
          <p:cNvSpPr/>
          <p:nvPr/>
        </p:nvSpPr>
        <p:spPr>
          <a:xfrm>
            <a:off x="428625" y="1089385"/>
            <a:ext cx="4057650" cy="1028700"/>
          </a:xfrm>
          <a:prstGeom prst="roundRect">
            <a:avLst>
              <a:gd name="adj" fmla="val 2860"/>
            </a:avLst>
          </a:prstGeom>
          <a:solidFill>
            <a:srgbClr val="F3F2ED"/>
          </a:solidFill>
          <a:ln w="4903">
            <a:solidFill>
              <a:srgbClr val="D9D7D2"/>
            </a:solidFill>
            <a:prstDash val="solid"/>
          </a:ln>
        </p:spPr>
      </p:sp>
      <p:sp>
        <p:nvSpPr>
          <p:cNvPr id="9" name="TextBox 23"/>
          <p:cNvSpPr/>
          <p:nvPr/>
        </p:nvSpPr>
        <p:spPr>
          <a:xfrm>
            <a:off x="547687" y="1189397"/>
            <a:ext cx="3819525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用户点击发送</a:t>
            </a:r>
            <a:endParaRPr lang="en-US" sz="560" dirty="0"/>
          </a:p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→ 请求到达 API 服务器</a:t>
            </a:r>
            <a:endParaRPr lang="en-US" sz="560" dirty="0"/>
          </a:p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→ 模型逐 token 生成（</a:t>
            </a:r>
            <a:r>
              <a:rPr lang="en-US" sz="560" dirty="0">
                <a:solidFill>
                  <a:srgbClr val="9C424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用户不可见</a:t>
            </a:r>
            <a:r>
              <a:rPr lang="en-US" sz="560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）</a:t>
            </a:r>
            <a:endParaRPr lang="en-US" sz="560" dirty="0"/>
          </a:p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→ 全部 token 生成完毕（5–15 秒）</a:t>
            </a:r>
            <a:endParaRPr lang="en-US" sz="560" dirty="0"/>
          </a:p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→ 响应体打包</a:t>
            </a:r>
            <a:endParaRPr lang="en-US" sz="560" dirty="0"/>
          </a:p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→ 网络传输</a:t>
            </a:r>
            <a:endParaRPr lang="en-US" sz="560" dirty="0"/>
          </a:p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→ 前端收到并渲染</a:t>
            </a:r>
            <a:endParaRPr lang="en-US" sz="560" dirty="0"/>
          </a:p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→ </a:t>
            </a:r>
            <a:r>
              <a:rPr lang="en-US" sz="560" dirty="0">
                <a:solidFill>
                  <a:srgbClr val="9C424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用户在此刻才看到任何内容</a:t>
            </a:r>
            <a:endParaRPr lang="en-US" sz="560" dirty="0"/>
          </a:p>
        </p:txBody>
      </p:sp>
      <p:sp>
        <p:nvSpPr>
          <p:cNvPr id="10" name="TextBox 26"/>
          <p:cNvSpPr/>
          <p:nvPr/>
        </p:nvSpPr>
        <p:spPr>
          <a:xfrm>
            <a:off x="428625" y="2118085"/>
            <a:ext cx="4057650" cy="310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57"/>
              </a:lnSpc>
              <a:buNone/>
            </a:pPr>
            <a:r>
              <a:rPr lang="en-US" sz="811" b="1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核心问题：</a:t>
            </a:r>
            <a:r>
              <a:rPr lang="en-US" sz="811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高延迟 + 零可见进度 = 最差的产品体验。用户面对完全空白的界面，不知道系统是否在正常工作。</a:t>
            </a:r>
            <a:endParaRPr lang="en-US" sz="811" dirty="0"/>
          </a:p>
        </p:txBody>
      </p:sp>
      <p:sp>
        <p:nvSpPr>
          <p:cNvPr id="11" name="TextBox 31"/>
          <p:cNvSpPr/>
          <p:nvPr/>
        </p:nvSpPr>
        <p:spPr>
          <a:xfrm>
            <a:off x="4657725" y="934380"/>
            <a:ext cx="4057650" cy="155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57"/>
              </a:lnSpc>
              <a:buNone/>
            </a:pPr>
            <a:r>
              <a:rPr lang="en-US" sz="811" b="1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流式模式：逐 token 推送，即时可见</a:t>
            </a:r>
            <a:endParaRPr lang="en-US" sz="811" dirty="0"/>
          </a:p>
        </p:txBody>
      </p:sp>
      <p:sp>
        <p:nvSpPr>
          <p:cNvPr id="12" name="Shape 33"/>
          <p:cNvSpPr/>
          <p:nvPr/>
        </p:nvSpPr>
        <p:spPr>
          <a:xfrm>
            <a:off x="4657725" y="1089385"/>
            <a:ext cx="4057650" cy="1028700"/>
          </a:xfrm>
          <a:prstGeom prst="roundRect">
            <a:avLst>
              <a:gd name="adj" fmla="val 2860"/>
            </a:avLst>
          </a:prstGeom>
          <a:solidFill>
            <a:srgbClr val="F3F2ED"/>
          </a:solidFill>
          <a:ln w="4903">
            <a:solidFill>
              <a:srgbClr val="D9D7D2"/>
            </a:solidFill>
            <a:prstDash val="solid"/>
          </a:ln>
        </p:spPr>
      </p:sp>
      <p:sp>
        <p:nvSpPr>
          <p:cNvPr id="13" name="TextBox 35"/>
          <p:cNvSpPr/>
          <p:nvPr/>
        </p:nvSpPr>
        <p:spPr>
          <a:xfrm>
            <a:off x="4776787" y="1189397"/>
            <a:ext cx="3819525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用户点击发送</a:t>
            </a:r>
            <a:endParaRPr lang="en-US" sz="560" dirty="0"/>
          </a:p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→ 请求到达服务器</a:t>
            </a:r>
            <a:endParaRPr lang="en-US" sz="560" dirty="0"/>
          </a:p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→ 生成第 1 个 token → </a:t>
            </a:r>
            <a:r>
              <a:rPr lang="en-US" sz="560" dirty="0">
                <a:solidFill>
                  <a:srgbClr val="9C424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立即推送 SSE</a:t>
            </a:r>
            <a:endParaRPr lang="en-US" sz="560" dirty="0"/>
          </a:p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→ 前端渲染第 1 个 token（0.5–1 秒）</a:t>
            </a:r>
            <a:endParaRPr lang="en-US" sz="560" dirty="0"/>
          </a:p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→ 生成第 2 个 token → </a:t>
            </a:r>
            <a:r>
              <a:rPr lang="en-US" sz="560" dirty="0">
                <a:solidFill>
                  <a:srgbClr val="9C424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推送</a:t>
            </a:r>
            <a:r>
              <a:rPr lang="en-US" sz="560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→ 追加渲染</a:t>
            </a:r>
            <a:endParaRPr lang="en-US" sz="560" dirty="0"/>
          </a:p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→ …… 持续循环 ……</a:t>
            </a:r>
            <a:endParaRPr lang="en-US" sz="560" dirty="0"/>
          </a:p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→ 最后一个 token → 推送 → 渲染完毕</a:t>
            </a:r>
            <a:endParaRPr lang="en-US" sz="560" dirty="0"/>
          </a:p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→ 连接关闭</a:t>
            </a:r>
            <a:endParaRPr lang="en-US" sz="560" dirty="0"/>
          </a:p>
        </p:txBody>
      </p:sp>
      <p:sp>
        <p:nvSpPr>
          <p:cNvPr id="14" name="TextBox 38"/>
          <p:cNvSpPr/>
          <p:nvPr/>
        </p:nvSpPr>
        <p:spPr>
          <a:xfrm>
            <a:off x="4657725" y="2118085"/>
            <a:ext cx="4057650" cy="6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57"/>
              </a:lnSpc>
              <a:buNone/>
            </a:pPr>
            <a:r>
              <a:rPr lang="en-US" sz="811" b="1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协议层：Server-Sent Events (SSE)</a:t>
            </a:r>
            <a:r>
              <a:rPr lang="en-US" sz="811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— 单向推送，比 WebSocket 更轻量。响应头设 </a:t>
            </a:r>
            <a:r>
              <a:rPr lang="en-US" sz="579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Content-Type: text/event-stream</a:t>
            </a:r>
            <a:r>
              <a:rPr lang="en-US" sz="811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，每个 chunk 以 </a:t>
            </a:r>
            <a:r>
              <a:rPr lang="en-US" sz="579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data:</a:t>
            </a:r>
            <a:r>
              <a:rPr lang="en-US" sz="811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开头。首个 chunk 的 </a:t>
            </a:r>
            <a:r>
              <a:rPr lang="en-US" sz="579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delta.role</a:t>
            </a:r>
            <a:r>
              <a:rPr lang="en-US" sz="811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为 "assistant"，后续 chunk 的 </a:t>
            </a:r>
            <a:r>
              <a:rPr lang="en-US" sz="579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delta.content</a:t>
            </a:r>
            <a:r>
              <a:rPr lang="en-US" sz="811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携带新增文本片段。当 </a:t>
            </a:r>
            <a:r>
              <a:rPr lang="en-US" sz="579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finish_reason</a:t>
            </a:r>
            <a:r>
              <a:rPr lang="en-US" sz="811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从 null 变为 "stop" 时生成结束，服务端发送 </a:t>
            </a:r>
            <a:r>
              <a:rPr lang="en-US" sz="579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[DONE]</a:t>
            </a:r>
            <a:r>
              <a:rPr lang="en-US" sz="811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关闭连接。</a:t>
            </a:r>
            <a:endParaRPr lang="en-US" sz="811" dirty="0"/>
          </a:p>
        </p:txBody>
      </p:sp>
      <p:sp>
        <p:nvSpPr>
          <p:cNvPr id="15" name="TextBox 42"/>
          <p:cNvSpPr/>
          <p:nvPr/>
        </p:nvSpPr>
        <p:spPr>
          <a:xfrm>
            <a:off x="428625" y="4645596"/>
            <a:ext cx="8286750" cy="155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57"/>
              </a:lnSpc>
              <a:buNone/>
            </a:pPr>
            <a:r>
              <a:rPr lang="en-US" sz="811" b="1" dirty="0">
                <a:solidFill>
                  <a:srgbClr val="625D5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用户感知差异：</a:t>
            </a:r>
            <a:r>
              <a:rPr lang="en-US" sz="811" dirty="0">
                <a:solidFill>
                  <a:srgbClr val="625D5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500 token 非流式 → 等 5–15 秒后一次性看到完整回答；500 token 流式 → 0.5–1 秒内看到第一个字，后续文字以阅读速度逐步出现。用户从"等待"变为"观看"。</a:t>
            </a:r>
            <a:endParaRPr lang="en-US" sz="811" dirty="0"/>
          </a:p>
        </p:txBody>
      </p:sp>
      <p:sp>
        <p:nvSpPr>
          <p:cNvPr id="16" name="TextBox 45"/>
          <p:cNvSpPr/>
          <p:nvPr/>
        </p:nvSpPr>
        <p:spPr>
          <a:xfrm>
            <a:off x="8805453" y="4898231"/>
            <a:ext cx="71847" cy="928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53"/>
              </a:lnSpc>
              <a:buNone/>
            </a:pPr>
            <a:r>
              <a:rPr lang="en-US" sz="502" spc="40" kern="0" dirty="0">
                <a:solidFill>
                  <a:srgbClr val="625D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</a:t>
            </a:r>
            <a:endParaRPr lang="en-US" sz="502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/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/>
        </p:spPr>
      </p:sp>
      <p:sp>
        <p:nvSpPr>
          <p:cNvPr id="4" name="TextBox 8"/>
          <p:cNvSpPr/>
          <p:nvPr/>
        </p:nvSpPr>
        <p:spPr>
          <a:xfrm>
            <a:off x="381000" y="266700"/>
            <a:ext cx="686767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11"/>
              </a:lnSpc>
              <a:buNone/>
            </a:pPr>
            <a:r>
              <a:rPr lang="en-US" sz="541" spc="54" kern="0" dirty="0">
                <a:solidFill>
                  <a:srgbClr val="9C424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4 · 流式输出</a:t>
            </a:r>
            <a:endParaRPr lang="en-US" sz="541" dirty="0"/>
          </a:p>
        </p:txBody>
      </p:sp>
      <p:sp>
        <p:nvSpPr>
          <p:cNvPr id="5" name="Shape 10"/>
          <p:cNvSpPr/>
          <p:nvPr/>
        </p:nvSpPr>
        <p:spPr>
          <a:xfrm>
            <a:off x="1115392" y="309563"/>
            <a:ext cx="228600" cy="14287"/>
          </a:xfrm>
          <a:prstGeom prst="rect">
            <a:avLst/>
          </a:prstGeom>
          <a:solidFill>
            <a:srgbClr val="9C4246"/>
          </a:solidFill>
          <a:ln/>
        </p:spPr>
      </p:sp>
      <p:sp>
        <p:nvSpPr>
          <p:cNvPr id="6" name="TextBox 13"/>
          <p:cNvSpPr/>
          <p:nvPr/>
        </p:nvSpPr>
        <p:spPr>
          <a:xfrm>
            <a:off x="381000" y="442913"/>
            <a:ext cx="8382000" cy="224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22"/>
              </a:lnSpc>
              <a:buNone/>
            </a:pPr>
            <a:r>
              <a:rPr lang="en-US" sz="1544" b="1" spc="-23" kern="0" dirty="0">
                <a:solidFill>
                  <a:srgbClr val="1B150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流式输出的代码实现（Python + 前端 JavaScript）</a:t>
            </a:r>
            <a:endParaRPr lang="en-US" sz="1544" dirty="0"/>
          </a:p>
        </p:txBody>
      </p:sp>
      <p:sp>
        <p:nvSpPr>
          <p:cNvPr id="7" name="Shape 17"/>
          <p:cNvSpPr/>
          <p:nvPr/>
        </p:nvSpPr>
        <p:spPr>
          <a:xfrm>
            <a:off x="381000" y="743880"/>
            <a:ext cx="4105275" cy="3542370"/>
          </a:xfrm>
          <a:prstGeom prst="roundRect">
            <a:avLst>
              <a:gd name="adj" fmla="val 831"/>
            </a:avLst>
          </a:prstGeom>
          <a:solidFill>
            <a:srgbClr val="F3F2ED"/>
          </a:solidFill>
          <a:ln w="4903">
            <a:solidFill>
              <a:srgbClr val="D9D7D2"/>
            </a:solidFill>
            <a:prstDash val="solid"/>
          </a:ln>
        </p:spPr>
      </p:sp>
      <p:sp>
        <p:nvSpPr>
          <p:cNvPr id="8" name="TextBox 19"/>
          <p:cNvSpPr/>
          <p:nvPr/>
        </p:nvSpPr>
        <p:spPr>
          <a:xfrm>
            <a:off x="500063" y="843893"/>
            <a:ext cx="3867150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79" dirty="0">
                <a:solidFill>
                  <a:srgbClr val="9C424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Python（OpenAI SDK）</a:t>
            </a:r>
            <a:endParaRPr lang="en-US" sz="579" dirty="0"/>
          </a:p>
        </p:txBody>
      </p:sp>
      <p:sp>
        <p:nvSpPr>
          <p:cNvPr id="9" name="TextBox 21"/>
          <p:cNvSpPr/>
          <p:nvPr/>
        </p:nvSpPr>
        <p:spPr>
          <a:xfrm>
            <a:off x="500063" y="995102"/>
            <a:ext cx="3867150" cy="2236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openai import OpenAI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client = OpenAI()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stream = client.chat.completions.create(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model="gpt-4o",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messages=[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{"role":"system","content":"你是技术文档写作者。"},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{"role":"user","content":"用 500 字介绍 Transformer。"}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],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temperature=0.5,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max_tokens=1024,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stream=True          # ← 关键：非流式 vs 流式的唯一差异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collected = []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 chunk in stream: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delta = chunk.choices[0].delta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if delta.content: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print(delta.content, end="", flush=True)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# end="" 避免自动换行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# flush=True 强制立即输出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collected.append(delta.content)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full = "".join(collected)  # 生成结束后拿完整文本</a:t>
            </a:r>
            <a:endParaRPr lang="en-US" sz="521" dirty="0"/>
          </a:p>
        </p:txBody>
      </p:sp>
      <p:sp>
        <p:nvSpPr>
          <p:cNvPr id="10" name="Shape 24"/>
          <p:cNvSpPr/>
          <p:nvPr/>
        </p:nvSpPr>
        <p:spPr>
          <a:xfrm>
            <a:off x="4657725" y="743880"/>
            <a:ext cx="4105275" cy="3542370"/>
          </a:xfrm>
          <a:prstGeom prst="roundRect">
            <a:avLst>
              <a:gd name="adj" fmla="val 831"/>
            </a:avLst>
          </a:prstGeom>
          <a:solidFill>
            <a:srgbClr val="F3F2ED"/>
          </a:solidFill>
          <a:ln w="4903">
            <a:solidFill>
              <a:srgbClr val="D9D7D2"/>
            </a:solidFill>
            <a:prstDash val="solid"/>
          </a:ln>
        </p:spPr>
      </p:sp>
      <p:sp>
        <p:nvSpPr>
          <p:cNvPr id="11" name="TextBox 26"/>
          <p:cNvSpPr/>
          <p:nvPr/>
        </p:nvSpPr>
        <p:spPr>
          <a:xfrm>
            <a:off x="4776787" y="843893"/>
            <a:ext cx="3867150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79" dirty="0">
                <a:solidFill>
                  <a:srgbClr val="9C424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JavaScript（fetch + ReadableStream）</a:t>
            </a:r>
            <a:endParaRPr lang="en-US" sz="579" dirty="0"/>
          </a:p>
        </p:txBody>
      </p:sp>
      <p:sp>
        <p:nvSpPr>
          <p:cNvPr id="12" name="TextBox 28"/>
          <p:cNvSpPr/>
          <p:nvPr/>
        </p:nvSpPr>
        <p:spPr>
          <a:xfrm>
            <a:off x="4776787" y="995102"/>
            <a:ext cx="3867150" cy="2796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async function streamChat(messages) {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const res = await fetch(API_URL, {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method: "POST",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headers: {"Content-Type":"application/json",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    "Authorization":`Bearer ${KEY}`},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body: JSON.stringify({model:"gpt-4o",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messages, stream:true})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});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const reader = res.body.getReader();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const decoder = new TextDecoder();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let buffer = "";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while (true) {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const {done, value} = await reader.read();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if (done) break;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buffer += decoder.decode(value, {stream:true});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const lines = buffer.split("\n");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buffer = lines.pop();  // 最后一行可能不完整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for (const line of lines) {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if (line.startsWith("data: ")) {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const data = line.slice(6);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if (data === "[DONE]") return;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try {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const chunk = JSON.parse(data);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const c = chunk.choices[0]?.delta?.content;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if (c) appendToChatUI(c);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} catch(e) {}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}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}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}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521" dirty="0"/>
          </a:p>
        </p:txBody>
      </p:sp>
      <p:sp>
        <p:nvSpPr>
          <p:cNvPr id="13" name="TextBox 34"/>
          <p:cNvSpPr/>
          <p:nvPr/>
        </p:nvSpPr>
        <p:spPr>
          <a:xfrm>
            <a:off x="381000" y="4362450"/>
            <a:ext cx="83820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2"/>
              </a:lnSpc>
              <a:buNone/>
            </a:pPr>
            <a:r>
              <a:rPr lang="en-US" sz="695" b="1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三个关键注意事项：</a:t>
            </a:r>
            <a:endParaRPr lang="en-US" sz="695" dirty="0"/>
          </a:p>
        </p:txBody>
      </p:sp>
      <p:sp>
        <p:nvSpPr>
          <p:cNvPr id="14" name="TextBox 36"/>
          <p:cNvSpPr/>
          <p:nvPr/>
        </p:nvSpPr>
        <p:spPr>
          <a:xfrm>
            <a:off x="381000" y="4491038"/>
            <a:ext cx="8382000" cy="128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2"/>
              </a:lnSpc>
              <a:buNone/>
            </a:pPr>
            <a:r>
              <a:rPr lang="en-US" sz="695" b="1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① 错误处理</a:t>
            </a:r>
            <a:r>
              <a:rPr lang="en-US" sz="695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— 网络中断或模型出错可能在任何时刻发生，前端需处理 reader.read() 的异常并给出提示。</a:t>
            </a:r>
            <a:endParaRPr lang="en-US" sz="695" dirty="0"/>
          </a:p>
        </p:txBody>
      </p:sp>
      <p:sp>
        <p:nvSpPr>
          <p:cNvPr id="15" name="TextBox 38"/>
          <p:cNvSpPr/>
          <p:nvPr/>
        </p:nvSpPr>
        <p:spPr>
          <a:xfrm>
            <a:off x="381000" y="4619625"/>
            <a:ext cx="83820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2"/>
              </a:lnSpc>
              <a:buNone/>
            </a:pPr>
            <a:r>
              <a:rPr lang="en-US" sz="695" b="1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② 缓冲策略</a:t>
            </a:r>
            <a:r>
              <a:rPr lang="en-US" sz="695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— 不要每收到 1 个 token 就更新 DOM，高频操作会导致卡顿。实践中做 30–50ms 防抖缓冲，将多个 chunk 合并后一次性渲染。</a:t>
            </a:r>
            <a:endParaRPr lang="en-US" sz="695" dirty="0"/>
          </a:p>
        </p:txBody>
      </p:sp>
      <p:sp>
        <p:nvSpPr>
          <p:cNvPr id="16" name="TextBox 40"/>
          <p:cNvSpPr/>
          <p:nvPr/>
        </p:nvSpPr>
        <p:spPr>
          <a:xfrm>
            <a:off x="381000" y="4748213"/>
            <a:ext cx="8382000" cy="128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2"/>
              </a:lnSpc>
              <a:buNone/>
            </a:pPr>
            <a:r>
              <a:rPr lang="en-US" sz="695" b="1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③ 取消机制</a:t>
            </a:r>
            <a:r>
              <a:rPr lang="en-US" sz="695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— 用户可能中途点击"停止生成"，前端需通过 AbortController 取消 fetch，避免浪费算力和成本。</a:t>
            </a:r>
            <a:endParaRPr lang="en-US" sz="695" dirty="0"/>
          </a:p>
        </p:txBody>
      </p:sp>
      <p:sp>
        <p:nvSpPr>
          <p:cNvPr id="17" name="TextBox 44"/>
          <p:cNvSpPr/>
          <p:nvPr/>
        </p:nvSpPr>
        <p:spPr>
          <a:xfrm>
            <a:off x="8805453" y="4898231"/>
            <a:ext cx="71847" cy="928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53"/>
              </a:lnSpc>
              <a:buNone/>
            </a:pPr>
            <a:r>
              <a:rPr lang="en-US" sz="502" spc="40" kern="0" dirty="0">
                <a:solidFill>
                  <a:srgbClr val="625D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</a:t>
            </a:r>
            <a:endParaRPr lang="en-US" sz="502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/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/>
        </p:spPr>
      </p:sp>
      <p:sp>
        <p:nvSpPr>
          <p:cNvPr id="4" name="TextBox 8"/>
          <p:cNvSpPr/>
          <p:nvPr/>
        </p:nvSpPr>
        <p:spPr>
          <a:xfrm>
            <a:off x="428625" y="342900"/>
            <a:ext cx="760102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11"/>
              </a:lnSpc>
              <a:buNone/>
            </a:pPr>
            <a:r>
              <a:rPr lang="en-US" sz="541" spc="54" kern="0" dirty="0">
                <a:solidFill>
                  <a:srgbClr val="9C424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1 · 结构化输出</a:t>
            </a:r>
            <a:endParaRPr lang="en-US" sz="541" dirty="0"/>
          </a:p>
        </p:txBody>
      </p:sp>
      <p:sp>
        <p:nvSpPr>
          <p:cNvPr id="5" name="Shape 10"/>
          <p:cNvSpPr/>
          <p:nvPr/>
        </p:nvSpPr>
        <p:spPr>
          <a:xfrm>
            <a:off x="1236352" y="385763"/>
            <a:ext cx="228600" cy="14287"/>
          </a:xfrm>
          <a:prstGeom prst="rect">
            <a:avLst/>
          </a:prstGeom>
          <a:solidFill>
            <a:srgbClr val="9C4246"/>
          </a:solidFill>
          <a:ln/>
        </p:spPr>
      </p:sp>
      <p:sp>
        <p:nvSpPr>
          <p:cNvPr id="6" name="TextBox 13"/>
          <p:cNvSpPr/>
          <p:nvPr/>
        </p:nvSpPr>
        <p:spPr>
          <a:xfrm>
            <a:off x="428625" y="557212"/>
            <a:ext cx="8286750" cy="224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22"/>
              </a:lnSpc>
              <a:buNone/>
            </a:pPr>
            <a:r>
              <a:rPr lang="en-US" sz="1544" b="1" spc="-23" kern="0" dirty="0">
                <a:solidFill>
                  <a:srgbClr val="1B150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为什么应用开发需要 JSON 等结构化输出？</a:t>
            </a:r>
            <a:endParaRPr lang="en-US" sz="1544" dirty="0"/>
          </a:p>
        </p:txBody>
      </p:sp>
      <p:sp>
        <p:nvSpPr>
          <p:cNvPr id="7" name="TextBox 19"/>
          <p:cNvSpPr/>
          <p:nvPr/>
        </p:nvSpPr>
        <p:spPr>
          <a:xfrm>
            <a:off x="428625" y="896280"/>
            <a:ext cx="4057650" cy="155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57"/>
              </a:lnSpc>
              <a:buNone/>
            </a:pPr>
            <a:r>
              <a:rPr lang="en-US" sz="811" b="1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如果模型只返回自然语言……</a:t>
            </a:r>
            <a:endParaRPr lang="en-US" sz="811" dirty="0"/>
          </a:p>
        </p:txBody>
      </p:sp>
      <p:sp>
        <p:nvSpPr>
          <p:cNvPr id="8" name="Shape 21"/>
          <p:cNvSpPr/>
          <p:nvPr/>
        </p:nvSpPr>
        <p:spPr>
          <a:xfrm>
            <a:off x="428625" y="1127485"/>
            <a:ext cx="4057650" cy="717947"/>
          </a:xfrm>
          <a:prstGeom prst="roundRect">
            <a:avLst>
              <a:gd name="adj" fmla="val 4098"/>
            </a:avLst>
          </a:prstGeom>
          <a:solidFill>
            <a:srgbClr val="F3F2ED"/>
          </a:solidFill>
          <a:ln w="4903">
            <a:solidFill>
              <a:srgbClr val="D9D7D2"/>
            </a:solidFill>
            <a:prstDash val="solid"/>
          </a:ln>
        </p:spPr>
      </p:sp>
      <p:sp>
        <p:nvSpPr>
          <p:cNvPr id="9" name="TextBox 23"/>
          <p:cNvSpPr/>
          <p:nvPr/>
        </p:nvSpPr>
        <p:spPr>
          <a:xfrm>
            <a:off x="547687" y="1227497"/>
            <a:ext cx="3819525" cy="517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用户："北京今天天气怎么样？"</a:t>
            </a:r>
            <a:endParaRPr lang="en-US" sz="560" dirty="0"/>
          </a:p>
          <a:p>
            <a:pPr algn="l" indent="0" marL="0">
              <a:lnSpc>
                <a:spcPts val="840"/>
              </a:lnSpc>
              <a:buNone/>
            </a:pPr>
            <a:endParaRPr lang="en-US" sz="560" dirty="0"/>
          </a:p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模型回复：</a:t>
            </a:r>
            <a:endParaRPr lang="en-US" sz="560" dirty="0"/>
          </a:p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"北京今天天气晴朗，气温 25°C，</a:t>
            </a:r>
            <a:endParaRPr lang="en-US" sz="560" dirty="0"/>
          </a:p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湿度 45%，适合户外活动。"</a:t>
            </a:r>
            <a:endParaRPr lang="en-US" sz="560" dirty="0"/>
          </a:p>
        </p:txBody>
      </p:sp>
      <p:sp>
        <p:nvSpPr>
          <p:cNvPr id="10" name="TextBox 26"/>
          <p:cNvSpPr/>
          <p:nvPr/>
        </p:nvSpPr>
        <p:spPr>
          <a:xfrm>
            <a:off x="428625" y="1921631"/>
            <a:ext cx="40576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2"/>
              </a:lnSpc>
              <a:buNone/>
            </a:pPr>
            <a:r>
              <a:rPr lang="en-US" sz="695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这段文本对人类友好，但对</a:t>
            </a:r>
            <a:r>
              <a:rPr lang="en-US" sz="695" b="1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程序</a:t>
            </a:r>
            <a:r>
              <a:rPr lang="en-US" sz="695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来说是解析噩梦——你需要再写一个 NLP 模块来提取城市、温度、天气状况，而且每次模型的措辞都可能不同。</a:t>
            </a:r>
            <a:endParaRPr lang="en-US" sz="695" dirty="0"/>
          </a:p>
        </p:txBody>
      </p:sp>
      <p:sp>
        <p:nvSpPr>
          <p:cNvPr id="11" name="TextBox 31"/>
          <p:cNvSpPr/>
          <p:nvPr/>
        </p:nvSpPr>
        <p:spPr>
          <a:xfrm>
            <a:off x="4657725" y="896280"/>
            <a:ext cx="4057650" cy="155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57"/>
              </a:lnSpc>
              <a:buNone/>
            </a:pPr>
            <a:r>
              <a:rPr lang="en-US" sz="811" b="1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结构化输出的核心价值：让程序可靠地消费模型输出</a:t>
            </a:r>
            <a:endParaRPr lang="en-US" sz="811" dirty="0"/>
          </a:p>
        </p:txBody>
      </p:sp>
      <p:sp>
        <p:nvSpPr>
          <p:cNvPr id="12" name="Shape 33"/>
          <p:cNvSpPr/>
          <p:nvPr/>
        </p:nvSpPr>
        <p:spPr>
          <a:xfrm>
            <a:off x="4657725" y="1127485"/>
            <a:ext cx="4057650" cy="821531"/>
          </a:xfrm>
          <a:prstGeom prst="roundRect">
            <a:avLst>
              <a:gd name="adj" fmla="val 3581"/>
            </a:avLst>
          </a:prstGeom>
          <a:solidFill>
            <a:srgbClr val="F3F2ED"/>
          </a:solidFill>
          <a:ln w="4903">
            <a:solidFill>
              <a:srgbClr val="D9D7D2"/>
            </a:solidFill>
            <a:prstDash val="solid"/>
          </a:ln>
        </p:spPr>
      </p:sp>
      <p:sp>
        <p:nvSpPr>
          <p:cNvPr id="13" name="TextBox 35"/>
          <p:cNvSpPr/>
          <p:nvPr/>
        </p:nvSpPr>
        <p:spPr>
          <a:xfrm>
            <a:off x="4776787" y="1227497"/>
            <a:ext cx="3819525" cy="621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endParaRPr lang="en-US" sz="560" dirty="0"/>
          </a:p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"city": "北京",</a:t>
            </a:r>
            <a:endParaRPr lang="en-US" sz="560" dirty="0"/>
          </a:p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"temperature": 25,</a:t>
            </a:r>
            <a:endParaRPr lang="en-US" sz="560" dirty="0"/>
          </a:p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"condition": "晴朗",</a:t>
            </a:r>
            <a:endParaRPr lang="en-US" sz="560" dirty="0"/>
          </a:p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"humidity": 45</a:t>
            </a:r>
            <a:endParaRPr lang="en-US" sz="560" dirty="0"/>
          </a:p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560" dirty="0"/>
          </a:p>
        </p:txBody>
      </p:sp>
      <p:sp>
        <p:nvSpPr>
          <p:cNvPr id="14" name="TextBox 38"/>
          <p:cNvSpPr/>
          <p:nvPr/>
        </p:nvSpPr>
        <p:spPr>
          <a:xfrm>
            <a:off x="4657725" y="2025216"/>
            <a:ext cx="405765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2"/>
              </a:lnSpc>
              <a:buNone/>
            </a:pPr>
            <a:r>
              <a:rPr lang="en-US" sz="695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程序可以直接用 </a:t>
            </a:r>
            <a:r>
              <a:rPr lang="en-US" sz="579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data.city</a:t>
            </a:r>
            <a:r>
              <a:rPr lang="en-US" sz="695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、</a:t>
            </a:r>
            <a:r>
              <a:rPr lang="en-US" sz="579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data.temperature</a:t>
            </a:r>
            <a:r>
              <a:rPr lang="en-US" sz="695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驱动后续逻辑——无需解析、不会出错、永远一致。</a:t>
            </a:r>
            <a:endParaRPr lang="en-US" sz="695" dirty="0"/>
          </a:p>
        </p:txBody>
      </p:sp>
      <p:sp>
        <p:nvSpPr>
          <p:cNvPr id="15" name="Shape 42"/>
          <p:cNvSpPr/>
          <p:nvPr/>
        </p:nvSpPr>
        <p:spPr>
          <a:xfrm>
            <a:off x="428625" y="4096159"/>
            <a:ext cx="8286750" cy="704440"/>
          </a:xfrm>
          <a:prstGeom prst="roundRect">
            <a:avLst>
              <a:gd name="adj" fmla="val 2784"/>
            </a:avLst>
          </a:prstGeom>
          <a:noFill/>
          <a:ln w="4903">
            <a:solidFill>
              <a:srgbClr val="D9D7D2"/>
            </a:solidFill>
            <a:prstDash val="solid"/>
          </a:ln>
        </p:spPr>
      </p:sp>
      <p:graphicFrame>
        <p:nvGraphicFramePr>
          <p:cNvPr id="14" name="Table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3387" y="4100922"/>
          <a:ext cx="8277225" cy="914400"/>
        </p:xfrm>
        <a:graphic>
          <a:graphicData uri="http://schemas.openxmlformats.org/drawingml/2006/table">
            <a:tbl>
              <a:tblPr/>
              <a:tblGrid>
                <a:gridCol w="1324347"/>
                <a:gridCol w="2483160"/>
                <a:gridCol w="446971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728"/>
                        </a:lnSpc>
                        <a:buNone/>
                      </a:pPr>
                      <a:r>
                        <a:rPr lang="en-US" sz="502" b="1" spc="10" kern="0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场景</a:t>
                      </a:r>
                      <a:endParaRPr lang="en-US" sz="502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63742" marR="63742" marT="49032" marB="490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806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728"/>
                        </a:lnSpc>
                        <a:buNone/>
                      </a:pPr>
                      <a:r>
                        <a:rPr lang="en-US" sz="502" b="1" spc="10" kern="0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输入</a:t>
                      </a:r>
                      <a:endParaRPr lang="en-US" sz="502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63742" marR="63742" marT="49032" marB="490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806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728"/>
                        </a:lnSpc>
                        <a:buNone/>
                      </a:pPr>
                      <a:r>
                        <a:rPr lang="en-US" sz="502" b="1" spc="10" kern="0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期望输出</a:t>
                      </a:r>
                      <a:endParaRPr lang="en-US" sz="502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63742" marR="63742" marT="49032" marB="490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806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12"/>
                        </a:lnSpc>
                        <a:buNone/>
                      </a:pPr>
                      <a:r>
                        <a:rPr lang="en-US" sz="560" b="1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信息抽取</a:t>
                      </a:r>
                      <a:endParaRPr lang="en-US" sz="56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12"/>
                        </a:lnSpc>
                        <a:buNone/>
                      </a:pPr>
                      <a:r>
                        <a:rPr lang="en-US" sz="560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一段产品描述</a:t>
                      </a:r>
                      <a:endParaRPr lang="en-US" sz="56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12"/>
                        </a:lnSpc>
                        <a:buNone/>
                      </a:pPr>
                      <a:r>
                        <a:rPr lang="en-US" sz="560" dirty="0">
                          <a:solidFill>
                            <a:srgbClr val="1B150D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{"product_name":"...", "price":..., "features":[...]}</a:t>
                      </a:r>
                      <a:endParaRPr lang="en-US" sz="56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12"/>
                        </a:lnSpc>
                        <a:buNone/>
                      </a:pPr>
                      <a:r>
                        <a:rPr lang="en-US" sz="560" b="1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智能路由</a:t>
                      </a:r>
                      <a:endParaRPr lang="en-US" sz="56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12"/>
                        </a:lnSpc>
                        <a:buNone/>
                      </a:pPr>
                      <a:r>
                        <a:rPr lang="en-US" sz="560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用户查询"退货流程"</a:t>
                      </a:r>
                      <a:endParaRPr lang="en-US" sz="56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12"/>
                        </a:lnSpc>
                        <a:buNone/>
                      </a:pPr>
                      <a:r>
                        <a:rPr lang="en-US" sz="560" dirty="0">
                          <a:solidFill>
                            <a:srgbClr val="1B150D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{"intent":"return", "sentiment":"neutral", "priority":"normal"}</a:t>
                      </a:r>
                      <a:endParaRPr lang="en-US" sz="56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12"/>
                        </a:lnSpc>
                        <a:buNone/>
                      </a:pPr>
                      <a:r>
                        <a:rPr lang="en-US" sz="560" b="1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表单填充</a:t>
                      </a:r>
                      <a:endParaRPr lang="en-US" sz="56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12"/>
                        </a:lnSpc>
                        <a:buNone/>
                      </a:pPr>
                      <a:r>
                        <a:rPr lang="en-US" sz="560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用户语音输入</a:t>
                      </a:r>
                      <a:endParaRPr lang="en-US" sz="56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12"/>
                        </a:lnSpc>
                        <a:buNone/>
                      </a:pPr>
                      <a:r>
                        <a:rPr lang="en-US" sz="560" dirty="0">
                          <a:solidFill>
                            <a:srgbClr val="1B150D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{"name":"张三", "phone":"138...", "address":"..."}</a:t>
                      </a:r>
                      <a:endParaRPr lang="en-US" sz="56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7" name="TextBox 48"/>
          <p:cNvSpPr/>
          <p:nvPr/>
        </p:nvSpPr>
        <p:spPr>
          <a:xfrm>
            <a:off x="8805453" y="4898231"/>
            <a:ext cx="71847" cy="928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53"/>
              </a:lnSpc>
              <a:buNone/>
            </a:pPr>
            <a:r>
              <a:rPr lang="en-US" sz="502" spc="40" kern="0" dirty="0">
                <a:solidFill>
                  <a:srgbClr val="625D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</a:t>
            </a:r>
            <a:endParaRPr lang="en-US" sz="502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/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/>
        </p:spPr>
      </p:sp>
      <p:sp>
        <p:nvSpPr>
          <p:cNvPr id="4" name="TextBox 8"/>
          <p:cNvSpPr/>
          <p:nvPr/>
        </p:nvSpPr>
        <p:spPr>
          <a:xfrm>
            <a:off x="381000" y="266700"/>
            <a:ext cx="760102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11"/>
              </a:lnSpc>
              <a:buNone/>
            </a:pPr>
            <a:r>
              <a:rPr lang="en-US" sz="541" spc="54" kern="0" dirty="0">
                <a:solidFill>
                  <a:srgbClr val="9C424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1 · 结构化输出</a:t>
            </a:r>
            <a:endParaRPr lang="en-US" sz="541" dirty="0"/>
          </a:p>
        </p:txBody>
      </p:sp>
      <p:sp>
        <p:nvSpPr>
          <p:cNvPr id="5" name="Shape 10"/>
          <p:cNvSpPr/>
          <p:nvPr/>
        </p:nvSpPr>
        <p:spPr>
          <a:xfrm>
            <a:off x="1188727" y="309563"/>
            <a:ext cx="228600" cy="14287"/>
          </a:xfrm>
          <a:prstGeom prst="rect">
            <a:avLst/>
          </a:prstGeom>
          <a:solidFill>
            <a:srgbClr val="9C4246"/>
          </a:solidFill>
          <a:ln/>
        </p:spPr>
      </p:sp>
      <p:sp>
        <p:nvSpPr>
          <p:cNvPr id="6" name="TextBox 13"/>
          <p:cNvSpPr/>
          <p:nvPr/>
        </p:nvSpPr>
        <p:spPr>
          <a:xfrm>
            <a:off x="381000" y="461963"/>
            <a:ext cx="8382000" cy="224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22"/>
              </a:lnSpc>
              <a:buNone/>
            </a:pPr>
            <a:r>
              <a:rPr lang="en-US" sz="1544" b="1" spc="-23" kern="0" dirty="0">
                <a:solidFill>
                  <a:srgbClr val="1B150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怎么保证模型输出合法的 JSON？四种方案对比</a:t>
            </a:r>
            <a:endParaRPr lang="en-US" sz="1544" dirty="0"/>
          </a:p>
        </p:txBody>
      </p:sp>
      <p:sp>
        <p:nvSpPr>
          <p:cNvPr id="7" name="Shape 15"/>
          <p:cNvSpPr/>
          <p:nvPr/>
        </p:nvSpPr>
        <p:spPr>
          <a:xfrm>
            <a:off x="381000" y="781980"/>
            <a:ext cx="8382000" cy="2182267"/>
          </a:xfrm>
          <a:prstGeom prst="roundRect">
            <a:avLst>
              <a:gd name="adj" fmla="val 899"/>
            </a:avLst>
          </a:prstGeom>
          <a:noFill/>
          <a:ln w="4903">
            <a:solidFill>
              <a:srgbClr val="D9D7D2"/>
            </a:solidFill>
            <a:prstDash val="solid"/>
          </a:ln>
        </p:spPr>
      </p:sp>
      <p:graphicFrame>
        <p:nvGraphicFramePr>
          <p:cNvPr id="15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5763" y="786743"/>
          <a:ext cx="8372475" cy="914400"/>
        </p:xfrm>
        <a:graphic>
          <a:graphicData uri="http://schemas.openxmlformats.org/drawingml/2006/table">
            <a:tbl>
              <a:tblPr/>
              <a:tblGrid>
                <a:gridCol w="1507033"/>
                <a:gridCol w="2511735"/>
                <a:gridCol w="1004664"/>
                <a:gridCol w="334904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40"/>
                        </a:lnSpc>
                        <a:buNone/>
                      </a:pPr>
                      <a:r>
                        <a:rPr lang="en-US" sz="579" b="1" spc="12" kern="0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方案</a:t>
                      </a:r>
                      <a:endParaRPr lang="en-US" sz="579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83355" marR="83355" marT="63742" marB="6374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806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40"/>
                        </a:lnSpc>
                        <a:buNone/>
                      </a:pPr>
                      <a:r>
                        <a:rPr lang="en-US" sz="579" b="1" spc="12" kern="0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原理</a:t>
                      </a:r>
                      <a:endParaRPr lang="en-US" sz="579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83355" marR="83355" marT="63742" marB="6374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806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40"/>
                        </a:lnSpc>
                        <a:buNone/>
                      </a:pPr>
                      <a:r>
                        <a:rPr lang="en-US" sz="579" b="1" spc="12" kern="0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可靠性</a:t>
                      </a:r>
                      <a:endParaRPr lang="en-US" sz="579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83355" marR="83355" marT="63742" marB="6374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806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40"/>
                        </a:lnSpc>
                        <a:buNone/>
                      </a:pPr>
                      <a:r>
                        <a:rPr lang="en-US" sz="579" b="1" spc="12" kern="0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适用场景</a:t>
                      </a:r>
                      <a:endParaRPr lang="en-US" sz="579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83355" marR="83355" marT="63742" marB="6374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806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57"/>
                        </a:lnSpc>
                        <a:buNone/>
                      </a:pPr>
                      <a:r>
                        <a:rPr lang="en-US" sz="811" b="1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① Prompt 工程</a:t>
                      </a:r>
                      <a:endParaRPr lang="en-US" sz="811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83355" marR="83355" marT="53936" marB="5393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57"/>
                        </a:lnSpc>
                        <a:buNone/>
                      </a:pPr>
                      <a:r>
                        <a:rPr lang="en-US" sz="811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在 system prompt 中明确要求"请只返回合法的 JSON，不要带任何解释或 markdown 代码块标记"</a:t>
                      </a:r>
                      <a:endParaRPr lang="en-US" sz="811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83355" marR="83355" marT="53936" marB="5393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985"/>
                        </a:lnSpc>
                        <a:buNone/>
                      </a:pPr>
                      <a:r>
                        <a:rPr lang="en-US" sz="656" b="1" dirty="0">
                          <a:solidFill>
                            <a:srgbClr val="9C424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70–90%</a:t>
                      </a:r>
                      <a:endParaRPr lang="en-US" sz="656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83355" marR="83355" marT="53936" marB="5393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57"/>
                        </a:lnSpc>
                        <a:buNone/>
                      </a:pPr>
                      <a:r>
                        <a:rPr lang="en-US" sz="811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快速原型、非关键路径、对格式要求不严格的内部工具</a:t>
                      </a:r>
                      <a:endParaRPr lang="en-US" sz="811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83355" marR="83355" marT="53936" marB="5393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57"/>
                        </a:lnSpc>
                        <a:buNone/>
                      </a:pPr>
                      <a:r>
                        <a:rPr lang="en-US" sz="811" b="1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② 约束采样</a:t>
                      </a:r>
                      <a:endParaRPr lang="en-US" sz="811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  <a:p>
                      <a:pPr algn="l" indent="0" marL="0">
                        <a:lnSpc>
                          <a:spcPts val="840"/>
                        </a:lnSpc>
                        <a:buNone/>
                      </a:pPr>
                      <a:r>
                        <a:rPr lang="en-US" sz="579" b="1" dirty="0">
                          <a:solidFill>
                            <a:srgbClr val="625D56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Guided Generation</a:t>
                      </a:r>
                      <a:endParaRPr lang="en-US" sz="811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83355" marR="83355" marT="53936" marB="5393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40"/>
                        </a:lnSpc>
                        <a:buNone/>
                      </a:pPr>
                      <a:r>
                        <a:rPr lang="en-US" sz="811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在模型生成每个 token 时，实时过滤掉不符合目标 schema 的 token。例如生成了 </a:t>
                      </a:r>
                      <a:r>
                        <a:rPr lang="en-US" sz="579" dirty="0">
                          <a:solidFill>
                            <a:srgbClr val="1B150D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{"name":</a:t>
                      </a:r>
                      <a:r>
                        <a:rPr lang="en-US" sz="811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 之后，下一个 token 只能是字符串开头的 </a:t>
                      </a:r>
                      <a:r>
                        <a:rPr lang="en-US" sz="579" dirty="0">
                          <a:solidFill>
                            <a:srgbClr val="1B150D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"</a:t>
                      </a:r>
                      <a:endParaRPr lang="en-US" sz="811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83355" marR="83355" marT="53936" marB="5393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985"/>
                        </a:lnSpc>
                        <a:buNone/>
                      </a:pPr>
                      <a:r>
                        <a:rPr lang="en-US" sz="656" b="1" dirty="0">
                          <a:solidFill>
                            <a:srgbClr val="9C424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≈ 100%</a:t>
                      </a:r>
                      <a:endParaRPr lang="en-US" sz="656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83355" marR="83355" marT="53936" marB="5393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57"/>
                        </a:lnSpc>
                        <a:buNone/>
                      </a:pPr>
                      <a:r>
                        <a:rPr lang="en-US" sz="811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生产环境、对格式有硬要求的场景。需要自行实现或使用支持约束解码的推理框架</a:t>
                      </a:r>
                      <a:endParaRPr lang="en-US" sz="811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83355" marR="83355" marT="53936" marB="5393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57"/>
                        </a:lnSpc>
                        <a:buNone/>
                      </a:pPr>
                      <a:r>
                        <a:rPr lang="en-US" sz="811" b="1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③ Structured Output API</a:t>
                      </a:r>
                      <a:endParaRPr lang="en-US" sz="811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83355" marR="83355" marT="53936" marB="5393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57"/>
                        </a:lnSpc>
                        <a:buNone/>
                      </a:pPr>
                      <a:r>
                        <a:rPr lang="en-US" sz="811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服务商在 API 层封装约束采样——传入 JSON Schema，API 保证输出严格符合。底层使用有限状态机（FSM）+ 约束解码</a:t>
                      </a:r>
                      <a:endParaRPr lang="en-US" sz="811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83355" marR="83355" marT="53936" marB="5393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985"/>
                        </a:lnSpc>
                        <a:buNone/>
                      </a:pPr>
                      <a:r>
                        <a:rPr lang="en-US" sz="656" b="1" dirty="0">
                          <a:solidFill>
                            <a:srgbClr val="9C424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≈ 100%</a:t>
                      </a:r>
                      <a:endParaRPr lang="en-US" sz="656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83355" marR="83355" marT="53936" marB="5393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57"/>
                        </a:lnSpc>
                        <a:buNone/>
                      </a:pPr>
                      <a:r>
                        <a:rPr lang="en-US" sz="811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调用方不需要自己实现约束采样，直接使用服务商能力（OpenAI / Anthropic 均已支持）</a:t>
                      </a:r>
                      <a:endParaRPr lang="en-US" sz="811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83355" marR="83355" marT="53936" marB="5393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57"/>
                        </a:lnSpc>
                        <a:buNone/>
                      </a:pPr>
                      <a:r>
                        <a:rPr lang="en-US" sz="811" b="1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④ 后处理 + 重试</a:t>
                      </a:r>
                      <a:endParaRPr lang="en-US" sz="811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83355" marR="83355" marT="53936" marB="5393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57"/>
                        </a:lnSpc>
                        <a:buNone/>
                      </a:pPr>
                      <a:r>
                        <a:rPr lang="en-US" sz="811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尝试 </a:t>
                      </a:r>
                      <a:r>
                        <a:rPr lang="en-US" sz="579" dirty="0">
                          <a:solidFill>
                            <a:srgbClr val="1B150D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JSON.parse()</a:t>
                      </a:r>
                      <a:r>
                        <a:rPr lang="en-US" sz="811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，失败则把错误信息反馈给模型让它重试。反复 2–3 次后成功率可达约 98%</a:t>
                      </a:r>
                      <a:endParaRPr lang="en-US" sz="811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83355" marR="83355" marT="53936" marB="5393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985"/>
                        </a:lnSpc>
                        <a:buNone/>
                      </a:pPr>
                      <a:r>
                        <a:rPr lang="en-US" sz="656" b="1" dirty="0">
                          <a:solidFill>
                            <a:srgbClr val="9C424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≈ 98%</a:t>
                      </a:r>
                      <a:endParaRPr lang="en-US" sz="656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83355" marR="83355" marT="53936" marB="5393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57"/>
                        </a:lnSpc>
                        <a:buNone/>
                      </a:pPr>
                      <a:r>
                        <a:rPr lang="en-US" sz="811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作为兜底策略，与方案①搭配使用。有额外的 token 成本和时间延迟</a:t>
                      </a:r>
                      <a:endParaRPr lang="en-US" sz="811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83355" marR="83355" marT="53936" marB="5393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id="9" name="Picture 20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000" y="3078547"/>
            <a:ext cx="8382000" cy="405259"/>
          </a:xfrm>
          <a:prstGeom prst="rect">
            <a:avLst/>
          </a:prstGeom>
        </p:spPr>
      </p:pic>
      <p:sp>
        <p:nvSpPr>
          <p:cNvPr id="10" name="TextBox 20"/>
          <p:cNvSpPr/>
          <p:nvPr/>
        </p:nvSpPr>
        <p:spPr>
          <a:xfrm>
            <a:off x="381000" y="3078547"/>
            <a:ext cx="8382000" cy="405259"/>
          </a:xfrm>
          <a:prstGeom prst="rect">
            <a:avLst/>
          </a:prstGeom>
          <a:noFill/>
          <a:ln/>
        </p:spPr>
        <p:txBody>
          <a:bodyPr wrap="square" lIns="98065" tIns="49032" rIns="0" bIns="49032" rtlCol="0" anchor="t">
            <a:spAutoFit/>
          </a:bodyPr>
          <a:lstStyle/>
          <a:p>
            <a:pPr algn="l" indent="0" marL="0">
              <a:lnSpc>
                <a:spcPts val="1257"/>
              </a:lnSpc>
              <a:buNone/>
            </a:pPr>
            <a:r>
              <a:rPr lang="en-US" sz="811" b="1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关键区别：</a:t>
            </a:r>
            <a:r>
              <a:rPr lang="en-US" sz="811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方案①和④在 prompt 层面"劝说"模型——本质是概率性的。方案②和③直接改变了模型的</a:t>
            </a:r>
            <a:r>
              <a:rPr lang="en-US" sz="811" b="1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解码过程</a:t>
            </a:r>
            <a:r>
              <a:rPr lang="en-US" sz="811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——从数学上保证输出符合 schema，两者有本质差异。生产环境应优先使用③或②。</a:t>
            </a:r>
            <a:endParaRPr lang="en-US" sz="811" dirty="0"/>
          </a:p>
        </p:txBody>
      </p:sp>
      <p:sp>
        <p:nvSpPr>
          <p:cNvPr id="11" name="TextBox 23"/>
          <p:cNvSpPr/>
          <p:nvPr/>
        </p:nvSpPr>
        <p:spPr>
          <a:xfrm>
            <a:off x="8805453" y="4898231"/>
            <a:ext cx="71847" cy="928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53"/>
              </a:lnSpc>
              <a:buNone/>
            </a:pPr>
            <a:r>
              <a:rPr lang="en-US" sz="502" spc="40" kern="0" dirty="0">
                <a:solidFill>
                  <a:srgbClr val="625D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</a:t>
            </a:r>
            <a:endParaRPr lang="en-US" sz="502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/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/>
        </p:spPr>
      </p:sp>
      <p:sp>
        <p:nvSpPr>
          <p:cNvPr id="4" name="TextBox 8"/>
          <p:cNvSpPr/>
          <p:nvPr/>
        </p:nvSpPr>
        <p:spPr>
          <a:xfrm>
            <a:off x="428625" y="342900"/>
            <a:ext cx="1033462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11"/>
              </a:lnSpc>
              <a:buNone/>
            </a:pPr>
            <a:r>
              <a:rPr lang="en-US" sz="541" spc="54" kern="0" dirty="0">
                <a:solidFill>
                  <a:srgbClr val="9C424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2 · FUNCTION CALLING</a:t>
            </a:r>
            <a:endParaRPr lang="en-US" sz="541" dirty="0"/>
          </a:p>
        </p:txBody>
      </p:sp>
      <p:sp>
        <p:nvSpPr>
          <p:cNvPr id="5" name="Shape 10"/>
          <p:cNvSpPr/>
          <p:nvPr/>
        </p:nvSpPr>
        <p:spPr>
          <a:xfrm>
            <a:off x="1509712" y="385763"/>
            <a:ext cx="228600" cy="14287"/>
          </a:xfrm>
          <a:prstGeom prst="rect">
            <a:avLst/>
          </a:prstGeom>
          <a:solidFill>
            <a:srgbClr val="9C4246"/>
          </a:solidFill>
          <a:ln/>
        </p:spPr>
      </p:sp>
      <p:sp>
        <p:nvSpPr>
          <p:cNvPr id="6" name="TextBox 13"/>
          <p:cNvSpPr/>
          <p:nvPr/>
        </p:nvSpPr>
        <p:spPr>
          <a:xfrm>
            <a:off x="428625" y="557212"/>
            <a:ext cx="8286750" cy="224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22"/>
              </a:lnSpc>
              <a:buNone/>
            </a:pPr>
            <a:r>
              <a:rPr lang="en-US" sz="1544" b="1" spc="-23" kern="0" dirty="0">
                <a:solidFill>
                  <a:srgbClr val="1B150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Function Calling：让模型"伸手"要信息</a:t>
            </a:r>
            <a:endParaRPr lang="en-US" sz="1544" dirty="0"/>
          </a:p>
        </p:txBody>
      </p:sp>
      <p:sp>
        <p:nvSpPr>
          <p:cNvPr id="7" name="TextBox 15"/>
          <p:cNvSpPr/>
          <p:nvPr/>
        </p:nvSpPr>
        <p:spPr>
          <a:xfrm>
            <a:off x="428625" y="896280"/>
            <a:ext cx="7619999" cy="310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57"/>
              </a:lnSpc>
              <a:buNone/>
            </a:pPr>
            <a:r>
              <a:rPr lang="en-US" sz="811" b="1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模型的天然局限：</a:t>
            </a:r>
            <a:r>
              <a:rPr lang="en-US" sz="811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它只有训练数据，不知道实时信息。用户问"北京现在几度？"，传统方案是开发者在提问前就查好天气拼进 prompt——但这让业务逻辑和对话逻辑耦合在一起，而且你无法提前知道模型"想要"什么外部信息。</a:t>
            </a:r>
            <a:endParaRPr lang="en-US" sz="811" dirty="0"/>
          </a:p>
        </p:txBody>
      </p:sp>
      <p:sp>
        <p:nvSpPr>
          <p:cNvPr id="8" name="TextBox 21"/>
          <p:cNvSpPr/>
          <p:nvPr/>
        </p:nvSpPr>
        <p:spPr>
          <a:xfrm>
            <a:off x="428625" y="1320589"/>
            <a:ext cx="4057650" cy="155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57"/>
              </a:lnSpc>
              <a:buNone/>
            </a:pPr>
            <a:r>
              <a:rPr lang="en-US" sz="811" b="1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传统方案：开发者预编排</a:t>
            </a:r>
            <a:endParaRPr lang="en-US" sz="811" dirty="0"/>
          </a:p>
        </p:txBody>
      </p:sp>
      <p:sp>
        <p:nvSpPr>
          <p:cNvPr id="9" name="Shape 23"/>
          <p:cNvSpPr/>
          <p:nvPr/>
        </p:nvSpPr>
        <p:spPr>
          <a:xfrm>
            <a:off x="428625" y="1475594"/>
            <a:ext cx="4057650" cy="821531"/>
          </a:xfrm>
          <a:prstGeom prst="roundRect">
            <a:avLst>
              <a:gd name="adj" fmla="val 3581"/>
            </a:avLst>
          </a:prstGeom>
          <a:solidFill>
            <a:srgbClr val="F3F2ED"/>
          </a:solidFill>
          <a:ln w="4903">
            <a:solidFill>
              <a:srgbClr val="D9D7D2"/>
            </a:solidFill>
            <a:prstDash val="solid"/>
          </a:ln>
        </p:spPr>
      </p:sp>
      <p:sp>
        <p:nvSpPr>
          <p:cNvPr id="10" name="TextBox 25"/>
          <p:cNvSpPr/>
          <p:nvPr/>
        </p:nvSpPr>
        <p:spPr>
          <a:xfrm>
            <a:off x="547687" y="1575606"/>
            <a:ext cx="3819525" cy="621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开发者必须提前决定调用什么</a:t>
            </a:r>
            <a:endParaRPr lang="en-US" sz="560" dirty="0"/>
          </a:p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weather = get_weather("北京")</a:t>
            </a:r>
            <a:endParaRPr lang="en-US" sz="560" dirty="0"/>
          </a:p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prompt = f"天气数据：{weather}\n</a:t>
            </a:r>
            <a:endParaRPr lang="en-US" sz="560" dirty="0"/>
          </a:p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用户问：北京今天天气怎么样？"</a:t>
            </a:r>
            <a:endParaRPr lang="en-US" sz="560" dirty="0"/>
          </a:p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问题是：用户可能问任何城市，</a:t>
            </a:r>
            <a:endParaRPr lang="en-US" sz="560" dirty="0"/>
          </a:p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你可能需要查很多数据</a:t>
            </a:r>
            <a:endParaRPr lang="en-US" sz="560" dirty="0"/>
          </a:p>
        </p:txBody>
      </p:sp>
      <p:sp>
        <p:nvSpPr>
          <p:cNvPr id="11" name="TextBox 28"/>
          <p:cNvSpPr/>
          <p:nvPr/>
        </p:nvSpPr>
        <p:spPr>
          <a:xfrm>
            <a:off x="428625" y="2297125"/>
            <a:ext cx="405765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2"/>
              </a:lnSpc>
              <a:buNone/>
            </a:pPr>
            <a:r>
              <a:rPr lang="en-US" sz="695" dirty="0">
                <a:solidFill>
                  <a:srgbClr val="625D5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控制流由开发者写死——无法应对开放式的用户需求。</a:t>
            </a:r>
            <a:endParaRPr lang="en-US" sz="695" dirty="0"/>
          </a:p>
        </p:txBody>
      </p:sp>
      <p:sp>
        <p:nvSpPr>
          <p:cNvPr id="12" name="TextBox 33"/>
          <p:cNvSpPr/>
          <p:nvPr/>
        </p:nvSpPr>
        <p:spPr>
          <a:xfrm>
            <a:off x="4657725" y="1320589"/>
            <a:ext cx="4057650" cy="155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57"/>
              </a:lnSpc>
              <a:buNone/>
            </a:pPr>
            <a:r>
              <a:rPr lang="en-US" sz="811" b="1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Function Calling：模型动态决策</a:t>
            </a:r>
            <a:endParaRPr lang="en-US" sz="811" dirty="0"/>
          </a:p>
        </p:txBody>
      </p:sp>
      <p:sp>
        <p:nvSpPr>
          <p:cNvPr id="13" name="Shape 35"/>
          <p:cNvSpPr/>
          <p:nvPr/>
        </p:nvSpPr>
        <p:spPr>
          <a:xfrm>
            <a:off x="4657725" y="1475594"/>
            <a:ext cx="4057650" cy="821531"/>
          </a:xfrm>
          <a:prstGeom prst="roundRect">
            <a:avLst>
              <a:gd name="adj" fmla="val 3581"/>
            </a:avLst>
          </a:prstGeom>
          <a:solidFill>
            <a:srgbClr val="F3F2ED"/>
          </a:solidFill>
          <a:ln w="4903">
            <a:solidFill>
              <a:srgbClr val="D9D7D2"/>
            </a:solidFill>
            <a:prstDash val="solid"/>
          </a:ln>
        </p:spPr>
      </p:sp>
      <p:sp>
        <p:nvSpPr>
          <p:cNvPr id="14" name="TextBox 37"/>
          <p:cNvSpPr/>
          <p:nvPr/>
        </p:nvSpPr>
        <p:spPr>
          <a:xfrm>
            <a:off x="4776787" y="1575606"/>
            <a:ext cx="3819525" cy="621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声明可用工具，让模型自己决定</a:t>
            </a:r>
            <a:endParaRPr lang="en-US" sz="560" dirty="0"/>
          </a:p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tools = [get_weather, get_stock, ...]</a:t>
            </a:r>
            <a:endParaRPr lang="en-US" sz="560" dirty="0"/>
          </a:p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prompt = "北京今天天气怎么样？"</a:t>
            </a:r>
            <a:endParaRPr lang="en-US" sz="560" dirty="0"/>
          </a:p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→ 模型返回：我需要调用</a:t>
            </a:r>
            <a:endParaRPr lang="en-US" sz="560" dirty="0"/>
          </a:p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  get_weather(city="北京")</a:t>
            </a:r>
            <a:endParaRPr lang="en-US" sz="560" dirty="0"/>
          </a:p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→ 开发者执行 → 结果回传 → 模型续答</a:t>
            </a:r>
            <a:endParaRPr lang="en-US" sz="560" dirty="0"/>
          </a:p>
        </p:txBody>
      </p:sp>
      <p:sp>
        <p:nvSpPr>
          <p:cNvPr id="15" name="TextBox 40"/>
          <p:cNvSpPr/>
          <p:nvPr/>
        </p:nvSpPr>
        <p:spPr>
          <a:xfrm>
            <a:off x="4657725" y="2297125"/>
            <a:ext cx="405765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2"/>
              </a:lnSpc>
              <a:buNone/>
            </a:pPr>
            <a:r>
              <a:rPr lang="en-US" sz="695" dirty="0">
                <a:solidFill>
                  <a:srgbClr val="625D5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控制流由模型根据语义理解动态决策——应对开放式需求。</a:t>
            </a:r>
            <a:endParaRPr lang="en-US" sz="695" dirty="0"/>
          </a:p>
        </p:txBody>
      </p:sp>
      <p:sp>
        <p:nvSpPr>
          <p:cNvPr id="16" name="TextBox 44"/>
          <p:cNvSpPr/>
          <p:nvPr/>
        </p:nvSpPr>
        <p:spPr>
          <a:xfrm>
            <a:off x="428625" y="4490591"/>
            <a:ext cx="8286750" cy="310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57"/>
              </a:lnSpc>
              <a:buNone/>
            </a:pPr>
            <a:r>
              <a:rPr lang="en-US" sz="811" b="1" dirty="0">
                <a:solidFill>
                  <a:srgbClr val="625D5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直觉类比：</a:t>
            </a:r>
            <a:r>
              <a:rPr lang="en-US" sz="811" dirty="0">
                <a:solidFill>
                  <a:srgbClr val="625D5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你问助手"帮我查北京天气"。助手没手机（不能联网），但他知道该怎么查——他对你（开发者）说："我需要调用 </a:t>
            </a:r>
            <a:r>
              <a:rPr lang="en-US" sz="579" dirty="0">
                <a:solidFill>
                  <a:srgbClr val="625D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get_weather</a:t>
            </a:r>
            <a:r>
              <a:rPr lang="en-US" sz="811" dirty="0">
                <a:solidFill>
                  <a:srgbClr val="625D5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，参数 </a:t>
            </a:r>
            <a:r>
              <a:rPr lang="en-US" sz="579" dirty="0">
                <a:solidFill>
                  <a:srgbClr val="625D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city='北京'</a:t>
            </a:r>
            <a:r>
              <a:rPr lang="en-US" sz="811" dirty="0">
                <a:solidFill>
                  <a:srgbClr val="625D5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"。你拿出手机查完告诉他结果，他再组织语言回答你。</a:t>
            </a:r>
            <a:endParaRPr lang="en-US" sz="811" dirty="0"/>
          </a:p>
        </p:txBody>
      </p:sp>
      <p:sp>
        <p:nvSpPr>
          <p:cNvPr id="17" name="TextBox 47"/>
          <p:cNvSpPr/>
          <p:nvPr/>
        </p:nvSpPr>
        <p:spPr>
          <a:xfrm>
            <a:off x="8805453" y="4898231"/>
            <a:ext cx="71847" cy="928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53"/>
              </a:lnSpc>
              <a:buNone/>
            </a:pPr>
            <a:r>
              <a:rPr lang="en-US" sz="502" spc="40" kern="0" dirty="0">
                <a:solidFill>
                  <a:srgbClr val="625D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</a:t>
            </a:r>
            <a:endParaRPr lang="en-US" sz="502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/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/>
        </p:spPr>
      </p:sp>
      <p:sp>
        <p:nvSpPr>
          <p:cNvPr id="4" name="TextBox 8"/>
          <p:cNvSpPr/>
          <p:nvPr/>
        </p:nvSpPr>
        <p:spPr>
          <a:xfrm>
            <a:off x="381000" y="266700"/>
            <a:ext cx="1033462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11"/>
              </a:lnSpc>
              <a:buNone/>
            </a:pPr>
            <a:r>
              <a:rPr lang="en-US" sz="541" spc="54" kern="0" dirty="0">
                <a:solidFill>
                  <a:srgbClr val="9C424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2 · FUNCTION CALLING</a:t>
            </a:r>
            <a:endParaRPr lang="en-US" sz="541" dirty="0"/>
          </a:p>
        </p:txBody>
      </p:sp>
      <p:sp>
        <p:nvSpPr>
          <p:cNvPr id="5" name="Shape 10"/>
          <p:cNvSpPr/>
          <p:nvPr/>
        </p:nvSpPr>
        <p:spPr>
          <a:xfrm>
            <a:off x="1462087" y="309563"/>
            <a:ext cx="228600" cy="14287"/>
          </a:xfrm>
          <a:prstGeom prst="rect">
            <a:avLst/>
          </a:prstGeom>
          <a:solidFill>
            <a:srgbClr val="9C4246"/>
          </a:solidFill>
          <a:ln/>
        </p:spPr>
      </p:sp>
      <p:sp>
        <p:nvSpPr>
          <p:cNvPr id="6" name="TextBox 13"/>
          <p:cNvSpPr/>
          <p:nvPr/>
        </p:nvSpPr>
        <p:spPr>
          <a:xfrm>
            <a:off x="381000" y="442913"/>
            <a:ext cx="8382000" cy="224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22"/>
              </a:lnSpc>
              <a:buNone/>
            </a:pPr>
            <a:r>
              <a:rPr lang="en-US" sz="1544" b="1" spc="-23" kern="0" dirty="0">
                <a:solidFill>
                  <a:srgbClr val="1B150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Function Calling 完整消息流转时序图</a:t>
            </a:r>
            <a:endParaRPr lang="en-US" sz="1544" dirty="0"/>
          </a:p>
        </p:txBody>
      </p:sp>
      <p:sp>
        <p:nvSpPr>
          <p:cNvPr id="7" name="TextBox 15"/>
          <p:cNvSpPr/>
          <p:nvPr/>
        </p:nvSpPr>
        <p:spPr>
          <a:xfrm>
            <a:off x="381000" y="743880"/>
            <a:ext cx="83820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2"/>
              </a:lnSpc>
              <a:buNone/>
            </a:pPr>
            <a:r>
              <a:rPr lang="en-US" sz="695" dirty="0">
                <a:solidFill>
                  <a:srgbClr val="625D5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从用户提问到获得最终回复，共 10 个步骤，涉及四次跨角色消息传递。</a:t>
            </a:r>
            <a:endParaRPr lang="en-US" sz="695" dirty="0"/>
          </a:p>
        </p:txBody>
      </p:sp>
      <p:sp>
        <p:nvSpPr>
          <p:cNvPr id="8" name="TextBox 25"/>
          <p:cNvSpPr/>
          <p:nvPr/>
        </p:nvSpPr>
        <p:spPr>
          <a:xfrm>
            <a:off x="381000" y="948668"/>
            <a:ext cx="8382000" cy="128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2"/>
              </a:lnSpc>
              <a:buNone/>
            </a:pPr>
            <a:r>
              <a:rPr lang="en-US" sz="695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用户</a:t>
            </a:r>
            <a:endParaRPr lang="en-US" sz="695" dirty="0"/>
          </a:p>
        </p:txBody>
      </p:sp>
      <p:sp>
        <p:nvSpPr>
          <p:cNvPr id="9" name="TextBox 27"/>
          <p:cNvSpPr/>
          <p:nvPr/>
        </p:nvSpPr>
        <p:spPr>
          <a:xfrm>
            <a:off x="381000" y="1077255"/>
            <a:ext cx="83820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2"/>
              </a:lnSpc>
              <a:buNone/>
            </a:pPr>
            <a:r>
              <a:rPr lang="en-US" sz="695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开发者 / 客户端</a:t>
            </a:r>
            <a:endParaRPr lang="en-US" sz="695" dirty="0"/>
          </a:p>
        </p:txBody>
      </p:sp>
      <p:sp>
        <p:nvSpPr>
          <p:cNvPr id="10" name="TextBox 29"/>
          <p:cNvSpPr/>
          <p:nvPr/>
        </p:nvSpPr>
        <p:spPr>
          <a:xfrm>
            <a:off x="381000" y="1205843"/>
            <a:ext cx="83820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2"/>
              </a:lnSpc>
              <a:buNone/>
            </a:pPr>
            <a:r>
              <a:rPr lang="en-US" sz="695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LLM API</a:t>
            </a:r>
            <a:endParaRPr lang="en-US" sz="695" dirty="0"/>
          </a:p>
        </p:txBody>
      </p:sp>
      <p:sp>
        <p:nvSpPr>
          <p:cNvPr id="11" name="TextBox 31"/>
          <p:cNvSpPr/>
          <p:nvPr/>
        </p:nvSpPr>
        <p:spPr>
          <a:xfrm>
            <a:off x="381000" y="1334430"/>
            <a:ext cx="83820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2"/>
              </a:lnSpc>
              <a:buNone/>
            </a:pPr>
            <a:r>
              <a:rPr lang="en-US" sz="695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外部函数 / 服务</a:t>
            </a:r>
            <a:endParaRPr lang="en-US" sz="695" dirty="0"/>
          </a:p>
        </p:txBody>
      </p:sp>
      <p:sp>
        <p:nvSpPr>
          <p:cNvPr id="12" name="TextBox 38"/>
          <p:cNvSpPr/>
          <p:nvPr/>
        </p:nvSpPr>
        <p:spPr>
          <a:xfrm>
            <a:off x="381000" y="1510643"/>
            <a:ext cx="83820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2"/>
              </a:lnSpc>
              <a:buNone/>
            </a:pPr>
            <a:r>
              <a:rPr lang="en-US" sz="695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①</a:t>
            </a:r>
            <a:endParaRPr lang="en-US" sz="695" dirty="0"/>
          </a:p>
        </p:txBody>
      </p:sp>
      <p:sp>
        <p:nvSpPr>
          <p:cNvPr id="13" name="TextBox 40"/>
          <p:cNvSpPr/>
          <p:nvPr/>
        </p:nvSpPr>
        <p:spPr>
          <a:xfrm>
            <a:off x="381000" y="1639230"/>
            <a:ext cx="83820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2"/>
              </a:lnSpc>
              <a:buNone/>
            </a:pPr>
            <a:r>
              <a:rPr lang="en-US" sz="695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"北京天气？"</a:t>
            </a:r>
            <a:endParaRPr lang="en-US" sz="695" dirty="0"/>
          </a:p>
        </p:txBody>
      </p:sp>
      <p:sp>
        <p:nvSpPr>
          <p:cNvPr id="14" name="TextBox 51"/>
          <p:cNvSpPr/>
          <p:nvPr/>
        </p:nvSpPr>
        <p:spPr>
          <a:xfrm>
            <a:off x="381000" y="1758293"/>
            <a:ext cx="83820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2"/>
              </a:lnSpc>
              <a:buNone/>
            </a:pPr>
            <a:r>
              <a:rPr lang="en-US" sz="695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②</a:t>
            </a:r>
            <a:endParaRPr lang="en-US" sz="695" dirty="0"/>
          </a:p>
        </p:txBody>
      </p:sp>
      <p:sp>
        <p:nvSpPr>
          <p:cNvPr id="15" name="TextBox 55"/>
          <p:cNvSpPr/>
          <p:nvPr/>
        </p:nvSpPr>
        <p:spPr>
          <a:xfrm>
            <a:off x="381000" y="1886880"/>
            <a:ext cx="8382000" cy="128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lnSpc>
                <a:spcPts val="1042"/>
              </a:lnSpc>
              <a:buNone/>
            </a:pPr>
            <a:r>
              <a:rPr lang="en-US" sz="695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POST: messages + tools 定义</a:t>
            </a:r>
            <a:endParaRPr lang="en-US" sz="695" dirty="0"/>
          </a:p>
        </p:txBody>
      </p:sp>
      <p:sp>
        <p:nvSpPr>
          <p:cNvPr id="16" name="TextBox 65"/>
          <p:cNvSpPr/>
          <p:nvPr/>
        </p:nvSpPr>
        <p:spPr>
          <a:xfrm>
            <a:off x="381000" y="2005943"/>
            <a:ext cx="83820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2"/>
              </a:lnSpc>
              <a:buNone/>
            </a:pPr>
            <a:r>
              <a:rPr lang="en-US" sz="695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③④</a:t>
            </a:r>
            <a:endParaRPr lang="en-US" sz="695" dirty="0"/>
          </a:p>
        </p:txBody>
      </p:sp>
      <p:sp>
        <p:nvSpPr>
          <p:cNvPr id="17" name="TextBox 70"/>
          <p:cNvSpPr/>
          <p:nvPr/>
        </p:nvSpPr>
        <p:spPr>
          <a:xfrm>
            <a:off x="381000" y="2134530"/>
            <a:ext cx="83820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2"/>
              </a:lnSpc>
              <a:buNone/>
            </a:pPr>
            <a:r>
              <a:rPr lang="en-US" sz="695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③ 模型决定调用 get_weather(city="北京")</a:t>
            </a:r>
            <a:endParaRPr lang="en-US" sz="695" dirty="0"/>
          </a:p>
          <a:p>
            <a:pPr algn="l" indent="0" marL="0">
              <a:lnSpc>
                <a:spcPts val="1042"/>
              </a:lnSpc>
              <a:buNone/>
            </a:pPr>
            <a:r>
              <a:rPr lang="en-US" sz="695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④ 返回 finish_reason="tool_calls" + 函数名 + 参数</a:t>
            </a:r>
            <a:endParaRPr lang="en-US" sz="695" dirty="0"/>
          </a:p>
        </p:txBody>
      </p:sp>
      <p:sp>
        <p:nvSpPr>
          <p:cNvPr id="18" name="TextBox 77"/>
          <p:cNvSpPr/>
          <p:nvPr/>
        </p:nvSpPr>
        <p:spPr>
          <a:xfrm>
            <a:off x="381000" y="2291693"/>
            <a:ext cx="83820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2"/>
              </a:lnSpc>
              <a:buNone/>
            </a:pPr>
            <a:r>
              <a:rPr lang="en-US" sz="695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⑤⑥</a:t>
            </a:r>
            <a:endParaRPr lang="en-US" sz="695" dirty="0"/>
          </a:p>
        </p:txBody>
      </p:sp>
      <p:sp>
        <p:nvSpPr>
          <p:cNvPr id="19" name="TextBox 81"/>
          <p:cNvSpPr/>
          <p:nvPr/>
        </p:nvSpPr>
        <p:spPr>
          <a:xfrm>
            <a:off x="381000" y="2420280"/>
            <a:ext cx="83820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lnSpc>
                <a:spcPts val="1042"/>
              </a:lnSpc>
              <a:buNone/>
            </a:pPr>
            <a:r>
              <a:rPr lang="en-US" sz="695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⑤ 客户端执行 get_weather(city="北京") →</a:t>
            </a:r>
            <a:endParaRPr lang="en-US" sz="695" dirty="0"/>
          </a:p>
        </p:txBody>
      </p:sp>
      <p:sp>
        <p:nvSpPr>
          <p:cNvPr id="20" name="TextBox 85"/>
          <p:cNvSpPr/>
          <p:nvPr/>
        </p:nvSpPr>
        <p:spPr>
          <a:xfrm>
            <a:off x="381000" y="2548868"/>
            <a:ext cx="8382000" cy="128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2"/>
              </a:lnSpc>
              <a:buNone/>
            </a:pPr>
            <a:r>
              <a:rPr lang="en-US" sz="695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← ⑥ 返回 {"temp":25, "condition":"晴"}</a:t>
            </a:r>
            <a:endParaRPr lang="en-US" sz="695" dirty="0"/>
          </a:p>
        </p:txBody>
      </p:sp>
      <p:sp>
        <p:nvSpPr>
          <p:cNvPr id="21" name="TextBox 92"/>
          <p:cNvSpPr/>
          <p:nvPr/>
        </p:nvSpPr>
        <p:spPr>
          <a:xfrm>
            <a:off x="381000" y="2577443"/>
            <a:ext cx="8382000" cy="128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2"/>
              </a:lnSpc>
              <a:buNone/>
            </a:pPr>
            <a:r>
              <a:rPr lang="en-US" sz="695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⑦</a:t>
            </a:r>
            <a:endParaRPr lang="en-US" sz="695" dirty="0"/>
          </a:p>
        </p:txBody>
      </p:sp>
      <p:sp>
        <p:nvSpPr>
          <p:cNvPr id="22" name="TextBox 96"/>
          <p:cNvSpPr/>
          <p:nvPr/>
        </p:nvSpPr>
        <p:spPr>
          <a:xfrm>
            <a:off x="381000" y="2706030"/>
            <a:ext cx="83820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lnSpc>
                <a:spcPts val="1042"/>
              </a:lnSpc>
              <a:buNone/>
            </a:pPr>
            <a:r>
              <a:rPr lang="en-US" sz="695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POST: messages + assistant(tool_calls) + role:"tool" 结果</a:t>
            </a:r>
            <a:endParaRPr lang="en-US" sz="695" dirty="0"/>
          </a:p>
        </p:txBody>
      </p:sp>
      <p:sp>
        <p:nvSpPr>
          <p:cNvPr id="23" name="TextBox 106"/>
          <p:cNvSpPr/>
          <p:nvPr/>
        </p:nvSpPr>
        <p:spPr>
          <a:xfrm>
            <a:off x="381000" y="2825093"/>
            <a:ext cx="83820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2"/>
              </a:lnSpc>
              <a:buNone/>
            </a:pPr>
            <a:r>
              <a:rPr lang="en-US" sz="695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⑧⑨</a:t>
            </a:r>
            <a:endParaRPr lang="en-US" sz="695" dirty="0"/>
          </a:p>
        </p:txBody>
      </p:sp>
      <p:sp>
        <p:nvSpPr>
          <p:cNvPr id="24" name="TextBox 111"/>
          <p:cNvSpPr/>
          <p:nvPr/>
        </p:nvSpPr>
        <p:spPr>
          <a:xfrm>
            <a:off x="381000" y="2953680"/>
            <a:ext cx="83820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2"/>
              </a:lnSpc>
              <a:buNone/>
            </a:pPr>
            <a:r>
              <a:rPr lang="en-US" sz="695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⑧ 模型基于工具结果生成自然语言回复</a:t>
            </a:r>
            <a:endParaRPr lang="en-US" sz="695" dirty="0"/>
          </a:p>
          <a:p>
            <a:pPr algn="l" indent="0" marL="0">
              <a:lnSpc>
                <a:spcPts val="1042"/>
              </a:lnSpc>
              <a:buNone/>
            </a:pPr>
            <a:r>
              <a:rPr lang="en-US" sz="695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⑨ 返回 content="北京当前晴，25°C…"</a:t>
            </a:r>
            <a:endParaRPr lang="en-US" sz="695" dirty="0"/>
          </a:p>
        </p:txBody>
      </p:sp>
      <p:sp>
        <p:nvSpPr>
          <p:cNvPr id="25" name="TextBox 118"/>
          <p:cNvSpPr/>
          <p:nvPr/>
        </p:nvSpPr>
        <p:spPr>
          <a:xfrm>
            <a:off x="381000" y="3110843"/>
            <a:ext cx="83820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2"/>
              </a:lnSpc>
              <a:buNone/>
            </a:pPr>
            <a:r>
              <a:rPr lang="en-US" sz="695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⑩</a:t>
            </a:r>
            <a:endParaRPr lang="en-US" sz="695" dirty="0"/>
          </a:p>
        </p:txBody>
      </p:sp>
      <p:sp>
        <p:nvSpPr>
          <p:cNvPr id="26" name="TextBox 122"/>
          <p:cNvSpPr/>
          <p:nvPr/>
        </p:nvSpPr>
        <p:spPr>
          <a:xfrm>
            <a:off x="381000" y="3239430"/>
            <a:ext cx="8382000" cy="128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2"/>
              </a:lnSpc>
              <a:buNone/>
            </a:pPr>
            <a:r>
              <a:rPr lang="en-US" sz="695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展示给用户："北京当前晴，25°C"</a:t>
            </a:r>
            <a:endParaRPr lang="en-US" sz="695" dirty="0"/>
          </a:p>
        </p:txBody>
      </p:sp>
      <p:sp>
        <p:nvSpPr>
          <p:cNvPr id="27" name="TextBox 130"/>
          <p:cNvSpPr/>
          <p:nvPr/>
        </p:nvSpPr>
        <p:spPr>
          <a:xfrm>
            <a:off x="8805453" y="4898231"/>
            <a:ext cx="71847" cy="928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53"/>
              </a:lnSpc>
              <a:buNone/>
            </a:pPr>
            <a:r>
              <a:rPr lang="en-US" sz="502" spc="40" kern="0" dirty="0">
                <a:solidFill>
                  <a:srgbClr val="625D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</a:t>
            </a:r>
            <a:endParaRPr lang="en-US" sz="502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/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/>
        </p:spPr>
      </p:sp>
      <p:sp>
        <p:nvSpPr>
          <p:cNvPr id="4" name="TextBox 8"/>
          <p:cNvSpPr/>
          <p:nvPr/>
        </p:nvSpPr>
        <p:spPr>
          <a:xfrm>
            <a:off x="381000" y="266700"/>
            <a:ext cx="1033462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11"/>
              </a:lnSpc>
              <a:buNone/>
            </a:pPr>
            <a:r>
              <a:rPr lang="en-US" sz="541" spc="54" kern="0" dirty="0">
                <a:solidFill>
                  <a:srgbClr val="9C424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2 · FUNCTION CALLING</a:t>
            </a:r>
            <a:endParaRPr lang="en-US" sz="541" dirty="0"/>
          </a:p>
        </p:txBody>
      </p:sp>
      <p:sp>
        <p:nvSpPr>
          <p:cNvPr id="5" name="Shape 10"/>
          <p:cNvSpPr/>
          <p:nvPr/>
        </p:nvSpPr>
        <p:spPr>
          <a:xfrm>
            <a:off x="1462087" y="309563"/>
            <a:ext cx="228600" cy="14287"/>
          </a:xfrm>
          <a:prstGeom prst="rect">
            <a:avLst/>
          </a:prstGeom>
          <a:solidFill>
            <a:srgbClr val="9C4246"/>
          </a:solidFill>
          <a:ln/>
        </p:spPr>
      </p:sp>
      <p:sp>
        <p:nvSpPr>
          <p:cNvPr id="6" name="TextBox 13"/>
          <p:cNvSpPr/>
          <p:nvPr/>
        </p:nvSpPr>
        <p:spPr>
          <a:xfrm>
            <a:off x="381000" y="442913"/>
            <a:ext cx="8382000" cy="224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22"/>
              </a:lnSpc>
              <a:buNone/>
            </a:pPr>
            <a:r>
              <a:rPr lang="en-US" sz="1544" b="1" spc="-23" kern="0" dirty="0">
                <a:solidFill>
                  <a:srgbClr val="1B150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各步骤的 messages 数组如何拼接</a:t>
            </a:r>
            <a:endParaRPr lang="en-US" sz="1544" dirty="0"/>
          </a:p>
        </p:txBody>
      </p:sp>
      <p:sp>
        <p:nvSpPr>
          <p:cNvPr id="7" name="TextBox 19"/>
          <p:cNvSpPr/>
          <p:nvPr/>
        </p:nvSpPr>
        <p:spPr>
          <a:xfrm>
            <a:off x="381000" y="743880"/>
            <a:ext cx="410527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2"/>
              </a:lnSpc>
              <a:buNone/>
            </a:pPr>
            <a:r>
              <a:rPr lang="en-US" sz="695" b="1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第②步：初始请求 — messages + tools</a:t>
            </a:r>
            <a:endParaRPr lang="en-US" sz="695" dirty="0"/>
          </a:p>
        </p:txBody>
      </p:sp>
      <p:sp>
        <p:nvSpPr>
          <p:cNvPr id="8" name="Shape 21"/>
          <p:cNvSpPr/>
          <p:nvPr/>
        </p:nvSpPr>
        <p:spPr>
          <a:xfrm>
            <a:off x="381000" y="929618"/>
            <a:ext cx="4105275" cy="1411672"/>
          </a:xfrm>
          <a:prstGeom prst="roundRect">
            <a:avLst>
              <a:gd name="adj" fmla="val 2084"/>
            </a:avLst>
          </a:prstGeom>
          <a:solidFill>
            <a:srgbClr val="F3F2ED"/>
          </a:solidFill>
          <a:ln w="4903">
            <a:solidFill>
              <a:srgbClr val="D9D7D2"/>
            </a:solidFill>
            <a:prstDash val="solid"/>
          </a:ln>
        </p:spPr>
      </p:sp>
      <p:sp>
        <p:nvSpPr>
          <p:cNvPr id="9" name="TextBox 23"/>
          <p:cNvSpPr/>
          <p:nvPr/>
        </p:nvSpPr>
        <p:spPr>
          <a:xfrm>
            <a:off x="500063" y="1029630"/>
            <a:ext cx="3867150" cy="12116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messages = [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{"role":"system","content":"你是天气助手。使用提供的工具获取实时天气。"},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{"role":"user","content":"北京今天天气怎么样？"}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]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tools = [{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"type":"function",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"function":{"name":"get_weather",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"description":"获取指定城市的实时天气",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"parameters":{"type":"object",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"properties":{"city":{"type":"string","description":"城市名称"}},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"required":["city"]}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}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}]</a:t>
            </a:r>
            <a:endParaRPr lang="en-US" sz="521" dirty="0"/>
          </a:p>
        </p:txBody>
      </p:sp>
      <p:sp>
        <p:nvSpPr>
          <p:cNvPr id="10" name="TextBox 29"/>
          <p:cNvSpPr/>
          <p:nvPr/>
        </p:nvSpPr>
        <p:spPr>
          <a:xfrm>
            <a:off x="4657725" y="743880"/>
            <a:ext cx="410527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2"/>
              </a:lnSpc>
              <a:buNone/>
            </a:pPr>
            <a:r>
              <a:rPr lang="en-US" sz="695" b="1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第④步：LLM 返回 tool_calls（非文本！）</a:t>
            </a:r>
            <a:endParaRPr lang="en-US" sz="695" dirty="0"/>
          </a:p>
        </p:txBody>
      </p:sp>
      <p:sp>
        <p:nvSpPr>
          <p:cNvPr id="11" name="Shape 31"/>
          <p:cNvSpPr/>
          <p:nvPr/>
        </p:nvSpPr>
        <p:spPr>
          <a:xfrm>
            <a:off x="4657725" y="929618"/>
            <a:ext cx="4105275" cy="1411672"/>
          </a:xfrm>
          <a:prstGeom prst="roundRect">
            <a:avLst>
              <a:gd name="adj" fmla="val 2084"/>
            </a:avLst>
          </a:prstGeom>
          <a:solidFill>
            <a:srgbClr val="F3F2ED"/>
          </a:solidFill>
          <a:ln w="4903">
            <a:solidFill>
              <a:srgbClr val="D9D7D2"/>
            </a:solidFill>
            <a:prstDash val="solid"/>
          </a:ln>
        </p:spPr>
      </p:sp>
      <p:sp>
        <p:nvSpPr>
          <p:cNvPr id="12" name="TextBox 33"/>
          <p:cNvSpPr/>
          <p:nvPr/>
        </p:nvSpPr>
        <p:spPr>
          <a:xfrm>
            <a:off x="4776787" y="1029630"/>
            <a:ext cx="3867150" cy="12116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response.choices[0].message = {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"role": "assistant",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"content": null,             ← content 为空！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"tool_calls": [{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"id": "call_abc123",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"type": "function",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"function": {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"name": "get_weather",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"arguments": "{\"city\":\"北京\"}"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}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}]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finish_reason = "tool_calls"   ← 不是 "stop"！</a:t>
            </a:r>
            <a:endParaRPr lang="en-US" sz="521" dirty="0"/>
          </a:p>
        </p:txBody>
      </p:sp>
      <p:sp>
        <p:nvSpPr>
          <p:cNvPr id="13" name="TextBox 39"/>
          <p:cNvSpPr/>
          <p:nvPr/>
        </p:nvSpPr>
        <p:spPr>
          <a:xfrm>
            <a:off x="381000" y="2840273"/>
            <a:ext cx="83820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2"/>
              </a:lnSpc>
              <a:buNone/>
            </a:pPr>
            <a:r>
              <a:rPr lang="en-US" sz="695" b="1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第⑦步：将工具结果以 role:"tool" 拼入 messages，再次调用</a:t>
            </a:r>
            <a:endParaRPr lang="en-US" sz="695" dirty="0"/>
          </a:p>
        </p:txBody>
      </p:sp>
      <p:sp>
        <p:nvSpPr>
          <p:cNvPr id="14" name="Shape 41"/>
          <p:cNvSpPr/>
          <p:nvPr/>
        </p:nvSpPr>
        <p:spPr>
          <a:xfrm>
            <a:off x="381000" y="3026011"/>
            <a:ext cx="8382000" cy="1318468"/>
          </a:xfrm>
          <a:prstGeom prst="roundRect">
            <a:avLst>
              <a:gd name="adj" fmla="val 2231"/>
            </a:avLst>
          </a:prstGeom>
          <a:solidFill>
            <a:srgbClr val="F3F2ED"/>
          </a:solidFill>
          <a:ln w="4903">
            <a:solidFill>
              <a:srgbClr val="D9D7D2"/>
            </a:solidFill>
            <a:prstDash val="solid"/>
          </a:ln>
        </p:spPr>
      </p:sp>
      <p:sp>
        <p:nvSpPr>
          <p:cNvPr id="15" name="TextBox 43"/>
          <p:cNvSpPr/>
          <p:nvPr/>
        </p:nvSpPr>
        <p:spPr>
          <a:xfrm>
            <a:off x="500063" y="3126023"/>
            <a:ext cx="8143875" cy="1118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messages = [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{"role":"system",    "content":"你是天气助手……"},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{"role":"user",      "content":"北京今天天气怎么样？"},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{"role":"assistant", "content":null,                          ← 模型的 tool_call 回复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"tool_calls":[{"id":"call_abc123","type":"function",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"function":{"name":"get_weather","arguments":"{\"city\":\"北京\"}"}}]},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{"role":"tool",                                               ← 新角色！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"tool_call_id":"call_abc123",                                ← 必须与上面的 id 对应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"content":"{\"temp\":25, \"condition\":\"晴\", \"humidity\":40}"}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]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模型最终返回：{"role":"assistant","content":"北京今天晴，气温 25°C，湿度 40%，适合出行。"}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finish_reason = "stop"</a:t>
            </a:r>
            <a:endParaRPr lang="en-US" sz="521" dirty="0"/>
          </a:p>
        </p:txBody>
      </p:sp>
      <p:sp>
        <p:nvSpPr>
          <p:cNvPr id="16" name="TextBox 48"/>
          <p:cNvSpPr/>
          <p:nvPr/>
        </p:nvSpPr>
        <p:spPr>
          <a:xfrm>
            <a:off x="381000" y="4748213"/>
            <a:ext cx="8382000" cy="128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2"/>
              </a:lnSpc>
              <a:buNone/>
            </a:pPr>
            <a:r>
              <a:rPr lang="en-US" sz="695" b="1" dirty="0">
                <a:solidFill>
                  <a:srgbClr val="625D5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关键细节：</a:t>
            </a:r>
            <a:r>
              <a:rPr lang="en-US" sz="579" dirty="0">
                <a:solidFill>
                  <a:srgbClr val="625D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role: "tool"</a:t>
            </a:r>
            <a:r>
              <a:rPr lang="en-US" sz="695" dirty="0">
                <a:solidFill>
                  <a:srgbClr val="625D5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是继 system / user / assistant 之后的</a:t>
            </a:r>
            <a:r>
              <a:rPr lang="en-US" sz="695" b="1" dirty="0">
                <a:solidFill>
                  <a:srgbClr val="625D5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第四种角色</a:t>
            </a:r>
            <a:r>
              <a:rPr lang="en-US" sz="695" dirty="0">
                <a:solidFill>
                  <a:srgbClr val="625D5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，专门用于回传函数执行结果。每条 tool 消息必须用 </a:t>
            </a:r>
            <a:r>
              <a:rPr lang="en-US" sz="579" dirty="0">
                <a:solidFill>
                  <a:srgbClr val="625D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tool_call_id</a:t>
            </a:r>
            <a:r>
              <a:rPr lang="en-US" sz="695" dirty="0">
                <a:solidFill>
                  <a:srgbClr val="625D5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与对应的 </a:t>
            </a:r>
            <a:r>
              <a:rPr lang="en-US" sz="579" dirty="0">
                <a:solidFill>
                  <a:srgbClr val="625D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tool_calls</a:t>
            </a:r>
            <a:r>
              <a:rPr lang="en-US" sz="695" dirty="0">
                <a:solidFill>
                  <a:srgbClr val="625D5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条目精确关联，否则 API 会拒绝请求。</a:t>
            </a:r>
            <a:endParaRPr lang="en-US" sz="695" dirty="0"/>
          </a:p>
        </p:txBody>
      </p:sp>
      <p:sp>
        <p:nvSpPr>
          <p:cNvPr id="17" name="TextBox 51"/>
          <p:cNvSpPr/>
          <p:nvPr/>
        </p:nvSpPr>
        <p:spPr>
          <a:xfrm>
            <a:off x="8805453" y="4898231"/>
            <a:ext cx="71847" cy="928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53"/>
              </a:lnSpc>
              <a:buNone/>
            </a:pPr>
            <a:r>
              <a:rPr lang="en-US" sz="502" spc="40" kern="0" dirty="0">
                <a:solidFill>
                  <a:srgbClr val="625D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17</a:t>
            </a:r>
            <a:endParaRPr lang="en-US" sz="502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/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/>
        </p:spPr>
      </p:sp>
      <p:sp>
        <p:nvSpPr>
          <p:cNvPr id="4" name="TextBox 8"/>
          <p:cNvSpPr/>
          <p:nvPr/>
        </p:nvSpPr>
        <p:spPr>
          <a:xfrm>
            <a:off x="381000" y="266700"/>
            <a:ext cx="820117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11"/>
              </a:lnSpc>
              <a:buNone/>
            </a:pPr>
            <a:r>
              <a:rPr lang="en-US" sz="541" spc="54" kern="0" dirty="0">
                <a:solidFill>
                  <a:srgbClr val="9C424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3 · SCHEMA 设计</a:t>
            </a:r>
            <a:endParaRPr lang="en-US" sz="541" dirty="0"/>
          </a:p>
        </p:txBody>
      </p:sp>
      <p:sp>
        <p:nvSpPr>
          <p:cNvPr id="5" name="Shape 10"/>
          <p:cNvSpPr/>
          <p:nvPr/>
        </p:nvSpPr>
        <p:spPr>
          <a:xfrm>
            <a:off x="1248742" y="309563"/>
            <a:ext cx="228600" cy="14287"/>
          </a:xfrm>
          <a:prstGeom prst="rect">
            <a:avLst/>
          </a:prstGeom>
          <a:solidFill>
            <a:srgbClr val="9C4246"/>
          </a:solidFill>
          <a:ln/>
        </p:spPr>
      </p:sp>
      <p:sp>
        <p:nvSpPr>
          <p:cNvPr id="6" name="TextBox 13"/>
          <p:cNvSpPr/>
          <p:nvPr/>
        </p:nvSpPr>
        <p:spPr>
          <a:xfrm>
            <a:off x="381000" y="461963"/>
            <a:ext cx="8382000" cy="224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22"/>
              </a:lnSpc>
              <a:buNone/>
            </a:pPr>
            <a:r>
              <a:rPr lang="en-US" sz="1544" b="1" spc="-23" kern="0" dirty="0">
                <a:solidFill>
                  <a:srgbClr val="1B150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工具 Schema 怎么写？（上）—— 名称与描述</a:t>
            </a:r>
            <a:endParaRPr lang="en-US" sz="1544" dirty="0"/>
          </a:p>
        </p:txBody>
      </p:sp>
      <p:sp>
        <p:nvSpPr>
          <p:cNvPr id="7" name="TextBox 15"/>
          <p:cNvSpPr/>
          <p:nvPr/>
        </p:nvSpPr>
        <p:spPr>
          <a:xfrm>
            <a:off x="381000" y="781980"/>
            <a:ext cx="83820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2"/>
              </a:lnSpc>
              <a:buNone/>
            </a:pPr>
            <a:r>
              <a:rPr lang="en-US" sz="695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工具 schema 包含三个要素：</a:t>
            </a:r>
            <a:r>
              <a:rPr lang="en-US" sz="695" b="1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name</a:t>
            </a:r>
            <a:r>
              <a:rPr lang="en-US" sz="695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（名称）、</a:t>
            </a:r>
            <a:r>
              <a:rPr lang="en-US" sz="695" b="1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description</a:t>
            </a:r>
            <a:r>
              <a:rPr lang="en-US" sz="695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（描述）、</a:t>
            </a:r>
            <a:r>
              <a:rPr lang="en-US" sz="695" b="1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parameters</a:t>
            </a:r>
            <a:r>
              <a:rPr lang="en-US" sz="695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（参数 JSON Schema）。模型的决策质量高度依赖这三个要素的写法。</a:t>
            </a:r>
            <a:endParaRPr lang="en-US" sz="695" dirty="0"/>
          </a:p>
        </p:txBody>
      </p:sp>
      <p:sp>
        <p:nvSpPr>
          <p:cNvPr id="8" name="TextBox 21"/>
          <p:cNvSpPr/>
          <p:nvPr/>
        </p:nvSpPr>
        <p:spPr>
          <a:xfrm>
            <a:off x="381000" y="1005818"/>
            <a:ext cx="4105275" cy="155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57"/>
              </a:lnSpc>
              <a:buNone/>
            </a:pPr>
            <a:r>
              <a:rPr lang="en-US" sz="811" b="1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1. 名称（name）—— 让模型一眼看懂</a:t>
            </a:r>
            <a:endParaRPr lang="en-US" sz="811" dirty="0"/>
          </a:p>
        </p:txBody>
      </p:sp>
      <p:sp>
        <p:nvSpPr>
          <p:cNvPr id="9" name="Shape 23"/>
          <p:cNvSpPr/>
          <p:nvPr/>
        </p:nvSpPr>
        <p:spPr>
          <a:xfrm>
            <a:off x="381000" y="1160822"/>
            <a:ext cx="4105275" cy="704441"/>
          </a:xfrm>
          <a:prstGeom prst="roundRect">
            <a:avLst>
              <a:gd name="adj" fmla="val 2784"/>
            </a:avLst>
          </a:prstGeom>
          <a:noFill/>
          <a:ln w="4903">
            <a:solidFill>
              <a:srgbClr val="D9D7D2"/>
            </a:solidFill>
            <a:prstDash val="solid"/>
          </a:ln>
        </p:spPr>
      </p:sp>
      <p:graphicFrame>
        <p:nvGraphicFramePr>
          <p:cNvPr id="19" name="Table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5763" y="1165585"/>
          <a:ext cx="4095750" cy="914400"/>
        </p:xfrm>
        <a:graphic>
          <a:graphicData uri="http://schemas.openxmlformats.org/drawingml/2006/table">
            <a:tbl>
              <a:tblPr/>
              <a:tblGrid>
                <a:gridCol w="1638300"/>
                <a:gridCol w="245745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728"/>
                        </a:lnSpc>
                        <a:buNone/>
                      </a:pPr>
                      <a:r>
                        <a:rPr lang="en-US" sz="502" b="1" spc="10" kern="0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❌ 不好的写法</a:t>
                      </a:r>
                      <a:endParaRPr lang="en-US" sz="502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63742" marR="63742" marT="49032" marB="490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806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728"/>
                        </a:lnSpc>
                        <a:buNone/>
                      </a:pPr>
                      <a:r>
                        <a:rPr lang="en-US" sz="502" b="1" spc="10" kern="0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✅ 好的写法</a:t>
                      </a:r>
                      <a:endParaRPr lang="en-US" sz="502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63742" marR="63742" marT="49032" marB="490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806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12"/>
                        </a:lnSpc>
                        <a:buNone/>
                      </a:pPr>
                      <a:r>
                        <a:rPr lang="en-US" sz="560" dirty="0">
                          <a:solidFill>
                            <a:srgbClr val="1B150D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f1, tool_a</a:t>
                      </a:r>
                      <a:endParaRPr lang="en-US" sz="56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12"/>
                        </a:lnSpc>
                        <a:buNone/>
                      </a:pPr>
                      <a:r>
                        <a:rPr lang="en-US" sz="560" dirty="0">
                          <a:solidFill>
                            <a:srgbClr val="1B150D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get_weather</a:t>
                      </a:r>
                      <a:endParaRPr lang="en-US" sz="56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12"/>
                        </a:lnSpc>
                        <a:buNone/>
                      </a:pPr>
                      <a:r>
                        <a:rPr lang="en-US" sz="560" dirty="0">
                          <a:solidFill>
                            <a:srgbClr val="1B150D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search</a:t>
                      </a:r>
                      <a:endParaRPr lang="en-US" sz="56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12"/>
                        </a:lnSpc>
                        <a:buNone/>
                      </a:pPr>
                      <a:r>
                        <a:rPr lang="en-US" sz="560" dirty="0">
                          <a:solidFill>
                            <a:srgbClr val="1B150D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search_customer_by_email</a:t>
                      </a:r>
                      <a:endParaRPr lang="en-US" sz="56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12"/>
                        </a:lnSpc>
                        <a:buNone/>
                      </a:pPr>
                      <a:r>
                        <a:rPr lang="en-US" sz="560" dirty="0">
                          <a:solidFill>
                            <a:srgbClr val="1B150D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do_stuff</a:t>
                      </a:r>
                      <a:endParaRPr lang="en-US" sz="56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12"/>
                        </a:lnSpc>
                        <a:buNone/>
                      </a:pPr>
                      <a:r>
                        <a:rPr lang="en-US" sz="560" dirty="0">
                          <a:solidFill>
                            <a:srgbClr val="1B150D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cancel_order</a:t>
                      </a:r>
                      <a:endParaRPr lang="en-US" sz="56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1" name="TextBox 28"/>
          <p:cNvSpPr/>
          <p:nvPr/>
        </p:nvSpPr>
        <p:spPr>
          <a:xfrm>
            <a:off x="381000" y="1865263"/>
            <a:ext cx="410527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2"/>
              </a:lnSpc>
              <a:buNone/>
            </a:pPr>
            <a:r>
              <a:rPr lang="en-US" sz="695" b="1" dirty="0">
                <a:solidFill>
                  <a:srgbClr val="625D5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规范：</a:t>
            </a:r>
            <a:r>
              <a:rPr lang="en-US" sz="695" dirty="0">
                <a:solidFill>
                  <a:srgbClr val="625D5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蛇形命名（</a:t>
            </a:r>
            <a:r>
              <a:rPr lang="en-US" sz="579" dirty="0">
                <a:solidFill>
                  <a:srgbClr val="625D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snake_case</a:t>
            </a:r>
            <a:r>
              <a:rPr lang="en-US" sz="695" dirty="0">
                <a:solidFill>
                  <a:srgbClr val="625D5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），格式为 </a:t>
            </a:r>
            <a:r>
              <a:rPr lang="en-US" sz="579" dirty="0">
                <a:solidFill>
                  <a:srgbClr val="625D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动词_宾语</a:t>
            </a:r>
            <a:r>
              <a:rPr lang="en-US" sz="695" dirty="0">
                <a:solidFill>
                  <a:srgbClr val="625D5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或 </a:t>
            </a:r>
            <a:r>
              <a:rPr lang="en-US" sz="579" dirty="0">
                <a:solidFill>
                  <a:srgbClr val="625D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动词_宾语_限定词</a:t>
            </a:r>
            <a:r>
              <a:rPr lang="en-US" sz="695" dirty="0">
                <a:solidFill>
                  <a:srgbClr val="625D5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。名称本身应传达工具的输入输出意图。</a:t>
            </a:r>
            <a:endParaRPr lang="en-US" sz="695" dirty="0"/>
          </a:p>
        </p:txBody>
      </p:sp>
      <p:sp>
        <p:nvSpPr>
          <p:cNvPr id="12" name="TextBox 33"/>
          <p:cNvSpPr/>
          <p:nvPr/>
        </p:nvSpPr>
        <p:spPr>
          <a:xfrm>
            <a:off x="4657725" y="1005818"/>
            <a:ext cx="4105275" cy="155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57"/>
              </a:lnSpc>
              <a:buNone/>
            </a:pPr>
            <a:r>
              <a:rPr lang="en-US" sz="811" b="1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2. 描述（description）—— 回答"什么时候该用？"</a:t>
            </a:r>
            <a:endParaRPr lang="en-US" sz="811" dirty="0"/>
          </a:p>
        </p:txBody>
      </p:sp>
      <p:sp>
        <p:nvSpPr>
          <p:cNvPr id="13" name="TextBox 35"/>
          <p:cNvSpPr/>
          <p:nvPr/>
        </p:nvSpPr>
        <p:spPr>
          <a:xfrm>
            <a:off x="4657725" y="1160822"/>
            <a:ext cx="410527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2"/>
              </a:lnSpc>
              <a:buNone/>
            </a:pPr>
            <a:r>
              <a:rPr lang="en-US" sz="695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好的描述应包含：</a:t>
            </a:r>
            <a:r>
              <a:rPr lang="en-US" sz="695" b="1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触发条件 + 工具作用 + 输出格式 + 注意事项。</a:t>
            </a:r>
            <a:endParaRPr lang="en-US" sz="695" dirty="0"/>
          </a:p>
        </p:txBody>
      </p:sp>
      <p:sp>
        <p:nvSpPr>
          <p:cNvPr id="14" name="TextBox 39"/>
          <p:cNvSpPr/>
          <p:nvPr/>
        </p:nvSpPr>
        <p:spPr>
          <a:xfrm>
            <a:off x="4657725" y="1289410"/>
            <a:ext cx="410527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2"/>
              </a:lnSpc>
              <a:buNone/>
            </a:pPr>
            <a:r>
              <a:rPr lang="en-US" sz="695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❌ 太简略：</a:t>
            </a:r>
            <a:r>
              <a:rPr lang="en-US" sz="695" dirty="0">
                <a:solidFill>
                  <a:srgbClr val="625D5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"获取天气"</a:t>
            </a:r>
            <a:endParaRPr lang="en-US" sz="695" dirty="0"/>
          </a:p>
        </p:txBody>
      </p:sp>
      <p:sp>
        <p:nvSpPr>
          <p:cNvPr id="15" name="TextBox 44"/>
          <p:cNvSpPr/>
          <p:nvPr/>
        </p:nvSpPr>
        <p:spPr>
          <a:xfrm>
            <a:off x="4657725" y="1417997"/>
            <a:ext cx="410527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2"/>
              </a:lnSpc>
              <a:buNone/>
            </a:pPr>
            <a:r>
              <a:rPr lang="en-US" sz="695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✅ 信息充分：</a:t>
            </a:r>
            <a:endParaRPr lang="en-US" sz="695" dirty="0"/>
          </a:p>
        </p:txBody>
      </p:sp>
      <p:sp>
        <p:nvSpPr>
          <p:cNvPr id="16" name="TextBox 46"/>
          <p:cNvSpPr/>
          <p:nvPr/>
        </p:nvSpPr>
        <p:spPr>
          <a:xfrm>
            <a:off x="4657725" y="1584685"/>
            <a:ext cx="410527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2"/>
              </a:lnSpc>
              <a:buNone/>
            </a:pPr>
            <a:r>
              <a:rPr lang="en-US" sz="695" dirty="0">
                <a:solidFill>
                  <a:srgbClr val="625D5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"当用户询问某个城市的实时天气（温度、天气状况、湿度、风力）时调用此工具。参数为城市名称（中文或英文）。返回包含温度（摄氏度）、天气状况（晴/雨/阴等）、湿度百分比和风力的 JSON 对象。如果用户只说了国家或省份而没有具体城市名，应先让用户补充。"</a:t>
            </a:r>
            <a:endParaRPr lang="en-US" sz="695" dirty="0"/>
          </a:p>
        </p:txBody>
      </p:sp>
      <p:sp>
        <p:nvSpPr>
          <p:cNvPr id="17" name="TextBox 49"/>
          <p:cNvSpPr/>
          <p:nvPr/>
        </p:nvSpPr>
        <p:spPr>
          <a:xfrm>
            <a:off x="4657725" y="1970447"/>
            <a:ext cx="41052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2"/>
              </a:lnSpc>
              <a:buNone/>
            </a:pPr>
            <a:r>
              <a:rPr lang="en-US" sz="695" b="1" dirty="0">
                <a:solidFill>
                  <a:srgbClr val="625D5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核心原则：</a:t>
            </a:r>
            <a:r>
              <a:rPr lang="en-US" sz="695" dirty="0">
                <a:solidFill>
                  <a:srgbClr val="625D5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描述中必须包含"</a:t>
            </a:r>
            <a:r>
              <a:rPr lang="en-US" sz="695" b="1" dirty="0">
                <a:solidFill>
                  <a:srgbClr val="625D5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触发时机</a:t>
            </a:r>
            <a:r>
              <a:rPr lang="en-US" sz="695" dirty="0">
                <a:solidFill>
                  <a:srgbClr val="625D5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"和"</a:t>
            </a:r>
            <a:r>
              <a:rPr lang="en-US" sz="695" b="1" dirty="0">
                <a:solidFill>
                  <a:srgbClr val="625D5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与其他工具的区分</a:t>
            </a:r>
            <a:r>
              <a:rPr lang="en-US" sz="695" dirty="0">
                <a:solidFill>
                  <a:srgbClr val="625D5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"——当有多个相似工具时，模型靠描述来区分应该用哪个。</a:t>
            </a:r>
            <a:endParaRPr lang="en-US" sz="695" dirty="0"/>
          </a:p>
        </p:txBody>
      </p:sp>
      <p:sp>
        <p:nvSpPr>
          <p:cNvPr id="18" name="TextBox 54"/>
          <p:cNvSpPr/>
          <p:nvPr/>
        </p:nvSpPr>
        <p:spPr>
          <a:xfrm>
            <a:off x="8805453" y="4898231"/>
            <a:ext cx="71847" cy="928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53"/>
              </a:lnSpc>
              <a:buNone/>
            </a:pPr>
            <a:r>
              <a:rPr lang="en-US" sz="502" spc="40" kern="0" dirty="0">
                <a:solidFill>
                  <a:srgbClr val="625D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18</a:t>
            </a:r>
            <a:endParaRPr lang="en-US" sz="502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/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/>
        </p:spPr>
      </p:sp>
      <p:sp>
        <p:nvSpPr>
          <p:cNvPr id="4" name="TextBox 8"/>
          <p:cNvSpPr/>
          <p:nvPr/>
        </p:nvSpPr>
        <p:spPr>
          <a:xfrm>
            <a:off x="381000" y="266700"/>
            <a:ext cx="820117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11"/>
              </a:lnSpc>
              <a:buNone/>
            </a:pPr>
            <a:r>
              <a:rPr lang="en-US" sz="541" spc="54" kern="0" dirty="0">
                <a:solidFill>
                  <a:srgbClr val="9C424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3 · SCHEMA 设计</a:t>
            </a:r>
            <a:endParaRPr lang="en-US" sz="541" dirty="0"/>
          </a:p>
        </p:txBody>
      </p:sp>
      <p:sp>
        <p:nvSpPr>
          <p:cNvPr id="5" name="Shape 10"/>
          <p:cNvSpPr/>
          <p:nvPr/>
        </p:nvSpPr>
        <p:spPr>
          <a:xfrm>
            <a:off x="1248742" y="309563"/>
            <a:ext cx="228600" cy="14287"/>
          </a:xfrm>
          <a:prstGeom prst="rect">
            <a:avLst/>
          </a:prstGeom>
          <a:solidFill>
            <a:srgbClr val="9C4246"/>
          </a:solidFill>
          <a:ln/>
        </p:spPr>
      </p:sp>
      <p:sp>
        <p:nvSpPr>
          <p:cNvPr id="6" name="TextBox 13"/>
          <p:cNvSpPr/>
          <p:nvPr/>
        </p:nvSpPr>
        <p:spPr>
          <a:xfrm>
            <a:off x="381000" y="366713"/>
            <a:ext cx="8382000" cy="224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22"/>
              </a:lnSpc>
              <a:buNone/>
            </a:pPr>
            <a:r>
              <a:rPr lang="en-US" sz="1544" b="1" spc="-23" kern="0" dirty="0">
                <a:solidFill>
                  <a:srgbClr val="1B150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工具 Schema 怎么写？（下）—— 参数设计与常见陷阱</a:t>
            </a:r>
            <a:endParaRPr lang="en-US" sz="1544" dirty="0"/>
          </a:p>
        </p:txBody>
      </p:sp>
      <p:sp>
        <p:nvSpPr>
          <p:cNvPr id="7" name="Shape 17"/>
          <p:cNvSpPr/>
          <p:nvPr/>
        </p:nvSpPr>
        <p:spPr>
          <a:xfrm>
            <a:off x="381000" y="591480"/>
            <a:ext cx="4105275" cy="4285320"/>
          </a:xfrm>
          <a:prstGeom prst="roundRect">
            <a:avLst>
              <a:gd name="adj" fmla="val 717"/>
            </a:avLst>
          </a:prstGeom>
          <a:solidFill>
            <a:srgbClr val="F3F2ED"/>
          </a:solidFill>
          <a:ln w="4903">
            <a:solidFill>
              <a:srgbClr val="D9D7D2"/>
            </a:solidFill>
            <a:prstDash val="solid"/>
          </a:ln>
        </p:spPr>
      </p:sp>
      <p:sp>
        <p:nvSpPr>
          <p:cNvPr id="8" name="TextBox 19"/>
          <p:cNvSpPr/>
          <p:nvPr/>
        </p:nvSpPr>
        <p:spPr>
          <a:xfrm>
            <a:off x="500063" y="691493"/>
            <a:ext cx="3867150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79" dirty="0">
                <a:solidFill>
                  <a:srgbClr val="9C424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一个完整的工具 schema 示例</a:t>
            </a:r>
            <a:endParaRPr lang="en-US" sz="579" dirty="0"/>
          </a:p>
        </p:txBody>
      </p:sp>
      <p:sp>
        <p:nvSpPr>
          <p:cNvPr id="9" name="TextBox 21"/>
          <p:cNvSpPr/>
          <p:nvPr/>
        </p:nvSpPr>
        <p:spPr>
          <a:xfrm>
            <a:off x="500063" y="833177"/>
            <a:ext cx="3867150" cy="3448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"name": "search_products",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"description": "在商品目录中搜索产品。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当用户询问'有没有XX'、'找一款XX'、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'推荐XX产品'时使用。返回匹配产品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列表。如果搜索结果为空，提示用户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尝试更宽泛的关键词。",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"parameters": {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"type": "object",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"properties": {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"keyword": {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"type": "string",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"description": "搜索关键词。从用户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查询中提取核心产品名称。例如用户说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'有红色的运动鞋吗'则提取'运动鞋'。"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},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"category": {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"type": "string",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"enum": ["服装","鞋类","配饰","电子","家居"],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"description": "商品大类。注意：'跑鞋'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属于鞋类，'T恤'属于服装。"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},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"max_price": {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"type": "number",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"description": "最高价格（元）。仅当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用户明确说了预算上限时填写。不要自行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猜测用户的预算。"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},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"in_stock_only": {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"type": "boolean",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"description": "是否只返回有库存的商品。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默认为 true。"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}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},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"required": ["keyword"]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}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521" dirty="0"/>
          </a:p>
        </p:txBody>
      </p:sp>
      <p:sp>
        <p:nvSpPr>
          <p:cNvPr id="10" name="TextBox 26"/>
          <p:cNvSpPr/>
          <p:nvPr/>
        </p:nvSpPr>
        <p:spPr>
          <a:xfrm>
            <a:off x="4657725" y="591480"/>
            <a:ext cx="4105275" cy="155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57"/>
              </a:lnSpc>
              <a:buNone/>
            </a:pPr>
            <a:r>
              <a:rPr lang="en-US" sz="811" b="1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参数设计的常见陷阱：</a:t>
            </a:r>
            <a:endParaRPr lang="en-US" sz="811" dirty="0"/>
          </a:p>
        </p:txBody>
      </p:sp>
      <p:sp>
        <p:nvSpPr>
          <p:cNvPr id="11" name="Shape 28"/>
          <p:cNvSpPr/>
          <p:nvPr/>
        </p:nvSpPr>
        <p:spPr>
          <a:xfrm>
            <a:off x="4657725" y="803635"/>
            <a:ext cx="4105275" cy="1173212"/>
          </a:xfrm>
          <a:prstGeom prst="roundRect">
            <a:avLst>
              <a:gd name="adj" fmla="val 1672"/>
            </a:avLst>
          </a:prstGeom>
          <a:noFill/>
          <a:ln w="4903">
            <a:solidFill>
              <a:srgbClr val="D9D7D2"/>
            </a:solidFill>
            <a:prstDash val="solid"/>
          </a:ln>
        </p:spPr>
      </p:sp>
      <p:graphicFrame>
        <p:nvGraphicFramePr>
          <p:cNvPr id="20" name="Table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2488" y="808397"/>
          <a:ext cx="4095750" cy="914400"/>
        </p:xfrm>
        <a:graphic>
          <a:graphicData uri="http://schemas.openxmlformats.org/drawingml/2006/table">
            <a:tbl>
              <a:tblPr/>
              <a:tblGrid>
                <a:gridCol w="819150"/>
                <a:gridCol w="1474440"/>
                <a:gridCol w="18021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728"/>
                        </a:lnSpc>
                        <a:buNone/>
                      </a:pPr>
                      <a:r>
                        <a:rPr lang="en-US" sz="502" b="1" spc="10" kern="0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陷阱</a:t>
                      </a:r>
                      <a:endParaRPr lang="en-US" sz="502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63742" marR="63742" marT="49032" marB="490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806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728"/>
                        </a:lnSpc>
                        <a:buNone/>
                      </a:pPr>
                      <a:r>
                        <a:rPr lang="en-US" sz="502" b="1" spc="10" kern="0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示例</a:t>
                      </a:r>
                      <a:endParaRPr lang="en-US" sz="502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63742" marR="63742" marT="49032" marB="490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806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728"/>
                        </a:lnSpc>
                        <a:buNone/>
                      </a:pPr>
                      <a:r>
                        <a:rPr lang="en-US" sz="502" b="1" spc="10" kern="0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正确做法</a:t>
                      </a:r>
                      <a:endParaRPr lang="en-US" sz="502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63742" marR="63742" marT="49032" marB="490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806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12"/>
                        </a:lnSpc>
                        <a:buNone/>
                      </a:pPr>
                      <a:r>
                        <a:rPr lang="en-US" sz="560" b="1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描述太模糊</a:t>
                      </a:r>
                      <a:endParaRPr lang="en-US" sz="56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12"/>
                        </a:lnSpc>
                        <a:buNone/>
                      </a:pPr>
                      <a:r>
                        <a:rPr lang="en-US" sz="560" dirty="0">
                          <a:solidFill>
                            <a:srgbClr val="1B150D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"keyword":"搜索词"</a:t>
                      </a:r>
                      <a:endParaRPr lang="en-US" sz="56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40"/>
                        </a:lnSpc>
                        <a:buNone/>
                      </a:pPr>
                      <a:r>
                        <a:rPr lang="en-US" sz="560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描述中说明提取规则："从用户查询中提取核心产品名称"</a:t>
                      </a:r>
                      <a:endParaRPr lang="en-US" sz="56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12"/>
                        </a:lnSpc>
                        <a:buNone/>
                      </a:pPr>
                      <a:r>
                        <a:rPr lang="en-US" sz="560" b="1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缺少 enum 约束</a:t>
                      </a:r>
                      <a:endParaRPr lang="en-US" sz="56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12"/>
                        </a:lnSpc>
                        <a:buNone/>
                      </a:pPr>
                      <a:r>
                        <a:rPr lang="en-US" sz="560" dirty="0">
                          <a:solidFill>
                            <a:srgbClr val="1B150D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"category":{"type":"string"}</a:t>
                      </a:r>
                      <a:endParaRPr lang="en-US" sz="56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40"/>
                        </a:lnSpc>
                        <a:buNone/>
                      </a:pPr>
                      <a:r>
                        <a:rPr lang="en-US" sz="560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用 </a:t>
                      </a:r>
                      <a:r>
                        <a:rPr lang="en-US" sz="579" dirty="0">
                          <a:solidFill>
                            <a:srgbClr val="1B150D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enum</a:t>
                      </a:r>
                      <a:r>
                        <a:rPr lang="en-US" sz="560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 限制合法值，并在描述中给出映射规则</a:t>
                      </a:r>
                      <a:endParaRPr lang="en-US" sz="56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12"/>
                        </a:lnSpc>
                        <a:buNone/>
                      </a:pPr>
                      <a:r>
                        <a:rPr lang="en-US" sz="560" b="1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required 用错</a:t>
                      </a:r>
                      <a:endParaRPr lang="en-US" sz="56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40"/>
                        </a:lnSpc>
                        <a:buNone/>
                      </a:pPr>
                      <a:r>
                        <a:rPr lang="en-US" sz="560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把所有参数都标为 required</a:t>
                      </a:r>
                      <a:endParaRPr lang="en-US" sz="56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40"/>
                        </a:lnSpc>
                        <a:buNone/>
                      </a:pPr>
                      <a:r>
                        <a:rPr lang="en-US" sz="560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只标真正必需的——用户没提预算时模型被迫瞎编</a:t>
                      </a:r>
                      <a:endParaRPr lang="en-US" sz="56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12"/>
                        </a:lnSpc>
                        <a:buNone/>
                      </a:pPr>
                      <a:r>
                        <a:rPr lang="en-US" sz="560" b="1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缺少默认值</a:t>
                      </a:r>
                      <a:endParaRPr lang="en-US" sz="56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12"/>
                        </a:lnSpc>
                        <a:buNone/>
                      </a:pPr>
                      <a:r>
                        <a:rPr lang="en-US" sz="560" dirty="0">
                          <a:solidFill>
                            <a:srgbClr val="1B150D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"sort_by":{"type":"string"}</a:t>
                      </a:r>
                      <a:endParaRPr lang="en-US" sz="56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40"/>
                        </a:lnSpc>
                        <a:buNone/>
                      </a:pPr>
                      <a:r>
                        <a:rPr lang="en-US" sz="560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在描述中说明："默认为按相关度排序"</a:t>
                      </a:r>
                      <a:endParaRPr lang="en-US" sz="56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12"/>
                        </a:lnSpc>
                        <a:buNone/>
                      </a:pPr>
                      <a:r>
                        <a:rPr lang="en-US" sz="560" b="1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语义重叠</a:t>
                      </a:r>
                      <a:endParaRPr lang="en-US" sz="56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40"/>
                        </a:lnSpc>
                        <a:buNone/>
                      </a:pPr>
                      <a:r>
                        <a:rPr lang="en-US" sz="560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同时定义 </a:t>
                      </a:r>
                      <a:r>
                        <a:rPr lang="en-US" sz="579" dirty="0">
                          <a:solidFill>
                            <a:srgbClr val="1B150D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get_user</a:t>
                      </a:r>
                      <a:r>
                        <a:rPr lang="en-US" sz="560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 和 </a:t>
                      </a:r>
                      <a:r>
                        <a:rPr lang="en-US" sz="579" dirty="0">
                          <a:solidFill>
                            <a:srgbClr val="1B150D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fetch_user</a:t>
                      </a:r>
                      <a:endParaRPr lang="en-US" sz="56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40"/>
                        </a:lnSpc>
                        <a:buNone/>
                      </a:pPr>
                      <a:r>
                        <a:rPr lang="en-US" sz="560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合并重复工具，或用描述明确区分使用场景</a:t>
                      </a:r>
                      <a:endParaRPr lang="en-US" sz="56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63742" marR="63742" marT="39226" marB="3922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3" name="TextBox 36"/>
          <p:cNvSpPr/>
          <p:nvPr/>
        </p:nvSpPr>
        <p:spPr>
          <a:xfrm>
            <a:off x="8805453" y="4898231"/>
            <a:ext cx="71847" cy="928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53"/>
              </a:lnSpc>
              <a:buNone/>
            </a:pPr>
            <a:r>
              <a:rPr lang="en-US" sz="502" spc="40" kern="0" dirty="0">
                <a:solidFill>
                  <a:srgbClr val="625D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19</a:t>
            </a:r>
            <a:endParaRPr lang="en-US" sz="502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/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/>
        </p:spPr>
      </p:sp>
      <p:sp>
        <p:nvSpPr>
          <p:cNvPr id="4" name="TextBox 8"/>
          <p:cNvSpPr/>
          <p:nvPr/>
        </p:nvSpPr>
        <p:spPr>
          <a:xfrm>
            <a:off x="428625" y="342900"/>
            <a:ext cx="820117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11"/>
              </a:lnSpc>
              <a:buNone/>
            </a:pPr>
            <a:r>
              <a:rPr lang="en-US" sz="541" spc="54" kern="0" dirty="0">
                <a:solidFill>
                  <a:srgbClr val="9C424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3 · SCHEMA 设计</a:t>
            </a:r>
            <a:endParaRPr lang="en-US" sz="541" dirty="0"/>
          </a:p>
        </p:txBody>
      </p:sp>
      <p:sp>
        <p:nvSpPr>
          <p:cNvPr id="5" name="Shape 10"/>
          <p:cNvSpPr/>
          <p:nvPr/>
        </p:nvSpPr>
        <p:spPr>
          <a:xfrm>
            <a:off x="1296367" y="385763"/>
            <a:ext cx="228600" cy="14287"/>
          </a:xfrm>
          <a:prstGeom prst="rect">
            <a:avLst/>
          </a:prstGeom>
          <a:solidFill>
            <a:srgbClr val="9C4246"/>
          </a:solidFill>
          <a:ln/>
        </p:spPr>
      </p:sp>
      <p:sp>
        <p:nvSpPr>
          <p:cNvPr id="6" name="TextBox 13"/>
          <p:cNvSpPr/>
          <p:nvPr/>
        </p:nvSpPr>
        <p:spPr>
          <a:xfrm>
            <a:off x="428625" y="557212"/>
            <a:ext cx="8286750" cy="224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22"/>
              </a:lnSpc>
              <a:buNone/>
            </a:pPr>
            <a:r>
              <a:rPr lang="en-US" sz="1544" b="1" spc="-23" kern="0" dirty="0">
                <a:solidFill>
                  <a:srgbClr val="1B150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多工具协作：模型如何"选择"工具？</a:t>
            </a:r>
            <a:endParaRPr lang="en-US" sz="1544" dirty="0"/>
          </a:p>
        </p:txBody>
      </p:sp>
      <p:sp>
        <p:nvSpPr>
          <p:cNvPr id="7" name="TextBox 19"/>
          <p:cNvSpPr/>
          <p:nvPr/>
        </p:nvSpPr>
        <p:spPr>
          <a:xfrm>
            <a:off x="428625" y="896280"/>
            <a:ext cx="4057650" cy="155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57"/>
              </a:lnSpc>
              <a:buNone/>
            </a:pPr>
            <a:r>
              <a:rPr lang="en-US" sz="811" b="1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模型的决策流程：</a:t>
            </a:r>
            <a:endParaRPr lang="en-US" sz="811" dirty="0"/>
          </a:p>
        </p:txBody>
      </p:sp>
      <p:sp>
        <p:nvSpPr>
          <p:cNvPr id="8" name="Shape 21"/>
          <p:cNvSpPr/>
          <p:nvPr/>
        </p:nvSpPr>
        <p:spPr>
          <a:xfrm>
            <a:off x="428625" y="1051285"/>
            <a:ext cx="4057650" cy="1235869"/>
          </a:xfrm>
          <a:prstGeom prst="roundRect">
            <a:avLst>
              <a:gd name="adj" fmla="val 2380"/>
            </a:avLst>
          </a:prstGeom>
          <a:solidFill>
            <a:srgbClr val="F3F2ED"/>
          </a:solidFill>
          <a:ln w="4903">
            <a:solidFill>
              <a:srgbClr val="D9D7D2"/>
            </a:solidFill>
            <a:prstDash val="solid"/>
          </a:ln>
        </p:spPr>
      </p:sp>
      <p:sp>
        <p:nvSpPr>
          <p:cNvPr id="9" name="TextBox 23"/>
          <p:cNvSpPr/>
          <p:nvPr/>
        </p:nvSpPr>
        <p:spPr>
          <a:xfrm>
            <a:off x="547687" y="1151297"/>
            <a:ext cx="3819525" cy="1035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收到 user 消息</a:t>
            </a:r>
            <a:endParaRPr lang="en-US" sz="560" dirty="0"/>
          </a:p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│</a:t>
            </a:r>
            <a:endParaRPr lang="en-US" sz="560" dirty="0"/>
          </a:p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├─→ 系统提示中有可用工具？</a:t>
            </a:r>
            <a:endParaRPr lang="en-US" sz="560" dirty="0"/>
          </a:p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│      │</a:t>
            </a:r>
            <a:endParaRPr lang="en-US" sz="560" dirty="0"/>
          </a:p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│      └─→ 是：逐个评估每个工具的描述</a:t>
            </a:r>
            <a:endParaRPr lang="en-US" sz="560" dirty="0"/>
          </a:p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│            → 决定最优工具</a:t>
            </a:r>
            <a:endParaRPr lang="en-US" sz="560" dirty="0"/>
          </a:p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│            → 生成参数</a:t>
            </a:r>
            <a:endParaRPr lang="en-US" sz="560" dirty="0"/>
          </a:p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│            → 返回 tool_calls</a:t>
            </a:r>
            <a:endParaRPr lang="en-US" sz="560" dirty="0"/>
          </a:p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│</a:t>
            </a:r>
            <a:endParaRPr lang="en-US" sz="560" dirty="0"/>
          </a:p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└─→ 否：直接生成文本回复</a:t>
            </a:r>
            <a:endParaRPr lang="en-US" sz="560" dirty="0"/>
          </a:p>
        </p:txBody>
      </p:sp>
      <p:pic>
        <p:nvPicPr>
          <p:cNvPr id="10" name="Picture 26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8625" y="2306203"/>
            <a:ext cx="4057650" cy="738187"/>
          </a:xfrm>
          <a:prstGeom prst="rect">
            <a:avLst/>
          </a:prstGeom>
        </p:spPr>
      </p:pic>
      <p:sp>
        <p:nvSpPr>
          <p:cNvPr id="11" name="TextBox 26"/>
          <p:cNvSpPr/>
          <p:nvPr/>
        </p:nvSpPr>
        <p:spPr>
          <a:xfrm>
            <a:off x="428625" y="2306203"/>
            <a:ext cx="4057650" cy="738187"/>
          </a:xfrm>
          <a:prstGeom prst="rect">
            <a:avLst/>
          </a:prstGeom>
          <a:noFill/>
          <a:ln/>
        </p:spPr>
        <p:txBody>
          <a:bodyPr wrap="square" lIns="98065" tIns="49032" rIns="0" bIns="49032" rtlCol="0" anchor="t">
            <a:spAutoFit/>
          </a:bodyPr>
          <a:lstStyle/>
          <a:p>
            <a:pPr algn="l" indent="0" marL="0">
              <a:lnSpc>
                <a:spcPts val="1042"/>
              </a:lnSpc>
              <a:buNone/>
            </a:pPr>
            <a:r>
              <a:rPr lang="en-US" sz="695" b="1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tool_choice 参数：</a:t>
            </a:r>
            <a:endParaRPr lang="en-US" sz="695" dirty="0"/>
          </a:p>
          <a:p>
            <a:pPr algn="l" indent="0" marL="0">
              <a:lnSpc>
                <a:spcPts val="1042"/>
              </a:lnSpc>
              <a:buNone/>
            </a:pPr>
            <a:r>
              <a:rPr lang="en-US" sz="579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"auto"</a:t>
            </a:r>
            <a:r>
              <a:rPr lang="en-US" sz="695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（默认）— 模型自行决定</a:t>
            </a:r>
            <a:endParaRPr lang="en-US" sz="695" dirty="0"/>
          </a:p>
          <a:p>
            <a:pPr algn="l" indent="0" marL="0">
              <a:lnSpc>
                <a:spcPts val="1042"/>
              </a:lnSpc>
              <a:buNone/>
            </a:pPr>
            <a:r>
              <a:rPr lang="en-US" sz="579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"required"</a:t>
            </a:r>
            <a:r>
              <a:rPr lang="en-US" sz="695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— 强制调用工具</a:t>
            </a:r>
            <a:endParaRPr lang="en-US" sz="695" dirty="0"/>
          </a:p>
          <a:p>
            <a:pPr algn="l" indent="0" marL="0">
              <a:lnSpc>
                <a:spcPts val="1042"/>
              </a:lnSpc>
              <a:buNone/>
            </a:pPr>
            <a:r>
              <a:rPr lang="en-US" sz="579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"none"</a:t>
            </a:r>
            <a:r>
              <a:rPr lang="en-US" sz="695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— 禁止调用工具</a:t>
            </a:r>
            <a:endParaRPr lang="en-US" sz="695" dirty="0"/>
          </a:p>
          <a:p>
            <a:pPr algn="l" indent="0" marL="0">
              <a:lnSpc>
                <a:spcPts val="1042"/>
              </a:lnSpc>
              <a:buNone/>
            </a:pPr>
            <a:r>
              <a:rPr lang="en-US" sz="579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{"type":"function","function":{"name":"x"}}</a:t>
            </a:r>
            <a:r>
              <a:rPr lang="en-US" sz="695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— 强制调用特定工具</a:t>
            </a:r>
            <a:endParaRPr lang="en-US" sz="695" dirty="0"/>
          </a:p>
        </p:txBody>
      </p:sp>
      <p:sp>
        <p:nvSpPr>
          <p:cNvPr id="12" name="TextBox 31"/>
          <p:cNvSpPr/>
          <p:nvPr/>
        </p:nvSpPr>
        <p:spPr>
          <a:xfrm>
            <a:off x="4657725" y="896280"/>
            <a:ext cx="4057650" cy="155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57"/>
              </a:lnSpc>
              <a:buNone/>
            </a:pPr>
            <a:r>
              <a:rPr lang="en-US" sz="811" b="1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四条实践建议：</a:t>
            </a:r>
            <a:endParaRPr lang="en-US" sz="811" dirty="0"/>
          </a:p>
        </p:txBody>
      </p:sp>
      <p:sp>
        <p:nvSpPr>
          <p:cNvPr id="13" name="TextBox 33"/>
          <p:cNvSpPr/>
          <p:nvPr/>
        </p:nvSpPr>
        <p:spPr>
          <a:xfrm>
            <a:off x="4657725" y="1051285"/>
            <a:ext cx="4057650" cy="310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57"/>
              </a:lnSpc>
              <a:buNone/>
            </a:pPr>
            <a:r>
              <a:rPr lang="en-US" sz="811" b="1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1. 工具数量 5–15 个</a:t>
            </a:r>
            <a:r>
              <a:rPr lang="en-US" sz="811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— 太少不够用，太多模型"选择困难"。超 15 个时按领域分组，分发给不同的子助手。</a:t>
            </a:r>
            <a:endParaRPr lang="en-US" sz="811" dirty="0"/>
          </a:p>
        </p:txBody>
      </p:sp>
      <p:sp>
        <p:nvSpPr>
          <p:cNvPr id="14" name="TextBox 35"/>
          <p:cNvSpPr/>
          <p:nvPr/>
        </p:nvSpPr>
        <p:spPr>
          <a:xfrm>
            <a:off x="4657725" y="1361294"/>
            <a:ext cx="4057650" cy="310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57"/>
              </a:lnSpc>
              <a:buNone/>
            </a:pPr>
            <a:r>
              <a:rPr lang="en-US" sz="811" b="1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2. 描述中写好"排他性条件"</a:t>
            </a:r>
            <a:r>
              <a:rPr lang="en-US" sz="811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— 相似工具用描述明确区分：</a:t>
            </a:r>
            <a:r>
              <a:rPr lang="en-US" sz="579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search_orders</a:t>
            </a:r>
            <a:r>
              <a:rPr lang="en-US" sz="811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："按订单号搜索已存在的订单"；</a:t>
            </a:r>
            <a:r>
              <a:rPr lang="en-US" sz="579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create_order</a:t>
            </a:r>
            <a:r>
              <a:rPr lang="en-US" sz="811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："新建一个订单。不要用它来查询已有订单——用 search_orders"。</a:t>
            </a:r>
            <a:endParaRPr lang="en-US" sz="811" dirty="0"/>
          </a:p>
        </p:txBody>
      </p:sp>
      <p:sp>
        <p:nvSpPr>
          <p:cNvPr id="15" name="TextBox 37"/>
          <p:cNvSpPr/>
          <p:nvPr/>
        </p:nvSpPr>
        <p:spPr>
          <a:xfrm>
            <a:off x="4657725" y="1671303"/>
            <a:ext cx="4057650" cy="310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57"/>
              </a:lnSpc>
              <a:buNone/>
            </a:pPr>
            <a:r>
              <a:rPr lang="en-US" sz="811" b="1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3. 用 tool_choice 控制行为</a:t>
            </a:r>
            <a:r>
              <a:rPr lang="en-US" sz="811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— 四种模式覆盖"自动决策 → 强制调用 → 禁止调用 → 指定工具"的完整需求。</a:t>
            </a:r>
            <a:endParaRPr lang="en-US" sz="811" dirty="0"/>
          </a:p>
        </p:txBody>
      </p:sp>
      <p:sp>
        <p:nvSpPr>
          <p:cNvPr id="16" name="TextBox 39"/>
          <p:cNvSpPr/>
          <p:nvPr/>
        </p:nvSpPr>
        <p:spPr>
          <a:xfrm>
            <a:off x="4657725" y="1981312"/>
            <a:ext cx="4057650" cy="155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57"/>
              </a:lnSpc>
              <a:buNone/>
            </a:pPr>
            <a:r>
              <a:rPr lang="en-US" sz="811" b="1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4. 优雅处理工具调用失败</a:t>
            </a:r>
            <a:r>
              <a:rPr lang="en-US" sz="811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— 不要暴露技术细节给模型：</a:t>
            </a:r>
            <a:endParaRPr lang="en-US" sz="811" dirty="0"/>
          </a:p>
        </p:txBody>
      </p:sp>
      <p:sp>
        <p:nvSpPr>
          <p:cNvPr id="17" name="Shape 41"/>
          <p:cNvSpPr/>
          <p:nvPr/>
        </p:nvSpPr>
        <p:spPr>
          <a:xfrm>
            <a:off x="4657725" y="2136316"/>
            <a:ext cx="4057650" cy="510778"/>
          </a:xfrm>
          <a:prstGeom prst="roundRect">
            <a:avLst>
              <a:gd name="adj" fmla="val 5760"/>
            </a:avLst>
          </a:prstGeom>
          <a:solidFill>
            <a:srgbClr val="F3F2ED"/>
          </a:solidFill>
          <a:ln w="4903">
            <a:solidFill>
              <a:srgbClr val="D9D7D2"/>
            </a:solidFill>
            <a:prstDash val="solid"/>
          </a:ln>
        </p:spPr>
      </p:sp>
      <p:sp>
        <p:nvSpPr>
          <p:cNvPr id="18" name="TextBox 43"/>
          <p:cNvSpPr/>
          <p:nvPr/>
        </p:nvSpPr>
        <p:spPr>
          <a:xfrm>
            <a:off x="4776787" y="2236329"/>
            <a:ext cx="3819525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{"error":"NETWORK_TIMEOUT",</a:t>
            </a:r>
            <a:endParaRPr lang="en-US" sz="560" dirty="0"/>
          </a:p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"message":"天气服务暂不可用，请稍后重试",</a:t>
            </a:r>
            <a:endParaRPr lang="en-US" sz="560" dirty="0"/>
          </a:p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"retry_allowed": true}</a:t>
            </a:r>
            <a:endParaRPr lang="en-US" sz="560" dirty="0"/>
          </a:p>
        </p:txBody>
      </p:sp>
      <p:sp>
        <p:nvSpPr>
          <p:cNvPr id="19" name="TextBox 49"/>
          <p:cNvSpPr/>
          <p:nvPr/>
        </p:nvSpPr>
        <p:spPr>
          <a:xfrm>
            <a:off x="8805453" y="4898231"/>
            <a:ext cx="71847" cy="928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53"/>
              </a:lnSpc>
              <a:buNone/>
            </a:pPr>
            <a:r>
              <a:rPr lang="en-US" sz="502" spc="40" kern="0" dirty="0">
                <a:solidFill>
                  <a:srgbClr val="625D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</a:t>
            </a:r>
            <a:endParaRPr lang="en-US" sz="502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/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/>
        </p:spPr>
      </p:sp>
      <p:sp>
        <p:nvSpPr>
          <p:cNvPr id="4" name="TextBox 8"/>
          <p:cNvSpPr/>
          <p:nvPr/>
        </p:nvSpPr>
        <p:spPr>
          <a:xfrm>
            <a:off x="428625" y="342900"/>
            <a:ext cx="1126815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11"/>
              </a:lnSpc>
              <a:buNone/>
            </a:pPr>
            <a:r>
              <a:rPr lang="en-US" sz="541" spc="54" kern="0" dirty="0">
                <a:solidFill>
                  <a:srgbClr val="9C424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4 · 为什么是智能体的基石</a:t>
            </a:r>
            <a:endParaRPr lang="en-US" sz="541" dirty="0"/>
          </a:p>
        </p:txBody>
      </p:sp>
      <p:sp>
        <p:nvSpPr>
          <p:cNvPr id="5" name="Shape 10"/>
          <p:cNvSpPr/>
          <p:nvPr/>
        </p:nvSpPr>
        <p:spPr>
          <a:xfrm>
            <a:off x="1603065" y="385763"/>
            <a:ext cx="228600" cy="14287"/>
          </a:xfrm>
          <a:prstGeom prst="rect">
            <a:avLst/>
          </a:prstGeom>
          <a:solidFill>
            <a:srgbClr val="9C4246"/>
          </a:solidFill>
          <a:ln/>
        </p:spPr>
      </p:sp>
      <p:sp>
        <p:nvSpPr>
          <p:cNvPr id="6" name="TextBox 13"/>
          <p:cNvSpPr/>
          <p:nvPr/>
        </p:nvSpPr>
        <p:spPr>
          <a:xfrm>
            <a:off x="428625" y="442913"/>
            <a:ext cx="8286750" cy="224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22"/>
              </a:lnSpc>
              <a:buNone/>
            </a:pPr>
            <a:r>
              <a:rPr lang="en-US" sz="1544" b="1" spc="-23" kern="0" dirty="0">
                <a:solidFill>
                  <a:srgbClr val="1B150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从"函数调用"到"智能体"——控制流的范式转变</a:t>
            </a:r>
            <a:endParaRPr lang="en-US" sz="1544" dirty="0"/>
          </a:p>
        </p:txBody>
      </p:sp>
      <p:sp>
        <p:nvSpPr>
          <p:cNvPr id="7" name="TextBox 19"/>
          <p:cNvSpPr/>
          <p:nvPr/>
        </p:nvSpPr>
        <p:spPr>
          <a:xfrm>
            <a:off x="428625" y="667680"/>
            <a:ext cx="4057650" cy="155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57"/>
              </a:lnSpc>
              <a:buNone/>
            </a:pPr>
            <a:r>
              <a:rPr lang="en-US" sz="811" b="1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控制流从"开发者预编排"变成"模型动态决策"</a:t>
            </a:r>
            <a:endParaRPr lang="en-US" sz="811" dirty="0"/>
          </a:p>
        </p:txBody>
      </p:sp>
      <p:sp>
        <p:nvSpPr>
          <p:cNvPr id="8" name="Shape 21"/>
          <p:cNvSpPr/>
          <p:nvPr/>
        </p:nvSpPr>
        <p:spPr>
          <a:xfrm>
            <a:off x="428625" y="898885"/>
            <a:ext cx="4057650" cy="1319175"/>
          </a:xfrm>
          <a:prstGeom prst="roundRect">
            <a:avLst>
              <a:gd name="adj" fmla="val 1487"/>
            </a:avLst>
          </a:prstGeom>
          <a:noFill/>
          <a:ln w="4903">
            <a:solidFill>
              <a:srgbClr val="D9D7D2"/>
            </a:solidFill>
            <a:prstDash val="solid"/>
          </a:ln>
        </p:spPr>
      </p:sp>
      <p:graphicFrame>
        <p:nvGraphicFramePr>
          <p:cNvPr id="22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3388" y="903647"/>
          <a:ext cx="4048125" cy="914400"/>
        </p:xfrm>
        <a:graphic>
          <a:graphicData uri="http://schemas.openxmlformats.org/drawingml/2006/table">
            <a:tbl>
              <a:tblPr/>
              <a:tblGrid>
                <a:gridCol w="1133475"/>
                <a:gridCol w="1457325"/>
                <a:gridCol w="145732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40"/>
                        </a:lnSpc>
                        <a:buNone/>
                      </a:pPr>
                      <a:r>
                        <a:rPr lang="en-US" sz="579" b="1" spc="12" kern="0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维度</a:t>
                      </a:r>
                      <a:endParaRPr lang="en-US" sz="579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83355" marR="83355" marT="63742" marB="6374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806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40"/>
                        </a:lnSpc>
                        <a:buNone/>
                      </a:pPr>
                      <a:r>
                        <a:rPr lang="en-US" sz="579" b="1" spc="12" kern="0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传统 API 编排</a:t>
                      </a:r>
                      <a:endParaRPr lang="en-US" sz="579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83355" marR="83355" marT="63742" marB="6374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806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40"/>
                        </a:lnSpc>
                        <a:buNone/>
                      </a:pPr>
                      <a:r>
                        <a:rPr lang="en-US" sz="579" b="1" spc="12" kern="0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Function Calling</a:t>
                      </a:r>
                      <a:endParaRPr lang="en-US" sz="579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83355" marR="83355" marT="63742" marB="6374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806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952"/>
                        </a:lnSpc>
                        <a:buNone/>
                      </a:pPr>
                      <a:r>
                        <a:rPr lang="en-US" sz="656" b="1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调用决策者</a:t>
                      </a:r>
                      <a:endParaRPr lang="en-US" sz="656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83355" marR="83355" marT="53936" marB="5393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952"/>
                        </a:lnSpc>
                        <a:buNone/>
                      </a:pPr>
                      <a:r>
                        <a:rPr lang="en-US" sz="656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开发者（if/else 硬编码）</a:t>
                      </a:r>
                      <a:endParaRPr lang="en-US" sz="656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83355" marR="83355" marT="53936" marB="5393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952"/>
                        </a:lnSpc>
                        <a:buNone/>
                      </a:pPr>
                      <a:r>
                        <a:rPr lang="en-US" sz="656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模型（语义理解动态决策）</a:t>
                      </a:r>
                      <a:endParaRPr lang="en-US" sz="656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83355" marR="83355" marT="53936" marB="5393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952"/>
                        </a:lnSpc>
                        <a:buNone/>
                      </a:pPr>
                      <a:r>
                        <a:rPr lang="en-US" sz="656" b="1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任务复杂度</a:t>
                      </a:r>
                      <a:endParaRPr lang="en-US" sz="656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83355" marR="83355" marT="53936" marB="5393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952"/>
                        </a:lnSpc>
                        <a:buNone/>
                      </a:pPr>
                      <a:r>
                        <a:rPr lang="en-US" sz="656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固定的、可预见的路径</a:t>
                      </a:r>
                      <a:endParaRPr lang="en-US" sz="656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83355" marR="83355" marT="53936" marB="5393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952"/>
                        </a:lnSpc>
                        <a:buNone/>
                      </a:pPr>
                      <a:r>
                        <a:rPr lang="en-US" sz="656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开放式的、需语义判断的场景</a:t>
                      </a:r>
                      <a:endParaRPr lang="en-US" sz="656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83355" marR="83355" marT="53936" marB="5393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952"/>
                        </a:lnSpc>
                        <a:buNone/>
                      </a:pPr>
                      <a:r>
                        <a:rPr lang="en-US" sz="656" b="1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工具组合</a:t>
                      </a:r>
                      <a:endParaRPr lang="en-US" sz="656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83355" marR="83355" marT="53936" marB="5393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952"/>
                        </a:lnSpc>
                        <a:buNone/>
                      </a:pPr>
                      <a:r>
                        <a:rPr lang="en-US" sz="656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开发者预定义调用链</a:t>
                      </a:r>
                      <a:endParaRPr lang="en-US" sz="656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83355" marR="83355" marT="53936" marB="5393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952"/>
                        </a:lnSpc>
                        <a:buNone/>
                      </a:pPr>
                      <a:r>
                        <a:rPr lang="en-US" sz="656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模型灵活组合多个工具</a:t>
                      </a:r>
                      <a:endParaRPr lang="en-US" sz="656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83355" marR="83355" marT="53936" marB="5393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952"/>
                        </a:lnSpc>
                        <a:buNone/>
                      </a:pPr>
                      <a:r>
                        <a:rPr lang="en-US" sz="656" b="1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错误恢复</a:t>
                      </a:r>
                      <a:endParaRPr lang="en-US" sz="656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83355" marR="83355" marT="53936" marB="5393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952"/>
                        </a:lnSpc>
                        <a:buNone/>
                      </a:pPr>
                      <a:r>
                        <a:rPr lang="en-US" sz="656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try/catch 代码处理</a:t>
                      </a:r>
                      <a:endParaRPr lang="en-US" sz="656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83355" marR="83355" marT="53936" marB="5393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952"/>
                        </a:lnSpc>
                        <a:buNone/>
                      </a:pPr>
                      <a:r>
                        <a:rPr lang="en-US" sz="656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模型理解错误信息并调整策略</a:t>
                      </a:r>
                      <a:endParaRPr lang="en-US" sz="656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83355" marR="83355" marT="53936" marB="5393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952"/>
                        </a:lnSpc>
                        <a:buNone/>
                      </a:pPr>
                      <a:r>
                        <a:rPr lang="en-US" sz="656" b="1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需求变更</a:t>
                      </a:r>
                      <a:endParaRPr lang="en-US" sz="656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83355" marR="83355" marT="53936" marB="5393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952"/>
                        </a:lnSpc>
                        <a:buNone/>
                      </a:pPr>
                      <a:r>
                        <a:rPr lang="en-US" sz="656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需要改代码</a:t>
                      </a:r>
                      <a:endParaRPr lang="en-US" sz="656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83355" marR="83355" marT="53936" marB="5393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952"/>
                        </a:lnSpc>
                        <a:buNone/>
                      </a:pPr>
                      <a:r>
                        <a:rPr lang="en-US" sz="656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改 tool 描述或 prompt 即可</a:t>
                      </a:r>
                      <a:endParaRPr lang="en-US" sz="656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83355" marR="83355" marT="53936" marB="5393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0" name="TextBox 29"/>
          <p:cNvSpPr/>
          <p:nvPr/>
        </p:nvSpPr>
        <p:spPr>
          <a:xfrm>
            <a:off x="4657725" y="667680"/>
            <a:ext cx="4057650" cy="155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57"/>
              </a:lnSpc>
              <a:buNone/>
            </a:pPr>
            <a:r>
              <a:rPr lang="en-US" sz="811" b="1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为什么是智能体的基石？</a:t>
            </a:r>
            <a:endParaRPr lang="en-US" sz="811" dirty="0"/>
          </a:p>
        </p:txBody>
      </p:sp>
      <p:sp>
        <p:nvSpPr>
          <p:cNvPr id="11" name="TextBox 31"/>
          <p:cNvSpPr/>
          <p:nvPr/>
        </p:nvSpPr>
        <p:spPr>
          <a:xfrm>
            <a:off x="4657725" y="898885"/>
            <a:ext cx="4057650" cy="310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57"/>
              </a:lnSpc>
              <a:buNone/>
            </a:pPr>
            <a:r>
              <a:rPr lang="en-US" sz="811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智能体（Agent）的本质是</a:t>
            </a:r>
            <a:r>
              <a:rPr lang="en-US" sz="811" b="1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感知 → 规划 → 行动 → 观测 → 调整 → 再行动</a:t>
            </a:r>
            <a:r>
              <a:rPr lang="en-US" sz="811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的自主循环。Function Calling 提供了其中最关键的一环——</a:t>
            </a:r>
            <a:r>
              <a:rPr lang="en-US" sz="811" b="1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行动（Action）</a:t>
            </a:r>
            <a:r>
              <a:rPr lang="en-US" sz="811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。</a:t>
            </a:r>
            <a:endParaRPr lang="en-US" sz="811" dirty="0"/>
          </a:p>
        </p:txBody>
      </p:sp>
      <p:sp>
        <p:nvSpPr>
          <p:cNvPr id="12" name="Shape 33"/>
          <p:cNvSpPr/>
          <p:nvPr/>
        </p:nvSpPr>
        <p:spPr>
          <a:xfrm>
            <a:off x="4657725" y="1285094"/>
            <a:ext cx="4057650" cy="966788"/>
          </a:xfrm>
          <a:prstGeom prst="roundRect">
            <a:avLst>
              <a:gd name="adj" fmla="val 3043"/>
            </a:avLst>
          </a:prstGeom>
          <a:solidFill>
            <a:srgbClr val="F3F2ED"/>
          </a:solidFill>
          <a:ln w="4903">
            <a:solidFill>
              <a:srgbClr val="D9D7D2"/>
            </a:solidFill>
            <a:prstDash val="solid"/>
          </a:ln>
        </p:spPr>
      </p:sp>
      <p:sp>
        <p:nvSpPr>
          <p:cNvPr id="13" name="TextBox 35"/>
          <p:cNvSpPr/>
          <p:nvPr/>
        </p:nvSpPr>
        <p:spPr>
          <a:xfrm>
            <a:off x="4776787" y="1385106"/>
            <a:ext cx="3819525" cy="128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042"/>
              </a:lnSpc>
              <a:buNone/>
            </a:pPr>
            <a:r>
              <a:rPr lang="en-US" sz="695" b="1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Agent Loop（智能体循环）</a:t>
            </a:r>
            <a:endParaRPr lang="en-US" sz="695" dirty="0"/>
          </a:p>
        </p:txBody>
      </p:sp>
      <p:sp>
        <p:nvSpPr>
          <p:cNvPr id="14" name="Shape 39"/>
          <p:cNvSpPr/>
          <p:nvPr/>
        </p:nvSpPr>
        <p:spPr>
          <a:xfrm>
            <a:off x="5295900" y="1570844"/>
            <a:ext cx="762000" cy="333375"/>
          </a:xfrm>
          <a:prstGeom prst="roundRect">
            <a:avLst>
              <a:gd name="adj" fmla="val 11766"/>
            </a:avLst>
          </a:prstGeom>
          <a:solidFill>
            <a:srgbClr val="9D4545">
              <a:alpha val="10196"/>
            </a:srgbClr>
          </a:solidFill>
          <a:ln w="9806">
            <a:solidFill>
              <a:srgbClr val="9C4246">
                <a:alpha val="30196"/>
              </a:srgbClr>
            </a:solidFill>
            <a:prstDash val="solid"/>
          </a:ln>
        </p:spPr>
      </p:sp>
      <p:sp>
        <p:nvSpPr>
          <p:cNvPr id="15" name="TextBox 40"/>
          <p:cNvSpPr/>
          <p:nvPr/>
        </p:nvSpPr>
        <p:spPr>
          <a:xfrm>
            <a:off x="5395913" y="1675619"/>
            <a:ext cx="19050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lnSpc>
                <a:spcPts val="1158"/>
              </a:lnSpc>
              <a:buNone/>
            </a:pPr>
            <a:r>
              <a:rPr lang="en-US" sz="772" b="1" dirty="0">
                <a:solidFill>
                  <a:srgbClr val="1B150D"/>
                </a:solidFill>
                <a:highlight>
                  <a:srgbClr val="9D4545"/>
                </a:highlight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思考</a:t>
            </a:r>
            <a:endParaRPr lang="en-US" sz="772" dirty="0"/>
          </a:p>
        </p:txBody>
      </p:sp>
      <p:sp>
        <p:nvSpPr>
          <p:cNvPr id="16" name="TextBox 42"/>
          <p:cNvSpPr/>
          <p:nvPr/>
        </p:nvSpPr>
        <p:spPr>
          <a:xfrm>
            <a:off x="5586412" y="1691097"/>
            <a:ext cx="371475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53"/>
              </a:lnSpc>
              <a:buNone/>
            </a:pPr>
            <a:r>
              <a:rPr lang="en-US" sz="502" dirty="0">
                <a:solidFill>
                  <a:srgbClr val="625D5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（模型推理）</a:t>
            </a:r>
            <a:endParaRPr lang="en-US" sz="502" dirty="0"/>
          </a:p>
        </p:txBody>
      </p:sp>
      <p:sp>
        <p:nvSpPr>
          <p:cNvPr id="17" name="TextBox 44"/>
          <p:cNvSpPr/>
          <p:nvPr/>
        </p:nvSpPr>
        <p:spPr>
          <a:xfrm>
            <a:off x="6057900" y="1637519"/>
            <a:ext cx="247650" cy="200025"/>
          </a:xfrm>
          <a:prstGeom prst="rect">
            <a:avLst/>
          </a:prstGeom>
          <a:noFill/>
          <a:ln/>
        </p:spPr>
        <p:txBody>
          <a:bodyPr wrap="square" lIns="58839" tIns="0" rIns="58839" bIns="0" rtlCol="0" anchor="t">
            <a:spAutoFit/>
          </a:bodyPr>
          <a:lstStyle/>
          <a:p>
            <a:pPr algn="l" indent="0" marL="0">
              <a:lnSpc>
                <a:spcPts val="1622"/>
              </a:lnSpc>
              <a:buNone/>
            </a:pPr>
            <a:r>
              <a:rPr lang="en-US" sz="1081" dirty="0">
                <a:solidFill>
                  <a:srgbClr val="625D5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→</a:t>
            </a:r>
            <a:endParaRPr lang="en-US" sz="1081" dirty="0"/>
          </a:p>
        </p:txBody>
      </p:sp>
      <p:sp>
        <p:nvSpPr>
          <p:cNvPr id="18" name="Shape 46"/>
          <p:cNvSpPr/>
          <p:nvPr/>
        </p:nvSpPr>
        <p:spPr>
          <a:xfrm>
            <a:off x="6305550" y="1570844"/>
            <a:ext cx="762000" cy="333375"/>
          </a:xfrm>
          <a:prstGeom prst="roundRect">
            <a:avLst>
              <a:gd name="adj" fmla="val 11766"/>
            </a:avLst>
          </a:prstGeom>
          <a:solidFill>
            <a:srgbClr val="6C7645">
              <a:alpha val="10196"/>
            </a:srgbClr>
          </a:solidFill>
          <a:ln w="9806">
            <a:solidFill>
              <a:srgbClr val="6A7B42">
                <a:alpha val="30196"/>
              </a:srgbClr>
            </a:solidFill>
            <a:prstDash val="solid"/>
          </a:ln>
        </p:spPr>
      </p:sp>
      <p:sp>
        <p:nvSpPr>
          <p:cNvPr id="19" name="TextBox 47"/>
          <p:cNvSpPr/>
          <p:nvPr/>
        </p:nvSpPr>
        <p:spPr>
          <a:xfrm>
            <a:off x="6315075" y="1604181"/>
            <a:ext cx="285750" cy="2643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lnSpc>
                <a:spcPts val="1158"/>
              </a:lnSpc>
              <a:buNone/>
            </a:pPr>
            <a:r>
              <a:rPr lang="en-US" sz="772" b="1" dirty="0">
                <a:solidFill>
                  <a:srgbClr val="1B150D"/>
                </a:solidFill>
                <a:highlight>
                  <a:srgbClr val="6C7645"/>
                </a:highlight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调用工具</a:t>
            </a:r>
            <a:endParaRPr lang="en-US" sz="772" dirty="0"/>
          </a:p>
        </p:txBody>
      </p:sp>
      <p:sp>
        <p:nvSpPr>
          <p:cNvPr id="20" name="TextBox 49"/>
          <p:cNvSpPr/>
          <p:nvPr/>
        </p:nvSpPr>
        <p:spPr>
          <a:xfrm>
            <a:off x="6616303" y="1644662"/>
            <a:ext cx="441722" cy="1857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53"/>
              </a:lnSpc>
              <a:buNone/>
            </a:pPr>
            <a:r>
              <a:rPr lang="en-US" sz="502" dirty="0">
                <a:solidFill>
                  <a:srgbClr val="625D5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← Function Calling</a:t>
            </a:r>
            <a:endParaRPr lang="en-US" sz="502" dirty="0"/>
          </a:p>
        </p:txBody>
      </p:sp>
      <p:sp>
        <p:nvSpPr>
          <p:cNvPr id="21" name="TextBox 51"/>
          <p:cNvSpPr/>
          <p:nvPr/>
        </p:nvSpPr>
        <p:spPr>
          <a:xfrm>
            <a:off x="7067550" y="1637519"/>
            <a:ext cx="247650" cy="200025"/>
          </a:xfrm>
          <a:prstGeom prst="rect">
            <a:avLst/>
          </a:prstGeom>
          <a:noFill/>
          <a:ln/>
        </p:spPr>
        <p:txBody>
          <a:bodyPr wrap="square" lIns="58839" tIns="0" rIns="58839" bIns="0" rtlCol="0" anchor="t">
            <a:spAutoFit/>
          </a:bodyPr>
          <a:lstStyle/>
          <a:p>
            <a:pPr algn="l" indent="0" marL="0">
              <a:lnSpc>
                <a:spcPts val="1622"/>
              </a:lnSpc>
              <a:buNone/>
            </a:pPr>
            <a:r>
              <a:rPr lang="en-US" sz="1081" dirty="0">
                <a:solidFill>
                  <a:srgbClr val="625D5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→</a:t>
            </a:r>
            <a:endParaRPr lang="en-US" sz="1081" dirty="0"/>
          </a:p>
        </p:txBody>
      </p:sp>
      <p:sp>
        <p:nvSpPr>
          <p:cNvPr id="22" name="Shape 53"/>
          <p:cNvSpPr/>
          <p:nvPr/>
        </p:nvSpPr>
        <p:spPr>
          <a:xfrm>
            <a:off x="7315200" y="1570844"/>
            <a:ext cx="762000" cy="333375"/>
          </a:xfrm>
          <a:prstGeom prst="roundRect">
            <a:avLst>
              <a:gd name="adj" fmla="val 11766"/>
            </a:avLst>
          </a:prstGeom>
          <a:solidFill>
            <a:srgbClr val="2789C4">
              <a:alpha val="10196"/>
            </a:srgbClr>
          </a:solidFill>
          <a:ln w="9806">
            <a:solidFill>
              <a:srgbClr val="2B88C0">
                <a:alpha val="30196"/>
              </a:srgbClr>
            </a:solidFill>
            <a:prstDash val="solid"/>
          </a:ln>
        </p:spPr>
      </p:sp>
      <p:sp>
        <p:nvSpPr>
          <p:cNvPr id="23" name="TextBox 54"/>
          <p:cNvSpPr/>
          <p:nvPr/>
        </p:nvSpPr>
        <p:spPr>
          <a:xfrm>
            <a:off x="7324725" y="1604181"/>
            <a:ext cx="285750" cy="2643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lnSpc>
                <a:spcPts val="1158"/>
              </a:lnSpc>
              <a:buNone/>
            </a:pPr>
            <a:r>
              <a:rPr lang="en-US" sz="772" b="1" dirty="0">
                <a:solidFill>
                  <a:srgbClr val="1B150D"/>
                </a:solidFill>
                <a:highlight>
                  <a:srgbClr val="2789C4"/>
                </a:highlight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观测结果</a:t>
            </a:r>
            <a:endParaRPr lang="en-US" sz="772" dirty="0"/>
          </a:p>
        </p:txBody>
      </p:sp>
      <p:sp>
        <p:nvSpPr>
          <p:cNvPr id="24" name="TextBox 56"/>
          <p:cNvSpPr/>
          <p:nvPr/>
        </p:nvSpPr>
        <p:spPr>
          <a:xfrm>
            <a:off x="7672313" y="1644662"/>
            <a:ext cx="395362" cy="1857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53"/>
              </a:lnSpc>
              <a:buNone/>
            </a:pPr>
            <a:r>
              <a:rPr lang="en-US" sz="502" dirty="0">
                <a:solidFill>
                  <a:srgbClr val="625D5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（工具返回值）</a:t>
            </a:r>
            <a:endParaRPr lang="en-US" sz="502" dirty="0"/>
          </a:p>
        </p:txBody>
      </p:sp>
      <p:sp>
        <p:nvSpPr>
          <p:cNvPr id="25" name="TextBox 61"/>
          <p:cNvSpPr/>
          <p:nvPr/>
        </p:nvSpPr>
        <p:spPr>
          <a:xfrm>
            <a:off x="6164238" y="1942319"/>
            <a:ext cx="1044624" cy="100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11"/>
              </a:lnSpc>
              <a:buNone/>
            </a:pPr>
            <a:r>
              <a:rPr lang="en-US" sz="541" dirty="0">
                <a:solidFill>
                  <a:srgbClr val="625D5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↑ 目标未达成，回到"思考"继续循环</a:t>
            </a:r>
            <a:endParaRPr lang="en-US" sz="541" dirty="0"/>
          </a:p>
        </p:txBody>
      </p:sp>
      <p:sp>
        <p:nvSpPr>
          <p:cNvPr id="26" name="TextBox 66"/>
          <p:cNvSpPr/>
          <p:nvPr/>
        </p:nvSpPr>
        <p:spPr>
          <a:xfrm>
            <a:off x="6359947" y="2051856"/>
            <a:ext cx="653170" cy="100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11"/>
              </a:lnSpc>
              <a:buNone/>
            </a:pPr>
            <a:r>
              <a:rPr lang="en-US" sz="541" dirty="0">
                <a:solidFill>
                  <a:srgbClr val="537E5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↓ 目标达成，结束循环</a:t>
            </a:r>
            <a:endParaRPr lang="en-US" sz="541" dirty="0"/>
          </a:p>
        </p:txBody>
      </p:sp>
      <p:pic>
        <p:nvPicPr>
          <p:cNvPr id="27" name="Picture 72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8625" y="4395341"/>
            <a:ext cx="8286750" cy="405259"/>
          </a:xfrm>
          <a:prstGeom prst="rect">
            <a:avLst/>
          </a:prstGeom>
        </p:spPr>
      </p:pic>
      <p:sp>
        <p:nvSpPr>
          <p:cNvPr id="28" name="TextBox 72"/>
          <p:cNvSpPr/>
          <p:nvPr/>
        </p:nvSpPr>
        <p:spPr>
          <a:xfrm>
            <a:off x="428625" y="4395341"/>
            <a:ext cx="8286750" cy="405259"/>
          </a:xfrm>
          <a:prstGeom prst="rect">
            <a:avLst/>
          </a:prstGeom>
          <a:noFill/>
          <a:ln/>
        </p:spPr>
        <p:txBody>
          <a:bodyPr wrap="square" lIns="98065" tIns="49032" rIns="0" bIns="49032" rtlCol="0" anchor="t">
            <a:spAutoFit/>
          </a:bodyPr>
          <a:lstStyle/>
          <a:p>
            <a:pPr algn="l" indent="0" marL="0">
              <a:lnSpc>
                <a:spcPts val="1257"/>
              </a:lnSpc>
              <a:buNone/>
            </a:pPr>
            <a:r>
              <a:rPr lang="en-US" sz="811" b="1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核心结论：</a:t>
            </a:r>
            <a:r>
              <a:rPr lang="en-US" sz="811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没有 Function Calling，模型只是一个"只会说话的盒子"——它能理解和生成文本，但无法对世界产生任何影响。有了 Function Calling，模型从被动的对话系统变成了能主动调用外部能力的</a:t>
            </a:r>
            <a:r>
              <a:rPr lang="en-US" sz="811" b="1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决策中枢</a:t>
            </a:r>
            <a:r>
              <a:rPr lang="en-US" sz="811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。这就是从 LLM 到 Agent 的关键一跃。</a:t>
            </a:r>
            <a:endParaRPr lang="en-US" sz="811" dirty="0"/>
          </a:p>
        </p:txBody>
      </p:sp>
      <p:sp>
        <p:nvSpPr>
          <p:cNvPr id="29" name="TextBox 75"/>
          <p:cNvSpPr/>
          <p:nvPr/>
        </p:nvSpPr>
        <p:spPr>
          <a:xfrm>
            <a:off x="8805453" y="4898231"/>
            <a:ext cx="71847" cy="928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53"/>
              </a:lnSpc>
              <a:buNone/>
            </a:pPr>
            <a:r>
              <a:rPr lang="en-US" sz="502" spc="40" kern="0" dirty="0">
                <a:solidFill>
                  <a:srgbClr val="625D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21</a:t>
            </a:r>
            <a:endParaRPr lang="en-US" sz="502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/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/>
        </p:spPr>
      </p:sp>
      <p:sp>
        <p:nvSpPr>
          <p:cNvPr id="4" name="TextBox 8"/>
          <p:cNvSpPr/>
          <p:nvPr/>
        </p:nvSpPr>
        <p:spPr>
          <a:xfrm>
            <a:off x="381000" y="266700"/>
            <a:ext cx="686767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11"/>
              </a:lnSpc>
              <a:buNone/>
            </a:pPr>
            <a:r>
              <a:rPr lang="en-US" sz="541" spc="54" kern="0" dirty="0">
                <a:solidFill>
                  <a:srgbClr val="9C424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4 · 代码实践</a:t>
            </a:r>
            <a:endParaRPr lang="en-US" sz="541" dirty="0"/>
          </a:p>
        </p:txBody>
      </p:sp>
      <p:sp>
        <p:nvSpPr>
          <p:cNvPr id="5" name="Shape 10"/>
          <p:cNvSpPr/>
          <p:nvPr/>
        </p:nvSpPr>
        <p:spPr>
          <a:xfrm>
            <a:off x="1115392" y="309563"/>
            <a:ext cx="228600" cy="14287"/>
          </a:xfrm>
          <a:prstGeom prst="rect">
            <a:avLst/>
          </a:prstGeom>
          <a:solidFill>
            <a:srgbClr val="9C4246"/>
          </a:solidFill>
          <a:ln/>
        </p:spPr>
      </p:sp>
      <p:sp>
        <p:nvSpPr>
          <p:cNvPr id="6" name="TextBox 13"/>
          <p:cNvSpPr/>
          <p:nvPr/>
        </p:nvSpPr>
        <p:spPr>
          <a:xfrm>
            <a:off x="381000" y="366713"/>
            <a:ext cx="8382000" cy="224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22"/>
              </a:lnSpc>
              <a:buNone/>
            </a:pPr>
            <a:r>
              <a:rPr lang="en-US" sz="1544" b="1" spc="-23" kern="0" dirty="0">
                <a:solidFill>
                  <a:srgbClr val="1B150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完整实例：支持 Function Calling 的天气助手</a:t>
            </a:r>
            <a:endParaRPr lang="en-US" sz="1544" dirty="0"/>
          </a:p>
        </p:txBody>
      </p:sp>
      <p:sp>
        <p:nvSpPr>
          <p:cNvPr id="7" name="Shape 17"/>
          <p:cNvSpPr/>
          <p:nvPr/>
        </p:nvSpPr>
        <p:spPr>
          <a:xfrm>
            <a:off x="381000" y="591480"/>
            <a:ext cx="4105275" cy="3770970"/>
          </a:xfrm>
          <a:prstGeom prst="roundRect">
            <a:avLst>
              <a:gd name="adj" fmla="val 780"/>
            </a:avLst>
          </a:prstGeom>
          <a:solidFill>
            <a:srgbClr val="F3F2ED"/>
          </a:solidFill>
          <a:ln w="4903">
            <a:solidFill>
              <a:srgbClr val="D9D7D2"/>
            </a:solidFill>
            <a:prstDash val="solid"/>
          </a:ln>
        </p:spPr>
      </p:sp>
      <p:sp>
        <p:nvSpPr>
          <p:cNvPr id="8" name="TextBox 19"/>
          <p:cNvSpPr/>
          <p:nvPr/>
        </p:nvSpPr>
        <p:spPr>
          <a:xfrm>
            <a:off x="500063" y="691493"/>
            <a:ext cx="3867150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79" dirty="0">
                <a:solidFill>
                  <a:srgbClr val="9C424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工具定义 + 模拟实现</a:t>
            </a:r>
            <a:endParaRPr lang="en-US" sz="579" dirty="0"/>
          </a:p>
        </p:txBody>
      </p:sp>
      <p:sp>
        <p:nvSpPr>
          <p:cNvPr id="9" name="TextBox 21"/>
          <p:cNvSpPr/>
          <p:nvPr/>
        </p:nvSpPr>
        <p:spPr>
          <a:xfrm>
            <a:off x="500063" y="823652"/>
            <a:ext cx="3867150" cy="27029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import json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openai import OpenAI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client = OpenAI()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步骤 1：定义工具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tools = [{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"type": "function",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"function": {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"name": "get_weather",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"description": "获取指定城市的实时天气。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当用户询问某地天气时使用。",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"parameters": {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  "type": "object",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  "properties": {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      "city": {"type": "string",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          "description": "城市名称（中文）。"}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  },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  "required": ["city"]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}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}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}]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步骤 2：工具的实际实现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def get_weather(city: str) -&gt; dict: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data = {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"北京": {"temp":18,"condition":"晴","humidity":35},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"上海": {"temp":22,"condition":"多云","humidity":65}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}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return data.get(city, {"temp":"未知","condition":"无数据"})</a:t>
            </a:r>
            <a:endParaRPr lang="en-US" sz="521" dirty="0"/>
          </a:p>
        </p:txBody>
      </p:sp>
      <p:sp>
        <p:nvSpPr>
          <p:cNvPr id="10" name="Shape 24"/>
          <p:cNvSpPr/>
          <p:nvPr/>
        </p:nvSpPr>
        <p:spPr>
          <a:xfrm>
            <a:off x="4657725" y="591480"/>
            <a:ext cx="4105275" cy="3770970"/>
          </a:xfrm>
          <a:prstGeom prst="roundRect">
            <a:avLst>
              <a:gd name="adj" fmla="val 780"/>
            </a:avLst>
          </a:prstGeom>
          <a:solidFill>
            <a:srgbClr val="F3F2ED"/>
          </a:solidFill>
          <a:ln w="4903">
            <a:solidFill>
              <a:srgbClr val="D9D7D2"/>
            </a:solidFill>
            <a:prstDash val="solid"/>
          </a:ln>
        </p:spPr>
      </p:sp>
      <p:sp>
        <p:nvSpPr>
          <p:cNvPr id="11" name="TextBox 26"/>
          <p:cNvSpPr/>
          <p:nvPr/>
        </p:nvSpPr>
        <p:spPr>
          <a:xfrm>
            <a:off x="4776787" y="691493"/>
            <a:ext cx="3867150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79" dirty="0">
                <a:solidFill>
                  <a:srgbClr val="9C424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步骤 3：对话循环（核心逻辑）</a:t>
            </a:r>
            <a:endParaRPr lang="en-US" sz="579" dirty="0"/>
          </a:p>
        </p:txBody>
      </p:sp>
      <p:sp>
        <p:nvSpPr>
          <p:cNvPr id="12" name="TextBox 28"/>
          <p:cNvSpPr/>
          <p:nvPr/>
        </p:nvSpPr>
        <p:spPr>
          <a:xfrm>
            <a:off x="4776787" y="823652"/>
            <a:ext cx="3867150" cy="2423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messages = [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{"role":"system","content":"你是天气助手，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使用 get_weather 工具获取实时天气。"},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{"role":"user","content":"北京今天天气怎么样？"}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]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while True: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r = client.chat.completions.create(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model="gpt-4o", messages=messages,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tools=tools, tool_choice="auto")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msg = r.choices[0].message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if msg.tool_calls:           # 模型想调用工具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messages.append(msg)     # 将 tool_call 加入历史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for tc in msg.tool_calls: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  args = json.loads(tc.function.arguments)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  result = get_weather(**args)  # 实际执行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  messages.append({     # 结果以 role:"tool" 加入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      "role": "tool",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      "tool_call_id": tc.id,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      "content": json.dumps(result, ensure_ascii=False)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  })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continue                  # 继续循环，模型基于结果续答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print(msg.content)            # 模型已完成回答</a:t>
            </a:r>
            <a:endParaRPr lang="en-US" sz="521" dirty="0"/>
          </a:p>
          <a:p>
            <a:pPr algn="l" indent="0" marL="0">
              <a:lnSpc>
                <a:spcPts val="756"/>
              </a:lnSpc>
              <a:buNone/>
            </a:pPr>
            <a:r>
              <a:rPr lang="en-US" sz="521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break</a:t>
            </a:r>
            <a:endParaRPr lang="en-US" sz="521" dirty="0"/>
          </a:p>
        </p:txBody>
      </p:sp>
      <p:sp>
        <p:nvSpPr>
          <p:cNvPr id="13" name="TextBox 34"/>
          <p:cNvSpPr/>
          <p:nvPr/>
        </p:nvSpPr>
        <p:spPr>
          <a:xfrm>
            <a:off x="381000" y="4362450"/>
            <a:ext cx="83820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2"/>
              </a:lnSpc>
              <a:buNone/>
            </a:pPr>
            <a:r>
              <a:rPr lang="en-US" sz="695" b="1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代码的三个关键设计点：</a:t>
            </a:r>
            <a:endParaRPr lang="en-US" sz="695" dirty="0"/>
          </a:p>
        </p:txBody>
      </p:sp>
      <p:sp>
        <p:nvSpPr>
          <p:cNvPr id="14" name="TextBox 36"/>
          <p:cNvSpPr/>
          <p:nvPr/>
        </p:nvSpPr>
        <p:spPr>
          <a:xfrm>
            <a:off x="381000" y="4491038"/>
            <a:ext cx="8382000" cy="128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2"/>
              </a:lnSpc>
              <a:buNone/>
            </a:pPr>
            <a:r>
              <a:rPr lang="en-US" sz="695" b="1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① while True 循环</a:t>
            </a:r>
            <a:r>
              <a:rPr lang="en-US" sz="695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— 一次对话可能触发多轮 tool calling（模型可能先查天气，再基于结果决定是否需要查更多信息）。</a:t>
            </a:r>
            <a:endParaRPr lang="en-US" sz="695" dirty="0"/>
          </a:p>
        </p:txBody>
      </p:sp>
      <p:sp>
        <p:nvSpPr>
          <p:cNvPr id="15" name="TextBox 38"/>
          <p:cNvSpPr/>
          <p:nvPr/>
        </p:nvSpPr>
        <p:spPr>
          <a:xfrm>
            <a:off x="381000" y="4619625"/>
            <a:ext cx="83820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2"/>
              </a:lnSpc>
              <a:buNone/>
            </a:pPr>
            <a:r>
              <a:rPr lang="en-US" sz="695" b="1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② tool_call_id 精确匹配</a:t>
            </a:r>
            <a:r>
              <a:rPr lang="en-US" sz="695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— </a:t>
            </a:r>
            <a:r>
              <a:rPr lang="en-US" sz="579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role:"tool"</a:t>
            </a:r>
            <a:r>
              <a:rPr lang="en-US" sz="695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消息的 </a:t>
            </a:r>
            <a:r>
              <a:rPr lang="en-US" sz="579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tool_call_id</a:t>
            </a:r>
            <a:r>
              <a:rPr lang="en-US" sz="695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必须与对应 </a:t>
            </a:r>
            <a:r>
              <a:rPr lang="en-US" sz="579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tool_calls</a:t>
            </a:r>
            <a:r>
              <a:rPr lang="en-US" sz="695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条目的 </a:t>
            </a:r>
            <a:r>
              <a:rPr lang="en-US" sz="579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id</a:t>
            </a:r>
            <a:r>
              <a:rPr lang="en-US" sz="695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一致，否则 API 拒绝请求。</a:t>
            </a:r>
            <a:endParaRPr lang="en-US" sz="695" dirty="0"/>
          </a:p>
        </p:txBody>
      </p:sp>
      <p:sp>
        <p:nvSpPr>
          <p:cNvPr id="16" name="TextBox 40"/>
          <p:cNvSpPr/>
          <p:nvPr/>
        </p:nvSpPr>
        <p:spPr>
          <a:xfrm>
            <a:off x="381000" y="4748213"/>
            <a:ext cx="8382000" cy="128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2"/>
              </a:lnSpc>
              <a:buNone/>
            </a:pPr>
            <a:r>
              <a:rPr lang="en-US" sz="695" b="1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③ finish_reason 判断</a:t>
            </a:r>
            <a:r>
              <a:rPr lang="en-US" sz="695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— </a:t>
            </a:r>
            <a:r>
              <a:rPr lang="en-US" sz="579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msg.tool_calls</a:t>
            </a:r>
            <a:r>
              <a:rPr lang="en-US" sz="695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非空时继续循环；为空（</a:t>
            </a:r>
            <a:r>
              <a:rPr lang="en-US" sz="579" dirty="0">
                <a:solidFill>
                  <a:srgbClr val="1B15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finish_reason:"stop"</a:t>
            </a:r>
            <a:r>
              <a:rPr lang="en-US" sz="695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）时循环结束，模型已给出最终回答。</a:t>
            </a:r>
            <a:endParaRPr lang="en-US" sz="695" dirty="0"/>
          </a:p>
        </p:txBody>
      </p:sp>
      <p:sp>
        <p:nvSpPr>
          <p:cNvPr id="17" name="TextBox 44"/>
          <p:cNvSpPr/>
          <p:nvPr/>
        </p:nvSpPr>
        <p:spPr>
          <a:xfrm>
            <a:off x="8805453" y="4898231"/>
            <a:ext cx="71847" cy="928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53"/>
              </a:lnSpc>
              <a:buNone/>
            </a:pPr>
            <a:r>
              <a:rPr lang="en-US" sz="502" spc="40" kern="0" dirty="0">
                <a:solidFill>
                  <a:srgbClr val="625D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22</a:t>
            </a:r>
            <a:endParaRPr lang="en-US" sz="502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/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/>
        </p:spPr>
      </p:sp>
      <p:sp>
        <p:nvSpPr>
          <p:cNvPr id="4" name="TextBox 8"/>
          <p:cNvSpPr/>
          <p:nvPr/>
        </p:nvSpPr>
        <p:spPr>
          <a:xfrm>
            <a:off x="428625" y="342900"/>
            <a:ext cx="146707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11"/>
              </a:lnSpc>
              <a:buNone/>
            </a:pPr>
            <a:r>
              <a:rPr lang="en-US" sz="541" spc="54" kern="0" dirty="0">
                <a:solidFill>
                  <a:srgbClr val="9C424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总结</a:t>
            </a:r>
            <a:endParaRPr lang="en-US" sz="541" dirty="0"/>
          </a:p>
        </p:txBody>
      </p:sp>
      <p:sp>
        <p:nvSpPr>
          <p:cNvPr id="5" name="Shape 10"/>
          <p:cNvSpPr/>
          <p:nvPr/>
        </p:nvSpPr>
        <p:spPr>
          <a:xfrm>
            <a:off x="622957" y="385763"/>
            <a:ext cx="228600" cy="14287"/>
          </a:xfrm>
          <a:prstGeom prst="rect">
            <a:avLst/>
          </a:prstGeom>
          <a:solidFill>
            <a:srgbClr val="9C4246"/>
          </a:solidFill>
          <a:ln/>
        </p:spPr>
      </p:sp>
      <p:sp>
        <p:nvSpPr>
          <p:cNvPr id="6" name="TextBox 13"/>
          <p:cNvSpPr/>
          <p:nvPr/>
        </p:nvSpPr>
        <p:spPr>
          <a:xfrm>
            <a:off x="428625" y="557212"/>
            <a:ext cx="8286750" cy="224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22"/>
              </a:lnSpc>
              <a:buNone/>
            </a:pPr>
            <a:r>
              <a:rPr lang="en-US" sz="1544" b="1" spc="-23" kern="0" dirty="0">
                <a:solidFill>
                  <a:srgbClr val="1B150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核心结论与推荐阅读</a:t>
            </a:r>
            <a:endParaRPr lang="en-US" sz="1544" dirty="0"/>
          </a:p>
        </p:txBody>
      </p:sp>
      <p:sp>
        <p:nvSpPr>
          <p:cNvPr id="7" name="Shape 15"/>
          <p:cNvSpPr/>
          <p:nvPr/>
        </p:nvSpPr>
        <p:spPr>
          <a:xfrm>
            <a:off x="428625" y="896280"/>
            <a:ext cx="8286750" cy="3366157"/>
          </a:xfrm>
          <a:prstGeom prst="roundRect">
            <a:avLst>
              <a:gd name="adj" fmla="val 583"/>
            </a:avLst>
          </a:prstGeom>
          <a:noFill/>
          <a:ln w="4903">
            <a:solidFill>
              <a:srgbClr val="D9D7D2"/>
            </a:solidFill>
            <a:prstDash val="solid"/>
          </a:ln>
        </p:spPr>
      </p:sp>
      <p:graphicFrame>
        <p:nvGraphicFramePr>
          <p:cNvPr id="24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3387" y="901043"/>
          <a:ext cx="8277225" cy="914400"/>
        </p:xfrm>
        <a:graphic>
          <a:graphicData uri="http://schemas.openxmlformats.org/drawingml/2006/table">
            <a:tbl>
              <a:tblPr/>
              <a:tblGrid>
                <a:gridCol w="1820987"/>
                <a:gridCol w="6456239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40"/>
                        </a:lnSpc>
                        <a:buNone/>
                      </a:pPr>
                      <a:r>
                        <a:rPr lang="en-US" sz="579" b="1" spc="12" kern="0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问题</a:t>
                      </a:r>
                      <a:endParaRPr lang="en-US" sz="579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83355" marR="83355" marT="63742" marB="6374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806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40"/>
                        </a:lnSpc>
                        <a:buNone/>
                      </a:pPr>
                      <a:r>
                        <a:rPr lang="en-US" sz="579" b="1" spc="12" kern="0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核心结论</a:t>
                      </a:r>
                      <a:endParaRPr lang="en-US" sz="579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83355" marR="83355" marT="63742" marB="6374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806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57"/>
                        </a:lnSpc>
                        <a:buNone/>
                      </a:pPr>
                      <a:r>
                        <a:rPr lang="en-US" sz="811" b="1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为什么需要结构化输出？</a:t>
                      </a:r>
                      <a:endParaRPr lang="en-US" sz="811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83355" marR="83355" marT="53936" marB="5393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57"/>
                        </a:lnSpc>
                        <a:buNone/>
                      </a:pPr>
                      <a:r>
                        <a:rPr lang="en-US" sz="811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让程序能可靠消费模型输出。JSON 让解析变得确定、高效、无歧义。约束采样 / Structured Output API 从数学上保证格式正确，prompt 工程 + 重试作为轻量兜底。</a:t>
                      </a:r>
                      <a:endParaRPr lang="en-US" sz="811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83355" marR="83355" marT="53936" marB="5393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57"/>
                        </a:lnSpc>
                        <a:buNone/>
                      </a:pPr>
                      <a:r>
                        <a:rPr lang="en-US" sz="811" b="1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Function Calling 如何流转？</a:t>
                      </a:r>
                      <a:endParaRPr lang="en-US" sz="811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83355" marR="83355" marT="53936" marB="5393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57"/>
                        </a:lnSpc>
                        <a:buNone/>
                      </a:pPr>
                      <a:r>
                        <a:rPr lang="en-US" sz="811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五次关键交互：声明工具 → 模型请求调用 → 程序执行 → 结果回传（</a:t>
                      </a:r>
                      <a:r>
                        <a:rPr lang="en-US" sz="579" dirty="0">
                          <a:solidFill>
                            <a:srgbClr val="1B150D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role:"tool"</a:t>
                      </a:r>
                      <a:r>
                        <a:rPr lang="en-US" sz="811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，第四种角色）→ 模型续答。messages 数组由客户端维护和拼接，</a:t>
                      </a:r>
                      <a:r>
                        <a:rPr lang="en-US" sz="579" dirty="0">
                          <a:solidFill>
                            <a:srgbClr val="1B150D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tool_call_id</a:t>
                      </a:r>
                      <a:r>
                        <a:rPr lang="en-US" sz="811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 精确关联。</a:t>
                      </a:r>
                      <a:endParaRPr lang="en-US" sz="811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83355" marR="83355" marT="53936" marB="5393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57"/>
                        </a:lnSpc>
                        <a:buNone/>
                      </a:pPr>
                      <a:r>
                        <a:rPr lang="en-US" sz="811" b="1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Schema 怎么写才对？</a:t>
                      </a:r>
                      <a:endParaRPr lang="en-US" sz="811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83355" marR="83355" marT="53936" marB="5393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57"/>
                        </a:lnSpc>
                        <a:buNone/>
                      </a:pPr>
                      <a:r>
                        <a:rPr lang="en-US" sz="811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名称用 </a:t>
                      </a:r>
                      <a:r>
                        <a:rPr lang="en-US" sz="579" dirty="0">
                          <a:solidFill>
                            <a:srgbClr val="1B150D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动词_宾语</a:t>
                      </a:r>
                      <a:r>
                        <a:rPr lang="en-US" sz="811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，描述包含触发条件 + 输出格式 + 注意事项，参数用 JSON Schema + enum + 清晰描述，required 只标真正必须的。相似工具用描述做排他性区分。</a:t>
                      </a:r>
                      <a:endParaRPr lang="en-US" sz="811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83355" marR="83355" marT="53936" marB="5393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57"/>
                        </a:lnSpc>
                        <a:buNone/>
                      </a:pPr>
                      <a:r>
                        <a:rPr lang="en-US" sz="811" b="1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为什么是 Agent 基石？</a:t>
                      </a:r>
                      <a:endParaRPr lang="en-US" sz="811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83355" marR="83355" marT="53936" marB="5393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57"/>
                        </a:lnSpc>
                        <a:buNone/>
                      </a:pPr>
                      <a:r>
                        <a:rPr lang="en-US" sz="811" dirty="0">
                          <a:solidFill>
                            <a:srgbClr val="1B150D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控制流从"开发者预编排"变成"模型动态决策"——模型从被动的文本生成器升级为能主动调用外部能力的决策中枢。这是 LLM → Agent 的关键一跃。</a:t>
                      </a:r>
                      <a:endParaRPr lang="en-US" sz="811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83355" marR="83355" marT="53936" marB="5393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9" name="TextBox 22"/>
          <p:cNvSpPr/>
          <p:nvPr/>
        </p:nvSpPr>
        <p:spPr>
          <a:xfrm>
            <a:off x="428625" y="4376738"/>
            <a:ext cx="8286750" cy="128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2"/>
              </a:lnSpc>
              <a:buNone/>
            </a:pPr>
            <a:r>
              <a:rPr lang="en-US" sz="695" b="1" dirty="0">
                <a:solidFill>
                  <a:srgbClr val="1B15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推荐进一步阅读：</a:t>
            </a:r>
            <a:endParaRPr lang="en-US" sz="695" dirty="0"/>
          </a:p>
        </p:txBody>
      </p:sp>
      <p:sp>
        <p:nvSpPr>
          <p:cNvPr id="10" name="TextBox 24"/>
          <p:cNvSpPr/>
          <p:nvPr/>
        </p:nvSpPr>
        <p:spPr>
          <a:xfrm>
            <a:off x="428625" y="4543425"/>
            <a:ext cx="82867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2"/>
              </a:lnSpc>
              <a:buNone/>
            </a:pPr>
            <a:r>
              <a:rPr lang="en-US" sz="695" dirty="0">
                <a:solidFill>
                  <a:srgbClr val="625D5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OpenAI Function Calling 官方文档 · Anthropic Tool Use 文档（</a:t>
            </a:r>
            <a:r>
              <a:rPr lang="en-US" sz="579" dirty="0">
                <a:solidFill>
                  <a:srgbClr val="625D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tool_use</a:t>
            </a:r>
            <a:r>
              <a:rPr lang="en-US" sz="695" dirty="0">
                <a:solidFill>
                  <a:srgbClr val="625D5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content block）· LangChain / Vercel AI SDK 中的 Tool 抽象层 · Toolformer (Schick et al., 2023) — 模型自主学会使用工具 · ReAct (Yao et al., 2022) — 推理 + 行动的 Agent 范式</a:t>
            </a:r>
            <a:endParaRPr lang="en-US" sz="695" dirty="0"/>
          </a:p>
        </p:txBody>
      </p:sp>
      <p:sp>
        <p:nvSpPr>
          <p:cNvPr id="11" name="TextBox 28"/>
          <p:cNvSpPr/>
          <p:nvPr/>
        </p:nvSpPr>
        <p:spPr>
          <a:xfrm>
            <a:off x="8805453" y="4898231"/>
            <a:ext cx="71847" cy="928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53"/>
              </a:lnSpc>
              <a:buNone/>
            </a:pPr>
            <a:r>
              <a:rPr lang="en-US" sz="502" spc="40" kern="0" dirty="0">
                <a:solidFill>
                  <a:srgbClr val="625D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23</a:t>
            </a:r>
            <a:endParaRPr lang="en-US" sz="50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2026-07-13T03:29:29Z</dcterms:created>
  <dcterms:modified xsi:type="dcterms:W3CDTF">2026-07-13T03:29:29Z</dcterms:modified>
</cp:coreProperties>
</file>