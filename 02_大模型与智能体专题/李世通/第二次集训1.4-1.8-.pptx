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media/image10.svg" ContentType="image/svg+xml"/>
  <Override PartName="/ppt/media/image100.svg" ContentType="image/svg+xml"/>
  <Override PartName="/ppt/media/image102.svg" ContentType="image/svg+xml"/>
  <Override PartName="/ppt/media/image104.svg" ContentType="image/svg+xml"/>
  <Override PartName="/ppt/media/image106.svg" ContentType="image/svg+xml"/>
  <Override PartName="/ppt/media/image108.svg" ContentType="image/svg+xml"/>
  <Override PartName="/ppt/media/image11.svg" ContentType="image/svg+xml"/>
  <Override PartName="/ppt/media/image110.svg" ContentType="image/svg+xml"/>
  <Override PartName="/ppt/media/image112.svg" ContentType="image/svg+xml"/>
  <Override PartName="/ppt/media/image114.svg" ContentType="image/svg+xml"/>
  <Override PartName="/ppt/media/image116.svg" ContentType="image/svg+xml"/>
  <Override PartName="/ppt/media/image118.svg" ContentType="image/svg+xml"/>
  <Override PartName="/ppt/media/image12.svg" ContentType="image/svg+xml"/>
  <Override PartName="/ppt/media/image120.svg" ContentType="image/svg+xml"/>
  <Override PartName="/ppt/media/image122.svg" ContentType="image/svg+xml"/>
  <Override PartName="/ppt/media/image124.svg" ContentType="image/svg+xml"/>
  <Override PartName="/ppt/media/image126.svg" ContentType="image/svg+xml"/>
  <Override PartName="/ppt/media/image128.svg" ContentType="image/svg+xml"/>
  <Override PartName="/ppt/media/image13.svg" ContentType="image/svg+xml"/>
  <Override PartName="/ppt/media/image130.svg" ContentType="image/svg+xml"/>
  <Override PartName="/ppt/media/image132.svg" ContentType="image/svg+xml"/>
  <Override PartName="/ppt/media/image134.svg" ContentType="image/svg+xml"/>
  <Override PartName="/ppt/media/image136.svg" ContentType="image/svg+xml"/>
  <Override PartName="/ppt/media/image138.svg" ContentType="image/svg+xml"/>
  <Override PartName="/ppt/media/image140.svg" ContentType="image/svg+xml"/>
  <Override PartName="/ppt/media/image142.svg" ContentType="image/svg+xml"/>
  <Override PartName="/ppt/media/image144.svg" ContentType="image/svg+xml"/>
  <Override PartName="/ppt/media/image146.svg" ContentType="image/svg+xml"/>
  <Override PartName="/ppt/media/image148.svg" ContentType="image/svg+xml"/>
  <Override PartName="/ppt/media/image15.svg" ContentType="image/svg+xml"/>
  <Override PartName="/ppt/media/image150.svg" ContentType="image/svg+xml"/>
  <Override PartName="/ppt/media/image152.svg" ContentType="image/svg+xml"/>
  <Override PartName="/ppt/media/image154.svg" ContentType="image/svg+xml"/>
  <Override PartName="/ppt/media/image156.svg" ContentType="image/svg+xml"/>
  <Override PartName="/ppt/media/image158.svg" ContentType="image/svg+xml"/>
  <Override PartName="/ppt/media/image160.svg" ContentType="image/svg+xml"/>
  <Override PartName="/ppt/media/image162.svg" ContentType="image/svg+xml"/>
  <Override PartName="/ppt/media/image164.svg" ContentType="image/svg+xml"/>
  <Override PartName="/ppt/media/image166.svg" ContentType="image/svg+xml"/>
  <Override PartName="/ppt/media/image168.svg" ContentType="image/svg+xml"/>
  <Override PartName="/ppt/media/image169.svg" ContentType="image/svg+xml"/>
  <Override PartName="/ppt/media/image17.svg" ContentType="image/svg+xml"/>
  <Override PartName="/ppt/media/image171.svg" ContentType="image/svg+xml"/>
  <Override PartName="/ppt/media/image173.svg" ContentType="image/svg+xml"/>
  <Override PartName="/ppt/media/image174.svg" ContentType="image/svg+xml"/>
  <Override PartName="/ppt/media/image176.svg" ContentType="image/svg+xml"/>
  <Override PartName="/ppt/media/image178.svg" ContentType="image/svg+xml"/>
  <Override PartName="/ppt/media/image179.svg" ContentType="image/svg+xml"/>
  <Override PartName="/ppt/media/image180.svg" ContentType="image/svg+xml"/>
  <Override PartName="/ppt/media/image181.svg" ContentType="image/svg+xml"/>
  <Override PartName="/ppt/media/image182.svg" ContentType="image/svg+xml"/>
  <Override PartName="/ppt/media/image184.svg" ContentType="image/svg+xml"/>
  <Override PartName="/ppt/media/image185.svg" ContentType="image/svg+xml"/>
  <Override PartName="/ppt/media/image186.svg" ContentType="image/svg+xml"/>
  <Override PartName="/ppt/media/image188.svg" ContentType="image/svg+xml"/>
  <Override PartName="/ppt/media/image19.svg" ContentType="image/svg+xml"/>
  <Override PartName="/ppt/media/image190.svg" ContentType="image/svg+xml"/>
  <Override PartName="/ppt/media/image192.svg" ContentType="image/svg+xml"/>
  <Override PartName="/ppt/media/image194.svg" ContentType="image/svg+xml"/>
  <Override PartName="/ppt/media/image196.svg" ContentType="image/svg+xml"/>
  <Override PartName="/ppt/media/image198.svg" ContentType="image/svg+xml"/>
  <Override PartName="/ppt/media/image2.svg" ContentType="image/svg+xml"/>
  <Override PartName="/ppt/media/image20.svg" ContentType="image/svg+xml"/>
  <Override PartName="/ppt/media/image200.svg" ContentType="image/svg+xml"/>
  <Override PartName="/ppt/media/image202.svg" ContentType="image/svg+xml"/>
  <Override PartName="/ppt/media/image204.svg" ContentType="image/svg+xml"/>
  <Override PartName="/ppt/media/image206.svg" ContentType="image/svg+xml"/>
  <Override PartName="/ppt/media/image208.svg" ContentType="image/svg+xml"/>
  <Override PartName="/ppt/media/image21.svg" ContentType="image/svg+xml"/>
  <Override PartName="/ppt/media/image210.svg" ContentType="image/svg+xml"/>
  <Override PartName="/ppt/media/image212.svg" ContentType="image/svg+xml"/>
  <Override PartName="/ppt/media/image214.svg" ContentType="image/svg+xml"/>
  <Override PartName="/ppt/media/image216.svg" ContentType="image/svg+xml"/>
  <Override PartName="/ppt/media/image22.svg" ContentType="image/svg+xml"/>
  <Override PartName="/ppt/media/image220.svg" ContentType="image/svg+xml"/>
  <Override PartName="/ppt/media/image222.svg" ContentType="image/svg+xml"/>
  <Override PartName="/ppt/media/image224.svg" ContentType="image/svg+xml"/>
  <Override PartName="/ppt/media/image226.svg" ContentType="image/svg+xml"/>
  <Override PartName="/ppt/media/image228.svg" ContentType="image/svg+xml"/>
  <Override PartName="/ppt/media/image23.svg" ContentType="image/svg+xml"/>
  <Override PartName="/ppt/media/image230.svg" ContentType="image/svg+xml"/>
  <Override PartName="/ppt/media/image232.svg" ContentType="image/svg+xml"/>
  <Override PartName="/ppt/media/image234.svg" ContentType="image/svg+xml"/>
  <Override PartName="/ppt/media/image236.svg" ContentType="image/svg+xml"/>
  <Override PartName="/ppt/media/image238.svg" ContentType="image/svg+xml"/>
  <Override PartName="/ppt/media/image240.svg" ContentType="image/svg+xml"/>
  <Override PartName="/ppt/media/image242.svg" ContentType="image/svg+xml"/>
  <Override PartName="/ppt/media/image25.svg" ContentType="image/svg+xml"/>
  <Override PartName="/ppt/media/image26.svg" ContentType="image/svg+xml"/>
  <Override PartName="/ppt/media/image27.svg" ContentType="image/svg+xml"/>
  <Override PartName="/ppt/media/image29.svg" ContentType="image/svg+xml"/>
  <Override PartName="/ppt/media/image30.svg" ContentType="image/svg+xml"/>
  <Override PartName="/ppt/media/image32.svg" ContentType="image/svg+xml"/>
  <Override PartName="/ppt/media/image34.svg" ContentType="image/svg+xml"/>
  <Override PartName="/ppt/media/image35.svg" ContentType="image/svg+xml"/>
  <Override PartName="/ppt/media/image37.svg" ContentType="image/svg+xml"/>
  <Override PartName="/ppt/media/image38.svg" ContentType="image/svg+xml"/>
  <Override PartName="/ppt/media/image4.svg" ContentType="image/svg+xml"/>
  <Override PartName="/ppt/media/image40.svg" ContentType="image/svg+xml"/>
  <Override PartName="/ppt/media/image42.svg" ContentType="image/svg+xml"/>
  <Override PartName="/ppt/media/image44.svg" ContentType="image/svg+xml"/>
  <Override PartName="/ppt/media/image46.svg" ContentType="image/svg+xml"/>
  <Override PartName="/ppt/media/image48.svg" ContentType="image/svg+xml"/>
  <Override PartName="/ppt/media/image51.svg" ContentType="image/svg+xml"/>
  <Override PartName="/ppt/media/image53.svg" ContentType="image/svg+xml"/>
  <Override PartName="/ppt/media/image55.svg" ContentType="image/svg+xml"/>
  <Override PartName="/ppt/media/image57.svg" ContentType="image/svg+xml"/>
  <Override PartName="/ppt/media/image59.svg" ContentType="image/svg+xml"/>
  <Override PartName="/ppt/media/image6.svg" ContentType="image/svg+xml"/>
  <Override PartName="/ppt/media/image61.svg" ContentType="image/svg+xml"/>
  <Override PartName="/ppt/media/image63.svg" ContentType="image/svg+xml"/>
  <Override PartName="/ppt/media/image65.svg" ContentType="image/svg+xml"/>
  <Override PartName="/ppt/media/image67.svg" ContentType="image/svg+xml"/>
  <Override PartName="/ppt/media/image69.svg" ContentType="image/svg+xml"/>
  <Override PartName="/ppt/media/image7.svg" ContentType="image/svg+xml"/>
  <Override PartName="/ppt/media/image71.svg" ContentType="image/svg+xml"/>
  <Override PartName="/ppt/media/image76.svg" ContentType="image/svg+xml"/>
  <Override PartName="/ppt/media/image78.svg" ContentType="image/svg+xml"/>
  <Override PartName="/ppt/media/image80.svg" ContentType="image/svg+xml"/>
  <Override PartName="/ppt/media/image82.svg" ContentType="image/svg+xml"/>
  <Override PartName="/ppt/media/image84.svg" ContentType="image/svg+xml"/>
  <Override PartName="/ppt/media/image86.svg" ContentType="image/svg+xml"/>
  <Override PartName="/ppt/media/image88.svg" ContentType="image/svg+xml"/>
  <Override PartName="/ppt/media/image9.svg" ContentType="image/svg+xml"/>
  <Override PartName="/ppt/media/image90.svg" ContentType="image/svg+xml"/>
  <Override PartName="/ppt/media/image92.svg" ContentType="image/svg+xml"/>
  <Override PartName="/ppt/media/image94.svg" ContentType="image/svg+xml"/>
  <Override PartName="/ppt/media/image95.svg" ContentType="image/svg+xml"/>
  <Override PartName="/ppt/media/image96.svg" ContentType="image/svg+xml"/>
  <Override PartName="/ppt/media/image98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311" r:id="rId20"/>
    <p:sldId id="272" r:id="rId21"/>
    <p:sldId id="273" r:id="rId22"/>
    <p:sldId id="275" r:id="rId23"/>
    <p:sldId id="276" r:id="rId24"/>
    <p:sldId id="321" r:id="rId25"/>
    <p:sldId id="281" r:id="rId26"/>
    <p:sldId id="320" r:id="rId27"/>
    <p:sldId id="288" r:id="rId28"/>
    <p:sldId id="289" r:id="rId29"/>
    <p:sldId id="290" r:id="rId30"/>
    <p:sldId id="291" r:id="rId31"/>
    <p:sldId id="292" r:id="rId32"/>
    <p:sldId id="293" r:id="rId33"/>
    <p:sldId id="294" r:id="rId34"/>
    <p:sldId id="295" r:id="rId35"/>
    <p:sldId id="296" r:id="rId36"/>
    <p:sldId id="297" r:id="rId37"/>
    <p:sldId id="314" r:id="rId38"/>
    <p:sldId id="315" r:id="rId39"/>
    <p:sldId id="322" r:id="rId40"/>
    <p:sldId id="318" r:id="rId41"/>
    <p:sldId id="316" r:id="rId42"/>
    <p:sldId id="300" r:id="rId43"/>
    <p:sldId id="301" r:id="rId44"/>
    <p:sldId id="302" r:id="rId45"/>
    <p:sldId id="303" r:id="rId46"/>
    <p:sldId id="304" r:id="rId47"/>
    <p:sldId id="305" r:id="rId48"/>
    <p:sldId id="306" r:id="rId49"/>
    <p:sldId id="307" r:id="rId50"/>
    <p:sldId id="308" r:id="rId51"/>
    <p:sldId id="309" r:id="rId52"/>
    <p:sldId id="310" r:id="rId53"/>
  </p:sld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6" Type="http://schemas.openxmlformats.org/officeDocument/2006/relationships/tableStyles" Target="tableStyles.xml"/><Relationship Id="rId55" Type="http://schemas.openxmlformats.org/officeDocument/2006/relationships/viewProps" Target="viewProps.xml"/><Relationship Id="rId54" Type="http://schemas.openxmlformats.org/officeDocument/2006/relationships/presProps" Target="presProps.xml"/><Relationship Id="rId53" Type="http://schemas.openxmlformats.org/officeDocument/2006/relationships/slide" Target="slides/slide50.xml"/><Relationship Id="rId52" Type="http://schemas.openxmlformats.org/officeDocument/2006/relationships/slide" Target="slides/slide49.xml"/><Relationship Id="rId51" Type="http://schemas.openxmlformats.org/officeDocument/2006/relationships/slide" Target="slides/slide48.xml"/><Relationship Id="rId50" Type="http://schemas.openxmlformats.org/officeDocument/2006/relationships/slide" Target="slides/slide47.xml"/><Relationship Id="rId5" Type="http://schemas.openxmlformats.org/officeDocument/2006/relationships/slide" Target="slides/slide2.xml"/><Relationship Id="rId49" Type="http://schemas.openxmlformats.org/officeDocument/2006/relationships/slide" Target="slides/slide46.xml"/><Relationship Id="rId48" Type="http://schemas.openxmlformats.org/officeDocument/2006/relationships/slide" Target="slides/slide45.xml"/><Relationship Id="rId47" Type="http://schemas.openxmlformats.org/officeDocument/2006/relationships/slide" Target="slides/slide44.xml"/><Relationship Id="rId46" Type="http://schemas.openxmlformats.org/officeDocument/2006/relationships/slide" Target="slides/slide43.xml"/><Relationship Id="rId45" Type="http://schemas.openxmlformats.org/officeDocument/2006/relationships/slide" Target="slides/slide42.xml"/><Relationship Id="rId44" Type="http://schemas.openxmlformats.org/officeDocument/2006/relationships/slide" Target="slides/slide41.xml"/><Relationship Id="rId43" Type="http://schemas.openxmlformats.org/officeDocument/2006/relationships/slide" Target="slides/slide40.xml"/><Relationship Id="rId42" Type="http://schemas.openxmlformats.org/officeDocument/2006/relationships/slide" Target="slides/slide39.xml"/><Relationship Id="rId41" Type="http://schemas.openxmlformats.org/officeDocument/2006/relationships/slide" Target="slides/slide38.xml"/><Relationship Id="rId40" Type="http://schemas.openxmlformats.org/officeDocument/2006/relationships/slide" Target="slides/slide37.xml"/><Relationship Id="rId4" Type="http://schemas.openxmlformats.org/officeDocument/2006/relationships/notesMaster" Target="notesMasters/notesMaster1.xml"/><Relationship Id="rId39" Type="http://schemas.openxmlformats.org/officeDocument/2006/relationships/slide" Target="slides/slide36.xml"/><Relationship Id="rId38" Type="http://schemas.openxmlformats.org/officeDocument/2006/relationships/slide" Target="slides/slide35.xml"/><Relationship Id="rId37" Type="http://schemas.openxmlformats.org/officeDocument/2006/relationships/slide" Target="slides/slide34.xml"/><Relationship Id="rId36" Type="http://schemas.openxmlformats.org/officeDocument/2006/relationships/slide" Target="slides/slide33.xml"/><Relationship Id="rId35" Type="http://schemas.openxmlformats.org/officeDocument/2006/relationships/slide" Target="slides/slide32.xml"/><Relationship Id="rId34" Type="http://schemas.openxmlformats.org/officeDocument/2006/relationships/slide" Target="slides/slide31.xml"/><Relationship Id="rId33" Type="http://schemas.openxmlformats.org/officeDocument/2006/relationships/slide" Target="slides/slide30.xml"/><Relationship Id="rId32" Type="http://schemas.openxmlformats.org/officeDocument/2006/relationships/slide" Target="slides/slide29.xml"/><Relationship Id="rId31" Type="http://schemas.openxmlformats.org/officeDocument/2006/relationships/slide" Target="slides/slide28.xml"/><Relationship Id="rId30" Type="http://schemas.openxmlformats.org/officeDocument/2006/relationships/slide" Target="slides/slide27.xml"/><Relationship Id="rId3" Type="http://schemas.openxmlformats.org/officeDocument/2006/relationships/slide" Target="slides/slide1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3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4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5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6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7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8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9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0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2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3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4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5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6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7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8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9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0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2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3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4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5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6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7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8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9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2.xml"/><Relationship Id="rId7" Type="http://schemas.openxmlformats.org/officeDocument/2006/relationships/slideLayout" Target="../slideLayouts/slideLayout1.xml"/><Relationship Id="rId6" Type="http://schemas.openxmlformats.org/officeDocument/2006/relationships/image" Target="../media/image6.svg"/><Relationship Id="rId5" Type="http://schemas.openxmlformats.org/officeDocument/2006/relationships/image" Target="../media/image5.png"/><Relationship Id="rId4" Type="http://schemas.openxmlformats.org/officeDocument/2006/relationships/image" Target="../media/image4.svg"/><Relationship Id="rId3" Type="http://schemas.openxmlformats.org/officeDocument/2006/relationships/image" Target="../media/image3.png"/><Relationship Id="rId2" Type="http://schemas.openxmlformats.org/officeDocument/2006/relationships/image" Target="../media/image2.svg"/><Relationship Id="rId1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3.xml"/><Relationship Id="rId7" Type="http://schemas.openxmlformats.org/officeDocument/2006/relationships/slideLayout" Target="../slideLayouts/slideLayout1.xml"/><Relationship Id="rId6" Type="http://schemas.openxmlformats.org/officeDocument/2006/relationships/image" Target="../media/image10.svg"/><Relationship Id="rId5" Type="http://schemas.openxmlformats.org/officeDocument/2006/relationships/image" Target="../media/image5.png"/><Relationship Id="rId4" Type="http://schemas.openxmlformats.org/officeDocument/2006/relationships/image" Target="../media/image9.svg"/><Relationship Id="rId3" Type="http://schemas.openxmlformats.org/officeDocument/2006/relationships/image" Target="../media/image8.png"/><Relationship Id="rId2" Type="http://schemas.openxmlformats.org/officeDocument/2006/relationships/image" Target="../media/image7.svg"/><Relationship Id="rId1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tags" Target="../tags/tag7.xml"/><Relationship Id="rId8" Type="http://schemas.openxmlformats.org/officeDocument/2006/relationships/tags" Target="../tags/tag6.xml"/><Relationship Id="rId7" Type="http://schemas.openxmlformats.org/officeDocument/2006/relationships/tags" Target="../tags/tag5.xml"/><Relationship Id="rId6" Type="http://schemas.openxmlformats.org/officeDocument/2006/relationships/tags" Target="../tags/tag4.xml"/><Relationship Id="rId5" Type="http://schemas.openxmlformats.org/officeDocument/2006/relationships/tags" Target="../tags/tag3.xml"/><Relationship Id="rId4" Type="http://schemas.openxmlformats.org/officeDocument/2006/relationships/tags" Target="../tags/tag2.xml"/><Relationship Id="rId3" Type="http://schemas.openxmlformats.org/officeDocument/2006/relationships/tags" Target="../tags/tag1.xml"/><Relationship Id="rId2" Type="http://schemas.openxmlformats.org/officeDocument/2006/relationships/image" Target="../media/image11.svg"/><Relationship Id="rId15" Type="http://schemas.openxmlformats.org/officeDocument/2006/relationships/notesSlide" Target="../notesSlides/notesSlide4.xml"/><Relationship Id="rId14" Type="http://schemas.openxmlformats.org/officeDocument/2006/relationships/slideLayout" Target="../slideLayouts/slideLayout1.xml"/><Relationship Id="rId13" Type="http://schemas.openxmlformats.org/officeDocument/2006/relationships/image" Target="../media/image12.svg"/><Relationship Id="rId12" Type="http://schemas.openxmlformats.org/officeDocument/2006/relationships/image" Target="../media/image5.png"/><Relationship Id="rId11" Type="http://schemas.openxmlformats.org/officeDocument/2006/relationships/tags" Target="../tags/tag9.xml"/><Relationship Id="rId10" Type="http://schemas.openxmlformats.org/officeDocument/2006/relationships/tags" Target="../tags/tag8.xml"/><Relationship Id="rId1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9" Type="http://schemas.openxmlformats.org/officeDocument/2006/relationships/image" Target="../media/image5.png"/><Relationship Id="rId8" Type="http://schemas.openxmlformats.org/officeDocument/2006/relationships/image" Target="../media/image19.svg"/><Relationship Id="rId7" Type="http://schemas.openxmlformats.org/officeDocument/2006/relationships/image" Target="../media/image18.png"/><Relationship Id="rId6" Type="http://schemas.openxmlformats.org/officeDocument/2006/relationships/image" Target="../media/image17.svg"/><Relationship Id="rId5" Type="http://schemas.openxmlformats.org/officeDocument/2006/relationships/image" Target="../media/image16.png"/><Relationship Id="rId4" Type="http://schemas.openxmlformats.org/officeDocument/2006/relationships/image" Target="../media/image15.svg"/><Relationship Id="rId3" Type="http://schemas.openxmlformats.org/officeDocument/2006/relationships/image" Target="../media/image14.png"/><Relationship Id="rId2" Type="http://schemas.openxmlformats.org/officeDocument/2006/relationships/image" Target="../media/image13.svg"/><Relationship Id="rId12" Type="http://schemas.openxmlformats.org/officeDocument/2006/relationships/notesSlide" Target="../notesSlides/notesSlide5.xml"/><Relationship Id="rId11" Type="http://schemas.openxmlformats.org/officeDocument/2006/relationships/slideLayout" Target="../slideLayouts/slideLayout1.xml"/><Relationship Id="rId10" Type="http://schemas.openxmlformats.org/officeDocument/2006/relationships/image" Target="../media/image20.svg"/><Relationship Id="rId1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6.xml"/><Relationship Id="rId8" Type="http://schemas.openxmlformats.org/officeDocument/2006/relationships/slideLayout" Target="../slideLayouts/slideLayout1.xml"/><Relationship Id="rId7" Type="http://schemas.openxmlformats.org/officeDocument/2006/relationships/image" Target="../media/image24.png"/><Relationship Id="rId6" Type="http://schemas.openxmlformats.org/officeDocument/2006/relationships/image" Target="../media/image23.svg"/><Relationship Id="rId5" Type="http://schemas.openxmlformats.org/officeDocument/2006/relationships/image" Target="../media/image5.png"/><Relationship Id="rId4" Type="http://schemas.openxmlformats.org/officeDocument/2006/relationships/image" Target="../media/image22.svg"/><Relationship Id="rId3" Type="http://schemas.openxmlformats.org/officeDocument/2006/relationships/image" Target="../media/image3.png"/><Relationship Id="rId2" Type="http://schemas.openxmlformats.org/officeDocument/2006/relationships/image" Target="../media/image21.svg"/><Relationship Id="rId1" Type="http://schemas.openxmlformats.org/officeDocument/2006/relationships/image" Target="../media/image1.png"/></Relationships>
</file>

<file path=ppt/slides/_rels/slide7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7.xml"/><Relationship Id="rId8" Type="http://schemas.openxmlformats.org/officeDocument/2006/relationships/slideLayout" Target="../slideLayouts/slideLayout1.xml"/><Relationship Id="rId7" Type="http://schemas.openxmlformats.org/officeDocument/2006/relationships/image" Target="../media/image28.png"/><Relationship Id="rId6" Type="http://schemas.openxmlformats.org/officeDocument/2006/relationships/image" Target="../media/image27.svg"/><Relationship Id="rId5" Type="http://schemas.openxmlformats.org/officeDocument/2006/relationships/image" Target="../media/image5.png"/><Relationship Id="rId4" Type="http://schemas.openxmlformats.org/officeDocument/2006/relationships/image" Target="../media/image26.svg"/><Relationship Id="rId3" Type="http://schemas.openxmlformats.org/officeDocument/2006/relationships/image" Target="../media/image8.png"/><Relationship Id="rId2" Type="http://schemas.openxmlformats.org/officeDocument/2006/relationships/image" Target="../media/image25.svg"/><Relationship Id="rId1" Type="http://schemas.openxmlformats.org/officeDocument/2006/relationships/image" Target="../media/image1.png"/></Relationships>
</file>

<file path=ppt/slides/_rels/slide8.xml.rels><?xml version="1.0" encoding="UTF-8" standalone="yes"?>
<Relationships xmlns="http://schemas.openxmlformats.org/package/2006/relationships"><Relationship Id="rId9" Type="http://schemas.openxmlformats.org/officeDocument/2006/relationships/tags" Target="../tags/tag16.xml"/><Relationship Id="rId8" Type="http://schemas.openxmlformats.org/officeDocument/2006/relationships/tags" Target="../tags/tag15.xml"/><Relationship Id="rId7" Type="http://schemas.openxmlformats.org/officeDocument/2006/relationships/tags" Target="../tags/tag14.xml"/><Relationship Id="rId6" Type="http://schemas.openxmlformats.org/officeDocument/2006/relationships/tags" Target="../tags/tag13.xml"/><Relationship Id="rId5" Type="http://schemas.openxmlformats.org/officeDocument/2006/relationships/tags" Target="../tags/tag12.xml"/><Relationship Id="rId4" Type="http://schemas.openxmlformats.org/officeDocument/2006/relationships/tags" Target="../tags/tag11.xml"/><Relationship Id="rId3" Type="http://schemas.openxmlformats.org/officeDocument/2006/relationships/tags" Target="../tags/tag10.xml"/><Relationship Id="rId20" Type="http://schemas.openxmlformats.org/officeDocument/2006/relationships/notesSlide" Target="../notesSlides/notesSlide8.xml"/><Relationship Id="rId2" Type="http://schemas.openxmlformats.org/officeDocument/2006/relationships/image" Target="../media/image29.svg"/><Relationship Id="rId19" Type="http://schemas.openxmlformats.org/officeDocument/2006/relationships/slideLayout" Target="../slideLayouts/slideLayout1.xml"/><Relationship Id="rId18" Type="http://schemas.openxmlformats.org/officeDocument/2006/relationships/image" Target="../media/image31.png"/><Relationship Id="rId17" Type="http://schemas.openxmlformats.org/officeDocument/2006/relationships/image" Target="../media/image30.svg"/><Relationship Id="rId16" Type="http://schemas.openxmlformats.org/officeDocument/2006/relationships/image" Target="../media/image5.png"/><Relationship Id="rId15" Type="http://schemas.openxmlformats.org/officeDocument/2006/relationships/tags" Target="../tags/tag22.xml"/><Relationship Id="rId14" Type="http://schemas.openxmlformats.org/officeDocument/2006/relationships/tags" Target="../tags/tag21.xml"/><Relationship Id="rId13" Type="http://schemas.openxmlformats.org/officeDocument/2006/relationships/tags" Target="../tags/tag20.xml"/><Relationship Id="rId12" Type="http://schemas.openxmlformats.org/officeDocument/2006/relationships/tags" Target="../tags/tag19.xml"/><Relationship Id="rId11" Type="http://schemas.openxmlformats.org/officeDocument/2006/relationships/tags" Target="../tags/tag18.xml"/><Relationship Id="rId10" Type="http://schemas.openxmlformats.org/officeDocument/2006/relationships/tags" Target="../tags/tag17.xml"/><Relationship Id="rId1" Type="http://schemas.openxmlformats.org/officeDocument/2006/relationships/image" Target="../media/image1.png"/></Relationships>
</file>

<file path=ppt/slides/_rels/slide9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.xml"/><Relationship Id="rId8" Type="http://schemas.openxmlformats.org/officeDocument/2006/relationships/image" Target="../media/image36.png"/><Relationship Id="rId7" Type="http://schemas.openxmlformats.org/officeDocument/2006/relationships/image" Target="../media/image35.svg"/><Relationship Id="rId6" Type="http://schemas.openxmlformats.org/officeDocument/2006/relationships/image" Target="../media/image5.png"/><Relationship Id="rId5" Type="http://schemas.openxmlformats.org/officeDocument/2006/relationships/image" Target="../media/image34.svg"/><Relationship Id="rId4" Type="http://schemas.openxmlformats.org/officeDocument/2006/relationships/image" Target="../media/image33.png"/><Relationship Id="rId3" Type="http://schemas.openxmlformats.org/officeDocument/2006/relationships/tags" Target="../tags/tag23.xml"/><Relationship Id="rId2" Type="http://schemas.openxmlformats.org/officeDocument/2006/relationships/image" Target="../media/image32.svg"/><Relationship Id="rId10" Type="http://schemas.openxmlformats.org/officeDocument/2006/relationships/notesSlide" Target="../notesSlides/notesSlide9.xml"/><Relationship Id="rId1" Type="http://schemas.openxmlformats.org/officeDocument/2006/relationships/image" Target="../media/image1.png"/></Relationships>
</file>

<file path=ppt/slides/_rels/slide10.xml.rels><?xml version="1.0" encoding="UTF-8" standalone="yes"?>
<Relationships xmlns="http://schemas.openxmlformats.org/package/2006/relationships"><Relationship Id="rId9" Type="http://schemas.openxmlformats.org/officeDocument/2006/relationships/tags" Target="../tags/tag30.xml"/><Relationship Id="rId8" Type="http://schemas.openxmlformats.org/officeDocument/2006/relationships/tags" Target="../tags/tag29.xml"/><Relationship Id="rId7" Type="http://schemas.openxmlformats.org/officeDocument/2006/relationships/tags" Target="../tags/tag28.xml"/><Relationship Id="rId6" Type="http://schemas.openxmlformats.org/officeDocument/2006/relationships/tags" Target="../tags/tag27.xml"/><Relationship Id="rId5" Type="http://schemas.openxmlformats.org/officeDocument/2006/relationships/tags" Target="../tags/tag26.xml"/><Relationship Id="rId4" Type="http://schemas.openxmlformats.org/officeDocument/2006/relationships/tags" Target="../tags/tag25.xml"/><Relationship Id="rId3" Type="http://schemas.openxmlformats.org/officeDocument/2006/relationships/tags" Target="../tags/tag24.xml"/><Relationship Id="rId22" Type="http://schemas.openxmlformats.org/officeDocument/2006/relationships/notesSlide" Target="../notesSlides/notesSlide10.xml"/><Relationship Id="rId21" Type="http://schemas.openxmlformats.org/officeDocument/2006/relationships/slideLayout" Target="../slideLayouts/slideLayout1.xml"/><Relationship Id="rId20" Type="http://schemas.openxmlformats.org/officeDocument/2006/relationships/image" Target="../media/image38.svg"/><Relationship Id="rId2" Type="http://schemas.openxmlformats.org/officeDocument/2006/relationships/image" Target="../media/image37.svg"/><Relationship Id="rId19" Type="http://schemas.openxmlformats.org/officeDocument/2006/relationships/image" Target="../media/image5.png"/><Relationship Id="rId18" Type="http://schemas.openxmlformats.org/officeDocument/2006/relationships/tags" Target="../tags/tag39.xml"/><Relationship Id="rId17" Type="http://schemas.openxmlformats.org/officeDocument/2006/relationships/tags" Target="../tags/tag38.xml"/><Relationship Id="rId16" Type="http://schemas.openxmlformats.org/officeDocument/2006/relationships/tags" Target="../tags/tag37.xml"/><Relationship Id="rId15" Type="http://schemas.openxmlformats.org/officeDocument/2006/relationships/tags" Target="../tags/tag36.xml"/><Relationship Id="rId14" Type="http://schemas.openxmlformats.org/officeDocument/2006/relationships/tags" Target="../tags/tag35.xml"/><Relationship Id="rId13" Type="http://schemas.openxmlformats.org/officeDocument/2006/relationships/tags" Target="../tags/tag34.xml"/><Relationship Id="rId12" Type="http://schemas.openxmlformats.org/officeDocument/2006/relationships/tags" Target="../tags/tag33.xml"/><Relationship Id="rId11" Type="http://schemas.openxmlformats.org/officeDocument/2006/relationships/tags" Target="../tags/tag32.xml"/><Relationship Id="rId10" Type="http://schemas.openxmlformats.org/officeDocument/2006/relationships/tags" Target="../tags/tag31.xml"/><Relationship Id="rId1" Type="http://schemas.openxmlformats.org/officeDocument/2006/relationships/image" Target="../media/image1.png"/></Relationships>
</file>

<file path=ppt/slides/_rels/slide11.xml.rels><?xml version="1.0" encoding="UTF-8" standalone="yes"?>
<Relationships xmlns="http://schemas.openxmlformats.org/package/2006/relationships"><Relationship Id="rId9" Type="http://schemas.openxmlformats.org/officeDocument/2006/relationships/tags" Target="../tags/tag44.xml"/><Relationship Id="rId8" Type="http://schemas.openxmlformats.org/officeDocument/2006/relationships/tags" Target="../tags/tag43.xml"/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image" Target="../media/image42.svg"/><Relationship Id="rId3" Type="http://schemas.openxmlformats.org/officeDocument/2006/relationships/image" Target="../media/image41.png"/><Relationship Id="rId2" Type="http://schemas.openxmlformats.org/officeDocument/2006/relationships/image" Target="../media/image40.svg"/><Relationship Id="rId16" Type="http://schemas.openxmlformats.org/officeDocument/2006/relationships/notesSlide" Target="../notesSlides/notesSlide11.xml"/><Relationship Id="rId15" Type="http://schemas.openxmlformats.org/officeDocument/2006/relationships/slideLayout" Target="../slideLayouts/slideLayout1.xml"/><Relationship Id="rId14" Type="http://schemas.openxmlformats.org/officeDocument/2006/relationships/image" Target="../media/image44.svg"/><Relationship Id="rId13" Type="http://schemas.openxmlformats.org/officeDocument/2006/relationships/image" Target="../media/image43.png"/><Relationship Id="rId12" Type="http://schemas.openxmlformats.org/officeDocument/2006/relationships/tags" Target="../tags/tag47.xml"/><Relationship Id="rId11" Type="http://schemas.openxmlformats.org/officeDocument/2006/relationships/tags" Target="../tags/tag46.xml"/><Relationship Id="rId10" Type="http://schemas.openxmlformats.org/officeDocument/2006/relationships/tags" Target="../tags/tag45.xml"/><Relationship Id="rId1" Type="http://schemas.openxmlformats.org/officeDocument/2006/relationships/image" Target="../media/image39.png"/></Relationships>
</file>

<file path=ppt/slides/_rels/slide12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12.xml"/><Relationship Id="rId6" Type="http://schemas.openxmlformats.org/officeDocument/2006/relationships/slideLayout" Target="../slideLayouts/slideLayout1.xml"/><Relationship Id="rId5" Type="http://schemas.openxmlformats.org/officeDocument/2006/relationships/image" Target="../media/image49.png"/><Relationship Id="rId4" Type="http://schemas.openxmlformats.org/officeDocument/2006/relationships/image" Target="../media/image48.svg"/><Relationship Id="rId3" Type="http://schemas.openxmlformats.org/officeDocument/2006/relationships/image" Target="../media/image47.png"/><Relationship Id="rId2" Type="http://schemas.openxmlformats.org/officeDocument/2006/relationships/image" Target="../media/image46.svg"/><Relationship Id="rId1" Type="http://schemas.openxmlformats.org/officeDocument/2006/relationships/image" Target="../media/image45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13.xml"/><Relationship Id="rId7" Type="http://schemas.openxmlformats.org/officeDocument/2006/relationships/slideLayout" Target="../slideLayouts/slideLayout1.xml"/><Relationship Id="rId6" Type="http://schemas.openxmlformats.org/officeDocument/2006/relationships/image" Target="../media/image55.svg"/><Relationship Id="rId5" Type="http://schemas.openxmlformats.org/officeDocument/2006/relationships/image" Target="../media/image54.png"/><Relationship Id="rId4" Type="http://schemas.openxmlformats.org/officeDocument/2006/relationships/image" Target="../media/image53.svg"/><Relationship Id="rId3" Type="http://schemas.openxmlformats.org/officeDocument/2006/relationships/image" Target="../media/image52.png"/><Relationship Id="rId2" Type="http://schemas.openxmlformats.org/officeDocument/2006/relationships/image" Target="../media/image51.svg"/><Relationship Id="rId1" Type="http://schemas.openxmlformats.org/officeDocument/2006/relationships/image" Target="../media/image50.png"/></Relationships>
</file>

<file path=ppt/slides/_rels/slide14.xml.rels><?xml version="1.0" encoding="UTF-8" standalone="yes"?>
<Relationships xmlns="http://schemas.openxmlformats.org/package/2006/relationships"><Relationship Id="rId9" Type="http://schemas.openxmlformats.org/officeDocument/2006/relationships/image" Target="../media/image58.png"/><Relationship Id="rId8" Type="http://schemas.openxmlformats.org/officeDocument/2006/relationships/tags" Target="../tags/tag53.xml"/><Relationship Id="rId7" Type="http://schemas.openxmlformats.org/officeDocument/2006/relationships/tags" Target="../tags/tag52.xml"/><Relationship Id="rId6" Type="http://schemas.openxmlformats.org/officeDocument/2006/relationships/tags" Target="../tags/tag51.xml"/><Relationship Id="rId5" Type="http://schemas.openxmlformats.org/officeDocument/2006/relationships/tags" Target="../tags/tag50.xml"/><Relationship Id="rId4" Type="http://schemas.openxmlformats.org/officeDocument/2006/relationships/tags" Target="../tags/tag49.xml"/><Relationship Id="rId3" Type="http://schemas.openxmlformats.org/officeDocument/2006/relationships/tags" Target="../tags/tag48.xml"/><Relationship Id="rId2" Type="http://schemas.openxmlformats.org/officeDocument/2006/relationships/image" Target="../media/image57.svg"/><Relationship Id="rId12" Type="http://schemas.openxmlformats.org/officeDocument/2006/relationships/notesSlide" Target="../notesSlides/notesSlide14.xml"/><Relationship Id="rId11" Type="http://schemas.openxmlformats.org/officeDocument/2006/relationships/slideLayout" Target="../slideLayouts/slideLayout1.xml"/><Relationship Id="rId10" Type="http://schemas.openxmlformats.org/officeDocument/2006/relationships/image" Target="../media/image59.svg"/><Relationship Id="rId1" Type="http://schemas.openxmlformats.org/officeDocument/2006/relationships/image" Target="../media/image56.png"/></Relationships>
</file>

<file path=ppt/slides/_rels/slide15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5.xml"/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63.svg"/><Relationship Id="rId3" Type="http://schemas.openxmlformats.org/officeDocument/2006/relationships/image" Target="../media/image62.png"/><Relationship Id="rId2" Type="http://schemas.openxmlformats.org/officeDocument/2006/relationships/image" Target="../media/image61.svg"/><Relationship Id="rId1" Type="http://schemas.openxmlformats.org/officeDocument/2006/relationships/image" Target="../media/image60.png"/></Relationships>
</file>

<file path=ppt/slides/_rels/slide16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6.xml"/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67.svg"/><Relationship Id="rId3" Type="http://schemas.openxmlformats.org/officeDocument/2006/relationships/image" Target="../media/image66.png"/><Relationship Id="rId2" Type="http://schemas.openxmlformats.org/officeDocument/2006/relationships/image" Target="../media/image65.svg"/><Relationship Id="rId1" Type="http://schemas.openxmlformats.org/officeDocument/2006/relationships/image" Target="../media/image64.png"/></Relationships>
</file>

<file path=ppt/slides/_rels/slide17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17.xml"/><Relationship Id="rId8" Type="http://schemas.openxmlformats.org/officeDocument/2006/relationships/slideLayout" Target="../slideLayouts/slideLayout1.xml"/><Relationship Id="rId7" Type="http://schemas.openxmlformats.org/officeDocument/2006/relationships/image" Target="../media/image74.png"/><Relationship Id="rId6" Type="http://schemas.openxmlformats.org/officeDocument/2006/relationships/image" Target="../media/image73.png"/><Relationship Id="rId5" Type="http://schemas.openxmlformats.org/officeDocument/2006/relationships/image" Target="../media/image72.png"/><Relationship Id="rId4" Type="http://schemas.openxmlformats.org/officeDocument/2006/relationships/image" Target="../media/image71.svg"/><Relationship Id="rId3" Type="http://schemas.openxmlformats.org/officeDocument/2006/relationships/image" Target="../media/image70.png"/><Relationship Id="rId2" Type="http://schemas.openxmlformats.org/officeDocument/2006/relationships/image" Target="../media/image69.svg"/><Relationship Id="rId1" Type="http://schemas.openxmlformats.org/officeDocument/2006/relationships/image" Target="../media/image68.png"/></Relationships>
</file>

<file path=ppt/slides/_rels/slide18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.xml"/><Relationship Id="rId8" Type="http://schemas.openxmlformats.org/officeDocument/2006/relationships/image" Target="../media/image82.svg"/><Relationship Id="rId7" Type="http://schemas.openxmlformats.org/officeDocument/2006/relationships/image" Target="../media/image81.png"/><Relationship Id="rId6" Type="http://schemas.openxmlformats.org/officeDocument/2006/relationships/image" Target="../media/image80.svg"/><Relationship Id="rId5" Type="http://schemas.openxmlformats.org/officeDocument/2006/relationships/image" Target="../media/image79.png"/><Relationship Id="rId4" Type="http://schemas.openxmlformats.org/officeDocument/2006/relationships/image" Target="../media/image78.svg"/><Relationship Id="rId3" Type="http://schemas.openxmlformats.org/officeDocument/2006/relationships/image" Target="../media/image77.png"/><Relationship Id="rId2" Type="http://schemas.openxmlformats.org/officeDocument/2006/relationships/image" Target="../media/image76.svg"/><Relationship Id="rId10" Type="http://schemas.openxmlformats.org/officeDocument/2006/relationships/notesSlide" Target="../notesSlides/notesSlide18.xml"/><Relationship Id="rId1" Type="http://schemas.openxmlformats.org/officeDocument/2006/relationships/image" Target="../media/image75.png"/></Relationships>
</file>

<file path=ppt/slides/_rels/slide19.xml.rels><?xml version="1.0" encoding="UTF-8" standalone="yes"?>
<Relationships xmlns="http://schemas.openxmlformats.org/package/2006/relationships"><Relationship Id="rId9" Type="http://schemas.openxmlformats.org/officeDocument/2006/relationships/tags" Target="../tags/tag60.xml"/><Relationship Id="rId8" Type="http://schemas.openxmlformats.org/officeDocument/2006/relationships/tags" Target="../tags/tag59.xml"/><Relationship Id="rId7" Type="http://schemas.openxmlformats.org/officeDocument/2006/relationships/tags" Target="../tags/tag58.xml"/><Relationship Id="rId6" Type="http://schemas.openxmlformats.org/officeDocument/2006/relationships/tags" Target="../tags/tag57.xml"/><Relationship Id="rId5" Type="http://schemas.openxmlformats.org/officeDocument/2006/relationships/tags" Target="../tags/tag56.xml"/><Relationship Id="rId4" Type="http://schemas.openxmlformats.org/officeDocument/2006/relationships/tags" Target="../tags/tag55.xml"/><Relationship Id="rId3" Type="http://schemas.openxmlformats.org/officeDocument/2006/relationships/tags" Target="../tags/tag54.xml"/><Relationship Id="rId2" Type="http://schemas.openxmlformats.org/officeDocument/2006/relationships/image" Target="../media/image84.svg"/><Relationship Id="rId19" Type="http://schemas.openxmlformats.org/officeDocument/2006/relationships/notesSlide" Target="../notesSlides/notesSlide19.xml"/><Relationship Id="rId18" Type="http://schemas.openxmlformats.org/officeDocument/2006/relationships/slideLayout" Target="../slideLayouts/slideLayout1.xml"/><Relationship Id="rId17" Type="http://schemas.openxmlformats.org/officeDocument/2006/relationships/tags" Target="../tags/tag66.xml"/><Relationship Id="rId16" Type="http://schemas.openxmlformats.org/officeDocument/2006/relationships/image" Target="../media/image86.svg"/><Relationship Id="rId15" Type="http://schemas.openxmlformats.org/officeDocument/2006/relationships/image" Target="../media/image85.png"/><Relationship Id="rId14" Type="http://schemas.openxmlformats.org/officeDocument/2006/relationships/tags" Target="../tags/tag65.xml"/><Relationship Id="rId13" Type="http://schemas.openxmlformats.org/officeDocument/2006/relationships/tags" Target="../tags/tag64.xml"/><Relationship Id="rId12" Type="http://schemas.openxmlformats.org/officeDocument/2006/relationships/tags" Target="../tags/tag63.xml"/><Relationship Id="rId11" Type="http://schemas.openxmlformats.org/officeDocument/2006/relationships/tags" Target="../tags/tag62.xml"/><Relationship Id="rId10" Type="http://schemas.openxmlformats.org/officeDocument/2006/relationships/tags" Target="../tags/tag61.xml"/><Relationship Id="rId1" Type="http://schemas.openxmlformats.org/officeDocument/2006/relationships/image" Target="../media/image83.png"/></Relationships>
</file>

<file path=ppt/slides/_rels/slide20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20.xml"/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90.svg"/><Relationship Id="rId3" Type="http://schemas.openxmlformats.org/officeDocument/2006/relationships/image" Target="../media/image89.png"/><Relationship Id="rId2" Type="http://schemas.openxmlformats.org/officeDocument/2006/relationships/image" Target="../media/image88.svg"/><Relationship Id="rId1" Type="http://schemas.openxmlformats.org/officeDocument/2006/relationships/image" Target="../media/image87.png"/></Relationships>
</file>

<file path=ppt/slides/_rels/slide21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21.xml"/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94.svg"/><Relationship Id="rId3" Type="http://schemas.openxmlformats.org/officeDocument/2006/relationships/image" Target="../media/image93.png"/><Relationship Id="rId2" Type="http://schemas.openxmlformats.org/officeDocument/2006/relationships/image" Target="../media/image92.svg"/><Relationship Id="rId1" Type="http://schemas.openxmlformats.org/officeDocument/2006/relationships/image" Target="../media/image91.png"/></Relationships>
</file>

<file path=ppt/slides/_rels/slide22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22.xml"/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96.svg"/><Relationship Id="rId3" Type="http://schemas.openxmlformats.org/officeDocument/2006/relationships/image" Target="../media/image5.png"/><Relationship Id="rId2" Type="http://schemas.openxmlformats.org/officeDocument/2006/relationships/image" Target="../media/image95.svg"/><Relationship Id="rId1" Type="http://schemas.openxmlformats.org/officeDocument/2006/relationships/image" Target="../media/image1.png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23.xml"/><Relationship Id="rId7" Type="http://schemas.openxmlformats.org/officeDocument/2006/relationships/slideLayout" Target="../slideLayouts/slideLayout1.xml"/><Relationship Id="rId6" Type="http://schemas.openxmlformats.org/officeDocument/2006/relationships/image" Target="../media/image102.svg"/><Relationship Id="rId5" Type="http://schemas.openxmlformats.org/officeDocument/2006/relationships/image" Target="../media/image101.png"/><Relationship Id="rId4" Type="http://schemas.openxmlformats.org/officeDocument/2006/relationships/image" Target="../media/image100.svg"/><Relationship Id="rId3" Type="http://schemas.openxmlformats.org/officeDocument/2006/relationships/image" Target="../media/image99.png"/><Relationship Id="rId2" Type="http://schemas.openxmlformats.org/officeDocument/2006/relationships/image" Target="../media/image98.svg"/><Relationship Id="rId1" Type="http://schemas.openxmlformats.org/officeDocument/2006/relationships/image" Target="../media/image97.png"/></Relationships>
</file>

<file path=ppt/slides/_rels/slide24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24.xml"/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106.svg"/><Relationship Id="rId3" Type="http://schemas.openxmlformats.org/officeDocument/2006/relationships/image" Target="../media/image105.png"/><Relationship Id="rId2" Type="http://schemas.openxmlformats.org/officeDocument/2006/relationships/image" Target="../media/image104.svg"/><Relationship Id="rId1" Type="http://schemas.openxmlformats.org/officeDocument/2006/relationships/image" Target="../media/image103.png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25.xml"/><Relationship Id="rId7" Type="http://schemas.openxmlformats.org/officeDocument/2006/relationships/slideLayout" Target="../slideLayouts/slideLayout1.xml"/><Relationship Id="rId6" Type="http://schemas.openxmlformats.org/officeDocument/2006/relationships/image" Target="../media/image112.svg"/><Relationship Id="rId5" Type="http://schemas.openxmlformats.org/officeDocument/2006/relationships/image" Target="../media/image111.png"/><Relationship Id="rId4" Type="http://schemas.openxmlformats.org/officeDocument/2006/relationships/image" Target="../media/image110.svg"/><Relationship Id="rId3" Type="http://schemas.openxmlformats.org/officeDocument/2006/relationships/image" Target="../media/image109.png"/><Relationship Id="rId2" Type="http://schemas.openxmlformats.org/officeDocument/2006/relationships/image" Target="../media/image108.svg"/><Relationship Id="rId1" Type="http://schemas.openxmlformats.org/officeDocument/2006/relationships/image" Target="../media/image107.png"/></Relationships>
</file>

<file path=ppt/slides/_rels/slide26.xml.rels><?xml version="1.0" encoding="UTF-8" standalone="yes"?>
<Relationships xmlns="http://schemas.openxmlformats.org/package/2006/relationships"><Relationship Id="rId9" Type="http://schemas.openxmlformats.org/officeDocument/2006/relationships/tags" Target="../tags/tag73.xml"/><Relationship Id="rId8" Type="http://schemas.openxmlformats.org/officeDocument/2006/relationships/tags" Target="../tags/tag72.xml"/><Relationship Id="rId7" Type="http://schemas.openxmlformats.org/officeDocument/2006/relationships/tags" Target="../tags/tag71.xml"/><Relationship Id="rId6" Type="http://schemas.openxmlformats.org/officeDocument/2006/relationships/tags" Target="../tags/tag70.xml"/><Relationship Id="rId5" Type="http://schemas.openxmlformats.org/officeDocument/2006/relationships/tags" Target="../tags/tag69.xml"/><Relationship Id="rId4" Type="http://schemas.openxmlformats.org/officeDocument/2006/relationships/tags" Target="../tags/tag68.xml"/><Relationship Id="rId3" Type="http://schemas.openxmlformats.org/officeDocument/2006/relationships/tags" Target="../tags/tag67.xml"/><Relationship Id="rId21" Type="http://schemas.openxmlformats.org/officeDocument/2006/relationships/notesSlide" Target="../notesSlides/notesSlide26.xml"/><Relationship Id="rId20" Type="http://schemas.openxmlformats.org/officeDocument/2006/relationships/slideLayout" Target="../slideLayouts/slideLayout1.xml"/><Relationship Id="rId2" Type="http://schemas.openxmlformats.org/officeDocument/2006/relationships/image" Target="../media/image114.svg"/><Relationship Id="rId19" Type="http://schemas.openxmlformats.org/officeDocument/2006/relationships/image" Target="../media/image116.svg"/><Relationship Id="rId18" Type="http://schemas.openxmlformats.org/officeDocument/2006/relationships/image" Target="../media/image115.png"/><Relationship Id="rId17" Type="http://schemas.openxmlformats.org/officeDocument/2006/relationships/tags" Target="../tags/tag81.xml"/><Relationship Id="rId16" Type="http://schemas.openxmlformats.org/officeDocument/2006/relationships/tags" Target="../tags/tag80.xml"/><Relationship Id="rId15" Type="http://schemas.openxmlformats.org/officeDocument/2006/relationships/tags" Target="../tags/tag79.xml"/><Relationship Id="rId14" Type="http://schemas.openxmlformats.org/officeDocument/2006/relationships/tags" Target="../tags/tag78.xml"/><Relationship Id="rId13" Type="http://schemas.openxmlformats.org/officeDocument/2006/relationships/tags" Target="../tags/tag77.xml"/><Relationship Id="rId12" Type="http://schemas.openxmlformats.org/officeDocument/2006/relationships/tags" Target="../tags/tag76.xml"/><Relationship Id="rId11" Type="http://schemas.openxmlformats.org/officeDocument/2006/relationships/tags" Target="../tags/tag75.xml"/><Relationship Id="rId10" Type="http://schemas.openxmlformats.org/officeDocument/2006/relationships/tags" Target="../tags/tag74.xml"/><Relationship Id="rId1" Type="http://schemas.openxmlformats.org/officeDocument/2006/relationships/image" Target="../media/image113.png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27.xml"/><Relationship Id="rId7" Type="http://schemas.openxmlformats.org/officeDocument/2006/relationships/slideLayout" Target="../slideLayouts/slideLayout1.xml"/><Relationship Id="rId6" Type="http://schemas.openxmlformats.org/officeDocument/2006/relationships/image" Target="../media/image122.svg"/><Relationship Id="rId5" Type="http://schemas.openxmlformats.org/officeDocument/2006/relationships/image" Target="../media/image121.png"/><Relationship Id="rId4" Type="http://schemas.openxmlformats.org/officeDocument/2006/relationships/image" Target="../media/image120.svg"/><Relationship Id="rId3" Type="http://schemas.openxmlformats.org/officeDocument/2006/relationships/image" Target="../media/image119.png"/><Relationship Id="rId2" Type="http://schemas.openxmlformats.org/officeDocument/2006/relationships/image" Target="../media/image118.svg"/><Relationship Id="rId1" Type="http://schemas.openxmlformats.org/officeDocument/2006/relationships/image" Target="../media/image117.png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28.xml"/><Relationship Id="rId7" Type="http://schemas.openxmlformats.org/officeDocument/2006/relationships/slideLayout" Target="../slideLayouts/slideLayout1.xml"/><Relationship Id="rId6" Type="http://schemas.openxmlformats.org/officeDocument/2006/relationships/image" Target="../media/image128.svg"/><Relationship Id="rId5" Type="http://schemas.openxmlformats.org/officeDocument/2006/relationships/image" Target="../media/image127.png"/><Relationship Id="rId4" Type="http://schemas.openxmlformats.org/officeDocument/2006/relationships/image" Target="../media/image126.svg"/><Relationship Id="rId3" Type="http://schemas.openxmlformats.org/officeDocument/2006/relationships/image" Target="../media/image125.png"/><Relationship Id="rId2" Type="http://schemas.openxmlformats.org/officeDocument/2006/relationships/image" Target="../media/image124.svg"/><Relationship Id="rId1" Type="http://schemas.openxmlformats.org/officeDocument/2006/relationships/image" Target="../media/image123.png"/></Relationships>
</file>

<file path=ppt/slides/_rels/slide29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.xml"/><Relationship Id="rId8" Type="http://schemas.openxmlformats.org/officeDocument/2006/relationships/image" Target="../media/image136.svg"/><Relationship Id="rId7" Type="http://schemas.openxmlformats.org/officeDocument/2006/relationships/image" Target="../media/image135.png"/><Relationship Id="rId6" Type="http://schemas.openxmlformats.org/officeDocument/2006/relationships/image" Target="../media/image134.svg"/><Relationship Id="rId5" Type="http://schemas.openxmlformats.org/officeDocument/2006/relationships/image" Target="../media/image133.png"/><Relationship Id="rId4" Type="http://schemas.openxmlformats.org/officeDocument/2006/relationships/image" Target="../media/image132.svg"/><Relationship Id="rId3" Type="http://schemas.openxmlformats.org/officeDocument/2006/relationships/image" Target="../media/image131.png"/><Relationship Id="rId2" Type="http://schemas.openxmlformats.org/officeDocument/2006/relationships/image" Target="../media/image130.svg"/><Relationship Id="rId10" Type="http://schemas.openxmlformats.org/officeDocument/2006/relationships/notesSlide" Target="../notesSlides/notesSlide29.xml"/><Relationship Id="rId1" Type="http://schemas.openxmlformats.org/officeDocument/2006/relationships/image" Target="../media/image129.png"/></Relationships>
</file>

<file path=ppt/slides/_rels/slide30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30.xml"/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140.svg"/><Relationship Id="rId3" Type="http://schemas.openxmlformats.org/officeDocument/2006/relationships/image" Target="../media/image139.png"/><Relationship Id="rId2" Type="http://schemas.openxmlformats.org/officeDocument/2006/relationships/image" Target="../media/image138.svg"/><Relationship Id="rId1" Type="http://schemas.openxmlformats.org/officeDocument/2006/relationships/image" Target="../media/image137.png"/></Relationships>
</file>

<file path=ppt/slides/_rels/slide31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31.xml"/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144.svg"/><Relationship Id="rId3" Type="http://schemas.openxmlformats.org/officeDocument/2006/relationships/image" Target="../media/image143.png"/><Relationship Id="rId2" Type="http://schemas.openxmlformats.org/officeDocument/2006/relationships/image" Target="../media/image142.svg"/><Relationship Id="rId1" Type="http://schemas.openxmlformats.org/officeDocument/2006/relationships/image" Target="../media/image141.png"/></Relationships>
</file>

<file path=ppt/slides/_rels/slide32.xml.rels><?xml version="1.0" encoding="UTF-8" standalone="yes"?>
<Relationships xmlns="http://schemas.openxmlformats.org/package/2006/relationships"><Relationship Id="rId9" Type="http://schemas.openxmlformats.org/officeDocument/2006/relationships/tags" Target="../tags/tag88.xml"/><Relationship Id="rId8" Type="http://schemas.openxmlformats.org/officeDocument/2006/relationships/tags" Target="../tags/tag87.xml"/><Relationship Id="rId7" Type="http://schemas.openxmlformats.org/officeDocument/2006/relationships/tags" Target="../tags/tag86.xml"/><Relationship Id="rId6" Type="http://schemas.openxmlformats.org/officeDocument/2006/relationships/tags" Target="../tags/tag85.xml"/><Relationship Id="rId5" Type="http://schemas.openxmlformats.org/officeDocument/2006/relationships/tags" Target="../tags/tag84.xml"/><Relationship Id="rId4" Type="http://schemas.openxmlformats.org/officeDocument/2006/relationships/tags" Target="../tags/tag83.xml"/><Relationship Id="rId3" Type="http://schemas.openxmlformats.org/officeDocument/2006/relationships/tags" Target="../tags/tag82.xml"/><Relationship Id="rId2" Type="http://schemas.openxmlformats.org/officeDocument/2006/relationships/image" Target="../media/image146.svg"/><Relationship Id="rId15" Type="http://schemas.openxmlformats.org/officeDocument/2006/relationships/notesSlide" Target="../notesSlides/notesSlide32.xml"/><Relationship Id="rId14" Type="http://schemas.openxmlformats.org/officeDocument/2006/relationships/slideLayout" Target="../slideLayouts/slideLayout1.xml"/><Relationship Id="rId13" Type="http://schemas.openxmlformats.org/officeDocument/2006/relationships/image" Target="../media/image148.svg"/><Relationship Id="rId12" Type="http://schemas.openxmlformats.org/officeDocument/2006/relationships/image" Target="../media/image147.png"/><Relationship Id="rId11" Type="http://schemas.openxmlformats.org/officeDocument/2006/relationships/tags" Target="../tags/tag90.xml"/><Relationship Id="rId10" Type="http://schemas.openxmlformats.org/officeDocument/2006/relationships/tags" Target="../tags/tag89.xml"/><Relationship Id="rId1" Type="http://schemas.openxmlformats.org/officeDocument/2006/relationships/image" Target="../media/image145.png"/></Relationships>
</file>

<file path=ppt/slides/_rels/slide33.xml.rels><?xml version="1.0" encoding="UTF-8" standalone="yes"?>
<Relationships xmlns="http://schemas.openxmlformats.org/package/2006/relationships"><Relationship Id="rId9" Type="http://schemas.openxmlformats.org/officeDocument/2006/relationships/tags" Target="../tags/tag95.xml"/><Relationship Id="rId8" Type="http://schemas.openxmlformats.org/officeDocument/2006/relationships/tags" Target="../tags/tag94.xml"/><Relationship Id="rId7" Type="http://schemas.openxmlformats.org/officeDocument/2006/relationships/tags" Target="../tags/tag93.xml"/><Relationship Id="rId6" Type="http://schemas.openxmlformats.org/officeDocument/2006/relationships/tags" Target="../tags/tag92.xml"/><Relationship Id="rId5" Type="http://schemas.openxmlformats.org/officeDocument/2006/relationships/tags" Target="../tags/tag91.xml"/><Relationship Id="rId4" Type="http://schemas.openxmlformats.org/officeDocument/2006/relationships/image" Target="../media/image152.svg"/><Relationship Id="rId3" Type="http://schemas.openxmlformats.org/officeDocument/2006/relationships/image" Target="../media/image151.png"/><Relationship Id="rId2" Type="http://schemas.openxmlformats.org/officeDocument/2006/relationships/image" Target="../media/image150.svg"/><Relationship Id="rId17" Type="http://schemas.openxmlformats.org/officeDocument/2006/relationships/notesSlide" Target="../notesSlides/notesSlide33.xml"/><Relationship Id="rId16" Type="http://schemas.openxmlformats.org/officeDocument/2006/relationships/slideLayout" Target="../slideLayouts/slideLayout1.xml"/><Relationship Id="rId15" Type="http://schemas.openxmlformats.org/officeDocument/2006/relationships/image" Target="../media/image154.svg"/><Relationship Id="rId14" Type="http://schemas.openxmlformats.org/officeDocument/2006/relationships/image" Target="../media/image153.png"/><Relationship Id="rId13" Type="http://schemas.openxmlformats.org/officeDocument/2006/relationships/tags" Target="../tags/tag99.xml"/><Relationship Id="rId12" Type="http://schemas.openxmlformats.org/officeDocument/2006/relationships/tags" Target="../tags/tag98.xml"/><Relationship Id="rId11" Type="http://schemas.openxmlformats.org/officeDocument/2006/relationships/tags" Target="../tags/tag97.xml"/><Relationship Id="rId10" Type="http://schemas.openxmlformats.org/officeDocument/2006/relationships/tags" Target="../tags/tag96.xml"/><Relationship Id="rId1" Type="http://schemas.openxmlformats.org/officeDocument/2006/relationships/image" Target="../media/image149.png"/></Relationships>
</file>

<file path=ppt/slides/_rels/slide34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34.xml"/><Relationship Id="rId7" Type="http://schemas.openxmlformats.org/officeDocument/2006/relationships/slideLayout" Target="../slideLayouts/slideLayout1.xml"/><Relationship Id="rId6" Type="http://schemas.openxmlformats.org/officeDocument/2006/relationships/image" Target="../media/image160.svg"/><Relationship Id="rId5" Type="http://schemas.openxmlformats.org/officeDocument/2006/relationships/image" Target="../media/image159.png"/><Relationship Id="rId4" Type="http://schemas.openxmlformats.org/officeDocument/2006/relationships/image" Target="../media/image158.svg"/><Relationship Id="rId3" Type="http://schemas.openxmlformats.org/officeDocument/2006/relationships/image" Target="../media/image157.png"/><Relationship Id="rId2" Type="http://schemas.openxmlformats.org/officeDocument/2006/relationships/image" Target="../media/image156.svg"/><Relationship Id="rId1" Type="http://schemas.openxmlformats.org/officeDocument/2006/relationships/image" Target="../media/image155.png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9" Type="http://schemas.openxmlformats.org/officeDocument/2006/relationships/tags" Target="../tags/tag108.xml"/><Relationship Id="rId8" Type="http://schemas.openxmlformats.org/officeDocument/2006/relationships/tags" Target="../tags/tag107.xml"/><Relationship Id="rId7" Type="http://schemas.openxmlformats.org/officeDocument/2006/relationships/tags" Target="../tags/tag106.xml"/><Relationship Id="rId6" Type="http://schemas.openxmlformats.org/officeDocument/2006/relationships/tags" Target="../tags/tag105.xml"/><Relationship Id="rId5" Type="http://schemas.openxmlformats.org/officeDocument/2006/relationships/tags" Target="../tags/tag104.xml"/><Relationship Id="rId4" Type="http://schemas.openxmlformats.org/officeDocument/2006/relationships/tags" Target="../tags/tag103.xml"/><Relationship Id="rId3" Type="http://schemas.openxmlformats.org/officeDocument/2006/relationships/tags" Target="../tags/tag102.xml"/><Relationship Id="rId2" Type="http://schemas.openxmlformats.org/officeDocument/2006/relationships/tags" Target="../tags/tag101.xml"/><Relationship Id="rId17" Type="http://schemas.openxmlformats.org/officeDocument/2006/relationships/notesSlide" Target="../notesSlides/notesSlide36.xml"/><Relationship Id="rId16" Type="http://schemas.openxmlformats.org/officeDocument/2006/relationships/slideLayout" Target="../slideLayouts/slideLayout1.xml"/><Relationship Id="rId15" Type="http://schemas.openxmlformats.org/officeDocument/2006/relationships/tags" Target="../tags/tag114.xml"/><Relationship Id="rId14" Type="http://schemas.openxmlformats.org/officeDocument/2006/relationships/tags" Target="../tags/tag113.xml"/><Relationship Id="rId13" Type="http://schemas.openxmlformats.org/officeDocument/2006/relationships/tags" Target="../tags/tag112.xml"/><Relationship Id="rId12" Type="http://schemas.openxmlformats.org/officeDocument/2006/relationships/tags" Target="../tags/tag111.xml"/><Relationship Id="rId11" Type="http://schemas.openxmlformats.org/officeDocument/2006/relationships/tags" Target="../tags/tag110.xml"/><Relationship Id="rId10" Type="http://schemas.openxmlformats.org/officeDocument/2006/relationships/tags" Target="../tags/tag109.xml"/><Relationship Id="rId1" Type="http://schemas.openxmlformats.org/officeDocument/2006/relationships/tags" Target="../tags/tag100.xml"/></Relationships>
</file>

<file path=ppt/slides/_rels/slide37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37.xml"/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164.svg"/><Relationship Id="rId3" Type="http://schemas.openxmlformats.org/officeDocument/2006/relationships/image" Target="../media/image163.png"/><Relationship Id="rId2" Type="http://schemas.openxmlformats.org/officeDocument/2006/relationships/image" Target="../media/image162.svg"/><Relationship Id="rId1" Type="http://schemas.openxmlformats.org/officeDocument/2006/relationships/image" Target="../media/image161.png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9" Type="http://schemas.openxmlformats.org/officeDocument/2006/relationships/image" Target="../media/image173.svg"/><Relationship Id="rId8" Type="http://schemas.openxmlformats.org/officeDocument/2006/relationships/image" Target="../media/image172.png"/><Relationship Id="rId7" Type="http://schemas.openxmlformats.org/officeDocument/2006/relationships/image" Target="../media/image171.svg"/><Relationship Id="rId6" Type="http://schemas.openxmlformats.org/officeDocument/2006/relationships/image" Target="../media/image170.png"/><Relationship Id="rId5" Type="http://schemas.openxmlformats.org/officeDocument/2006/relationships/image" Target="../media/image169.svg"/><Relationship Id="rId4" Type="http://schemas.openxmlformats.org/officeDocument/2006/relationships/image" Target="../media/image168.svg"/><Relationship Id="rId3" Type="http://schemas.openxmlformats.org/officeDocument/2006/relationships/image" Target="../media/image167.png"/><Relationship Id="rId24" Type="http://schemas.openxmlformats.org/officeDocument/2006/relationships/notesSlide" Target="../notesSlides/notesSlide39.xml"/><Relationship Id="rId23" Type="http://schemas.openxmlformats.org/officeDocument/2006/relationships/slideLayout" Target="../slideLayouts/slideLayout1.xml"/><Relationship Id="rId22" Type="http://schemas.openxmlformats.org/officeDocument/2006/relationships/image" Target="../media/image186.svg"/><Relationship Id="rId21" Type="http://schemas.openxmlformats.org/officeDocument/2006/relationships/image" Target="../media/image185.svg"/><Relationship Id="rId20" Type="http://schemas.openxmlformats.org/officeDocument/2006/relationships/image" Target="../media/image184.svg"/><Relationship Id="rId2" Type="http://schemas.openxmlformats.org/officeDocument/2006/relationships/image" Target="../media/image166.svg"/><Relationship Id="rId19" Type="http://schemas.openxmlformats.org/officeDocument/2006/relationships/image" Target="../media/image183.png"/><Relationship Id="rId18" Type="http://schemas.openxmlformats.org/officeDocument/2006/relationships/image" Target="../media/image182.svg"/><Relationship Id="rId17" Type="http://schemas.openxmlformats.org/officeDocument/2006/relationships/image" Target="../media/image181.svg"/><Relationship Id="rId16" Type="http://schemas.openxmlformats.org/officeDocument/2006/relationships/image" Target="../media/image180.svg"/><Relationship Id="rId15" Type="http://schemas.openxmlformats.org/officeDocument/2006/relationships/image" Target="../media/image179.svg"/><Relationship Id="rId14" Type="http://schemas.openxmlformats.org/officeDocument/2006/relationships/image" Target="../media/image178.svg"/><Relationship Id="rId13" Type="http://schemas.openxmlformats.org/officeDocument/2006/relationships/image" Target="../media/image177.png"/><Relationship Id="rId12" Type="http://schemas.openxmlformats.org/officeDocument/2006/relationships/image" Target="../media/image176.svg"/><Relationship Id="rId11" Type="http://schemas.openxmlformats.org/officeDocument/2006/relationships/image" Target="../media/image175.png"/><Relationship Id="rId10" Type="http://schemas.openxmlformats.org/officeDocument/2006/relationships/image" Target="../media/image174.svg"/><Relationship Id="rId1" Type="http://schemas.openxmlformats.org/officeDocument/2006/relationships/image" Target="../media/image165.png"/></Relationships>
</file>

<file path=ppt/slides/_rels/slide40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40.xml"/><Relationship Id="rId7" Type="http://schemas.openxmlformats.org/officeDocument/2006/relationships/slideLayout" Target="../slideLayouts/slideLayout1.xml"/><Relationship Id="rId6" Type="http://schemas.openxmlformats.org/officeDocument/2006/relationships/image" Target="../media/image192.svg"/><Relationship Id="rId5" Type="http://schemas.openxmlformats.org/officeDocument/2006/relationships/image" Target="../media/image191.png"/><Relationship Id="rId4" Type="http://schemas.openxmlformats.org/officeDocument/2006/relationships/image" Target="../media/image190.svg"/><Relationship Id="rId3" Type="http://schemas.openxmlformats.org/officeDocument/2006/relationships/image" Target="../media/image189.png"/><Relationship Id="rId2" Type="http://schemas.openxmlformats.org/officeDocument/2006/relationships/image" Target="../media/image188.svg"/><Relationship Id="rId1" Type="http://schemas.openxmlformats.org/officeDocument/2006/relationships/image" Target="../media/image187.png"/></Relationships>
</file>

<file path=ppt/slides/_rels/slide41.xml.rels><?xml version="1.0" encoding="UTF-8" standalone="yes"?>
<Relationships xmlns="http://schemas.openxmlformats.org/package/2006/relationships"><Relationship Id="rId9" Type="http://schemas.openxmlformats.org/officeDocument/2006/relationships/tags" Target="../tags/tag121.xml"/><Relationship Id="rId8" Type="http://schemas.openxmlformats.org/officeDocument/2006/relationships/tags" Target="../tags/tag120.xml"/><Relationship Id="rId7" Type="http://schemas.openxmlformats.org/officeDocument/2006/relationships/tags" Target="../tags/tag119.xml"/><Relationship Id="rId6" Type="http://schemas.openxmlformats.org/officeDocument/2006/relationships/tags" Target="../tags/tag118.xml"/><Relationship Id="rId5" Type="http://schemas.openxmlformats.org/officeDocument/2006/relationships/tags" Target="../tags/tag117.xml"/><Relationship Id="rId4" Type="http://schemas.openxmlformats.org/officeDocument/2006/relationships/tags" Target="../tags/tag116.xml"/><Relationship Id="rId3" Type="http://schemas.openxmlformats.org/officeDocument/2006/relationships/tags" Target="../tags/tag115.xml"/><Relationship Id="rId24" Type="http://schemas.openxmlformats.org/officeDocument/2006/relationships/notesSlide" Target="../notesSlides/notesSlide41.xml"/><Relationship Id="rId23" Type="http://schemas.openxmlformats.org/officeDocument/2006/relationships/slideLayout" Target="../slideLayouts/slideLayout1.xml"/><Relationship Id="rId22" Type="http://schemas.openxmlformats.org/officeDocument/2006/relationships/image" Target="../media/image196.svg"/><Relationship Id="rId21" Type="http://schemas.openxmlformats.org/officeDocument/2006/relationships/image" Target="../media/image195.png"/><Relationship Id="rId20" Type="http://schemas.openxmlformats.org/officeDocument/2006/relationships/tags" Target="../tags/tag132.xml"/><Relationship Id="rId2" Type="http://schemas.openxmlformats.org/officeDocument/2006/relationships/image" Target="../media/image194.svg"/><Relationship Id="rId19" Type="http://schemas.openxmlformats.org/officeDocument/2006/relationships/tags" Target="../tags/tag131.xml"/><Relationship Id="rId18" Type="http://schemas.openxmlformats.org/officeDocument/2006/relationships/tags" Target="../tags/tag130.xml"/><Relationship Id="rId17" Type="http://schemas.openxmlformats.org/officeDocument/2006/relationships/tags" Target="../tags/tag129.xml"/><Relationship Id="rId16" Type="http://schemas.openxmlformats.org/officeDocument/2006/relationships/tags" Target="../tags/tag128.xml"/><Relationship Id="rId15" Type="http://schemas.openxmlformats.org/officeDocument/2006/relationships/tags" Target="../tags/tag127.xml"/><Relationship Id="rId14" Type="http://schemas.openxmlformats.org/officeDocument/2006/relationships/tags" Target="../tags/tag126.xml"/><Relationship Id="rId13" Type="http://schemas.openxmlformats.org/officeDocument/2006/relationships/tags" Target="../tags/tag125.xml"/><Relationship Id="rId12" Type="http://schemas.openxmlformats.org/officeDocument/2006/relationships/tags" Target="../tags/tag124.xml"/><Relationship Id="rId11" Type="http://schemas.openxmlformats.org/officeDocument/2006/relationships/tags" Target="../tags/tag123.xml"/><Relationship Id="rId10" Type="http://schemas.openxmlformats.org/officeDocument/2006/relationships/tags" Target="../tags/tag122.xml"/><Relationship Id="rId1" Type="http://schemas.openxmlformats.org/officeDocument/2006/relationships/image" Target="../media/image193.png"/></Relationships>
</file>

<file path=ppt/slides/_rels/slide42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42.xml"/><Relationship Id="rId7" Type="http://schemas.openxmlformats.org/officeDocument/2006/relationships/slideLayout" Target="../slideLayouts/slideLayout1.xml"/><Relationship Id="rId6" Type="http://schemas.openxmlformats.org/officeDocument/2006/relationships/image" Target="../media/image202.svg"/><Relationship Id="rId5" Type="http://schemas.openxmlformats.org/officeDocument/2006/relationships/image" Target="../media/image201.png"/><Relationship Id="rId4" Type="http://schemas.openxmlformats.org/officeDocument/2006/relationships/image" Target="../media/image200.svg"/><Relationship Id="rId3" Type="http://schemas.openxmlformats.org/officeDocument/2006/relationships/image" Target="../media/image199.png"/><Relationship Id="rId2" Type="http://schemas.openxmlformats.org/officeDocument/2006/relationships/image" Target="../media/image198.svg"/><Relationship Id="rId1" Type="http://schemas.openxmlformats.org/officeDocument/2006/relationships/image" Target="../media/image197.png"/></Relationships>
</file>

<file path=ppt/slides/_rels/slide43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43.xml"/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206.svg"/><Relationship Id="rId3" Type="http://schemas.openxmlformats.org/officeDocument/2006/relationships/image" Target="../media/image205.png"/><Relationship Id="rId2" Type="http://schemas.openxmlformats.org/officeDocument/2006/relationships/image" Target="../media/image204.svg"/><Relationship Id="rId1" Type="http://schemas.openxmlformats.org/officeDocument/2006/relationships/image" Target="../media/image203.png"/></Relationships>
</file>

<file path=ppt/slides/_rels/slide44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44.xml"/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210.svg"/><Relationship Id="rId3" Type="http://schemas.openxmlformats.org/officeDocument/2006/relationships/image" Target="../media/image209.png"/><Relationship Id="rId2" Type="http://schemas.openxmlformats.org/officeDocument/2006/relationships/image" Target="../media/image208.svg"/><Relationship Id="rId1" Type="http://schemas.openxmlformats.org/officeDocument/2006/relationships/image" Target="../media/image207.png"/></Relationships>
</file>

<file path=ppt/slides/_rels/slide45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.xml"/><Relationship Id="rId8" Type="http://schemas.openxmlformats.org/officeDocument/2006/relationships/image" Target="../media/image218.png"/><Relationship Id="rId7" Type="http://schemas.openxmlformats.org/officeDocument/2006/relationships/image" Target="../media/image217.png"/><Relationship Id="rId6" Type="http://schemas.openxmlformats.org/officeDocument/2006/relationships/image" Target="../media/image216.svg"/><Relationship Id="rId5" Type="http://schemas.openxmlformats.org/officeDocument/2006/relationships/image" Target="../media/image215.png"/><Relationship Id="rId4" Type="http://schemas.openxmlformats.org/officeDocument/2006/relationships/image" Target="../media/image214.svg"/><Relationship Id="rId3" Type="http://schemas.openxmlformats.org/officeDocument/2006/relationships/image" Target="../media/image213.png"/><Relationship Id="rId2" Type="http://schemas.openxmlformats.org/officeDocument/2006/relationships/image" Target="../media/image212.svg"/><Relationship Id="rId10" Type="http://schemas.openxmlformats.org/officeDocument/2006/relationships/notesSlide" Target="../notesSlides/notesSlide45.xml"/><Relationship Id="rId1" Type="http://schemas.openxmlformats.org/officeDocument/2006/relationships/image" Target="../media/image211.png"/></Relationships>
</file>

<file path=ppt/slides/_rels/slide46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46.xml"/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222.svg"/><Relationship Id="rId3" Type="http://schemas.openxmlformats.org/officeDocument/2006/relationships/image" Target="../media/image221.png"/><Relationship Id="rId2" Type="http://schemas.openxmlformats.org/officeDocument/2006/relationships/image" Target="../media/image220.svg"/><Relationship Id="rId1" Type="http://schemas.openxmlformats.org/officeDocument/2006/relationships/image" Target="../media/image219.png"/></Relationships>
</file>

<file path=ppt/slides/_rels/slide47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47.xml"/><Relationship Id="rId7" Type="http://schemas.openxmlformats.org/officeDocument/2006/relationships/slideLayout" Target="../slideLayouts/slideLayout1.xml"/><Relationship Id="rId6" Type="http://schemas.openxmlformats.org/officeDocument/2006/relationships/image" Target="../media/image228.svg"/><Relationship Id="rId5" Type="http://schemas.openxmlformats.org/officeDocument/2006/relationships/image" Target="../media/image227.png"/><Relationship Id="rId4" Type="http://schemas.openxmlformats.org/officeDocument/2006/relationships/image" Target="../media/image226.svg"/><Relationship Id="rId3" Type="http://schemas.openxmlformats.org/officeDocument/2006/relationships/image" Target="../media/image225.png"/><Relationship Id="rId2" Type="http://schemas.openxmlformats.org/officeDocument/2006/relationships/image" Target="../media/image224.svg"/><Relationship Id="rId1" Type="http://schemas.openxmlformats.org/officeDocument/2006/relationships/image" Target="../media/image223.png"/></Relationships>
</file>

<file path=ppt/slides/_rels/slide48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48.xml"/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232.svg"/><Relationship Id="rId3" Type="http://schemas.openxmlformats.org/officeDocument/2006/relationships/image" Target="../media/image231.png"/><Relationship Id="rId2" Type="http://schemas.openxmlformats.org/officeDocument/2006/relationships/image" Target="../media/image230.svg"/><Relationship Id="rId1" Type="http://schemas.openxmlformats.org/officeDocument/2006/relationships/image" Target="../media/image229.png"/></Relationships>
</file>

<file path=ppt/slides/_rels/slide49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49.xml"/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236.svg"/><Relationship Id="rId3" Type="http://schemas.openxmlformats.org/officeDocument/2006/relationships/image" Target="../media/image235.png"/><Relationship Id="rId2" Type="http://schemas.openxmlformats.org/officeDocument/2006/relationships/image" Target="../media/image234.svg"/><Relationship Id="rId1" Type="http://schemas.openxmlformats.org/officeDocument/2006/relationships/image" Target="../media/image233.png"/></Relationships>
</file>

<file path=ppt/slides/_rels/slide50.xml.rels><?xml version="1.0" encoding="UTF-8" standalone="yes"?>
<Relationships xmlns="http://schemas.openxmlformats.org/package/2006/relationships"><Relationship Id="rId9" Type="http://schemas.openxmlformats.org/officeDocument/2006/relationships/tags" Target="../tags/tag139.xml"/><Relationship Id="rId8" Type="http://schemas.openxmlformats.org/officeDocument/2006/relationships/tags" Target="../tags/tag138.xml"/><Relationship Id="rId7" Type="http://schemas.openxmlformats.org/officeDocument/2006/relationships/tags" Target="../tags/tag137.xml"/><Relationship Id="rId6" Type="http://schemas.openxmlformats.org/officeDocument/2006/relationships/tags" Target="../tags/tag136.xml"/><Relationship Id="rId5" Type="http://schemas.openxmlformats.org/officeDocument/2006/relationships/tags" Target="../tags/tag135.xml"/><Relationship Id="rId4" Type="http://schemas.openxmlformats.org/officeDocument/2006/relationships/tags" Target="../tags/tag134.xml"/><Relationship Id="rId3" Type="http://schemas.openxmlformats.org/officeDocument/2006/relationships/tags" Target="../tags/tag133.xml"/><Relationship Id="rId20" Type="http://schemas.openxmlformats.org/officeDocument/2006/relationships/notesSlide" Target="../notesSlides/notesSlide50.xml"/><Relationship Id="rId2" Type="http://schemas.openxmlformats.org/officeDocument/2006/relationships/image" Target="../media/image238.svg"/><Relationship Id="rId19" Type="http://schemas.openxmlformats.org/officeDocument/2006/relationships/slideLayout" Target="../slideLayouts/slideLayout1.xml"/><Relationship Id="rId18" Type="http://schemas.openxmlformats.org/officeDocument/2006/relationships/image" Target="../media/image242.svg"/><Relationship Id="rId17" Type="http://schemas.openxmlformats.org/officeDocument/2006/relationships/image" Target="../media/image241.png"/><Relationship Id="rId16" Type="http://schemas.openxmlformats.org/officeDocument/2006/relationships/image" Target="../media/image240.svg"/><Relationship Id="rId15" Type="http://schemas.openxmlformats.org/officeDocument/2006/relationships/image" Target="../media/image239.png"/><Relationship Id="rId14" Type="http://schemas.openxmlformats.org/officeDocument/2006/relationships/tags" Target="../tags/tag144.xml"/><Relationship Id="rId13" Type="http://schemas.openxmlformats.org/officeDocument/2006/relationships/tags" Target="../tags/tag143.xml"/><Relationship Id="rId12" Type="http://schemas.openxmlformats.org/officeDocument/2006/relationships/tags" Target="../tags/tag142.xml"/><Relationship Id="rId11" Type="http://schemas.openxmlformats.org/officeDocument/2006/relationships/tags" Target="../tags/tag141.xml"/><Relationship Id="rId10" Type="http://schemas.openxmlformats.org/officeDocument/2006/relationships/tags" Target="../tags/tag140.xml"/><Relationship Id="rId1" Type="http://schemas.openxmlformats.org/officeDocument/2006/relationships/image" Target="../media/image23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8090D"/>
          </a:solidFill>
        </p:spPr>
      </p:sp>
      <p:sp>
        <p:nvSpPr>
          <p:cNvPr id="3" name="Shape 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8090D"/>
          </a:solidFill>
        </p:spPr>
      </p:sp>
      <p:sp>
        <p:nvSpPr>
          <p:cNvPr id="4" name="TextBox 4"/>
          <p:cNvSpPr/>
          <p:nvPr/>
        </p:nvSpPr>
        <p:spPr>
          <a:xfrm>
            <a:off x="4043045" y="1753870"/>
            <a:ext cx="1058545" cy="37084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 algn="ctr">
              <a:lnSpc>
                <a:spcPts val="1040"/>
              </a:lnSpc>
              <a:buNone/>
            </a:pPr>
            <a:r>
              <a:rPr lang="en-US" sz="695" kern="0" spc="69" dirty="0">
                <a:solidFill>
                  <a:srgbClr val="299236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POST-TRAINING · 1.4</a:t>
            </a:r>
            <a:endParaRPr lang="en-US" sz="695" dirty="0"/>
          </a:p>
        </p:txBody>
      </p:sp>
      <p:sp>
        <p:nvSpPr>
          <p:cNvPr id="5" name="TextBox 6"/>
          <p:cNvSpPr/>
          <p:nvPr/>
        </p:nvSpPr>
        <p:spPr>
          <a:xfrm>
            <a:off x="1983990" y="2315059"/>
            <a:ext cx="5175982" cy="46099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ts val="3735"/>
              </a:lnSpc>
              <a:buNone/>
            </a:pPr>
            <a:r>
              <a:rPr lang="en-US" sz="3400" b="1" kern="0" spc="-85" dirty="0">
                <a:solidFill>
                  <a:srgbClr val="E8E8ED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后训练：SFT、RLHF 与 RLVR</a:t>
            </a:r>
            <a:endParaRPr lang="en-US" sz="3400" dirty="0"/>
          </a:p>
        </p:txBody>
      </p:sp>
      <p:sp>
        <p:nvSpPr>
          <p:cNvPr id="6" name="TextBox 8"/>
          <p:cNvSpPr/>
          <p:nvPr/>
        </p:nvSpPr>
        <p:spPr>
          <a:xfrm>
            <a:off x="2934970" y="3518535"/>
            <a:ext cx="3284220" cy="75247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 algn="ctr">
              <a:lnSpc>
                <a:spcPts val="1620"/>
              </a:lnSpc>
              <a:buNone/>
            </a:pPr>
            <a:r>
              <a:rPr lang="en-US" sz="1080" dirty="0">
                <a:solidFill>
                  <a:srgbClr val="E8E8ED">
                    <a:alpha val="60000"/>
                  </a:srgbClr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从模仿到对齐，再到推理 —— 大语言模型的后训练全景</a:t>
            </a:r>
            <a:endParaRPr lang="en-US" sz="1080" dirty="0"/>
          </a:p>
        </p:txBody>
      </p:sp>
      <p:sp>
        <p:nvSpPr>
          <p:cNvPr id="7" name="TextBox 10"/>
          <p:cNvSpPr/>
          <p:nvPr/>
        </p:nvSpPr>
        <p:spPr>
          <a:xfrm>
            <a:off x="3640336" y="4729163"/>
            <a:ext cx="1863328" cy="128587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ts val="1040"/>
              </a:lnSpc>
              <a:buNone/>
            </a:pPr>
            <a:r>
              <a:rPr lang="en-US" sz="695" kern="0" spc="42" dirty="0">
                <a:solidFill>
                  <a:srgbClr val="E8E8ED">
                    <a:alpha val="35000"/>
                  </a:srgbClr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学习汇报 · AI/ML 后训练技术 · 2026</a:t>
            </a:r>
            <a:endParaRPr lang="en-US" sz="695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6F9FC"/>
          </a:solidFill>
        </p:spPr>
      </p:sp>
      <p:sp>
        <p:nvSpPr>
          <p:cNvPr id="3" name="Shape 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6F9FC"/>
          </a:solidFill>
        </p:spPr>
      </p:sp>
      <p:pic>
        <p:nvPicPr>
          <p:cNvPr id="4" name="Picture 4" descr="__type_image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76250" y="381000"/>
            <a:ext cx="8191500" cy="390525"/>
          </a:xfrm>
          <a:prstGeom prst="rect">
            <a:avLst/>
          </a:prstGeom>
        </p:spPr>
      </p:pic>
      <p:sp>
        <p:nvSpPr>
          <p:cNvPr id="5" name="TextBox 4"/>
          <p:cNvSpPr/>
          <p:nvPr/>
        </p:nvSpPr>
        <p:spPr>
          <a:xfrm>
            <a:off x="476250" y="381000"/>
            <a:ext cx="8191500" cy="394335"/>
          </a:xfrm>
          <a:prstGeom prst="rect">
            <a:avLst/>
          </a:prstGeom>
          <a:noFill/>
        </p:spPr>
        <p:txBody>
          <a:bodyPr wrap="square" lIns="0" tIns="0" rIns="0" bIns="98065" rtlCol="0" anchor="t">
            <a:spAutoFit/>
          </a:bodyPr>
          <a:lstStyle/>
          <a:p>
            <a:pPr marL="0" indent="0" algn="l">
              <a:lnSpc>
                <a:spcPts val="2315"/>
              </a:lnSpc>
              <a:buNone/>
            </a:pPr>
            <a:r>
              <a:rPr lang="en-US" sz="1545" b="1" kern="0" spc="-23" dirty="0">
                <a:solidFill>
                  <a:srgbClr val="121C23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1.4后训练全景图：预训练 vs 后训练</a:t>
            </a:r>
            <a:endParaRPr lang="en-US" sz="1545" dirty="0"/>
          </a:p>
        </p:txBody>
      </p:sp>
      <p:sp>
        <p:nvSpPr>
          <p:cNvPr id="6" name="TextBox 12"/>
          <p:cNvSpPr/>
          <p:nvPr/>
        </p:nvSpPr>
        <p:spPr>
          <a:xfrm>
            <a:off x="476250" y="1000125"/>
            <a:ext cx="4010025" cy="100012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810"/>
              </a:lnSpc>
              <a:buNone/>
            </a:pPr>
            <a:r>
              <a:rPr lang="en-US" sz="540" kern="0" spc="43" dirty="0">
                <a:solidFill>
                  <a:srgbClr val="299236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预训练 PRE-TRAINING</a:t>
            </a:r>
            <a:endParaRPr lang="en-US" sz="540" dirty="0"/>
          </a:p>
        </p:txBody>
      </p:sp>
      <p:sp>
        <p:nvSpPr>
          <p:cNvPr id="7" name="TextBox 14"/>
          <p:cNvSpPr/>
          <p:nvPr/>
        </p:nvSpPr>
        <p:spPr>
          <a:xfrm>
            <a:off x="476250" y="1233487"/>
            <a:ext cx="4010025" cy="73596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435"/>
              </a:lnSpc>
              <a:buNone/>
            </a:pPr>
            <a:r>
              <a:rPr lang="zh-CN" altLang="en-US" sz="925" dirty="0">
                <a:solidFill>
                  <a:srgbClr val="121C23"/>
                </a:solidFill>
                <a:latin typeface="Segoe UI" panose="020B0502040204020203" pitchFamily="34" charset="0"/>
                <a:ea typeface="宋体" panose="02010600030101010101" pitchFamily="2" charset="-122"/>
                <a:cs typeface="Segoe UI" panose="020B0502040204020203" pitchFamily="34" charset="-120"/>
              </a:rPr>
              <a:t>大模型经过预训练得到的是基座模型</a:t>
            </a:r>
            <a:r>
              <a:rPr lang="en-US" altLang="zh-CN" sz="925" dirty="0">
                <a:solidFill>
                  <a:srgbClr val="121C23"/>
                </a:solidFill>
                <a:latin typeface="Segoe UI" panose="020B0502040204020203" pitchFamily="34" charset="0"/>
                <a:ea typeface="宋体" panose="02010600030101010101" pitchFamily="2" charset="-122"/>
                <a:cs typeface="Segoe UI" panose="020B0502040204020203" pitchFamily="34" charset="-120"/>
              </a:rPr>
              <a:t>,</a:t>
            </a:r>
            <a:r>
              <a:rPr lang="zh-CN" altLang="en-US" sz="925" dirty="0">
                <a:solidFill>
                  <a:srgbClr val="121C23"/>
                </a:solidFill>
                <a:latin typeface="Segoe UI" panose="020B0502040204020203" pitchFamily="34" charset="0"/>
                <a:ea typeface="宋体" panose="02010600030101010101" pitchFamily="2" charset="-122"/>
                <a:cs typeface="Segoe UI" panose="020B0502040204020203" pitchFamily="34" charset="-120"/>
              </a:rPr>
              <a:t>它只会</a:t>
            </a:r>
            <a:r>
              <a:rPr lang="en-US" sz="925" dirty="0">
                <a:solidFill>
                  <a:srgbClr val="121C23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在海量互联网文本上做</a:t>
            </a:r>
            <a:r>
              <a:rPr lang="en-US" sz="925" b="1" dirty="0">
                <a:solidFill>
                  <a:srgbClr val="121C23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下一个 token 预测</a:t>
            </a:r>
            <a:r>
              <a:rPr lang="en-US" sz="925" dirty="0">
                <a:solidFill>
                  <a:srgbClr val="121C23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（next-token prediction），模型学会语言的</a:t>
            </a:r>
            <a:r>
              <a:rPr lang="en-US" sz="925" b="1" dirty="0">
                <a:solidFill>
                  <a:srgbClr val="121C23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统计规律</a:t>
            </a:r>
            <a:r>
              <a:rPr lang="en-US" sz="925" dirty="0">
                <a:solidFill>
                  <a:srgbClr val="121C23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和世界知识。此时它只是一个</a:t>
            </a:r>
            <a:r>
              <a:rPr lang="en-US" sz="925" b="1" dirty="0">
                <a:solidFill>
                  <a:srgbClr val="121C23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"文档补全器"</a:t>
            </a:r>
            <a:r>
              <a:rPr lang="en-US" sz="925" dirty="0">
                <a:solidFill>
                  <a:srgbClr val="121C23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——给它开头，它会续写合理文本，但</a:t>
            </a:r>
            <a:r>
              <a:rPr lang="en-US" sz="925" b="1" dirty="0">
                <a:solidFill>
                  <a:srgbClr val="121C23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不知道如何"对话"、如何"遵循指令"、如何判断"什么是有用的回答"</a:t>
            </a:r>
            <a:r>
              <a:rPr lang="en-US" sz="925" dirty="0">
                <a:solidFill>
                  <a:srgbClr val="121C23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。</a:t>
            </a:r>
            <a:endParaRPr lang="en-US" sz="925" dirty="0"/>
          </a:p>
        </p:txBody>
      </p:sp>
      <p:sp>
        <p:nvSpPr>
          <p:cNvPr id="8" name="Shape 16"/>
          <p:cNvSpPr/>
          <p:nvPr/>
        </p:nvSpPr>
        <p:spPr>
          <a:xfrm>
            <a:off x="476250" y="2018258"/>
            <a:ext cx="4010025" cy="533400"/>
          </a:xfrm>
          <a:prstGeom prst="roundRect">
            <a:avLst>
              <a:gd name="adj" fmla="val 5515"/>
            </a:avLst>
          </a:prstGeom>
          <a:solidFill>
            <a:srgbClr val="5A845A">
              <a:alpha val="12157"/>
            </a:srgbClr>
          </a:solidFill>
          <a:ln w="4903">
            <a:solidFill>
              <a:srgbClr val="5C875C">
                <a:alpha val="25098"/>
              </a:srgbClr>
            </a:solidFill>
            <a:prstDash val="solid"/>
          </a:ln>
        </p:spPr>
      </p:sp>
      <p:sp>
        <p:nvSpPr>
          <p:cNvPr id="9" name="TextBox 18"/>
          <p:cNvSpPr/>
          <p:nvPr/>
        </p:nvSpPr>
        <p:spPr>
          <a:xfrm>
            <a:off x="633412" y="2127796"/>
            <a:ext cx="3695700" cy="31432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275"/>
              </a:lnSpc>
              <a:buNone/>
            </a:pPr>
            <a:r>
              <a:rPr lang="en-US" sz="850" b="1" dirty="0">
                <a:solidFill>
                  <a:srgbClr val="121C23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打个比方：</a:t>
            </a:r>
            <a:r>
              <a:rPr lang="en-US" sz="850" dirty="0">
                <a:solidFill>
                  <a:srgbClr val="121C23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预训练 = 读完了整个图书馆。模型什么都知道，但不知道应该怎么跟人说话。</a:t>
            </a:r>
            <a:endParaRPr lang="en-US" sz="850" dirty="0"/>
          </a:p>
        </p:txBody>
      </p:sp>
      <p:sp>
        <p:nvSpPr>
          <p:cNvPr id="10" name="TextBox 24"/>
          <p:cNvSpPr/>
          <p:nvPr/>
        </p:nvSpPr>
        <p:spPr>
          <a:xfrm>
            <a:off x="4657725" y="1000125"/>
            <a:ext cx="4010025" cy="100012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810"/>
              </a:lnSpc>
              <a:buNone/>
            </a:pPr>
            <a:r>
              <a:rPr lang="en-US" sz="540" kern="0" spc="43" dirty="0">
                <a:solidFill>
                  <a:srgbClr val="299236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后训练 POST-TRAINING</a:t>
            </a:r>
            <a:endParaRPr lang="en-US" sz="540" dirty="0"/>
          </a:p>
        </p:txBody>
      </p:sp>
      <p:sp>
        <p:nvSpPr>
          <p:cNvPr id="11" name="TextBox 26"/>
          <p:cNvSpPr/>
          <p:nvPr/>
        </p:nvSpPr>
        <p:spPr>
          <a:xfrm>
            <a:off x="4657725" y="1233487"/>
            <a:ext cx="4010025" cy="18351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435"/>
              </a:lnSpc>
              <a:buNone/>
            </a:pPr>
            <a:r>
              <a:rPr lang="en-US" sz="925" dirty="0">
                <a:solidFill>
                  <a:srgbClr val="121C23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后训练让模型从</a:t>
            </a:r>
            <a:r>
              <a:rPr lang="en-US" sz="925" b="1" dirty="0">
                <a:solidFill>
                  <a:srgbClr val="121C23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"补全者"</a:t>
            </a:r>
            <a:r>
              <a:rPr lang="en-US" sz="925" dirty="0">
                <a:solidFill>
                  <a:srgbClr val="121C23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变成</a:t>
            </a:r>
            <a:r>
              <a:rPr lang="en-US" sz="925" b="1" dirty="0">
                <a:solidFill>
                  <a:srgbClr val="121C23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"有用的助手"</a:t>
            </a:r>
            <a:r>
              <a:rPr lang="en-US" sz="925" dirty="0">
                <a:solidFill>
                  <a:srgbClr val="121C23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。分为三个递进阶段——</a:t>
            </a:r>
            <a:endParaRPr lang="en-US" sz="925" dirty="0"/>
          </a:p>
        </p:txBody>
      </p:sp>
      <p:sp>
        <p:nvSpPr>
          <p:cNvPr id="12" name="TextBox 32"/>
          <p:cNvSpPr/>
          <p:nvPr/>
        </p:nvSpPr>
        <p:spPr>
          <a:xfrm>
            <a:off x="4657725" y="1663973"/>
            <a:ext cx="266700" cy="182873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r">
              <a:lnSpc>
                <a:spcPts val="1485"/>
              </a:lnSpc>
              <a:buNone/>
            </a:pPr>
            <a:r>
              <a:rPr lang="en-US" sz="1235" b="1" dirty="0">
                <a:solidFill>
                  <a:srgbClr val="299236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1</a:t>
            </a:r>
            <a:endParaRPr lang="en-US" sz="1235" dirty="0"/>
          </a:p>
        </p:txBody>
      </p:sp>
      <p:sp>
        <p:nvSpPr>
          <p:cNvPr id="13" name="TextBox 36"/>
          <p:cNvSpPr/>
          <p:nvPr/>
        </p:nvSpPr>
        <p:spPr>
          <a:xfrm>
            <a:off x="5038725" y="1663973"/>
            <a:ext cx="2178695" cy="185737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505"/>
              </a:lnSpc>
              <a:buNone/>
            </a:pPr>
            <a:r>
              <a:rPr lang="en-US" sz="1005" b="1" dirty="0">
                <a:solidFill>
                  <a:srgbClr val="121C23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SFT（监督微调）</a:t>
            </a:r>
            <a:endParaRPr lang="en-US" sz="1005" dirty="0"/>
          </a:p>
        </p:txBody>
      </p:sp>
      <p:sp>
        <p:nvSpPr>
          <p:cNvPr id="14" name="TextBox 38"/>
          <p:cNvSpPr/>
          <p:nvPr/>
        </p:nvSpPr>
        <p:spPr>
          <a:xfrm>
            <a:off x="5038725" y="1878330"/>
            <a:ext cx="2508250" cy="15557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215"/>
              </a:lnSpc>
              <a:buNone/>
            </a:pPr>
            <a:r>
              <a:rPr lang="en-US" sz="810" dirty="0">
                <a:solidFill>
                  <a:srgbClr val="5A656D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教会"对话格式"和基本指令遵循——</a:t>
            </a:r>
            <a:r>
              <a:rPr lang="en-US" sz="810" b="1" dirty="0">
                <a:solidFill>
                  <a:srgbClr val="5A656D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学会答题格式</a:t>
            </a:r>
            <a:endParaRPr lang="en-US" sz="810" dirty="0"/>
          </a:p>
        </p:txBody>
      </p:sp>
      <p:sp>
        <p:nvSpPr>
          <p:cNvPr id="15" name="TextBox 44"/>
          <p:cNvSpPr/>
          <p:nvPr/>
        </p:nvSpPr>
        <p:spPr>
          <a:xfrm>
            <a:off x="4657725" y="2085454"/>
            <a:ext cx="266700" cy="182873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r">
              <a:lnSpc>
                <a:spcPts val="1485"/>
              </a:lnSpc>
              <a:buNone/>
            </a:pPr>
            <a:r>
              <a:rPr lang="en-US" sz="1235" b="1" dirty="0">
                <a:solidFill>
                  <a:srgbClr val="299236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2</a:t>
            </a:r>
            <a:endParaRPr lang="en-US" sz="1235" dirty="0"/>
          </a:p>
        </p:txBody>
      </p:sp>
      <p:sp>
        <p:nvSpPr>
          <p:cNvPr id="16" name="TextBox 48"/>
          <p:cNvSpPr/>
          <p:nvPr/>
        </p:nvSpPr>
        <p:spPr>
          <a:xfrm>
            <a:off x="5038725" y="2085454"/>
            <a:ext cx="2123814" cy="185738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505"/>
              </a:lnSpc>
              <a:buNone/>
            </a:pPr>
            <a:r>
              <a:rPr lang="en-US" sz="1005" b="1" dirty="0">
                <a:solidFill>
                  <a:srgbClr val="121C23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RLHF（人类反馈强化学习）</a:t>
            </a:r>
            <a:endParaRPr lang="en-US" sz="1005" dirty="0"/>
          </a:p>
        </p:txBody>
      </p:sp>
      <p:sp>
        <p:nvSpPr>
          <p:cNvPr id="17" name="TextBox 50"/>
          <p:cNvSpPr/>
          <p:nvPr/>
        </p:nvSpPr>
        <p:spPr>
          <a:xfrm>
            <a:off x="5038725" y="2299970"/>
            <a:ext cx="2498090" cy="15557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215"/>
              </a:lnSpc>
              <a:buNone/>
            </a:pPr>
            <a:r>
              <a:rPr lang="en-US" sz="810" dirty="0">
                <a:solidFill>
                  <a:srgbClr val="5A656D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用人类偏好校准"好 vs 坏"——</a:t>
            </a:r>
            <a:r>
              <a:rPr lang="en-US" sz="810" b="1" dirty="0">
                <a:solidFill>
                  <a:srgbClr val="5A656D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学会答得令人满意</a:t>
            </a:r>
            <a:endParaRPr lang="en-US" sz="810" dirty="0"/>
          </a:p>
        </p:txBody>
      </p:sp>
      <p:sp>
        <p:nvSpPr>
          <p:cNvPr id="18" name="TextBox 56"/>
          <p:cNvSpPr/>
          <p:nvPr/>
        </p:nvSpPr>
        <p:spPr>
          <a:xfrm>
            <a:off x="4657725" y="2506935"/>
            <a:ext cx="266700" cy="182873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r">
              <a:lnSpc>
                <a:spcPts val="1485"/>
              </a:lnSpc>
              <a:buNone/>
            </a:pPr>
            <a:r>
              <a:rPr lang="en-US" sz="1235" b="1" dirty="0">
                <a:solidFill>
                  <a:srgbClr val="299236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3</a:t>
            </a:r>
            <a:endParaRPr lang="en-US" sz="1235" dirty="0"/>
          </a:p>
        </p:txBody>
      </p:sp>
      <p:sp>
        <p:nvSpPr>
          <p:cNvPr id="19" name="TextBox 60"/>
          <p:cNvSpPr/>
          <p:nvPr/>
        </p:nvSpPr>
        <p:spPr>
          <a:xfrm>
            <a:off x="5038725" y="2506935"/>
            <a:ext cx="2200275" cy="185737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505"/>
              </a:lnSpc>
              <a:buNone/>
            </a:pPr>
            <a:r>
              <a:rPr lang="en-US" sz="1005" b="1" dirty="0">
                <a:solidFill>
                  <a:srgbClr val="121C23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RLVR（可验证奖励强化学习）</a:t>
            </a:r>
            <a:endParaRPr lang="en-US" sz="1005" dirty="0"/>
          </a:p>
        </p:txBody>
      </p:sp>
      <p:sp>
        <p:nvSpPr>
          <p:cNvPr id="20" name="TextBox 62"/>
          <p:cNvSpPr/>
          <p:nvPr/>
        </p:nvSpPr>
        <p:spPr>
          <a:xfrm>
            <a:off x="5038725" y="2720975"/>
            <a:ext cx="2498090" cy="15557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215"/>
              </a:lnSpc>
              <a:buNone/>
            </a:pPr>
            <a:r>
              <a:rPr lang="en-US" sz="810" dirty="0">
                <a:solidFill>
                  <a:srgbClr val="5A656D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用客观可验证信号推动推理——</a:t>
            </a:r>
            <a:r>
              <a:rPr lang="en-US" sz="810" b="1" dirty="0">
                <a:solidFill>
                  <a:srgbClr val="5A656D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学会自己检查答案</a:t>
            </a:r>
            <a:endParaRPr lang="en-US" sz="810" dirty="0"/>
          </a:p>
        </p:txBody>
      </p:sp>
      <p:sp>
        <p:nvSpPr>
          <p:cNvPr id="21" name="TextBox 71"/>
          <p:cNvSpPr/>
          <p:nvPr/>
        </p:nvSpPr>
        <p:spPr>
          <a:xfrm>
            <a:off x="476250" y="2966517"/>
            <a:ext cx="8191500" cy="100012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810"/>
              </a:lnSpc>
              <a:buNone/>
            </a:pPr>
            <a:r>
              <a:rPr lang="en-US" sz="540" kern="0" spc="43" dirty="0">
                <a:solidFill>
                  <a:srgbClr val="299236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KARPATHY 的三段类比：从学生到专家</a:t>
            </a:r>
            <a:endParaRPr lang="en-US" sz="540" dirty="0"/>
          </a:p>
        </p:txBody>
      </p:sp>
      <p:sp>
        <p:nvSpPr>
          <p:cNvPr id="22" name="Shape 75"/>
          <p:cNvSpPr/>
          <p:nvPr/>
        </p:nvSpPr>
        <p:spPr>
          <a:xfrm>
            <a:off x="476250" y="3123679"/>
            <a:ext cx="2512330" cy="595313"/>
          </a:xfrm>
          <a:prstGeom prst="roundRect">
            <a:avLst>
              <a:gd name="adj" fmla="val 4942"/>
            </a:avLst>
          </a:prstGeom>
          <a:solidFill>
            <a:srgbClr val="FFFFFF"/>
          </a:solidFill>
          <a:ln w="4903">
            <a:solidFill>
              <a:srgbClr val="D9DFE3"/>
            </a:solidFill>
            <a:prstDash val="solid"/>
          </a:ln>
        </p:spPr>
      </p:sp>
      <p:sp>
        <p:nvSpPr>
          <p:cNvPr id="23" name="TextBox 77"/>
          <p:cNvSpPr/>
          <p:nvPr/>
        </p:nvSpPr>
        <p:spPr>
          <a:xfrm>
            <a:off x="585787" y="3214167"/>
            <a:ext cx="2293255" cy="100012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810"/>
              </a:lnSpc>
              <a:buNone/>
            </a:pPr>
            <a:r>
              <a:rPr lang="en-US" sz="540" kern="0" spc="32" dirty="0">
                <a:solidFill>
                  <a:srgbClr val="299236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预训练</a:t>
            </a:r>
            <a:endParaRPr lang="en-US" sz="540" dirty="0"/>
          </a:p>
        </p:txBody>
      </p:sp>
      <p:sp>
        <p:nvSpPr>
          <p:cNvPr id="24" name="TextBox 79"/>
          <p:cNvSpPr/>
          <p:nvPr/>
        </p:nvSpPr>
        <p:spPr>
          <a:xfrm>
            <a:off x="585787" y="3333229"/>
            <a:ext cx="2293255" cy="16319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275"/>
              </a:lnSpc>
              <a:buNone/>
            </a:pPr>
            <a:r>
              <a:rPr lang="zh-CN" altLang="en-US" sz="850" dirty="0"/>
              <a:t>记忆</a:t>
            </a:r>
            <a:r>
              <a:rPr lang="en-US" altLang="zh-CN" sz="850" dirty="0"/>
              <a:t>,</a:t>
            </a:r>
            <a:r>
              <a:rPr lang="zh-CN" altLang="en-US" sz="850" dirty="0"/>
              <a:t>背诵</a:t>
            </a:r>
            <a:endParaRPr lang="zh-CN" altLang="en-US" sz="850" dirty="0"/>
          </a:p>
        </p:txBody>
      </p:sp>
      <p:sp>
        <p:nvSpPr>
          <p:cNvPr id="25" name="TextBox 81"/>
          <p:cNvSpPr/>
          <p:nvPr/>
        </p:nvSpPr>
        <p:spPr>
          <a:xfrm>
            <a:off x="585787" y="3499917"/>
            <a:ext cx="2293255" cy="128587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040"/>
              </a:lnSpc>
              <a:buNone/>
            </a:pPr>
            <a:r>
              <a:rPr lang="en-US" sz="695" dirty="0">
                <a:solidFill>
                  <a:srgbClr val="5A656D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大量暴露于文本，积累知识</a:t>
            </a:r>
            <a:endParaRPr lang="en-US" sz="695" dirty="0"/>
          </a:p>
        </p:txBody>
      </p:sp>
      <p:sp>
        <p:nvSpPr>
          <p:cNvPr id="26" name="TextBox 84"/>
          <p:cNvSpPr/>
          <p:nvPr/>
        </p:nvSpPr>
        <p:spPr>
          <a:xfrm>
            <a:off x="3102880" y="3123679"/>
            <a:ext cx="98636" cy="595313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marL="0" indent="0" algn="l">
              <a:lnSpc>
                <a:spcPts val="1390"/>
              </a:lnSpc>
              <a:buNone/>
            </a:pPr>
            <a:r>
              <a:rPr lang="en-US" sz="925" dirty="0">
                <a:solidFill>
                  <a:srgbClr val="299236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→</a:t>
            </a:r>
            <a:endParaRPr lang="en-US" sz="925" dirty="0"/>
          </a:p>
        </p:txBody>
      </p:sp>
      <p:sp>
        <p:nvSpPr>
          <p:cNvPr id="27" name="Shape 86"/>
          <p:cNvSpPr/>
          <p:nvPr/>
        </p:nvSpPr>
        <p:spPr>
          <a:xfrm>
            <a:off x="3315816" y="3123679"/>
            <a:ext cx="2512368" cy="595313"/>
          </a:xfrm>
          <a:prstGeom prst="roundRect">
            <a:avLst>
              <a:gd name="adj" fmla="val 4942"/>
            </a:avLst>
          </a:prstGeom>
          <a:solidFill>
            <a:srgbClr val="FFFFFF"/>
          </a:solidFill>
          <a:ln w="4903">
            <a:solidFill>
              <a:srgbClr val="D9DFE3"/>
            </a:solidFill>
            <a:prstDash val="solid"/>
          </a:ln>
        </p:spPr>
      </p:sp>
      <p:sp>
        <p:nvSpPr>
          <p:cNvPr id="28" name="TextBox 88"/>
          <p:cNvSpPr/>
          <p:nvPr/>
        </p:nvSpPr>
        <p:spPr>
          <a:xfrm>
            <a:off x="3425354" y="3214167"/>
            <a:ext cx="2293292" cy="100012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810"/>
              </a:lnSpc>
              <a:buNone/>
            </a:pPr>
            <a:r>
              <a:rPr lang="en-US" sz="540" kern="0" spc="32" dirty="0">
                <a:solidFill>
                  <a:srgbClr val="299236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SFT</a:t>
            </a:r>
            <a:endParaRPr lang="en-US" sz="540" dirty="0"/>
          </a:p>
        </p:txBody>
      </p:sp>
      <p:sp>
        <p:nvSpPr>
          <p:cNvPr id="29" name="TextBox 90"/>
          <p:cNvSpPr/>
          <p:nvPr/>
        </p:nvSpPr>
        <p:spPr>
          <a:xfrm>
            <a:off x="3425354" y="3333229"/>
            <a:ext cx="2293292" cy="157162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275"/>
              </a:lnSpc>
              <a:buNone/>
            </a:pPr>
            <a:r>
              <a:rPr lang="en-US" sz="850" b="1" dirty="0">
                <a:solidFill>
                  <a:srgbClr val="121C23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看例题</a:t>
            </a:r>
            <a:endParaRPr lang="en-US" sz="850" dirty="0"/>
          </a:p>
        </p:txBody>
      </p:sp>
      <p:sp>
        <p:nvSpPr>
          <p:cNvPr id="30" name="TextBox 92"/>
          <p:cNvSpPr/>
          <p:nvPr/>
        </p:nvSpPr>
        <p:spPr>
          <a:xfrm>
            <a:off x="3425989" y="3509442"/>
            <a:ext cx="2293292" cy="13335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040"/>
              </a:lnSpc>
              <a:buNone/>
            </a:pPr>
            <a:r>
              <a:rPr lang="en-US" sz="695" dirty="0">
                <a:solidFill>
                  <a:srgbClr val="5A656D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模仿</a:t>
            </a:r>
            <a:r>
              <a:rPr lang="zh-CN" altLang="en-US" sz="695" dirty="0">
                <a:solidFill>
                  <a:srgbClr val="5A656D"/>
                </a:solidFill>
                <a:latin typeface="Segoe UI" panose="020B0502040204020203" pitchFamily="34" charset="0"/>
                <a:ea typeface="宋体" panose="02010600030101010101" pitchFamily="2" charset="-122"/>
                <a:cs typeface="Segoe UI" panose="020B0502040204020203" pitchFamily="34" charset="-120"/>
              </a:rPr>
              <a:t>人类标注员</a:t>
            </a:r>
            <a:r>
              <a:rPr lang="en-US" sz="695" dirty="0">
                <a:solidFill>
                  <a:srgbClr val="5A656D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的解题步骤</a:t>
            </a:r>
            <a:endParaRPr lang="en-US" sz="695" dirty="0"/>
          </a:p>
        </p:txBody>
      </p:sp>
      <p:sp>
        <p:nvSpPr>
          <p:cNvPr id="31" name="TextBox 95"/>
          <p:cNvSpPr/>
          <p:nvPr/>
        </p:nvSpPr>
        <p:spPr>
          <a:xfrm>
            <a:off x="5942484" y="3123679"/>
            <a:ext cx="98636" cy="595313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marL="0" indent="0" algn="l">
              <a:lnSpc>
                <a:spcPts val="1390"/>
              </a:lnSpc>
              <a:buNone/>
            </a:pPr>
            <a:r>
              <a:rPr lang="en-US" sz="925" dirty="0">
                <a:solidFill>
                  <a:srgbClr val="299236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→</a:t>
            </a:r>
            <a:endParaRPr lang="en-US" sz="925" dirty="0"/>
          </a:p>
        </p:txBody>
      </p:sp>
      <p:sp>
        <p:nvSpPr>
          <p:cNvPr id="32" name="Shape 97"/>
          <p:cNvSpPr/>
          <p:nvPr/>
        </p:nvSpPr>
        <p:spPr>
          <a:xfrm>
            <a:off x="6155419" y="3123679"/>
            <a:ext cx="2512330" cy="595313"/>
          </a:xfrm>
          <a:prstGeom prst="roundRect">
            <a:avLst>
              <a:gd name="adj" fmla="val 4942"/>
            </a:avLst>
          </a:prstGeom>
          <a:solidFill>
            <a:srgbClr val="FFFFFF"/>
          </a:solidFill>
          <a:ln w="4903">
            <a:solidFill>
              <a:srgbClr val="D9DFE3"/>
            </a:solidFill>
            <a:prstDash val="solid"/>
          </a:ln>
        </p:spPr>
      </p:sp>
      <p:sp>
        <p:nvSpPr>
          <p:cNvPr id="33" name="TextBox 99"/>
          <p:cNvSpPr/>
          <p:nvPr/>
        </p:nvSpPr>
        <p:spPr>
          <a:xfrm>
            <a:off x="6264957" y="3214167"/>
            <a:ext cx="2293255" cy="100012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810"/>
              </a:lnSpc>
              <a:buNone/>
            </a:pPr>
            <a:r>
              <a:rPr lang="en-US" sz="540" kern="0" spc="32" dirty="0">
                <a:solidFill>
                  <a:srgbClr val="299236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RL / RLHF / RLVR</a:t>
            </a:r>
            <a:endParaRPr lang="en-US" sz="540" dirty="0"/>
          </a:p>
        </p:txBody>
      </p:sp>
      <p:sp>
        <p:nvSpPr>
          <p:cNvPr id="34" name="TextBox 101"/>
          <p:cNvSpPr/>
          <p:nvPr/>
        </p:nvSpPr>
        <p:spPr>
          <a:xfrm>
            <a:off x="6264957" y="3333229"/>
            <a:ext cx="2293255" cy="157162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275"/>
              </a:lnSpc>
              <a:buNone/>
            </a:pPr>
            <a:r>
              <a:rPr lang="en-US" sz="850" b="1" dirty="0">
                <a:solidFill>
                  <a:srgbClr val="121C23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做练习题</a:t>
            </a:r>
            <a:endParaRPr lang="en-US" sz="850" dirty="0"/>
          </a:p>
        </p:txBody>
      </p:sp>
      <p:sp>
        <p:nvSpPr>
          <p:cNvPr id="35" name="TextBox 103"/>
          <p:cNvSpPr/>
          <p:nvPr/>
        </p:nvSpPr>
        <p:spPr>
          <a:xfrm>
            <a:off x="6264957" y="3499917"/>
            <a:ext cx="2293255" cy="128587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040"/>
              </a:lnSpc>
              <a:buNone/>
            </a:pPr>
            <a:r>
              <a:rPr lang="en-US" sz="695" dirty="0">
                <a:solidFill>
                  <a:srgbClr val="5A656D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试错 + 反馈 → 自主发现策略</a:t>
            </a:r>
            <a:endParaRPr lang="en-US" sz="695" dirty="0"/>
          </a:p>
        </p:txBody>
      </p:sp>
      <p:sp>
        <p:nvSpPr>
          <p:cNvPr id="36" name="Shape 108"/>
          <p:cNvSpPr/>
          <p:nvPr/>
        </p:nvSpPr>
        <p:spPr>
          <a:xfrm>
            <a:off x="476250" y="3814242"/>
            <a:ext cx="8191500" cy="476250"/>
          </a:xfrm>
          <a:prstGeom prst="roundRect">
            <a:avLst>
              <a:gd name="adj" fmla="val 6177"/>
            </a:avLst>
          </a:prstGeom>
          <a:solidFill>
            <a:srgbClr val="FFFFFF"/>
          </a:solidFill>
        </p:spPr>
      </p:sp>
      <p:pic>
        <p:nvPicPr>
          <p:cNvPr id="37" name="Picture 108" descr="__type_image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76250" y="3814242"/>
            <a:ext cx="8191500" cy="476250"/>
          </a:xfrm>
          <a:prstGeom prst="rect">
            <a:avLst/>
          </a:prstGeom>
        </p:spPr>
      </p:pic>
      <p:sp>
        <p:nvSpPr>
          <p:cNvPr id="38" name="TextBox 110"/>
          <p:cNvSpPr/>
          <p:nvPr/>
        </p:nvSpPr>
        <p:spPr>
          <a:xfrm>
            <a:off x="647700" y="3904729"/>
            <a:ext cx="7862888" cy="30607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195"/>
              </a:lnSpc>
              <a:buNone/>
            </a:pPr>
            <a:r>
              <a:rPr lang="en-US" sz="770" b="1" dirty="0">
                <a:solidFill>
                  <a:srgbClr val="121C23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关键数据：</a:t>
            </a:r>
            <a:r>
              <a:rPr lang="en-US" sz="770" dirty="0">
                <a:solidFill>
                  <a:srgbClr val="121C23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InstructGPT 论文证明，仅 1.3B 参数的instructGPT</a:t>
            </a:r>
            <a:r>
              <a:rPr lang="zh-CN" altLang="en-US" sz="770" dirty="0">
                <a:solidFill>
                  <a:srgbClr val="121C23"/>
                </a:solidFill>
                <a:latin typeface="Segoe UI" panose="020B0502040204020203" pitchFamily="34" charset="0"/>
                <a:ea typeface="宋体" panose="02010600030101010101" pitchFamily="2" charset="-122"/>
                <a:cs typeface="Segoe UI" panose="020B0502040204020203" pitchFamily="34" charset="-120"/>
              </a:rPr>
              <a:t>模型在后训练</a:t>
            </a:r>
            <a:r>
              <a:rPr lang="en-US" sz="770" b="1" dirty="0">
                <a:solidFill>
                  <a:srgbClr val="121C23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对齐后,</a:t>
            </a:r>
            <a:r>
              <a:rPr lang="zh-CN" altLang="en-US" sz="770" b="1" dirty="0">
                <a:solidFill>
                  <a:srgbClr val="121C23"/>
                </a:solidFill>
                <a:latin typeface="Segoe UI" panose="020B0502040204020203" pitchFamily="34" charset="0"/>
                <a:ea typeface="宋体" panose="02010600030101010101" pitchFamily="2" charset="-122"/>
                <a:cs typeface="Segoe UI" panose="020B0502040204020203" pitchFamily="34" charset="-120"/>
              </a:rPr>
              <a:t>该</a:t>
            </a:r>
            <a:r>
              <a:rPr lang="en-US" sz="770" b="1" dirty="0">
                <a:solidFill>
                  <a:srgbClr val="121C23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模型</a:t>
            </a:r>
            <a:r>
              <a:rPr lang="en-US" sz="770" dirty="0">
                <a:solidFill>
                  <a:srgbClr val="121C23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在人类评估中击败了 175B </a:t>
            </a:r>
            <a:r>
              <a:rPr lang="zh-CN" altLang="en-US" sz="770" dirty="0">
                <a:solidFill>
                  <a:srgbClr val="121C23"/>
                </a:solidFill>
                <a:latin typeface="Segoe UI" panose="020B0502040204020203" pitchFamily="34" charset="0"/>
                <a:ea typeface="宋体" panose="02010600030101010101" pitchFamily="2" charset="-122"/>
                <a:cs typeface="Segoe UI" panose="020B0502040204020203" pitchFamily="34" charset="-120"/>
              </a:rPr>
              <a:t>参数</a:t>
            </a:r>
            <a:r>
              <a:rPr lang="en-US" sz="770" dirty="0">
                <a:solidFill>
                  <a:srgbClr val="121C23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的原始 GPT-3——后训练比模型规模更能决定"好不好用"。幻觉率从 </a:t>
            </a:r>
            <a:r>
              <a:rPr lang="en-US" sz="770" b="1" dirty="0">
                <a:solidFill>
                  <a:srgbClr val="121C23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41% → 21%</a:t>
            </a:r>
            <a:r>
              <a:rPr lang="en-US" sz="770" dirty="0">
                <a:solidFill>
                  <a:srgbClr val="121C23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，毒性显著降低。后训练的性价比远超继续扩大预训练。</a:t>
            </a:r>
            <a:endParaRPr lang="en-US" sz="770" dirty="0"/>
          </a:p>
        </p:txBody>
      </p:sp>
      <p:pic>
        <p:nvPicPr>
          <p:cNvPr id="39" name="Picture 114" descr="__type_image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76250" y="4819650"/>
            <a:ext cx="8191500" cy="171450"/>
          </a:xfrm>
          <a:prstGeom prst="rect">
            <a:avLst/>
          </a:prstGeom>
        </p:spPr>
      </p:pic>
      <p:sp>
        <p:nvSpPr>
          <p:cNvPr id="40" name="TextBox 114"/>
          <p:cNvSpPr/>
          <p:nvPr/>
        </p:nvSpPr>
        <p:spPr>
          <a:xfrm>
            <a:off x="476250" y="4819650"/>
            <a:ext cx="8191500" cy="171450"/>
          </a:xfrm>
          <a:prstGeom prst="rect">
            <a:avLst/>
          </a:prstGeom>
          <a:noFill/>
        </p:spPr>
        <p:txBody>
          <a:bodyPr wrap="square" lIns="0" tIns="68645" rIns="0" bIns="0" rtlCol="0" anchor="t">
            <a:spAutoFit/>
          </a:bodyPr>
          <a:lstStyle/>
          <a:p>
            <a:pPr marL="0" indent="0" algn="l">
              <a:lnSpc>
                <a:spcPts val="810"/>
              </a:lnSpc>
              <a:buNone/>
            </a:pPr>
            <a:r>
              <a:rPr lang="en-US" sz="540" kern="0" spc="22" dirty="0">
                <a:solidFill>
                  <a:srgbClr val="5A656D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后训练不是在"调参"——它在塑造模型的</a:t>
            </a:r>
            <a:r>
              <a:rPr lang="en-US" sz="540" b="1" kern="0" spc="22" dirty="0">
                <a:solidFill>
                  <a:srgbClr val="5A656D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性格</a:t>
            </a:r>
            <a:r>
              <a:rPr lang="en-US" sz="540" kern="0" spc="22" dirty="0">
                <a:solidFill>
                  <a:srgbClr val="5A656D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和</a:t>
            </a:r>
            <a:r>
              <a:rPr lang="en-US" sz="540" b="1" kern="0" spc="22" dirty="0">
                <a:solidFill>
                  <a:srgbClr val="5A656D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认知风格</a:t>
            </a:r>
            <a:r>
              <a:rPr lang="en-US" sz="540" kern="0" spc="22" dirty="0">
                <a:solidFill>
                  <a:srgbClr val="5A656D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| 参考：InstructGPT (arXiv:2203.02155), Karpathy Deep Dive into LLMs</a:t>
            </a:r>
            <a:endParaRPr lang="en-US" sz="54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6F9FC"/>
          </a:solidFill>
        </p:spPr>
      </p:sp>
      <p:sp>
        <p:nvSpPr>
          <p:cNvPr id="3" name="Shape 2"/>
          <p:cNvSpPr/>
          <p:nvPr/>
        </p:nvSpPr>
        <p:spPr>
          <a:xfrm>
            <a:off x="0" y="57150"/>
            <a:ext cx="9144000" cy="5143500"/>
          </a:xfrm>
          <a:prstGeom prst="rect">
            <a:avLst/>
          </a:prstGeom>
          <a:solidFill>
            <a:srgbClr val="F6F9FC"/>
          </a:solidFill>
        </p:spPr>
      </p:sp>
      <p:pic>
        <p:nvPicPr>
          <p:cNvPr id="4" name="Picture 4" descr="__type_image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76250" y="381000"/>
            <a:ext cx="8191500" cy="390525"/>
          </a:xfrm>
          <a:prstGeom prst="rect">
            <a:avLst/>
          </a:prstGeom>
        </p:spPr>
      </p:pic>
      <p:sp>
        <p:nvSpPr>
          <p:cNvPr id="5" name="TextBox 4"/>
          <p:cNvSpPr/>
          <p:nvPr/>
        </p:nvSpPr>
        <p:spPr>
          <a:xfrm>
            <a:off x="476250" y="381000"/>
            <a:ext cx="8191500" cy="390525"/>
          </a:xfrm>
          <a:prstGeom prst="rect">
            <a:avLst/>
          </a:prstGeom>
          <a:noFill/>
        </p:spPr>
        <p:txBody>
          <a:bodyPr wrap="square" lIns="0" tIns="0" rIns="0" bIns="98065" rtlCol="0" anchor="t">
            <a:spAutoFit/>
          </a:bodyPr>
          <a:lstStyle/>
          <a:p>
            <a:pPr marL="0" indent="0" algn="l">
              <a:lnSpc>
                <a:spcPts val="2315"/>
              </a:lnSpc>
              <a:buNone/>
            </a:pPr>
            <a:r>
              <a:rPr lang="en-US" sz="1545" b="1" kern="0" spc="-23" dirty="0">
                <a:solidFill>
                  <a:srgbClr val="121C23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SFT（监督微调）做了什么？</a:t>
            </a:r>
            <a:endParaRPr lang="en-US" sz="1545" dirty="0"/>
          </a:p>
        </p:txBody>
      </p:sp>
      <p:sp>
        <p:nvSpPr>
          <p:cNvPr id="6" name="Shape 8"/>
          <p:cNvSpPr/>
          <p:nvPr/>
        </p:nvSpPr>
        <p:spPr>
          <a:xfrm>
            <a:off x="476250" y="1000125"/>
            <a:ext cx="8191500" cy="768623"/>
          </a:xfrm>
          <a:prstGeom prst="roundRect">
            <a:avLst>
              <a:gd name="adj" fmla="val 3828"/>
            </a:avLst>
          </a:prstGeom>
          <a:solidFill>
            <a:srgbClr val="FFFFFF"/>
          </a:solidFill>
        </p:spPr>
      </p:sp>
      <p:pic>
        <p:nvPicPr>
          <p:cNvPr id="7" name="Picture 8" descr="__type_image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76250" y="1000125"/>
            <a:ext cx="8191500" cy="768623"/>
          </a:xfrm>
          <a:prstGeom prst="rect">
            <a:avLst/>
          </a:prstGeom>
        </p:spPr>
      </p:pic>
      <p:sp>
        <p:nvSpPr>
          <p:cNvPr id="8" name="TextBox 10"/>
          <p:cNvSpPr/>
          <p:nvPr/>
        </p:nvSpPr>
        <p:spPr>
          <a:xfrm>
            <a:off x="666750" y="1138237"/>
            <a:ext cx="7824788" cy="100013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810"/>
              </a:lnSpc>
              <a:buNone/>
            </a:pPr>
            <a:r>
              <a:rPr lang="en-US" sz="540" kern="0" spc="43" dirty="0">
                <a:solidFill>
                  <a:srgbClr val="299236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定义</a:t>
            </a:r>
            <a:endParaRPr lang="en-US" sz="540" dirty="0"/>
          </a:p>
        </p:txBody>
      </p:sp>
      <p:sp>
        <p:nvSpPr>
          <p:cNvPr id="9" name="TextBox 12"/>
          <p:cNvSpPr/>
          <p:nvPr/>
        </p:nvSpPr>
        <p:spPr>
          <a:xfrm>
            <a:off x="666750" y="1276350"/>
            <a:ext cx="7824788" cy="35428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435"/>
              </a:lnSpc>
              <a:buNone/>
            </a:pPr>
            <a:r>
              <a:rPr lang="en-US" sz="925" b="1" dirty="0">
                <a:solidFill>
                  <a:srgbClr val="121C23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Supervised Fine-Tuning</a:t>
            </a:r>
            <a:r>
              <a:rPr lang="en-US" sz="925" dirty="0">
                <a:solidFill>
                  <a:srgbClr val="121C23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：在预训练基座模型上，用高质量</a:t>
            </a:r>
            <a:r>
              <a:rPr lang="en-US" sz="925" b="1" dirty="0">
                <a:solidFill>
                  <a:srgbClr val="121C23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（指令, 标准答案）</a:t>
            </a:r>
            <a:r>
              <a:rPr lang="en-US" sz="925" dirty="0">
                <a:solidFill>
                  <a:srgbClr val="121C23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对进行有监督梯度更新。输入 (prompt, target_response)，训练目标仍是下一个 token 预测，但</a:t>
            </a:r>
            <a:r>
              <a:rPr lang="en-US" sz="925" b="1" dirty="0">
                <a:solidFill>
                  <a:srgbClr val="121C23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损失只在 target_response 部分计算</a:t>
            </a:r>
            <a:r>
              <a:rPr lang="en-US" sz="925" dirty="0">
                <a:solidFill>
                  <a:srgbClr val="121C23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。本质是</a:t>
            </a:r>
            <a:r>
              <a:rPr lang="en-US" sz="925" b="1" dirty="0">
                <a:solidFill>
                  <a:srgbClr val="121C23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行为克隆（Behavior Cloning）</a:t>
            </a:r>
            <a:r>
              <a:rPr lang="en-US" sz="925" dirty="0">
                <a:solidFill>
                  <a:srgbClr val="121C23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——模型学习"看到这样的指令，就应该给出那样的回答"。</a:t>
            </a:r>
            <a:endParaRPr lang="en-US" sz="925" dirty="0"/>
          </a:p>
        </p:txBody>
      </p:sp>
      <p:sp>
        <p:nvSpPr>
          <p:cNvPr id="10" name="TextBox 19"/>
          <p:cNvSpPr/>
          <p:nvPr/>
        </p:nvSpPr>
        <p:spPr>
          <a:xfrm>
            <a:off x="476250" y="1863998"/>
            <a:ext cx="4010025" cy="100012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810"/>
              </a:lnSpc>
              <a:buNone/>
            </a:pPr>
            <a:r>
              <a:rPr lang="en-US" sz="540" kern="0" spc="43" dirty="0">
                <a:solidFill>
                  <a:srgbClr val="299236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SFT 教会了模型什么？</a:t>
            </a:r>
            <a:endParaRPr lang="en-US" sz="540" dirty="0"/>
          </a:p>
        </p:txBody>
      </p:sp>
      <p:sp>
        <p:nvSpPr>
          <p:cNvPr id="11" name="TextBox 21"/>
          <p:cNvSpPr/>
          <p:nvPr/>
        </p:nvSpPr>
        <p:spPr>
          <a:xfrm>
            <a:off x="476250" y="2078310"/>
            <a:ext cx="4010025" cy="920316"/>
          </a:xfrm>
          <a:prstGeom prst="rect">
            <a:avLst/>
          </a:prstGeom>
          <a:noFill/>
        </p:spPr>
        <p:txBody>
          <a:bodyPr wrap="square" lIns="0" tIns="117678" rIns="0" bIns="0" rtlCol="0" anchor="t">
            <a:spAutoFit/>
          </a:bodyPr>
          <a:lstStyle/>
          <a:p>
            <a:pPr marL="0" indent="0" algn="l">
              <a:lnSpc>
                <a:spcPts val="1340"/>
              </a:lnSpc>
              <a:buSzPct val="100000"/>
              <a:buChar char="•"/>
            </a:pPr>
            <a:r>
              <a:rPr lang="en-US" sz="810" dirty="0">
                <a:solidFill>
                  <a:srgbClr val="121C23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​</a:t>
            </a:r>
            <a:r>
              <a:rPr lang="en-US" sz="810" dirty="0">
                <a:solidFill>
                  <a:srgbClr val="121C23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对话的</a:t>
            </a:r>
            <a:r>
              <a:rPr lang="en-US" sz="810" b="1" dirty="0">
                <a:solidFill>
                  <a:srgbClr val="121C23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格式</a:t>
            </a:r>
            <a:r>
              <a:rPr lang="en-US" sz="810" dirty="0">
                <a:solidFill>
                  <a:srgbClr val="121C23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（user / assistant 交替）</a:t>
            </a:r>
            <a:endParaRPr lang="en-US" sz="810" dirty="0"/>
          </a:p>
          <a:p>
            <a:pPr marL="0" indent="0" algn="l">
              <a:lnSpc>
                <a:spcPts val="1340"/>
              </a:lnSpc>
              <a:buSzPct val="100000"/>
              <a:buChar char="•"/>
            </a:pPr>
            <a:r>
              <a:rPr lang="en-US" sz="810" b="1" dirty="0">
                <a:solidFill>
                  <a:srgbClr val="121C23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​</a:t>
            </a:r>
            <a:r>
              <a:rPr lang="en-US" sz="810" b="1" dirty="0">
                <a:solidFill>
                  <a:srgbClr val="121C23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"遵循指令"</a:t>
            </a:r>
            <a:r>
              <a:rPr lang="en-US" sz="810" dirty="0">
                <a:solidFill>
                  <a:srgbClr val="121C23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的基本姿态</a:t>
            </a:r>
            <a:endParaRPr lang="en-US" sz="810" dirty="0"/>
          </a:p>
          <a:p>
            <a:pPr marL="0" indent="0" algn="l">
              <a:lnSpc>
                <a:spcPts val="1340"/>
              </a:lnSpc>
              <a:buSzPct val="100000"/>
              <a:buChar char="•"/>
            </a:pPr>
            <a:r>
              <a:rPr lang="en-US" sz="810" dirty="0">
                <a:solidFill>
                  <a:srgbClr val="121C23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​</a:t>
            </a:r>
            <a:r>
              <a:rPr lang="en-US" sz="810" dirty="0">
                <a:solidFill>
                  <a:srgbClr val="121C23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拒绝回答不恰当问题的</a:t>
            </a:r>
            <a:r>
              <a:rPr lang="en-US" sz="810" b="1" dirty="0">
                <a:solidFill>
                  <a:srgbClr val="121C23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边界感</a:t>
            </a:r>
            <a:endParaRPr lang="en-US" sz="810" dirty="0"/>
          </a:p>
          <a:p>
            <a:pPr marL="0" indent="0" algn="l">
              <a:lnSpc>
                <a:spcPts val="1340"/>
              </a:lnSpc>
              <a:buSzPct val="100000"/>
              <a:buChar char="•"/>
            </a:pPr>
            <a:r>
              <a:rPr lang="en-US" sz="810" dirty="0">
                <a:solidFill>
                  <a:srgbClr val="121C23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​</a:t>
            </a:r>
            <a:r>
              <a:rPr lang="en-US" sz="810" dirty="0">
                <a:solidFill>
                  <a:srgbClr val="121C23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使用 Markdown、代码块等</a:t>
            </a:r>
            <a:r>
              <a:rPr lang="en-US" sz="810" b="1" dirty="0">
                <a:solidFill>
                  <a:srgbClr val="121C23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格式化</a:t>
            </a:r>
            <a:r>
              <a:rPr lang="en-US" sz="810" dirty="0">
                <a:solidFill>
                  <a:srgbClr val="121C23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能力</a:t>
            </a:r>
            <a:endParaRPr lang="en-US" sz="810" dirty="0"/>
          </a:p>
          <a:p>
            <a:pPr marL="0" indent="0" algn="l">
              <a:lnSpc>
                <a:spcPts val="1340"/>
              </a:lnSpc>
              <a:buSzPct val="100000"/>
              <a:buChar char="•"/>
            </a:pPr>
            <a:r>
              <a:rPr lang="en-US" sz="810" dirty="0">
                <a:solidFill>
                  <a:srgbClr val="121C23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​</a:t>
            </a:r>
            <a:r>
              <a:rPr lang="en-US" sz="810" dirty="0">
                <a:solidFill>
                  <a:srgbClr val="121C23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塑造模型的</a:t>
            </a:r>
            <a:r>
              <a:rPr lang="en-US" sz="810" b="1" dirty="0">
                <a:solidFill>
                  <a:srgbClr val="121C23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身份认同</a:t>
            </a:r>
            <a:r>
              <a:rPr lang="en-US" sz="810" dirty="0">
                <a:solidFill>
                  <a:srgbClr val="121C23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和</a:t>
            </a:r>
            <a:r>
              <a:rPr lang="en-US" sz="810" b="1" dirty="0">
                <a:solidFill>
                  <a:srgbClr val="121C23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语气风格</a:t>
            </a:r>
            <a:endParaRPr lang="en-US" sz="810" dirty="0"/>
          </a:p>
        </p:txBody>
      </p:sp>
      <p:sp>
        <p:nvSpPr>
          <p:cNvPr id="12" name="TextBox 26"/>
          <p:cNvSpPr/>
          <p:nvPr/>
        </p:nvSpPr>
        <p:spPr>
          <a:xfrm>
            <a:off x="4657725" y="1863998"/>
            <a:ext cx="4010025" cy="100012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810"/>
              </a:lnSpc>
              <a:buNone/>
            </a:pPr>
            <a:r>
              <a:rPr lang="en-US" sz="540" kern="0" spc="43" dirty="0">
                <a:solidFill>
                  <a:srgbClr val="299236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INSTRUCTGPT 的 SFT 阶段关键数字</a:t>
            </a:r>
            <a:endParaRPr lang="en-US" sz="540" dirty="0"/>
          </a:p>
        </p:txBody>
      </p:sp>
      <p:graphicFrame>
        <p:nvGraphicFramePr>
          <p:cNvPr id="13" name="Table 28"/>
          <p:cNvGraphicFramePr>
            <a:graphicFrameLocks noGrp="1"/>
          </p:cNvGraphicFramePr>
          <p:nvPr/>
        </p:nvGraphicFramePr>
        <p:xfrm>
          <a:off x="4657725" y="2078310"/>
          <a:ext cx="4010025" cy="914400"/>
        </p:xfrm>
        <a:graphic>
          <a:graphicData uri="http://schemas.openxmlformats.org/drawingml/2006/table">
            <a:tbl>
              <a:tblPr/>
              <a:tblGrid>
                <a:gridCol w="637989"/>
                <a:gridCol w="3372036"/>
              </a:tblGrid>
              <a:tr h="0"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1195"/>
                        </a:lnSpc>
                        <a:buNone/>
                      </a:pPr>
                      <a:r>
                        <a:rPr lang="en-US" sz="770" b="1" dirty="0">
                          <a:solidFill>
                            <a:srgbClr val="121C23"/>
                          </a:solidFill>
                          <a:latin typeface="Segoe UI" panose="020B0502040204020203" pitchFamily="34" charset="0"/>
                          <a:ea typeface="Segoe UI" panose="020B0502040204020203" pitchFamily="34" charset="-122"/>
                          <a:cs typeface="Segoe UI" panose="020B0502040204020203" pitchFamily="34" charset="-120"/>
                        </a:rPr>
                        <a:t>标注员数量</a:t>
                      </a:r>
                      <a:endParaRPr lang="en-US" sz="770" dirty="0">
                        <a:latin typeface="Segoe UI" panose="020B0502040204020203" pitchFamily="34" charset="0"/>
                        <a:ea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63742" marR="63742" marT="34323" marB="34323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4903" cap="flat" cmpd="sng" algn="ctr">
                      <a:solidFill>
                        <a:srgbClr val="D9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1195"/>
                        </a:lnSpc>
                        <a:buNone/>
                      </a:pPr>
                      <a:r>
                        <a:rPr lang="en-US" sz="770" dirty="0">
                          <a:solidFill>
                            <a:srgbClr val="5A656D"/>
                          </a:solidFill>
                          <a:latin typeface="Segoe UI" panose="020B0502040204020203" pitchFamily="34" charset="0"/>
                          <a:ea typeface="Segoe UI" panose="020B0502040204020203" pitchFamily="34" charset="-122"/>
                          <a:cs typeface="Segoe UI" panose="020B0502040204020203" pitchFamily="34" charset="-120"/>
                        </a:rPr>
                        <a:t>经过培训的标注团队</a:t>
                      </a:r>
                      <a:endParaRPr lang="en-US" sz="770" dirty="0">
                        <a:latin typeface="Segoe UI" panose="020B0502040204020203" pitchFamily="34" charset="0"/>
                        <a:ea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63742" marR="63742" marT="34323" marB="34323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4903" cap="flat" cmpd="sng" algn="ctr">
                      <a:solidFill>
                        <a:srgbClr val="D9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1195"/>
                        </a:lnSpc>
                        <a:buNone/>
                      </a:pPr>
                      <a:r>
                        <a:rPr lang="en-US" sz="770" b="1" dirty="0">
                          <a:solidFill>
                            <a:srgbClr val="121C23"/>
                          </a:solidFill>
                          <a:latin typeface="Segoe UI" panose="020B0502040204020203" pitchFamily="34" charset="0"/>
                          <a:ea typeface="Segoe UI" panose="020B0502040204020203" pitchFamily="34" charset="-122"/>
                          <a:cs typeface="Segoe UI" panose="020B0502040204020203" pitchFamily="34" charset="-120"/>
                        </a:rPr>
                        <a:t>SFT 数据量</a:t>
                      </a:r>
                      <a:endParaRPr lang="en-US" sz="770" dirty="0">
                        <a:latin typeface="Segoe UI" panose="020B0502040204020203" pitchFamily="34" charset="0"/>
                        <a:ea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63742" marR="63742" marT="34323" marB="34323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4903" cap="flat" cmpd="sng" algn="ctr">
                      <a:solidFill>
                        <a:srgbClr val="D9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1195"/>
                        </a:lnSpc>
                        <a:buNone/>
                      </a:pPr>
                      <a:r>
                        <a:rPr lang="en-US" sz="770" dirty="0">
                          <a:solidFill>
                            <a:srgbClr val="5A656D"/>
                          </a:solidFill>
                          <a:latin typeface="Segoe UI" panose="020B0502040204020203" pitchFamily="34" charset="0"/>
                          <a:ea typeface="Segoe UI" panose="020B0502040204020203" pitchFamily="34" charset="-122"/>
                          <a:cs typeface="Segoe UI" panose="020B0502040204020203" pitchFamily="34" charset="-120"/>
                        </a:rPr>
                        <a:t>约 </a:t>
                      </a:r>
                      <a:r>
                        <a:rPr lang="en-US" sz="770" b="1" dirty="0">
                          <a:solidFill>
                            <a:srgbClr val="5A656D"/>
                          </a:solidFill>
                          <a:latin typeface="Segoe UI" panose="020B0502040204020203" pitchFamily="34" charset="0"/>
                          <a:ea typeface="Segoe UI" panose="020B0502040204020203" pitchFamily="34" charset="-122"/>
                          <a:cs typeface="Segoe UI" panose="020B0502040204020203" pitchFamily="34" charset="-120"/>
                        </a:rPr>
                        <a:t>13,000 条</a:t>
                      </a:r>
                      <a:r>
                        <a:rPr lang="en-US" sz="770" dirty="0">
                          <a:solidFill>
                            <a:srgbClr val="5A656D"/>
                          </a:solidFill>
                          <a:latin typeface="Segoe UI" panose="020B0502040204020203" pitchFamily="34" charset="0"/>
                          <a:ea typeface="Segoe UI" panose="020B0502040204020203" pitchFamily="34" charset="-122"/>
                          <a:cs typeface="Segoe UI" panose="020B0502040204020203" pitchFamily="34" charset="-120"/>
                        </a:rPr>
                        <a:t>（~11.7K 训练 + ~1.3K 验证）</a:t>
                      </a:r>
                      <a:endParaRPr lang="en-US" sz="770" dirty="0">
                        <a:latin typeface="Segoe UI" panose="020B0502040204020203" pitchFamily="34" charset="0"/>
                        <a:ea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63742" marR="63742" marT="34323" marB="34323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4903" cap="flat" cmpd="sng" algn="ctr">
                      <a:solidFill>
                        <a:srgbClr val="D9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1195"/>
                        </a:lnSpc>
                        <a:buNone/>
                      </a:pPr>
                      <a:r>
                        <a:rPr lang="en-US" sz="770" b="1" dirty="0">
                          <a:solidFill>
                            <a:srgbClr val="121C23"/>
                          </a:solidFill>
                          <a:latin typeface="Segoe UI" panose="020B0502040204020203" pitchFamily="34" charset="0"/>
                          <a:ea typeface="Segoe UI" panose="020B0502040204020203" pitchFamily="34" charset="-122"/>
                          <a:cs typeface="Segoe UI" panose="020B0502040204020203" pitchFamily="34" charset="-120"/>
                        </a:rPr>
                        <a:t>数据构成</a:t>
                      </a:r>
                      <a:endParaRPr lang="en-US" sz="770" dirty="0">
                        <a:latin typeface="Segoe UI" panose="020B0502040204020203" pitchFamily="34" charset="0"/>
                        <a:ea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63742" marR="63742" marT="34323" marB="34323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4903" cap="flat" cmpd="sng" algn="ctr">
                      <a:solidFill>
                        <a:srgbClr val="D9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1195"/>
                        </a:lnSpc>
                        <a:buNone/>
                      </a:pPr>
                      <a:r>
                        <a:rPr lang="en-US" sz="770" dirty="0">
                          <a:solidFill>
                            <a:srgbClr val="5A656D"/>
                          </a:solidFill>
                          <a:latin typeface="Segoe UI" panose="020B0502040204020203" pitchFamily="34" charset="0"/>
                          <a:ea typeface="Segoe UI" panose="020B0502040204020203" pitchFamily="34" charset="-122"/>
                          <a:cs typeface="Segoe UI" panose="020B0502040204020203" pitchFamily="34" charset="-120"/>
                        </a:rPr>
                        <a:t>标注员编写的 prompt + 来自 OpenAI API 的真实用户请求</a:t>
                      </a:r>
                      <a:endParaRPr lang="en-US" sz="770" dirty="0">
                        <a:latin typeface="Segoe UI" panose="020B0502040204020203" pitchFamily="34" charset="0"/>
                        <a:ea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63742" marR="63742" marT="34323" marB="34323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4903" cap="flat" cmpd="sng" algn="ctr">
                      <a:solidFill>
                        <a:srgbClr val="D9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1195"/>
                        </a:lnSpc>
                        <a:buNone/>
                      </a:pPr>
                      <a:r>
                        <a:rPr lang="en-US" sz="770" b="1" dirty="0">
                          <a:solidFill>
                            <a:srgbClr val="121C23"/>
                          </a:solidFill>
                          <a:latin typeface="Segoe UI" panose="020B0502040204020203" pitchFamily="34" charset="0"/>
                          <a:ea typeface="Segoe UI" panose="020B0502040204020203" pitchFamily="34" charset="-122"/>
                          <a:cs typeface="Segoe UI" panose="020B0502040204020203" pitchFamily="34" charset="-120"/>
                        </a:rPr>
                        <a:t>训练方式</a:t>
                      </a:r>
                      <a:endParaRPr lang="en-US" sz="770" dirty="0">
                        <a:latin typeface="Segoe UI" panose="020B0502040204020203" pitchFamily="34" charset="0"/>
                        <a:ea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63742" marR="63742" marT="34323" marB="34323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4903" cap="flat" cmpd="sng" algn="ctr">
                      <a:solidFill>
                        <a:srgbClr val="D9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1195"/>
                        </a:lnSpc>
                        <a:buNone/>
                      </a:pPr>
                      <a:r>
                        <a:rPr lang="en-US" sz="770" dirty="0">
                          <a:solidFill>
                            <a:srgbClr val="5A656D"/>
                          </a:solidFill>
                          <a:latin typeface="Segoe UI" panose="020B0502040204020203" pitchFamily="34" charset="0"/>
                          <a:ea typeface="Segoe UI" panose="020B0502040204020203" pitchFamily="34" charset="-122"/>
                          <a:cs typeface="Segoe UI" panose="020B0502040204020203" pitchFamily="34" charset="-120"/>
                        </a:rPr>
                        <a:t>标准 next-token prediction（交叉熵损失），仅计算回答部分的 loss</a:t>
                      </a:r>
                      <a:endParaRPr lang="en-US" sz="770" dirty="0">
                        <a:latin typeface="Segoe UI" panose="020B0502040204020203" pitchFamily="34" charset="0"/>
                        <a:ea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63742" marR="63742" marT="34323" marB="34323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4903" cap="flat" cmpd="sng" algn="ctr">
                      <a:solidFill>
                        <a:srgbClr val="D9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1195"/>
                        </a:lnSpc>
                        <a:buNone/>
                      </a:pPr>
                      <a:r>
                        <a:rPr lang="en-US" sz="770" b="1" dirty="0">
                          <a:solidFill>
                            <a:srgbClr val="121C23"/>
                          </a:solidFill>
                          <a:latin typeface="Segoe UI" panose="020B0502040204020203" pitchFamily="34" charset="0"/>
                          <a:ea typeface="Segoe UI" panose="020B0502040204020203" pitchFamily="34" charset="-122"/>
                          <a:cs typeface="Segoe UI" panose="020B0502040204020203" pitchFamily="34" charset="-120"/>
                        </a:rPr>
                        <a:t>核心限制</a:t>
                      </a:r>
                      <a:endParaRPr lang="en-US" sz="770" dirty="0">
                        <a:latin typeface="Segoe UI" panose="020B0502040204020203" pitchFamily="34" charset="0"/>
                        <a:ea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63742" marR="63742" marT="34323" marB="34323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1195"/>
                        </a:lnSpc>
                        <a:buNone/>
                      </a:pPr>
                      <a:r>
                        <a:rPr lang="en-US" sz="770" dirty="0">
                          <a:solidFill>
                            <a:srgbClr val="5A656D"/>
                          </a:solidFill>
                          <a:latin typeface="Segoe UI" panose="020B0502040204020203" pitchFamily="34" charset="0"/>
                          <a:ea typeface="Segoe UI" panose="020B0502040204020203" pitchFamily="34" charset="-122"/>
                          <a:cs typeface="Segoe UI" panose="020B0502040204020203" pitchFamily="34" charset="-120"/>
                        </a:rPr>
                        <a:t>只能模仿——无法超越标注员的水平，无法区分"好回答"和"更好的回答"</a:t>
                      </a:r>
                      <a:endParaRPr lang="en-US" sz="770" dirty="0">
                        <a:latin typeface="Segoe UI" panose="020B0502040204020203" pitchFamily="34" charset="0"/>
                        <a:ea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63742" marR="63742" marT="34323" marB="34323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id="14" name="Shape 32"/>
          <p:cNvSpPr/>
          <p:nvPr/>
        </p:nvSpPr>
        <p:spPr>
          <a:xfrm>
            <a:off x="476250" y="3216548"/>
            <a:ext cx="8191500" cy="533400"/>
          </a:xfrm>
          <a:prstGeom prst="roundRect">
            <a:avLst>
              <a:gd name="adj" fmla="val 5515"/>
            </a:avLst>
          </a:prstGeom>
          <a:solidFill>
            <a:srgbClr val="5A845A">
              <a:alpha val="12157"/>
            </a:srgbClr>
          </a:solidFill>
          <a:ln w="4903">
            <a:solidFill>
              <a:srgbClr val="5C875C">
                <a:alpha val="25098"/>
              </a:srgbClr>
            </a:solidFill>
            <a:prstDash val="solid"/>
          </a:ln>
        </p:spPr>
      </p:sp>
      <p:sp>
        <p:nvSpPr>
          <p:cNvPr id="15" name="TextBox 34"/>
          <p:cNvSpPr/>
          <p:nvPr/>
        </p:nvSpPr>
        <p:spPr>
          <a:xfrm>
            <a:off x="633412" y="3326085"/>
            <a:ext cx="7877175" cy="32639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275"/>
              </a:lnSpc>
              <a:buNone/>
            </a:pPr>
            <a:r>
              <a:rPr lang="en-US" sz="850" b="1" dirty="0">
                <a:solidFill>
                  <a:srgbClr val="121C23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关键理解：</a:t>
            </a:r>
            <a:r>
              <a:rPr lang="en-US" sz="850" dirty="0">
                <a:solidFill>
                  <a:srgbClr val="121C23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SFT 是后训练流水线的</a:t>
            </a:r>
            <a:r>
              <a:rPr lang="en-US" sz="850" b="1" dirty="0">
                <a:solidFill>
                  <a:srgbClr val="121C23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第一道"人类注入"</a:t>
            </a:r>
            <a:r>
              <a:rPr lang="en-US" sz="850" dirty="0">
                <a:solidFill>
                  <a:srgbClr val="121C23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。它用少量高质量数据快速改变模型的行为格式，但 SFT 学的是格式、姿态，而非质量判断。Karpathy 将其比作"看例题"——模仿专家给出的标准解法。SFT 的核心局限：标签员写不出比他们自己水平更高的回答，模型也无法通过模仿超越标签员。</a:t>
            </a:r>
            <a:endParaRPr lang="en-US" sz="850" dirty="0"/>
          </a:p>
        </p:txBody>
      </p:sp>
      <p:pic>
        <p:nvPicPr>
          <p:cNvPr id="16" name="Picture 38" descr="__type_image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76250" y="4819650"/>
            <a:ext cx="8191500" cy="171450"/>
          </a:xfrm>
          <a:prstGeom prst="rect">
            <a:avLst/>
          </a:prstGeom>
        </p:spPr>
      </p:pic>
      <p:sp>
        <p:nvSpPr>
          <p:cNvPr id="17" name="TextBox 38"/>
          <p:cNvSpPr/>
          <p:nvPr/>
        </p:nvSpPr>
        <p:spPr>
          <a:xfrm>
            <a:off x="476250" y="4819650"/>
            <a:ext cx="8191500" cy="171450"/>
          </a:xfrm>
          <a:prstGeom prst="rect">
            <a:avLst/>
          </a:prstGeom>
          <a:noFill/>
        </p:spPr>
        <p:txBody>
          <a:bodyPr wrap="square" lIns="0" tIns="68645" rIns="0" bIns="0" rtlCol="0" anchor="t">
            <a:spAutoFit/>
          </a:bodyPr>
          <a:lstStyle/>
          <a:p>
            <a:pPr marL="0" indent="0" algn="l">
              <a:lnSpc>
                <a:spcPts val="810"/>
              </a:lnSpc>
              <a:buNone/>
            </a:pPr>
            <a:r>
              <a:rPr lang="en-US" sz="540" kern="0" spc="22" dirty="0">
                <a:solidFill>
                  <a:srgbClr val="5A656D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SFT = 模仿学习。数据决定行为的上限，但"质量判断"需要 RLHF 来补足 | 参考：InstructGPT, arXiv:2203.02155</a:t>
            </a:r>
            <a:endParaRPr lang="en-US" sz="54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6F9FC"/>
          </a:solidFill>
        </p:spPr>
      </p:sp>
      <p:sp>
        <p:nvSpPr>
          <p:cNvPr id="3" name="Shape 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6F9FC"/>
          </a:solidFill>
        </p:spPr>
      </p:sp>
      <p:pic>
        <p:nvPicPr>
          <p:cNvPr id="4" name="Picture 4" descr="__type_image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76250" y="381000"/>
            <a:ext cx="8191500" cy="390525"/>
          </a:xfrm>
          <a:prstGeom prst="rect">
            <a:avLst/>
          </a:prstGeom>
        </p:spPr>
      </p:pic>
      <p:sp>
        <p:nvSpPr>
          <p:cNvPr id="5" name="TextBox 4"/>
          <p:cNvSpPr/>
          <p:nvPr/>
        </p:nvSpPr>
        <p:spPr>
          <a:xfrm>
            <a:off x="476250" y="381000"/>
            <a:ext cx="8191500" cy="390525"/>
          </a:xfrm>
          <a:prstGeom prst="rect">
            <a:avLst/>
          </a:prstGeom>
          <a:noFill/>
        </p:spPr>
        <p:txBody>
          <a:bodyPr wrap="square" lIns="0" tIns="0" rIns="0" bIns="98065" rtlCol="0" anchor="t">
            <a:spAutoFit/>
          </a:bodyPr>
          <a:lstStyle/>
          <a:p>
            <a:pPr marL="0" indent="0" algn="l">
              <a:lnSpc>
                <a:spcPts val="2315"/>
              </a:lnSpc>
              <a:buNone/>
            </a:pPr>
            <a:r>
              <a:rPr lang="en-US" sz="1545" b="1" kern="0" spc="-23" dirty="0">
                <a:solidFill>
                  <a:srgbClr val="121C23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SFT 数据长什么样？</a:t>
            </a:r>
            <a:endParaRPr lang="en-US" sz="1545" dirty="0"/>
          </a:p>
        </p:txBody>
      </p:sp>
      <p:sp>
        <p:nvSpPr>
          <p:cNvPr id="6" name="TextBox 12"/>
          <p:cNvSpPr/>
          <p:nvPr/>
        </p:nvSpPr>
        <p:spPr>
          <a:xfrm>
            <a:off x="476250" y="1000125"/>
            <a:ext cx="4010025" cy="100012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810"/>
              </a:lnSpc>
              <a:buNone/>
            </a:pPr>
            <a:r>
              <a:rPr lang="en-US" sz="540" kern="0" spc="43" dirty="0">
                <a:solidFill>
                  <a:srgbClr val="299236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数据样例（多轮对话格式）</a:t>
            </a:r>
            <a:endParaRPr lang="en-US" sz="540" dirty="0"/>
          </a:p>
        </p:txBody>
      </p:sp>
      <p:sp>
        <p:nvSpPr>
          <p:cNvPr id="7" name="TextBox 14"/>
          <p:cNvSpPr/>
          <p:nvPr/>
        </p:nvSpPr>
        <p:spPr>
          <a:xfrm>
            <a:off x="476250" y="1214437"/>
            <a:ext cx="4010025" cy="1782812"/>
          </a:xfrm>
          <a:prstGeom prst="roundRect">
            <a:avLst>
              <a:gd name="adj" fmla="val 2200"/>
            </a:avLst>
          </a:prstGeom>
          <a:solidFill>
            <a:srgbClr val="171B1F"/>
          </a:solidFill>
        </p:spPr>
        <p:txBody>
          <a:bodyPr wrap="square" lIns="137291" tIns="117678" rIns="137291" bIns="117678" rtlCol="0" anchor="t">
            <a:spAutoFit/>
          </a:bodyPr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655" dirty="0">
                <a:solidFill>
                  <a:srgbClr val="DBDEE1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{</a:t>
            </a:r>
            <a:endParaRPr lang="en-US" sz="655" dirty="0"/>
          </a:p>
          <a:p>
            <a:pPr marL="0" indent="0" algn="l">
              <a:lnSpc>
                <a:spcPts val="1050"/>
              </a:lnSpc>
              <a:buNone/>
            </a:pPr>
            <a:r>
              <a:rPr lang="en-US" sz="655" dirty="0">
                <a:solidFill>
                  <a:srgbClr val="DBDEE1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</a:t>
            </a:r>
            <a:r>
              <a:rPr lang="en-US" sz="655" dirty="0">
                <a:solidFill>
                  <a:srgbClr val="2ACAA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"messages"</a:t>
            </a:r>
            <a:r>
              <a:rPr lang="en-US" sz="655" dirty="0">
                <a:solidFill>
                  <a:srgbClr val="DBDEE1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: [</a:t>
            </a:r>
            <a:endParaRPr lang="en-US" sz="655" dirty="0"/>
          </a:p>
          <a:p>
            <a:pPr marL="0" indent="0" algn="l">
              <a:lnSpc>
                <a:spcPts val="1050"/>
              </a:lnSpc>
              <a:buNone/>
            </a:pPr>
            <a:r>
              <a:rPr lang="en-US" sz="655" dirty="0">
                <a:solidFill>
                  <a:srgbClr val="DBDEE1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{</a:t>
            </a:r>
            <a:r>
              <a:rPr lang="en-US" sz="655" dirty="0">
                <a:solidFill>
                  <a:srgbClr val="2ACAA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"role"</a:t>
            </a:r>
            <a:r>
              <a:rPr lang="en-US" sz="655" dirty="0">
                <a:solidFill>
                  <a:srgbClr val="DBDEE1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: </a:t>
            </a:r>
            <a:r>
              <a:rPr lang="en-US" sz="655" dirty="0">
                <a:solidFill>
                  <a:srgbClr val="A9AB4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"user"</a:t>
            </a:r>
            <a:r>
              <a:rPr lang="en-US" sz="655" dirty="0">
                <a:solidFill>
                  <a:srgbClr val="DBDEE1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,</a:t>
            </a:r>
            <a:endParaRPr lang="en-US" sz="655" dirty="0"/>
          </a:p>
          <a:p>
            <a:pPr marL="0" indent="0" algn="l">
              <a:lnSpc>
                <a:spcPts val="1050"/>
              </a:lnSpc>
              <a:buNone/>
            </a:pPr>
            <a:r>
              <a:rPr lang="en-US" sz="655" dirty="0">
                <a:solidFill>
                  <a:srgbClr val="DBDEE1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 </a:t>
            </a:r>
            <a:r>
              <a:rPr lang="en-US" sz="655" dirty="0">
                <a:solidFill>
                  <a:srgbClr val="2ACAA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"content"</a:t>
            </a:r>
            <a:r>
              <a:rPr lang="en-US" sz="655" dirty="0">
                <a:solidFill>
                  <a:srgbClr val="DBDEE1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: </a:t>
            </a:r>
            <a:r>
              <a:rPr lang="en-US" sz="655" dirty="0">
                <a:solidFill>
                  <a:srgbClr val="A9AB4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"解释牛顿第二定律"</a:t>
            </a:r>
            <a:r>
              <a:rPr lang="en-US" sz="655" dirty="0">
                <a:solidFill>
                  <a:srgbClr val="DBDEE1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},</a:t>
            </a:r>
            <a:endParaRPr lang="en-US" sz="655" dirty="0"/>
          </a:p>
          <a:p>
            <a:pPr marL="0" indent="0" algn="l">
              <a:lnSpc>
                <a:spcPts val="1050"/>
              </a:lnSpc>
              <a:buNone/>
            </a:pPr>
            <a:r>
              <a:rPr lang="en-US" sz="655" dirty="0">
                <a:solidFill>
                  <a:srgbClr val="DBDEE1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{</a:t>
            </a:r>
            <a:r>
              <a:rPr lang="en-US" sz="655" dirty="0">
                <a:solidFill>
                  <a:srgbClr val="2ACAA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"role"</a:t>
            </a:r>
            <a:r>
              <a:rPr lang="en-US" sz="655" dirty="0">
                <a:solidFill>
                  <a:srgbClr val="DBDEE1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: </a:t>
            </a:r>
            <a:r>
              <a:rPr lang="en-US" sz="655" dirty="0">
                <a:solidFill>
                  <a:srgbClr val="A9AB4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"assistant"</a:t>
            </a:r>
            <a:r>
              <a:rPr lang="en-US" sz="655" dirty="0">
                <a:solidFill>
                  <a:srgbClr val="DBDEE1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,</a:t>
            </a:r>
            <a:endParaRPr lang="en-US" sz="655" dirty="0"/>
          </a:p>
          <a:p>
            <a:pPr marL="0" indent="0" algn="l">
              <a:lnSpc>
                <a:spcPts val="1050"/>
              </a:lnSpc>
              <a:buNone/>
            </a:pPr>
            <a:r>
              <a:rPr lang="en-US" sz="655" dirty="0">
                <a:solidFill>
                  <a:srgbClr val="DBDEE1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 </a:t>
            </a:r>
            <a:r>
              <a:rPr lang="en-US" sz="655" dirty="0">
                <a:solidFill>
                  <a:srgbClr val="2ACAA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"content"</a:t>
            </a:r>
            <a:r>
              <a:rPr lang="en-US" sz="655" dirty="0">
                <a:solidFill>
                  <a:srgbClr val="DBDEE1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: </a:t>
            </a:r>
            <a:r>
              <a:rPr lang="en-US" sz="655" dirty="0">
                <a:solidFill>
                  <a:srgbClr val="A9AB4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"牛顿第二定律指出，</a:t>
            </a:r>
            <a:endParaRPr lang="en-US" sz="655" dirty="0"/>
          </a:p>
          <a:p>
            <a:pPr marL="0" indent="0" algn="l">
              <a:lnSpc>
                <a:spcPts val="1050"/>
              </a:lnSpc>
              <a:buNone/>
            </a:pPr>
            <a:r>
              <a:rPr lang="en-US" sz="655" dirty="0">
                <a:solidFill>
                  <a:srgbClr val="A9AB4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  物体的加速度与作用在其上的</a:t>
            </a:r>
            <a:endParaRPr lang="en-US" sz="655" dirty="0"/>
          </a:p>
          <a:p>
            <a:pPr marL="0" indent="0" algn="l">
              <a:lnSpc>
                <a:spcPts val="1050"/>
              </a:lnSpc>
              <a:buNone/>
            </a:pPr>
            <a:r>
              <a:rPr lang="en-US" sz="655" dirty="0">
                <a:solidFill>
                  <a:srgbClr val="A9AB4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  净外力成正比，与物体的质量</a:t>
            </a:r>
            <a:endParaRPr lang="en-US" sz="655" dirty="0"/>
          </a:p>
          <a:p>
            <a:pPr marL="0" indent="0" algn="l">
              <a:lnSpc>
                <a:spcPts val="1050"/>
              </a:lnSpc>
              <a:buNone/>
            </a:pPr>
            <a:r>
              <a:rPr lang="en-US" sz="655" dirty="0">
                <a:solidFill>
                  <a:srgbClr val="A9AB4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  成反比。数学表达式为</a:t>
            </a:r>
            <a:endParaRPr lang="en-US" sz="655" dirty="0"/>
          </a:p>
          <a:p>
            <a:pPr marL="0" indent="0" algn="l">
              <a:lnSpc>
                <a:spcPts val="1050"/>
              </a:lnSpc>
              <a:buNone/>
            </a:pPr>
            <a:r>
              <a:rPr lang="en-US" sz="655" dirty="0">
                <a:solidFill>
                  <a:srgbClr val="A9AB4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  F = ma…"</a:t>
            </a:r>
            <a:r>
              <a:rPr lang="en-US" sz="655" dirty="0">
                <a:solidFill>
                  <a:srgbClr val="DBDEE1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}</a:t>
            </a:r>
            <a:endParaRPr lang="en-US" sz="655" dirty="0"/>
          </a:p>
          <a:p>
            <a:pPr marL="0" indent="0" algn="l">
              <a:lnSpc>
                <a:spcPts val="1050"/>
              </a:lnSpc>
              <a:buNone/>
            </a:pPr>
            <a:r>
              <a:rPr lang="en-US" sz="655" dirty="0">
                <a:solidFill>
                  <a:srgbClr val="DBDEE1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]</a:t>
            </a:r>
            <a:endParaRPr lang="en-US" sz="655" dirty="0"/>
          </a:p>
          <a:p>
            <a:pPr marL="0" indent="0" algn="l">
              <a:lnSpc>
                <a:spcPts val="1050"/>
              </a:lnSpc>
              <a:buNone/>
            </a:pPr>
            <a:r>
              <a:rPr lang="en-US" sz="655" dirty="0">
                <a:solidFill>
                  <a:srgbClr val="DBDEE1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}</a:t>
            </a:r>
            <a:endParaRPr lang="en-US" sz="655" dirty="0"/>
          </a:p>
        </p:txBody>
      </p:sp>
      <p:sp>
        <p:nvSpPr>
          <p:cNvPr id="8" name="TextBox 16"/>
          <p:cNvSpPr/>
          <p:nvPr/>
        </p:nvSpPr>
        <p:spPr>
          <a:xfrm>
            <a:off x="476250" y="3054400"/>
            <a:ext cx="4010025" cy="261938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040"/>
              </a:lnSpc>
              <a:buNone/>
            </a:pPr>
            <a:r>
              <a:rPr lang="en-US" sz="695" dirty="0">
                <a:solidFill>
                  <a:srgbClr val="5A656D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训练时将整个对话序列化为带特殊 token 的 token 流（如 </a:t>
            </a:r>
            <a:r>
              <a:rPr lang="en-US" sz="620" dirty="0">
                <a:solidFill>
                  <a:srgbClr val="5A656D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&lt;|user|&gt;...&lt;|assistant|&gt;...</a:t>
            </a:r>
            <a:r>
              <a:rPr lang="en-US" sz="695" dirty="0">
                <a:solidFill>
                  <a:srgbClr val="5A656D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），仅对 assistant 部分的 token 计算交叉熵损失。</a:t>
            </a:r>
            <a:endParaRPr lang="en-US" sz="695" dirty="0"/>
          </a:p>
        </p:txBody>
      </p:sp>
      <p:sp>
        <p:nvSpPr>
          <p:cNvPr id="9" name="TextBox 21"/>
          <p:cNvSpPr/>
          <p:nvPr/>
        </p:nvSpPr>
        <p:spPr>
          <a:xfrm>
            <a:off x="4657725" y="1000125"/>
            <a:ext cx="4010025" cy="100012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810"/>
              </a:lnSpc>
              <a:buNone/>
            </a:pPr>
            <a:r>
              <a:rPr lang="en-US" sz="540" kern="0" spc="43" dirty="0">
                <a:solidFill>
                  <a:srgbClr val="299236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数据构造的三种来源</a:t>
            </a:r>
            <a:endParaRPr lang="en-US" sz="540" dirty="0"/>
          </a:p>
        </p:txBody>
      </p:sp>
      <p:sp>
        <p:nvSpPr>
          <p:cNvPr id="10" name="TextBox 27"/>
          <p:cNvSpPr/>
          <p:nvPr>
            <p:custDataLst>
              <p:tags r:id="rId3"/>
            </p:custDataLst>
          </p:nvPr>
        </p:nvSpPr>
        <p:spPr>
          <a:xfrm>
            <a:off x="4657725" y="1214437"/>
            <a:ext cx="266700" cy="182873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r">
              <a:lnSpc>
                <a:spcPts val="1485"/>
              </a:lnSpc>
              <a:buNone/>
            </a:pPr>
            <a:r>
              <a:rPr lang="en-US" sz="1235" b="1" dirty="0">
                <a:solidFill>
                  <a:srgbClr val="299236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1</a:t>
            </a:r>
            <a:endParaRPr lang="en-US" sz="1235" dirty="0"/>
          </a:p>
        </p:txBody>
      </p:sp>
      <p:sp>
        <p:nvSpPr>
          <p:cNvPr id="11" name="TextBox 31"/>
          <p:cNvSpPr/>
          <p:nvPr>
            <p:custDataLst>
              <p:tags r:id="rId4"/>
            </p:custDataLst>
          </p:nvPr>
        </p:nvSpPr>
        <p:spPr>
          <a:xfrm>
            <a:off x="5038725" y="1214437"/>
            <a:ext cx="3629025" cy="19240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505"/>
              </a:lnSpc>
              <a:buNone/>
            </a:pPr>
            <a:r>
              <a:rPr lang="zh-CN" altLang="en-US" sz="1005" b="1" dirty="0">
                <a:solidFill>
                  <a:srgbClr val="121C23"/>
                </a:solidFill>
                <a:latin typeface="Segoe UI" panose="020B0502040204020203" pitchFamily="34" charset="0"/>
                <a:ea typeface="宋体" panose="02010600030101010101" pitchFamily="2" charset="-122"/>
                <a:cs typeface="Segoe UI" panose="020B0502040204020203" pitchFamily="34" charset="-120"/>
              </a:rPr>
              <a:t>标注员</a:t>
            </a:r>
            <a:r>
              <a:rPr lang="en-US" sz="1005" b="1" dirty="0">
                <a:solidFill>
                  <a:srgbClr val="121C23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编写</a:t>
            </a:r>
            <a:endParaRPr lang="en-US" sz="1005" dirty="0"/>
          </a:p>
        </p:txBody>
      </p:sp>
      <p:sp>
        <p:nvSpPr>
          <p:cNvPr id="12" name="TextBox 33"/>
          <p:cNvSpPr/>
          <p:nvPr>
            <p:custDataLst>
              <p:tags r:id="rId5"/>
            </p:custDataLst>
          </p:nvPr>
        </p:nvSpPr>
        <p:spPr>
          <a:xfrm>
            <a:off x="5038725" y="1428750"/>
            <a:ext cx="3629025" cy="450056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215"/>
              </a:lnSpc>
              <a:buNone/>
            </a:pPr>
            <a:r>
              <a:rPr lang="en-US" sz="810" b="1" dirty="0">
                <a:solidFill>
                  <a:srgbClr val="5A656D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质量最高、成本最贵。</a:t>
            </a:r>
            <a:r>
              <a:rPr lang="en-US" sz="810" dirty="0">
                <a:solidFill>
                  <a:srgbClr val="5A656D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InstructGPT 雇佣 ~40 名标注员手写约 13K 条。标注员按"有帮助、诚实、无害"指南工作。Karpathy 指出：这本质上定义了模型的"人格上限"——模型只能模仿标注员，无法超越。</a:t>
            </a:r>
            <a:endParaRPr lang="en-US" sz="810" dirty="0"/>
          </a:p>
        </p:txBody>
      </p:sp>
      <p:sp>
        <p:nvSpPr>
          <p:cNvPr id="13" name="TextBox 39"/>
          <p:cNvSpPr/>
          <p:nvPr>
            <p:custDataLst>
              <p:tags r:id="rId6"/>
            </p:custDataLst>
          </p:nvPr>
        </p:nvSpPr>
        <p:spPr>
          <a:xfrm>
            <a:off x="4657725" y="1935956"/>
            <a:ext cx="266700" cy="182873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r">
              <a:lnSpc>
                <a:spcPts val="1485"/>
              </a:lnSpc>
              <a:buNone/>
            </a:pPr>
            <a:r>
              <a:rPr lang="en-US" sz="1235" b="1" dirty="0">
                <a:solidFill>
                  <a:srgbClr val="299236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2</a:t>
            </a:r>
            <a:endParaRPr lang="en-US" sz="1235" dirty="0"/>
          </a:p>
        </p:txBody>
      </p:sp>
      <p:sp>
        <p:nvSpPr>
          <p:cNvPr id="14" name="TextBox 43"/>
          <p:cNvSpPr/>
          <p:nvPr>
            <p:custDataLst>
              <p:tags r:id="rId7"/>
            </p:custDataLst>
          </p:nvPr>
        </p:nvSpPr>
        <p:spPr>
          <a:xfrm>
            <a:off x="5038725" y="1935956"/>
            <a:ext cx="3629025" cy="185737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505"/>
              </a:lnSpc>
              <a:buNone/>
            </a:pPr>
            <a:r>
              <a:rPr lang="en-US" sz="1005" b="1" dirty="0">
                <a:solidFill>
                  <a:srgbClr val="121C23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筛选/改写现有数据</a:t>
            </a:r>
            <a:endParaRPr lang="en-US" sz="1005" dirty="0"/>
          </a:p>
        </p:txBody>
      </p:sp>
      <p:sp>
        <p:nvSpPr>
          <p:cNvPr id="15" name="TextBox 45"/>
          <p:cNvSpPr/>
          <p:nvPr>
            <p:custDataLst>
              <p:tags r:id="rId8"/>
            </p:custDataLst>
          </p:nvPr>
        </p:nvSpPr>
        <p:spPr>
          <a:xfrm>
            <a:off x="5038725" y="2150269"/>
            <a:ext cx="3629025" cy="450056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215"/>
              </a:lnSpc>
              <a:buNone/>
            </a:pPr>
            <a:r>
              <a:rPr lang="en-US" sz="810" b="1" dirty="0">
                <a:solidFill>
                  <a:srgbClr val="5A656D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从真实对话中精选。</a:t>
            </a:r>
            <a:r>
              <a:rPr lang="en-US" sz="810" dirty="0">
                <a:solidFill>
                  <a:srgbClr val="5A656D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ShareGPT（用户分享的 ChatGPT 对话）、OpenHermes 等社区数据集。成本远低于人类手写，但存在质量参差和版权争议。现代商用模型通常</a:t>
            </a:r>
            <a:r>
              <a:rPr lang="en-US" sz="810" b="1" dirty="0">
                <a:solidFill>
                  <a:srgbClr val="5A656D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不会</a:t>
            </a:r>
            <a:r>
              <a:rPr lang="en-US" sz="810" dirty="0">
                <a:solidFill>
                  <a:srgbClr val="5A656D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直接训练在用户分享数据上。</a:t>
            </a:r>
            <a:endParaRPr lang="en-US" sz="810" dirty="0"/>
          </a:p>
        </p:txBody>
      </p:sp>
      <p:sp>
        <p:nvSpPr>
          <p:cNvPr id="16" name="TextBox 51"/>
          <p:cNvSpPr/>
          <p:nvPr>
            <p:custDataLst>
              <p:tags r:id="rId9"/>
            </p:custDataLst>
          </p:nvPr>
        </p:nvSpPr>
        <p:spPr>
          <a:xfrm>
            <a:off x="4657725" y="2657475"/>
            <a:ext cx="266700" cy="182873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r">
              <a:lnSpc>
                <a:spcPts val="1485"/>
              </a:lnSpc>
              <a:buNone/>
            </a:pPr>
            <a:r>
              <a:rPr lang="en-US" sz="1235" b="1" dirty="0">
                <a:solidFill>
                  <a:srgbClr val="299236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3</a:t>
            </a:r>
            <a:endParaRPr lang="en-US" sz="1235" dirty="0"/>
          </a:p>
        </p:txBody>
      </p:sp>
      <p:sp>
        <p:nvSpPr>
          <p:cNvPr id="17" name="TextBox 55"/>
          <p:cNvSpPr/>
          <p:nvPr>
            <p:custDataLst>
              <p:tags r:id="rId10"/>
            </p:custDataLst>
          </p:nvPr>
        </p:nvSpPr>
        <p:spPr>
          <a:xfrm>
            <a:off x="5038725" y="2657475"/>
            <a:ext cx="3629025" cy="185737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505"/>
              </a:lnSpc>
              <a:buNone/>
            </a:pPr>
            <a:r>
              <a:rPr lang="en-US" sz="1005" b="1" dirty="0">
                <a:solidFill>
                  <a:srgbClr val="121C23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合成数据（模型生成）</a:t>
            </a:r>
            <a:endParaRPr lang="en-US" sz="1005" dirty="0"/>
          </a:p>
        </p:txBody>
      </p:sp>
      <p:sp>
        <p:nvSpPr>
          <p:cNvPr id="18" name="TextBox 57"/>
          <p:cNvSpPr/>
          <p:nvPr>
            <p:custDataLst>
              <p:tags r:id="rId11"/>
            </p:custDataLst>
          </p:nvPr>
        </p:nvSpPr>
        <p:spPr>
          <a:xfrm>
            <a:off x="5038725" y="2871787"/>
            <a:ext cx="3629025" cy="450056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215"/>
              </a:lnSpc>
              <a:buNone/>
            </a:pPr>
            <a:r>
              <a:rPr lang="en-US" sz="810" b="1" dirty="0">
                <a:solidFill>
                  <a:srgbClr val="5A656D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用更强模型生成蒸馏数据。</a:t>
            </a:r>
            <a:r>
              <a:rPr lang="en-US" sz="810" dirty="0">
                <a:solidFill>
                  <a:srgbClr val="5A656D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如用 GPT-4 批量生成 (prompt, answer) 对训练小模型（UltraChat 等）。成本低、可大规模扩展，但存在"模型教模型"的误差累积风险（model collapse）。</a:t>
            </a:r>
            <a:endParaRPr lang="en-US" sz="810" dirty="0"/>
          </a:p>
        </p:txBody>
      </p:sp>
      <p:sp>
        <p:nvSpPr>
          <p:cNvPr id="19" name="Shape 64"/>
          <p:cNvSpPr/>
          <p:nvPr/>
        </p:nvSpPr>
        <p:spPr>
          <a:xfrm>
            <a:off x="476250" y="3417094"/>
            <a:ext cx="8191500" cy="533400"/>
          </a:xfrm>
          <a:prstGeom prst="roundRect">
            <a:avLst>
              <a:gd name="adj" fmla="val 5515"/>
            </a:avLst>
          </a:prstGeom>
          <a:solidFill>
            <a:srgbClr val="5A845A">
              <a:alpha val="12157"/>
            </a:srgbClr>
          </a:solidFill>
          <a:ln w="4903">
            <a:solidFill>
              <a:srgbClr val="5C875C">
                <a:alpha val="25098"/>
              </a:srgbClr>
            </a:solidFill>
            <a:prstDash val="solid"/>
          </a:ln>
        </p:spPr>
      </p:sp>
      <p:sp>
        <p:nvSpPr>
          <p:cNvPr id="20" name="TextBox 66"/>
          <p:cNvSpPr/>
          <p:nvPr/>
        </p:nvSpPr>
        <p:spPr>
          <a:xfrm>
            <a:off x="633412" y="3526631"/>
            <a:ext cx="7877175" cy="31432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275"/>
              </a:lnSpc>
              <a:buNone/>
            </a:pPr>
            <a:r>
              <a:rPr lang="en-US" sz="850" b="1" dirty="0">
                <a:solidFill>
                  <a:srgbClr val="121C23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SFT 数据质量三要素：</a:t>
            </a:r>
            <a:r>
              <a:rPr lang="en-US" sz="850" b="1" dirty="0">
                <a:solidFill>
                  <a:srgbClr val="121C23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多样性</a:t>
            </a:r>
            <a:r>
              <a:rPr lang="en-US" sz="850" dirty="0">
                <a:solidFill>
                  <a:srgbClr val="121C23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（覆盖写作、代码、推理、创意等各类任务，避免分布偏差）· </a:t>
            </a:r>
            <a:r>
              <a:rPr lang="en-US" sz="850" b="1" dirty="0">
                <a:solidFill>
                  <a:srgbClr val="121C23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高质量</a:t>
            </a:r>
            <a:r>
              <a:rPr lang="en-US" sz="850" dirty="0">
                <a:solidFill>
                  <a:srgbClr val="121C23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（事实正确、格式规范、无有害内容，一条低质数据可能抵消十条优质数据的正面影响）· </a:t>
            </a:r>
            <a:r>
              <a:rPr lang="en-US" sz="850" b="1" dirty="0">
                <a:solidFill>
                  <a:srgbClr val="121C23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真正遵循指令</a:t>
            </a:r>
            <a:r>
              <a:rPr lang="en-US" sz="850" dirty="0">
                <a:solidFill>
                  <a:srgbClr val="121C23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（回答切实满足 prompt 要求而非敷衍了事——这是 SFT 阶段最容易被忽视但最致命的陷阱）</a:t>
            </a:r>
            <a:endParaRPr lang="en-US" sz="850" dirty="0"/>
          </a:p>
        </p:txBody>
      </p:sp>
      <p:pic>
        <p:nvPicPr>
          <p:cNvPr id="21" name="Picture 70" descr="__type_image"/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476250" y="4819650"/>
            <a:ext cx="8191500" cy="171450"/>
          </a:xfrm>
          <a:prstGeom prst="rect">
            <a:avLst/>
          </a:prstGeom>
        </p:spPr>
      </p:pic>
      <p:sp>
        <p:nvSpPr>
          <p:cNvPr id="22" name="TextBox 70"/>
          <p:cNvSpPr/>
          <p:nvPr/>
        </p:nvSpPr>
        <p:spPr>
          <a:xfrm>
            <a:off x="476250" y="4819650"/>
            <a:ext cx="8191500" cy="171450"/>
          </a:xfrm>
          <a:prstGeom prst="rect">
            <a:avLst/>
          </a:prstGeom>
          <a:noFill/>
        </p:spPr>
        <p:txBody>
          <a:bodyPr wrap="square" lIns="0" tIns="68645" rIns="0" bIns="0" rtlCol="0" anchor="t">
            <a:spAutoFit/>
          </a:bodyPr>
          <a:lstStyle/>
          <a:p>
            <a:pPr marL="0" indent="0" algn="l">
              <a:lnSpc>
                <a:spcPts val="810"/>
              </a:lnSpc>
              <a:buNone/>
            </a:pPr>
            <a:r>
              <a:rPr lang="en-US" sz="540" kern="0" spc="22" dirty="0">
                <a:solidFill>
                  <a:srgbClr val="5A656D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SFT 数据的质量直接决定模型行为天花板——"垃圾进，垃圾出"。数据多样性 = 模型泛化能力的极限 | 参考：Karpathy, Deep Dive into LLMs</a:t>
            </a:r>
            <a:endParaRPr lang="en-US" sz="54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6F9FC"/>
          </a:solidFill>
        </p:spPr>
      </p:sp>
      <p:sp>
        <p:nvSpPr>
          <p:cNvPr id="3" name="Shape 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6F9FC"/>
          </a:solidFill>
        </p:spPr>
      </p:sp>
      <p:pic>
        <p:nvPicPr>
          <p:cNvPr id="4" name="Picture 4" descr="__type_image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76250" y="381000"/>
            <a:ext cx="8191500" cy="390525"/>
          </a:xfrm>
          <a:prstGeom prst="rect">
            <a:avLst/>
          </a:prstGeom>
        </p:spPr>
      </p:pic>
      <p:sp>
        <p:nvSpPr>
          <p:cNvPr id="5" name="TextBox 4"/>
          <p:cNvSpPr/>
          <p:nvPr/>
        </p:nvSpPr>
        <p:spPr>
          <a:xfrm>
            <a:off x="476250" y="381000"/>
            <a:ext cx="8191500" cy="390525"/>
          </a:xfrm>
          <a:prstGeom prst="rect">
            <a:avLst/>
          </a:prstGeom>
          <a:noFill/>
        </p:spPr>
        <p:txBody>
          <a:bodyPr wrap="square" lIns="0" tIns="0" rIns="0" bIns="98065" rtlCol="0" anchor="t">
            <a:spAutoFit/>
          </a:bodyPr>
          <a:lstStyle/>
          <a:p>
            <a:pPr marL="0" indent="0" algn="l">
              <a:lnSpc>
                <a:spcPts val="2315"/>
              </a:lnSpc>
              <a:buNone/>
            </a:pPr>
            <a:r>
              <a:rPr lang="en-US" sz="1545" b="1" kern="0" spc="-23" dirty="0">
                <a:solidFill>
                  <a:srgbClr val="121C23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RLHF 解决什么问题？——SFT 之后还不够</a:t>
            </a:r>
            <a:endParaRPr lang="en-US" sz="1545" dirty="0"/>
          </a:p>
        </p:txBody>
      </p:sp>
      <p:sp>
        <p:nvSpPr>
          <p:cNvPr id="6" name="Shape 8"/>
          <p:cNvSpPr/>
          <p:nvPr/>
        </p:nvSpPr>
        <p:spPr>
          <a:xfrm>
            <a:off x="476250" y="1000125"/>
            <a:ext cx="8191500" cy="765051"/>
          </a:xfrm>
          <a:prstGeom prst="roundRect">
            <a:avLst>
              <a:gd name="adj" fmla="val 3845"/>
            </a:avLst>
          </a:prstGeom>
          <a:solidFill>
            <a:srgbClr val="FFFFFF"/>
          </a:solidFill>
        </p:spPr>
      </p:sp>
      <p:pic>
        <p:nvPicPr>
          <p:cNvPr id="7" name="Picture 8" descr="__type_image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76250" y="1000125"/>
            <a:ext cx="8191500" cy="765051"/>
          </a:xfrm>
          <a:prstGeom prst="rect">
            <a:avLst/>
          </a:prstGeom>
        </p:spPr>
      </p:pic>
      <p:sp>
        <p:nvSpPr>
          <p:cNvPr id="8" name="TextBox 10"/>
          <p:cNvSpPr/>
          <p:nvPr/>
        </p:nvSpPr>
        <p:spPr>
          <a:xfrm>
            <a:off x="647700" y="1081088"/>
            <a:ext cx="7862888" cy="100012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810"/>
              </a:lnSpc>
              <a:buNone/>
            </a:pPr>
            <a:r>
              <a:rPr lang="en-US" sz="540" kern="0" spc="43" dirty="0">
                <a:solidFill>
                  <a:srgbClr val="299236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什么是 RLHF？</a:t>
            </a:r>
            <a:endParaRPr lang="en-US" sz="540" dirty="0"/>
          </a:p>
        </p:txBody>
      </p:sp>
      <p:sp>
        <p:nvSpPr>
          <p:cNvPr id="9" name="TextBox 12"/>
          <p:cNvSpPr/>
          <p:nvPr/>
        </p:nvSpPr>
        <p:spPr>
          <a:xfrm>
            <a:off x="647700" y="1219200"/>
            <a:ext cx="7862888" cy="48260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255"/>
              </a:lnSpc>
              <a:buNone/>
            </a:pPr>
            <a:r>
              <a:rPr lang="en-US" sz="810" b="1" dirty="0">
                <a:solidFill>
                  <a:srgbClr val="121C23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Reinforcement Learning from Human Feedback（人类反馈强化学习）</a:t>
            </a:r>
            <a:r>
              <a:rPr lang="en-US" sz="810" dirty="0">
                <a:solidFill>
                  <a:srgbClr val="121C23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：一种用</a:t>
            </a:r>
            <a:r>
              <a:rPr lang="en-US" sz="810" b="1" dirty="0">
                <a:solidFill>
                  <a:srgbClr val="121C23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人类偏好信号</a:t>
            </a:r>
            <a:r>
              <a:rPr lang="en-US" sz="810" dirty="0">
                <a:solidFill>
                  <a:srgbClr val="121C23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来微调语言模型的技术。核心思路不是让人类直接编写"正确答案"，而是让人类对模型的多个输出进行</a:t>
            </a:r>
            <a:r>
              <a:rPr lang="en-US" sz="810" b="1" dirty="0">
                <a:solidFill>
                  <a:srgbClr val="121C23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比较和排序</a:t>
            </a:r>
            <a:r>
              <a:rPr lang="en-US" sz="810" dirty="0">
                <a:solidFill>
                  <a:srgbClr val="121C23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（"A 比 B 好"），然后用这些偏好数据训练一个</a:t>
            </a:r>
            <a:r>
              <a:rPr lang="en-US" sz="810" b="1" dirty="0">
                <a:solidFill>
                  <a:srgbClr val="121C23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奖励模型（Reward Model）</a:t>
            </a:r>
            <a:r>
              <a:rPr lang="en-US" sz="810" dirty="0">
                <a:solidFill>
                  <a:srgbClr val="121C23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来模拟人类的判断，最后用</a:t>
            </a:r>
            <a:r>
              <a:rPr lang="en-US" sz="810" b="1" dirty="0">
                <a:solidFill>
                  <a:srgbClr val="121C23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强化学习（PPO）</a:t>
            </a:r>
            <a:r>
              <a:rPr lang="en-US" sz="810" dirty="0">
                <a:solidFill>
                  <a:srgbClr val="121C23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来优化模型，使其生成的回答更符合人类期望。</a:t>
            </a:r>
            <a:endParaRPr lang="en-US" sz="810" dirty="0"/>
          </a:p>
        </p:txBody>
      </p:sp>
      <p:sp>
        <p:nvSpPr>
          <p:cNvPr id="10" name="Shape 17"/>
          <p:cNvSpPr/>
          <p:nvPr/>
        </p:nvSpPr>
        <p:spPr>
          <a:xfrm>
            <a:off x="476250" y="1831851"/>
            <a:ext cx="4019550" cy="857250"/>
          </a:xfrm>
          <a:prstGeom prst="roundRect">
            <a:avLst>
              <a:gd name="adj" fmla="val 3432"/>
            </a:avLst>
          </a:prstGeom>
          <a:solidFill>
            <a:srgbClr val="FFFFFF"/>
          </a:solidFill>
        </p:spPr>
      </p:sp>
      <p:pic>
        <p:nvPicPr>
          <p:cNvPr id="11" name="Picture 17" descr="__type_image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76250" y="1831851"/>
            <a:ext cx="4019550" cy="857250"/>
          </a:xfrm>
          <a:prstGeom prst="rect">
            <a:avLst/>
          </a:prstGeom>
        </p:spPr>
      </p:pic>
      <p:sp>
        <p:nvSpPr>
          <p:cNvPr id="12" name="TextBox 19"/>
          <p:cNvSpPr/>
          <p:nvPr/>
        </p:nvSpPr>
        <p:spPr>
          <a:xfrm>
            <a:off x="666750" y="1969963"/>
            <a:ext cx="3652837" cy="100012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810"/>
              </a:lnSpc>
              <a:buNone/>
            </a:pPr>
            <a:r>
              <a:rPr lang="en-US" sz="540" kern="0" spc="43" dirty="0">
                <a:solidFill>
                  <a:srgbClr val="5A656D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SFT 模型的典型回答</a:t>
            </a:r>
            <a:endParaRPr lang="en-US" sz="540" dirty="0"/>
          </a:p>
        </p:txBody>
      </p:sp>
      <p:sp>
        <p:nvSpPr>
          <p:cNvPr id="13" name="TextBox 21"/>
          <p:cNvSpPr/>
          <p:nvPr/>
        </p:nvSpPr>
        <p:spPr>
          <a:xfrm>
            <a:off x="666750" y="2108076"/>
            <a:ext cx="3652837" cy="442912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195"/>
              </a:lnSpc>
              <a:buNone/>
            </a:pPr>
            <a:r>
              <a:rPr lang="en-US" sz="770" b="1" dirty="0">
                <a:solidFill>
                  <a:srgbClr val="121C23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用户：</a:t>
            </a:r>
            <a:r>
              <a:rPr lang="en-US" sz="770" dirty="0">
                <a:solidFill>
                  <a:srgbClr val="121C23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"请帮我写一封辞职信"</a:t>
            </a:r>
            <a:endParaRPr lang="en-US" sz="770" dirty="0"/>
          </a:p>
          <a:p>
            <a:pPr marL="0" indent="0" algn="l">
              <a:lnSpc>
                <a:spcPts val="1195"/>
              </a:lnSpc>
              <a:buNone/>
            </a:pPr>
            <a:r>
              <a:rPr lang="en-US" sz="770" b="1" dirty="0">
                <a:solidFill>
                  <a:srgbClr val="121C23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模型：</a:t>
            </a:r>
            <a:r>
              <a:rPr lang="en-US" sz="770" dirty="0">
                <a:solidFill>
                  <a:srgbClr val="121C23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直接输出一封标准模板辞职信——格式正确、指令遵循，但</a:t>
            </a:r>
            <a:r>
              <a:rPr lang="en-US" sz="770" b="1" dirty="0">
                <a:solidFill>
                  <a:srgbClr val="121C23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语气生硬、缺乏上下文感知</a:t>
            </a:r>
            <a:r>
              <a:rPr lang="en-US" sz="770" dirty="0">
                <a:solidFill>
                  <a:srgbClr val="121C23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，没有先询问用户的具体情况（如离职原因、想维持关系还是表达不满）。</a:t>
            </a:r>
            <a:endParaRPr lang="en-US" sz="770" dirty="0"/>
          </a:p>
        </p:txBody>
      </p:sp>
      <p:sp>
        <p:nvSpPr>
          <p:cNvPr id="14" name="Shape 24"/>
          <p:cNvSpPr/>
          <p:nvPr/>
        </p:nvSpPr>
        <p:spPr>
          <a:xfrm>
            <a:off x="4648200" y="1831851"/>
            <a:ext cx="4019550" cy="857250"/>
          </a:xfrm>
          <a:prstGeom prst="roundRect">
            <a:avLst>
              <a:gd name="adj" fmla="val 3432"/>
            </a:avLst>
          </a:prstGeom>
          <a:solidFill>
            <a:srgbClr val="FFFFFF"/>
          </a:solidFill>
        </p:spPr>
      </p:sp>
      <p:pic>
        <p:nvPicPr>
          <p:cNvPr id="15" name="Picture 24" descr="__type_image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648200" y="1831851"/>
            <a:ext cx="4019550" cy="857250"/>
          </a:xfrm>
          <a:prstGeom prst="rect">
            <a:avLst/>
          </a:prstGeom>
        </p:spPr>
      </p:pic>
      <p:sp>
        <p:nvSpPr>
          <p:cNvPr id="16" name="TextBox 26"/>
          <p:cNvSpPr/>
          <p:nvPr/>
        </p:nvSpPr>
        <p:spPr>
          <a:xfrm>
            <a:off x="4838700" y="1969963"/>
            <a:ext cx="3652837" cy="100012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810"/>
              </a:lnSpc>
              <a:buNone/>
            </a:pPr>
            <a:r>
              <a:rPr lang="en-US" sz="540" kern="0" spc="43" dirty="0">
                <a:solidFill>
                  <a:srgbClr val="299236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RLHF 后模型的典型回答</a:t>
            </a:r>
            <a:endParaRPr lang="en-US" sz="540" dirty="0"/>
          </a:p>
        </p:txBody>
      </p:sp>
      <p:sp>
        <p:nvSpPr>
          <p:cNvPr id="17" name="TextBox 28"/>
          <p:cNvSpPr/>
          <p:nvPr/>
        </p:nvSpPr>
        <p:spPr>
          <a:xfrm>
            <a:off x="4838700" y="2108076"/>
            <a:ext cx="3652837" cy="442912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195"/>
              </a:lnSpc>
              <a:buNone/>
            </a:pPr>
            <a:r>
              <a:rPr lang="en-US" sz="770" b="1" dirty="0">
                <a:solidFill>
                  <a:srgbClr val="121C23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用户：</a:t>
            </a:r>
            <a:r>
              <a:rPr lang="en-US" sz="770" dirty="0">
                <a:solidFill>
                  <a:srgbClr val="121C23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"请帮我写一封辞职信"</a:t>
            </a:r>
            <a:endParaRPr lang="en-US" sz="770" dirty="0"/>
          </a:p>
          <a:p>
            <a:pPr marL="0" indent="0" algn="l">
              <a:lnSpc>
                <a:spcPts val="1195"/>
              </a:lnSpc>
              <a:buNone/>
            </a:pPr>
            <a:r>
              <a:rPr lang="en-US" sz="770" b="1" dirty="0">
                <a:solidFill>
                  <a:srgbClr val="121C23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模型：</a:t>
            </a:r>
            <a:r>
              <a:rPr lang="en-US" sz="770" dirty="0">
                <a:solidFill>
                  <a:srgbClr val="121C23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先询问"您是因什么原因离职？需要保持友好关系还是传达真实不满？有没有特别需要感谢的人？"——然后</a:t>
            </a:r>
            <a:r>
              <a:rPr lang="en-US" sz="770" b="1" dirty="0">
                <a:solidFill>
                  <a:srgbClr val="121C23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量身定制</a:t>
            </a:r>
            <a:r>
              <a:rPr lang="en-US" sz="770" dirty="0">
                <a:solidFill>
                  <a:srgbClr val="121C23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，更具</a:t>
            </a:r>
            <a:r>
              <a:rPr lang="en-US" sz="770" b="1" dirty="0">
                <a:solidFill>
                  <a:srgbClr val="121C23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帮助性</a:t>
            </a:r>
            <a:r>
              <a:rPr lang="en-US" sz="770" dirty="0">
                <a:solidFill>
                  <a:srgbClr val="121C23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和</a:t>
            </a:r>
            <a:r>
              <a:rPr lang="en-US" sz="770" b="1" dirty="0">
                <a:solidFill>
                  <a:srgbClr val="121C23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上下文意识</a:t>
            </a:r>
            <a:r>
              <a:rPr lang="en-US" sz="770" dirty="0">
                <a:solidFill>
                  <a:srgbClr val="121C23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。</a:t>
            </a:r>
            <a:endParaRPr lang="en-US" sz="770" dirty="0"/>
          </a:p>
        </p:txBody>
      </p:sp>
      <p:sp>
        <p:nvSpPr>
          <p:cNvPr id="18" name="TextBox 34"/>
          <p:cNvSpPr/>
          <p:nvPr/>
        </p:nvSpPr>
        <p:spPr>
          <a:xfrm>
            <a:off x="476250" y="2755776"/>
            <a:ext cx="8191500" cy="100012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810"/>
              </a:lnSpc>
              <a:buNone/>
            </a:pPr>
            <a:r>
              <a:rPr lang="en-US" sz="540" kern="0" spc="43" dirty="0">
                <a:solidFill>
                  <a:srgbClr val="299236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INSTRUCTGPT 提出的"3H"评估维度 —— RLHF 优化的三个方向</a:t>
            </a:r>
            <a:endParaRPr lang="en-US" sz="540" dirty="0"/>
          </a:p>
        </p:txBody>
      </p:sp>
      <p:sp>
        <p:nvSpPr>
          <p:cNvPr id="19" name="Shape 38"/>
          <p:cNvSpPr/>
          <p:nvPr/>
        </p:nvSpPr>
        <p:spPr>
          <a:xfrm>
            <a:off x="476250" y="2912939"/>
            <a:ext cx="2654275" cy="685800"/>
          </a:xfrm>
          <a:prstGeom prst="roundRect">
            <a:avLst>
              <a:gd name="adj" fmla="val 4290"/>
            </a:avLst>
          </a:prstGeom>
          <a:solidFill>
            <a:srgbClr val="FFFFFF"/>
          </a:solidFill>
          <a:ln w="4903">
            <a:solidFill>
              <a:srgbClr val="D9DFE3"/>
            </a:solidFill>
            <a:prstDash val="solid"/>
          </a:ln>
        </p:spPr>
      </p:sp>
      <p:sp>
        <p:nvSpPr>
          <p:cNvPr id="20" name="TextBox 40"/>
          <p:cNvSpPr/>
          <p:nvPr/>
        </p:nvSpPr>
        <p:spPr>
          <a:xfrm>
            <a:off x="585787" y="3012951"/>
            <a:ext cx="2435200" cy="185737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505"/>
              </a:lnSpc>
              <a:buNone/>
            </a:pPr>
            <a:r>
              <a:rPr lang="en-US" sz="1005" b="1" dirty="0">
                <a:solidFill>
                  <a:srgbClr val="121C23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Helpfulness（有用性）</a:t>
            </a:r>
            <a:endParaRPr lang="en-US" sz="1005" dirty="0"/>
          </a:p>
        </p:txBody>
      </p:sp>
      <p:sp>
        <p:nvSpPr>
          <p:cNvPr id="21" name="TextBox 42"/>
          <p:cNvSpPr/>
          <p:nvPr/>
        </p:nvSpPr>
        <p:spPr>
          <a:xfrm>
            <a:off x="585787" y="3227263"/>
            <a:ext cx="2435200" cy="271463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735" dirty="0">
                <a:solidFill>
                  <a:srgbClr val="5A656D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回答是否真的帮到了用户？是否解决了用户的真实需求而非表面需求？——对应</a:t>
            </a:r>
            <a:r>
              <a:rPr lang="en-US" sz="735" b="1" dirty="0">
                <a:solidFill>
                  <a:srgbClr val="5A656D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"做得好"</a:t>
            </a:r>
            <a:endParaRPr lang="en-US" sz="735" dirty="0"/>
          </a:p>
        </p:txBody>
      </p:sp>
      <p:sp>
        <p:nvSpPr>
          <p:cNvPr id="22" name="Shape 45"/>
          <p:cNvSpPr/>
          <p:nvPr/>
        </p:nvSpPr>
        <p:spPr>
          <a:xfrm>
            <a:off x="3244825" y="2912939"/>
            <a:ext cx="2654313" cy="685800"/>
          </a:xfrm>
          <a:prstGeom prst="roundRect">
            <a:avLst>
              <a:gd name="adj" fmla="val 4290"/>
            </a:avLst>
          </a:prstGeom>
          <a:solidFill>
            <a:srgbClr val="FFFFFF"/>
          </a:solidFill>
          <a:ln w="4903">
            <a:solidFill>
              <a:srgbClr val="D9DFE3"/>
            </a:solidFill>
            <a:prstDash val="solid"/>
          </a:ln>
        </p:spPr>
      </p:sp>
      <p:sp>
        <p:nvSpPr>
          <p:cNvPr id="23" name="TextBox 47"/>
          <p:cNvSpPr/>
          <p:nvPr/>
        </p:nvSpPr>
        <p:spPr>
          <a:xfrm>
            <a:off x="3354363" y="3012951"/>
            <a:ext cx="2435237" cy="185737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505"/>
              </a:lnSpc>
              <a:buNone/>
            </a:pPr>
            <a:r>
              <a:rPr lang="en-US" sz="1005" b="1" dirty="0">
                <a:solidFill>
                  <a:srgbClr val="121C23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Honesty（诚实性）</a:t>
            </a:r>
            <a:endParaRPr lang="en-US" sz="1005" dirty="0"/>
          </a:p>
        </p:txBody>
      </p:sp>
      <p:sp>
        <p:nvSpPr>
          <p:cNvPr id="24" name="TextBox 49"/>
          <p:cNvSpPr/>
          <p:nvPr/>
        </p:nvSpPr>
        <p:spPr>
          <a:xfrm>
            <a:off x="3354363" y="3227263"/>
            <a:ext cx="2435237" cy="271463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735" dirty="0">
                <a:solidFill>
                  <a:srgbClr val="5A656D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回答是否基于事实？不确定时是否坦诚而非编造？——对应</a:t>
            </a:r>
            <a:r>
              <a:rPr lang="en-US" sz="735" b="1" dirty="0">
                <a:solidFill>
                  <a:srgbClr val="5A656D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"说得对"</a:t>
            </a:r>
            <a:endParaRPr lang="en-US" sz="735" dirty="0"/>
          </a:p>
        </p:txBody>
      </p:sp>
      <p:sp>
        <p:nvSpPr>
          <p:cNvPr id="25" name="Shape 52"/>
          <p:cNvSpPr/>
          <p:nvPr/>
        </p:nvSpPr>
        <p:spPr>
          <a:xfrm>
            <a:off x="6013437" y="2912939"/>
            <a:ext cx="2654313" cy="685800"/>
          </a:xfrm>
          <a:prstGeom prst="roundRect">
            <a:avLst>
              <a:gd name="adj" fmla="val 4290"/>
            </a:avLst>
          </a:prstGeom>
          <a:solidFill>
            <a:srgbClr val="FFFFFF"/>
          </a:solidFill>
          <a:ln w="4903">
            <a:solidFill>
              <a:srgbClr val="D9DFE3"/>
            </a:solidFill>
            <a:prstDash val="solid"/>
          </a:ln>
        </p:spPr>
      </p:sp>
      <p:sp>
        <p:nvSpPr>
          <p:cNvPr id="26" name="TextBox 54"/>
          <p:cNvSpPr/>
          <p:nvPr/>
        </p:nvSpPr>
        <p:spPr>
          <a:xfrm>
            <a:off x="6122975" y="3012951"/>
            <a:ext cx="2435237" cy="185737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505"/>
              </a:lnSpc>
              <a:buNone/>
            </a:pPr>
            <a:r>
              <a:rPr lang="en-US" sz="1005" b="1" dirty="0">
                <a:solidFill>
                  <a:srgbClr val="121C23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Harmlessness（无害性）</a:t>
            </a:r>
            <a:endParaRPr lang="en-US" sz="1005" dirty="0"/>
          </a:p>
        </p:txBody>
      </p:sp>
      <p:sp>
        <p:nvSpPr>
          <p:cNvPr id="27" name="TextBox 56"/>
          <p:cNvSpPr/>
          <p:nvPr/>
        </p:nvSpPr>
        <p:spPr>
          <a:xfrm>
            <a:off x="6122975" y="3227263"/>
            <a:ext cx="2435237" cy="271463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735" dirty="0">
                <a:solidFill>
                  <a:srgbClr val="5A656D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回答是否安全？是否拒绝有害请求？是否避免歧视和偏见？——对应</a:t>
            </a:r>
            <a:r>
              <a:rPr lang="en-US" sz="735" b="1" dirty="0">
                <a:solidFill>
                  <a:srgbClr val="5A656D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"不伤人"</a:t>
            </a:r>
            <a:endParaRPr lang="en-US" sz="735" dirty="0"/>
          </a:p>
        </p:txBody>
      </p:sp>
      <p:sp>
        <p:nvSpPr>
          <p:cNvPr id="28" name="Shape 61"/>
          <p:cNvSpPr/>
          <p:nvPr/>
        </p:nvSpPr>
        <p:spPr>
          <a:xfrm>
            <a:off x="476250" y="3665413"/>
            <a:ext cx="8191500" cy="533400"/>
          </a:xfrm>
          <a:prstGeom prst="roundRect">
            <a:avLst>
              <a:gd name="adj" fmla="val 5515"/>
            </a:avLst>
          </a:prstGeom>
          <a:solidFill>
            <a:srgbClr val="5A845A">
              <a:alpha val="12157"/>
            </a:srgbClr>
          </a:solidFill>
          <a:ln w="4903">
            <a:solidFill>
              <a:srgbClr val="5C875C">
                <a:alpha val="25098"/>
              </a:srgbClr>
            </a:solidFill>
            <a:prstDash val="solid"/>
          </a:ln>
        </p:spPr>
      </p:sp>
      <p:sp>
        <p:nvSpPr>
          <p:cNvPr id="29" name="TextBox 63"/>
          <p:cNvSpPr/>
          <p:nvPr/>
        </p:nvSpPr>
        <p:spPr>
          <a:xfrm>
            <a:off x="633412" y="3774951"/>
            <a:ext cx="7877175" cy="16319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275"/>
              </a:lnSpc>
              <a:buNone/>
            </a:pPr>
            <a:r>
              <a:rPr lang="en-US" sz="850" b="1" dirty="0">
                <a:solidFill>
                  <a:srgbClr val="121C23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核心洞察：</a:t>
            </a:r>
            <a:r>
              <a:rPr lang="en-US" sz="850" dirty="0">
                <a:solidFill>
                  <a:srgbClr val="121C23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SFT 只教会了"格式"和"基本行为"，但模型还不知道"好回答"和"更好的回答"之间的差别——而这正是 RLHF 的用武之地。</a:t>
            </a:r>
            <a:endParaRPr lang="en-US" sz="850" dirty="0"/>
          </a:p>
        </p:txBody>
      </p:sp>
      <p:pic>
        <p:nvPicPr>
          <p:cNvPr id="30" name="Picture 67" descr="__type_image"/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476250" y="4819650"/>
            <a:ext cx="8191500" cy="171450"/>
          </a:xfrm>
          <a:prstGeom prst="rect">
            <a:avLst/>
          </a:prstGeom>
        </p:spPr>
      </p:pic>
      <p:sp>
        <p:nvSpPr>
          <p:cNvPr id="31" name="TextBox 67"/>
          <p:cNvSpPr/>
          <p:nvPr/>
        </p:nvSpPr>
        <p:spPr>
          <a:xfrm>
            <a:off x="476250" y="4819650"/>
            <a:ext cx="8191500" cy="171450"/>
          </a:xfrm>
          <a:prstGeom prst="rect">
            <a:avLst/>
          </a:prstGeom>
          <a:noFill/>
        </p:spPr>
        <p:txBody>
          <a:bodyPr wrap="square" lIns="0" tIns="68645" rIns="0" bIns="0" rtlCol="0" anchor="t">
            <a:spAutoFit/>
          </a:bodyPr>
          <a:lstStyle/>
          <a:p>
            <a:pPr marL="0" indent="0" algn="l">
              <a:lnSpc>
                <a:spcPts val="810"/>
              </a:lnSpc>
              <a:buNone/>
            </a:pPr>
            <a:r>
              <a:rPr lang="en-US" sz="540" kern="0" spc="22" dirty="0">
                <a:solidFill>
                  <a:srgbClr val="5A656D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SFT 让模型"会说话"，RLHF 让模型"说人话" | 参考：InstructGPT (arXiv:2203.02155)</a:t>
            </a:r>
            <a:endParaRPr lang="en-US" sz="54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1"/>
          <p:cNvSpPr/>
          <p:nvPr/>
        </p:nvSpPr>
        <p:spPr>
          <a:xfrm>
            <a:off x="75565" y="0"/>
            <a:ext cx="9144000" cy="5143500"/>
          </a:xfrm>
          <a:prstGeom prst="rect">
            <a:avLst/>
          </a:prstGeom>
          <a:solidFill>
            <a:srgbClr val="F6F9FC"/>
          </a:solidFill>
        </p:spPr>
      </p:sp>
      <p:pic>
        <p:nvPicPr>
          <p:cNvPr id="4" name="Picture 4" descr="__type_image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76250" y="381000"/>
            <a:ext cx="8191500" cy="390525"/>
          </a:xfrm>
          <a:prstGeom prst="rect">
            <a:avLst/>
          </a:prstGeom>
        </p:spPr>
      </p:pic>
      <p:sp>
        <p:nvSpPr>
          <p:cNvPr id="5" name="TextBox 4"/>
          <p:cNvSpPr/>
          <p:nvPr/>
        </p:nvSpPr>
        <p:spPr>
          <a:xfrm>
            <a:off x="476250" y="381000"/>
            <a:ext cx="8191500" cy="390525"/>
          </a:xfrm>
          <a:prstGeom prst="rect">
            <a:avLst/>
          </a:prstGeom>
          <a:noFill/>
        </p:spPr>
        <p:txBody>
          <a:bodyPr wrap="square" lIns="0" tIns="0" rIns="0" bIns="98065" rtlCol="0" anchor="t">
            <a:spAutoFit/>
          </a:bodyPr>
          <a:lstStyle/>
          <a:p>
            <a:pPr marL="0" indent="0" algn="l">
              <a:lnSpc>
                <a:spcPts val="2315"/>
              </a:lnSpc>
              <a:buNone/>
            </a:pPr>
            <a:r>
              <a:rPr lang="en-US" sz="1545" b="1" kern="0" spc="-23" dirty="0">
                <a:solidFill>
                  <a:srgbClr val="121C23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"人类偏好"如何注入模型？——RLHF 三步流程</a:t>
            </a:r>
            <a:endParaRPr lang="en-US" sz="1545" dirty="0"/>
          </a:p>
        </p:txBody>
      </p:sp>
      <p:sp>
        <p:nvSpPr>
          <p:cNvPr id="26" name="Shape 63"/>
          <p:cNvSpPr/>
          <p:nvPr/>
        </p:nvSpPr>
        <p:spPr>
          <a:xfrm>
            <a:off x="476250" y="4286250"/>
            <a:ext cx="8191500" cy="476250"/>
          </a:xfrm>
          <a:prstGeom prst="roundRect">
            <a:avLst>
              <a:gd name="adj" fmla="val 6177"/>
            </a:avLst>
          </a:prstGeom>
          <a:solidFill>
            <a:srgbClr val="FFFFFF"/>
          </a:solidFill>
        </p:spPr>
      </p:sp>
      <p:pic>
        <p:nvPicPr>
          <p:cNvPr id="27" name="Picture 63" descr="__type_image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76250" y="4286250"/>
            <a:ext cx="8191500" cy="476250"/>
          </a:xfrm>
          <a:prstGeom prst="rect">
            <a:avLst/>
          </a:prstGeom>
        </p:spPr>
      </p:pic>
      <p:sp>
        <p:nvSpPr>
          <p:cNvPr id="28" name="TextBox 65"/>
          <p:cNvSpPr/>
          <p:nvPr/>
        </p:nvSpPr>
        <p:spPr>
          <a:xfrm>
            <a:off x="647700" y="4376738"/>
            <a:ext cx="7862888" cy="30607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195"/>
              </a:lnSpc>
              <a:buNone/>
            </a:pPr>
            <a:r>
              <a:rPr lang="en-US" sz="770" b="1" dirty="0">
                <a:solidFill>
                  <a:srgbClr val="121C23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关键概念：</a:t>
            </a:r>
            <a:r>
              <a:rPr lang="en-US" sz="770" dirty="0">
                <a:solidFill>
                  <a:srgbClr val="121C23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RLHF = 人类偏好 → 奖励模型 → 强化学习。奖励模型本质上是</a:t>
            </a:r>
            <a:r>
              <a:rPr lang="zh-CN" altLang="en-US" sz="770" dirty="0">
                <a:solidFill>
                  <a:srgbClr val="121C23"/>
                </a:solidFill>
                <a:latin typeface="Segoe UI" panose="020B0502040204020203" pitchFamily="34" charset="0"/>
                <a:ea typeface="宋体" panose="02010600030101010101" pitchFamily="2" charset="-122"/>
                <a:cs typeface="Segoe UI" panose="020B0502040204020203" pitchFamily="34" charset="-120"/>
              </a:rPr>
              <a:t>迎合人类的偏好</a:t>
            </a:r>
            <a:r>
              <a:rPr lang="en-US" sz="770" dirty="0">
                <a:solidFill>
                  <a:srgbClr val="121C23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——它把主观的"好不好"变成了可优化的数学信号。但这也是它的核心弱点：</a:t>
            </a:r>
            <a:r>
              <a:rPr lang="zh-CN" altLang="en-US" sz="770" dirty="0">
                <a:solidFill>
                  <a:srgbClr val="121C23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试图用“模糊的人类主观喜好”去作为“绝对客观的奖励信号”。这种错位导致模型最终不是在追求“真理”，而是在追求“如何用最短的路径骗过人类标注员的直觉”。</a:t>
            </a:r>
            <a:endParaRPr lang="zh-CN" altLang="en-US" sz="770" dirty="0">
              <a:solidFill>
                <a:srgbClr val="121C23"/>
              </a:solidFill>
              <a:latin typeface="Segoe UI" panose="020B0502040204020203" pitchFamily="34" charset="0"/>
              <a:ea typeface="Segoe UI" panose="020B0502040204020203" pitchFamily="34" charset="-122"/>
              <a:cs typeface="Segoe UI" panose="020B0502040204020203" pitchFamily="34" charset="-120"/>
            </a:endParaRPr>
          </a:p>
        </p:txBody>
      </p:sp>
      <p:pic>
        <p:nvPicPr>
          <p:cNvPr id="29" name="Picture 69" descr="__type_image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76250" y="4819650"/>
            <a:ext cx="8191500" cy="171450"/>
          </a:xfrm>
          <a:prstGeom prst="rect">
            <a:avLst/>
          </a:prstGeom>
        </p:spPr>
      </p:pic>
      <p:sp>
        <p:nvSpPr>
          <p:cNvPr id="30" name="TextBox 69"/>
          <p:cNvSpPr/>
          <p:nvPr/>
        </p:nvSpPr>
        <p:spPr>
          <a:xfrm>
            <a:off x="476250" y="4819650"/>
            <a:ext cx="8191500" cy="171450"/>
          </a:xfrm>
          <a:prstGeom prst="rect">
            <a:avLst/>
          </a:prstGeom>
          <a:noFill/>
        </p:spPr>
        <p:txBody>
          <a:bodyPr wrap="square" lIns="0" tIns="68645" rIns="0" bIns="0" rtlCol="0" anchor="t">
            <a:spAutoFit/>
          </a:bodyPr>
          <a:lstStyle/>
          <a:p>
            <a:pPr marL="0" indent="0" algn="l">
              <a:lnSpc>
                <a:spcPts val="810"/>
              </a:lnSpc>
              <a:buNone/>
            </a:pPr>
            <a:r>
              <a:rPr lang="en-US" sz="540" kern="0" spc="22" dirty="0">
                <a:solidFill>
                  <a:srgbClr val="5A656D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三步环环相扣：缺失偏好数据 → 无 RM；缺失 KL 惩罚 → 模型彻底"跑偏" | 参考：InstructGPT, arXiv:2203.02155</a:t>
            </a:r>
            <a:endParaRPr lang="en-US" sz="540" dirty="0"/>
          </a:p>
        </p:txBody>
      </p:sp>
      <p:pic>
        <p:nvPicPr>
          <p:cNvPr id="33" name="图片 32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76250" y="1102360"/>
            <a:ext cx="8165465" cy="294322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6F9FC"/>
          </a:solidFill>
        </p:spPr>
      </p:sp>
      <p:sp>
        <p:nvSpPr>
          <p:cNvPr id="3" name="Shape 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6F9FC"/>
          </a:solidFill>
        </p:spPr>
      </p:sp>
      <p:pic>
        <p:nvPicPr>
          <p:cNvPr id="4" name="Picture 4" descr="__type_image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76250" y="381000"/>
            <a:ext cx="8191500" cy="390525"/>
          </a:xfrm>
          <a:prstGeom prst="rect">
            <a:avLst/>
          </a:prstGeom>
        </p:spPr>
      </p:pic>
      <p:sp>
        <p:nvSpPr>
          <p:cNvPr id="5" name="TextBox 4"/>
          <p:cNvSpPr/>
          <p:nvPr/>
        </p:nvSpPr>
        <p:spPr>
          <a:xfrm>
            <a:off x="476250" y="381000"/>
            <a:ext cx="8191500" cy="390525"/>
          </a:xfrm>
          <a:prstGeom prst="rect">
            <a:avLst/>
          </a:prstGeom>
          <a:noFill/>
        </p:spPr>
        <p:txBody>
          <a:bodyPr wrap="square" lIns="0" tIns="0" rIns="0" bIns="98065" rtlCol="0" anchor="t">
            <a:spAutoFit/>
          </a:bodyPr>
          <a:lstStyle/>
          <a:p>
            <a:pPr marL="0" indent="0" algn="l">
              <a:lnSpc>
                <a:spcPts val="2315"/>
              </a:lnSpc>
              <a:buNone/>
            </a:pPr>
            <a:r>
              <a:rPr lang="en-US" sz="1545" b="1" kern="0" spc="-23" dirty="0">
                <a:solidFill>
                  <a:srgbClr val="121C23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RLVR（可验证奖励强化学习）是什么？</a:t>
            </a:r>
            <a:endParaRPr lang="en-US" sz="1545" dirty="0"/>
          </a:p>
        </p:txBody>
      </p:sp>
      <p:sp>
        <p:nvSpPr>
          <p:cNvPr id="6" name="Shape 8"/>
          <p:cNvSpPr/>
          <p:nvPr/>
        </p:nvSpPr>
        <p:spPr>
          <a:xfrm>
            <a:off x="476250" y="1000125"/>
            <a:ext cx="8191500" cy="768623"/>
          </a:xfrm>
          <a:prstGeom prst="roundRect">
            <a:avLst>
              <a:gd name="adj" fmla="val 3828"/>
            </a:avLst>
          </a:prstGeom>
          <a:solidFill>
            <a:srgbClr val="FFFFFF"/>
          </a:solidFill>
        </p:spPr>
      </p:sp>
      <p:pic>
        <p:nvPicPr>
          <p:cNvPr id="7" name="Picture 8" descr="__type_image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76250" y="1000125"/>
            <a:ext cx="8191500" cy="768623"/>
          </a:xfrm>
          <a:prstGeom prst="rect">
            <a:avLst/>
          </a:prstGeom>
        </p:spPr>
      </p:pic>
      <p:sp>
        <p:nvSpPr>
          <p:cNvPr id="8" name="TextBox 10"/>
          <p:cNvSpPr/>
          <p:nvPr/>
        </p:nvSpPr>
        <p:spPr>
          <a:xfrm>
            <a:off x="666750" y="1138237"/>
            <a:ext cx="7824788" cy="100013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810"/>
              </a:lnSpc>
              <a:buNone/>
            </a:pPr>
            <a:r>
              <a:rPr lang="en-US" sz="540" kern="0" spc="43" dirty="0">
                <a:solidFill>
                  <a:srgbClr val="299236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定义</a:t>
            </a:r>
            <a:endParaRPr lang="en-US" sz="540" dirty="0"/>
          </a:p>
        </p:txBody>
      </p:sp>
      <p:sp>
        <p:nvSpPr>
          <p:cNvPr id="9" name="TextBox 12"/>
          <p:cNvSpPr/>
          <p:nvPr/>
        </p:nvSpPr>
        <p:spPr>
          <a:xfrm>
            <a:off x="666750" y="1276350"/>
            <a:ext cx="7824788" cy="35428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435"/>
              </a:lnSpc>
              <a:buNone/>
            </a:pPr>
            <a:r>
              <a:rPr lang="en-US" sz="925" b="1" dirty="0">
                <a:solidFill>
                  <a:srgbClr val="121C23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RLVR = Reinforcement Learning with Verifiable Rewards</a:t>
            </a:r>
            <a:r>
              <a:rPr lang="en-US" sz="925" dirty="0">
                <a:solidFill>
                  <a:srgbClr val="121C23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：奖励信号不是来自人类标注者训练的"奖励模型"，而是来自</a:t>
            </a:r>
            <a:r>
              <a:rPr lang="en-US" sz="925" b="1" dirty="0">
                <a:solidFill>
                  <a:srgbClr val="121C23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可自动验证的客观规则</a:t>
            </a:r>
            <a:r>
              <a:rPr lang="en-US" sz="925" dirty="0">
                <a:solidFill>
                  <a:srgbClr val="121C23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——答案正确就得分，代码通过测试就得分，推导结果对就得分。</a:t>
            </a:r>
            <a:endParaRPr lang="en-US" sz="925" dirty="0"/>
          </a:p>
        </p:txBody>
      </p:sp>
      <p:pic>
        <p:nvPicPr>
          <p:cNvPr id="11" name="Picture 18" descr="__type_image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76250" y="4819650"/>
            <a:ext cx="8191500" cy="171450"/>
          </a:xfrm>
          <a:prstGeom prst="rect">
            <a:avLst/>
          </a:prstGeom>
        </p:spPr>
      </p:pic>
      <p:sp>
        <p:nvSpPr>
          <p:cNvPr id="12" name="TextBox 18"/>
          <p:cNvSpPr/>
          <p:nvPr/>
        </p:nvSpPr>
        <p:spPr>
          <a:xfrm>
            <a:off x="476250" y="4819650"/>
            <a:ext cx="8191500" cy="171450"/>
          </a:xfrm>
          <a:prstGeom prst="rect">
            <a:avLst/>
          </a:prstGeom>
          <a:noFill/>
        </p:spPr>
        <p:txBody>
          <a:bodyPr wrap="square" lIns="0" tIns="68645" rIns="0" bIns="0" rtlCol="0" anchor="t">
            <a:spAutoFit/>
          </a:bodyPr>
          <a:lstStyle/>
          <a:p>
            <a:pPr marL="0" indent="0" algn="l">
              <a:lnSpc>
                <a:spcPts val="810"/>
              </a:lnSpc>
              <a:buNone/>
            </a:pPr>
            <a:r>
              <a:rPr lang="en-US" sz="540" kern="0" spc="22" dirty="0">
                <a:solidFill>
                  <a:srgbClr val="5A656D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RLVR 的核心优势：奖励信号</a:t>
            </a:r>
            <a:r>
              <a:rPr lang="en-US" sz="540" b="1" kern="0" spc="22" dirty="0">
                <a:solidFill>
                  <a:srgbClr val="5A656D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可自动扩展</a:t>
            </a:r>
            <a:r>
              <a:rPr lang="en-US" sz="540" kern="0" spc="22" dirty="0">
                <a:solidFill>
                  <a:srgbClr val="5A656D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——只要有标准答案，就可以生成无限训练数据，不需要人工标注</a:t>
            </a:r>
            <a:endParaRPr lang="en-US" sz="540" dirty="0"/>
          </a:p>
        </p:txBody>
      </p:sp>
      <p:pic>
        <p:nvPicPr>
          <p:cNvPr id="13" name="图片 12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83210" y="1782445"/>
            <a:ext cx="8633460" cy="2446655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1"/>
          <p:cNvSpPr/>
          <p:nvPr/>
        </p:nvSpPr>
        <p:spPr>
          <a:xfrm>
            <a:off x="716280" y="0"/>
            <a:ext cx="9144000" cy="5143500"/>
          </a:xfrm>
          <a:prstGeom prst="rect">
            <a:avLst/>
          </a:prstGeom>
          <a:solidFill>
            <a:srgbClr val="F6F9FC"/>
          </a:solidFill>
        </p:spPr>
      </p:sp>
      <p:sp>
        <p:nvSpPr>
          <p:cNvPr id="3" name="Shape 2"/>
          <p:cNvSpPr/>
          <p:nvPr/>
        </p:nvSpPr>
        <p:spPr>
          <a:xfrm>
            <a:off x="-236220" y="0"/>
            <a:ext cx="9144000" cy="5143500"/>
          </a:xfrm>
          <a:prstGeom prst="rect">
            <a:avLst/>
          </a:prstGeom>
          <a:solidFill>
            <a:srgbClr val="F6F9FC"/>
          </a:solidFill>
        </p:spPr>
      </p:sp>
      <p:pic>
        <p:nvPicPr>
          <p:cNvPr id="4" name="Picture 4" descr="__type_image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16280" y="368300"/>
            <a:ext cx="8191500" cy="390525"/>
          </a:xfrm>
          <a:prstGeom prst="rect">
            <a:avLst/>
          </a:prstGeom>
        </p:spPr>
      </p:pic>
      <p:sp>
        <p:nvSpPr>
          <p:cNvPr id="5" name="TextBox 4"/>
          <p:cNvSpPr/>
          <p:nvPr/>
        </p:nvSpPr>
        <p:spPr>
          <a:xfrm>
            <a:off x="476250" y="381000"/>
            <a:ext cx="8191500" cy="390525"/>
          </a:xfrm>
          <a:prstGeom prst="rect">
            <a:avLst/>
          </a:prstGeom>
          <a:noFill/>
        </p:spPr>
        <p:txBody>
          <a:bodyPr wrap="square" lIns="0" tIns="0" rIns="0" bIns="98065" rtlCol="0" anchor="t">
            <a:spAutoFit/>
          </a:bodyPr>
          <a:lstStyle/>
          <a:p>
            <a:pPr marL="0" indent="0" algn="l">
              <a:lnSpc>
                <a:spcPts val="2315"/>
              </a:lnSpc>
              <a:buNone/>
            </a:pPr>
            <a:r>
              <a:rPr lang="en-US" sz="1545" b="1" kern="0" spc="-23" dirty="0">
                <a:solidFill>
                  <a:srgbClr val="121C23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为什么 RLVR 催生了推理模型？</a:t>
            </a:r>
            <a:endParaRPr lang="en-US" sz="1545" dirty="0"/>
          </a:p>
        </p:txBody>
      </p:sp>
      <p:sp>
        <p:nvSpPr>
          <p:cNvPr id="6" name="TextBox 12"/>
          <p:cNvSpPr/>
          <p:nvPr>
            <p:custDataLst>
              <p:tags r:id="rId3"/>
            </p:custDataLst>
          </p:nvPr>
        </p:nvSpPr>
        <p:spPr>
          <a:xfrm>
            <a:off x="168275" y="845820"/>
            <a:ext cx="266700" cy="18986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r">
              <a:lnSpc>
                <a:spcPts val="1485"/>
              </a:lnSpc>
              <a:buNone/>
            </a:pPr>
            <a:r>
              <a:rPr lang="en-US" sz="1235" b="1" dirty="0">
                <a:solidFill>
                  <a:srgbClr val="299236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1</a:t>
            </a:r>
            <a:endParaRPr lang="en-US" sz="1235" dirty="0"/>
          </a:p>
        </p:txBody>
      </p:sp>
      <p:sp>
        <p:nvSpPr>
          <p:cNvPr id="7" name="TextBox 16"/>
          <p:cNvSpPr/>
          <p:nvPr>
            <p:custDataLst>
              <p:tags r:id="rId4"/>
            </p:custDataLst>
          </p:nvPr>
        </p:nvSpPr>
        <p:spPr>
          <a:xfrm>
            <a:off x="549275" y="845820"/>
            <a:ext cx="5734050" cy="19240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505"/>
              </a:lnSpc>
              <a:buNone/>
            </a:pPr>
            <a:r>
              <a:rPr lang="en-US" sz="1005" b="1" dirty="0">
                <a:solidFill>
                  <a:srgbClr val="121C23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RLHF 的瓶颈：无法奖励"思考过程"</a:t>
            </a:r>
            <a:endParaRPr lang="en-US" sz="1005" dirty="0"/>
          </a:p>
        </p:txBody>
      </p:sp>
      <p:sp>
        <p:nvSpPr>
          <p:cNvPr id="8" name="TextBox 18"/>
          <p:cNvSpPr/>
          <p:nvPr>
            <p:custDataLst>
              <p:tags r:id="rId5"/>
            </p:custDataLst>
          </p:nvPr>
        </p:nvSpPr>
        <p:spPr>
          <a:xfrm>
            <a:off x="549275" y="1060132"/>
            <a:ext cx="5734050" cy="31115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215"/>
              </a:lnSpc>
              <a:buNone/>
            </a:pPr>
            <a:r>
              <a:rPr lang="en-US" sz="810" dirty="0">
                <a:solidFill>
                  <a:srgbClr val="5A656D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奖励模型能判断"回答看起来好不好"，但很难评判</a:t>
            </a:r>
            <a:r>
              <a:rPr lang="en-US" sz="810" b="1" dirty="0">
                <a:solidFill>
                  <a:srgbClr val="5A656D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"数学推导中间步骤是否正确"</a:t>
            </a:r>
            <a:r>
              <a:rPr lang="en-US" sz="810" dirty="0">
                <a:solidFill>
                  <a:srgbClr val="5A656D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——推导链越长，RM 评判力越差。RLHF 只能评"结果好坏"，不能评"推理过程好坏"。</a:t>
            </a:r>
            <a:endParaRPr lang="en-US" sz="810" dirty="0"/>
          </a:p>
        </p:txBody>
      </p:sp>
      <p:sp>
        <p:nvSpPr>
          <p:cNvPr id="9" name="TextBox 24"/>
          <p:cNvSpPr/>
          <p:nvPr>
            <p:custDataLst>
              <p:tags r:id="rId6"/>
            </p:custDataLst>
          </p:nvPr>
        </p:nvSpPr>
        <p:spPr>
          <a:xfrm>
            <a:off x="168275" y="1436370"/>
            <a:ext cx="266700" cy="18986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r">
              <a:lnSpc>
                <a:spcPts val="1485"/>
              </a:lnSpc>
              <a:buNone/>
            </a:pPr>
            <a:r>
              <a:rPr lang="en-US" sz="1235" b="1" dirty="0">
                <a:solidFill>
                  <a:srgbClr val="299236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2</a:t>
            </a:r>
            <a:endParaRPr lang="en-US" sz="1235" dirty="0"/>
          </a:p>
        </p:txBody>
      </p:sp>
      <p:sp>
        <p:nvSpPr>
          <p:cNvPr id="10" name="TextBox 28"/>
          <p:cNvSpPr/>
          <p:nvPr>
            <p:custDataLst>
              <p:tags r:id="rId7"/>
            </p:custDataLst>
          </p:nvPr>
        </p:nvSpPr>
        <p:spPr>
          <a:xfrm>
            <a:off x="549275" y="1436370"/>
            <a:ext cx="5734050" cy="19240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505"/>
              </a:lnSpc>
              <a:buNone/>
            </a:pPr>
            <a:r>
              <a:rPr lang="en-US" sz="1005" b="1" dirty="0">
                <a:solidFill>
                  <a:srgbClr val="121C23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RLVR 的优势：客观信号 + 无限扩展</a:t>
            </a:r>
            <a:endParaRPr lang="en-US" sz="1005" dirty="0"/>
          </a:p>
        </p:txBody>
      </p:sp>
      <p:sp>
        <p:nvSpPr>
          <p:cNvPr id="11" name="TextBox 30"/>
          <p:cNvSpPr/>
          <p:nvPr>
            <p:custDataLst>
              <p:tags r:id="rId8"/>
            </p:custDataLst>
          </p:nvPr>
        </p:nvSpPr>
        <p:spPr>
          <a:xfrm>
            <a:off x="549275" y="1650683"/>
            <a:ext cx="5734050" cy="31115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215"/>
              </a:lnSpc>
              <a:buNone/>
            </a:pPr>
            <a:r>
              <a:rPr lang="en-US" sz="810" dirty="0">
                <a:solidFill>
                  <a:srgbClr val="5A656D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对有</a:t>
            </a:r>
            <a:r>
              <a:rPr lang="en-US" sz="810" b="1" dirty="0">
                <a:solidFill>
                  <a:srgbClr val="5A656D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"标准答案"</a:t>
            </a:r>
            <a:r>
              <a:rPr lang="en-US" sz="810" dirty="0">
                <a:solidFill>
                  <a:srgbClr val="5A656D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的任务（数学、代码、逻辑），奖励是客观的——不评判"推导是否合理"，只检查"最终结果对不对"。</a:t>
            </a:r>
            <a:r>
              <a:rPr lang="en-US" sz="810" b="1" dirty="0">
                <a:solidFill>
                  <a:srgbClr val="5A656D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只要有标准答案，训练信号可无限自动生成</a:t>
            </a:r>
            <a:r>
              <a:rPr lang="en-US" sz="810" dirty="0">
                <a:solidFill>
                  <a:srgbClr val="5A656D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，不依赖人类标注。</a:t>
            </a:r>
            <a:endParaRPr lang="en-US" sz="810" dirty="0"/>
          </a:p>
        </p:txBody>
      </p:sp>
      <p:sp>
        <p:nvSpPr>
          <p:cNvPr id="12" name="TextBox 36"/>
          <p:cNvSpPr/>
          <p:nvPr>
            <p:custDataLst>
              <p:tags r:id="rId9"/>
            </p:custDataLst>
          </p:nvPr>
        </p:nvSpPr>
        <p:spPr>
          <a:xfrm>
            <a:off x="168275" y="2026920"/>
            <a:ext cx="266700" cy="18986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r">
              <a:lnSpc>
                <a:spcPts val="1485"/>
              </a:lnSpc>
              <a:buNone/>
            </a:pPr>
            <a:r>
              <a:rPr lang="en-US" sz="1235" b="1" dirty="0">
                <a:solidFill>
                  <a:srgbClr val="299236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3</a:t>
            </a:r>
            <a:endParaRPr lang="en-US" sz="1235" dirty="0"/>
          </a:p>
        </p:txBody>
      </p:sp>
      <p:sp>
        <p:nvSpPr>
          <p:cNvPr id="13" name="TextBox 40"/>
          <p:cNvSpPr/>
          <p:nvPr>
            <p:custDataLst>
              <p:tags r:id="rId10"/>
            </p:custDataLst>
          </p:nvPr>
        </p:nvSpPr>
        <p:spPr>
          <a:xfrm>
            <a:off x="549275" y="2026920"/>
            <a:ext cx="5734050" cy="19240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505"/>
              </a:lnSpc>
              <a:buNone/>
            </a:pPr>
            <a:r>
              <a:rPr lang="en-US" sz="1005" b="1" dirty="0">
                <a:solidFill>
                  <a:srgbClr val="121C23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大规模 RL 的放大效应：推理行为的自发涌现</a:t>
            </a:r>
            <a:endParaRPr lang="en-US" sz="1005" dirty="0"/>
          </a:p>
        </p:txBody>
      </p:sp>
      <p:sp>
        <p:nvSpPr>
          <p:cNvPr id="14" name="TextBox 42"/>
          <p:cNvSpPr/>
          <p:nvPr>
            <p:custDataLst>
              <p:tags r:id="rId11"/>
            </p:custDataLst>
          </p:nvPr>
        </p:nvSpPr>
        <p:spPr>
          <a:xfrm>
            <a:off x="549275" y="2241232"/>
            <a:ext cx="5734050" cy="46736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215"/>
              </a:lnSpc>
              <a:buNone/>
            </a:pPr>
            <a:r>
              <a:rPr lang="en-US" sz="810" dirty="0">
                <a:solidFill>
                  <a:srgbClr val="5A656D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DeepSeek-R1-Zero（纯 RL，完全不经过 SFT）训练中</a:t>
            </a:r>
            <a:r>
              <a:rPr lang="en-US" sz="810" b="1" dirty="0">
                <a:solidFill>
                  <a:srgbClr val="5A656D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自发涌现</a:t>
            </a:r>
            <a:r>
              <a:rPr lang="en-US" sz="810" dirty="0">
                <a:solidFill>
                  <a:srgbClr val="5A656D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：Chain-of-Thought 变长、</a:t>
            </a:r>
            <a:r>
              <a:rPr lang="en-US" sz="810" b="1" dirty="0">
                <a:solidFill>
                  <a:srgbClr val="5A656D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自我反思</a:t>
            </a:r>
            <a:r>
              <a:rPr lang="en-US" sz="810" dirty="0">
                <a:solidFill>
                  <a:srgbClr val="5A656D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（"等等，我检查一下"）、</a:t>
            </a:r>
            <a:r>
              <a:rPr lang="en-US" sz="810" b="1" dirty="0">
                <a:solidFill>
                  <a:srgbClr val="5A656D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自我纠正</a:t>
            </a:r>
            <a:r>
              <a:rPr lang="en-US" sz="810" dirty="0">
                <a:solidFill>
                  <a:srgbClr val="5A656D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（"不对，那步有误"）、</a:t>
            </a:r>
            <a:r>
              <a:rPr lang="en-US" sz="810" b="1" dirty="0">
                <a:solidFill>
                  <a:srgbClr val="5A656D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多路径探索</a:t>
            </a:r>
            <a:r>
              <a:rPr lang="en-US" sz="810" dirty="0">
                <a:solidFill>
                  <a:srgbClr val="5A656D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（"另一种思路是…"）。AIME 2024 准确率从 15.6% → </a:t>
            </a:r>
            <a:r>
              <a:rPr lang="en-US" sz="810" b="1" dirty="0">
                <a:solidFill>
                  <a:srgbClr val="5A656D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77.9%</a:t>
            </a:r>
            <a:r>
              <a:rPr lang="en-US" sz="810" dirty="0">
                <a:solidFill>
                  <a:srgbClr val="5A656D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，MATH-500 达 </a:t>
            </a:r>
            <a:r>
              <a:rPr lang="en-US" sz="810" b="1" dirty="0">
                <a:solidFill>
                  <a:srgbClr val="5A656D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95.9%</a:t>
            </a:r>
            <a:r>
              <a:rPr lang="en-US" sz="810" dirty="0">
                <a:solidFill>
                  <a:srgbClr val="5A656D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。</a:t>
            </a:r>
            <a:endParaRPr lang="en-US" sz="810" dirty="0"/>
          </a:p>
        </p:txBody>
      </p:sp>
      <p:sp>
        <p:nvSpPr>
          <p:cNvPr id="15" name="TextBox 48"/>
          <p:cNvSpPr/>
          <p:nvPr>
            <p:custDataLst>
              <p:tags r:id="rId12"/>
            </p:custDataLst>
          </p:nvPr>
        </p:nvSpPr>
        <p:spPr>
          <a:xfrm>
            <a:off x="282575" y="2693035"/>
            <a:ext cx="152400" cy="18986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r">
              <a:lnSpc>
                <a:spcPts val="1485"/>
              </a:lnSpc>
              <a:buNone/>
            </a:pPr>
            <a:r>
              <a:rPr lang="en-US" sz="1235" b="1" dirty="0">
                <a:solidFill>
                  <a:srgbClr val="299236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4</a:t>
            </a:r>
            <a:endParaRPr lang="en-US" sz="1235" dirty="0"/>
          </a:p>
        </p:txBody>
      </p:sp>
      <p:sp>
        <p:nvSpPr>
          <p:cNvPr id="16" name="TextBox 52"/>
          <p:cNvSpPr/>
          <p:nvPr>
            <p:custDataLst>
              <p:tags r:id="rId13"/>
            </p:custDataLst>
          </p:nvPr>
        </p:nvSpPr>
        <p:spPr>
          <a:xfrm>
            <a:off x="549275" y="2693035"/>
            <a:ext cx="5734050" cy="19240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505"/>
              </a:lnSpc>
              <a:buNone/>
            </a:pPr>
            <a:r>
              <a:rPr lang="en-US" sz="1005" b="1" dirty="0">
                <a:solidFill>
                  <a:srgbClr val="121C23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"顿悟时刻"（Aha Moment）：元认知的涌现</a:t>
            </a:r>
            <a:endParaRPr lang="en-US" sz="1005" dirty="0"/>
          </a:p>
        </p:txBody>
      </p:sp>
      <p:sp>
        <p:nvSpPr>
          <p:cNvPr id="17" name="TextBox 54"/>
          <p:cNvSpPr/>
          <p:nvPr>
            <p:custDataLst>
              <p:tags r:id="rId14"/>
            </p:custDataLst>
          </p:nvPr>
        </p:nvSpPr>
        <p:spPr>
          <a:xfrm>
            <a:off x="549275" y="2831783"/>
            <a:ext cx="5734050" cy="31115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215"/>
              </a:lnSpc>
              <a:buNone/>
            </a:pPr>
            <a:r>
              <a:rPr lang="en-US" sz="810" dirty="0">
                <a:solidFill>
                  <a:srgbClr val="5A656D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DeepSeek-R1 论文报告，模型在 RL 训练中途（约 step 8,000）突然学会</a:t>
            </a:r>
            <a:r>
              <a:rPr lang="en-US" sz="810" b="1" dirty="0">
                <a:solidFill>
                  <a:srgbClr val="5A656D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"给难题分配更多思考时间"</a:t>
            </a:r>
            <a:r>
              <a:rPr lang="en-US" sz="810" dirty="0">
                <a:solidFill>
                  <a:srgbClr val="5A656D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——一种</a:t>
            </a:r>
            <a:r>
              <a:rPr lang="en-US" sz="810" b="1" dirty="0">
                <a:solidFill>
                  <a:srgbClr val="5A656D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没有被人为编程的元认知行为</a:t>
            </a:r>
            <a:r>
              <a:rPr lang="en-US" sz="810" dirty="0">
                <a:solidFill>
                  <a:srgbClr val="5A656D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。模型自主学会了"难的问题多想一会儿"。推理能力不是被"教"出来的，而是在奖励信号引导下</a:t>
            </a:r>
            <a:r>
              <a:rPr lang="en-US" sz="810" b="1" dirty="0">
                <a:solidFill>
                  <a:srgbClr val="5A656D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涌现</a:t>
            </a:r>
            <a:r>
              <a:rPr lang="en-US" sz="810" dirty="0">
                <a:solidFill>
                  <a:srgbClr val="5A656D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的。</a:t>
            </a:r>
            <a:endParaRPr lang="en-US" sz="810" dirty="0"/>
          </a:p>
        </p:txBody>
      </p:sp>
      <p:sp>
        <p:nvSpPr>
          <p:cNvPr id="18" name="TextBox 61"/>
          <p:cNvSpPr/>
          <p:nvPr/>
        </p:nvSpPr>
        <p:spPr>
          <a:xfrm>
            <a:off x="6762750" y="1000125"/>
            <a:ext cx="1905000" cy="100012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810"/>
              </a:lnSpc>
              <a:buNone/>
            </a:pPr>
            <a:r>
              <a:rPr lang="en-US" sz="540" kern="0" spc="43" dirty="0">
                <a:solidFill>
                  <a:srgbClr val="299236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DEEPSEEK-R1 关键指标</a:t>
            </a:r>
            <a:endParaRPr lang="en-US" sz="540" dirty="0"/>
          </a:p>
        </p:txBody>
      </p:sp>
      <p:graphicFrame>
        <p:nvGraphicFramePr>
          <p:cNvPr id="19" name="Table 63"/>
          <p:cNvGraphicFramePr>
            <a:graphicFrameLocks noGrp="1"/>
          </p:cNvGraphicFramePr>
          <p:nvPr>
            <p:custDataLst>
              <p:tags r:id="rId15"/>
            </p:custDataLst>
          </p:nvPr>
        </p:nvGraphicFramePr>
        <p:xfrm>
          <a:off x="6598285" y="1233170"/>
          <a:ext cx="2069465" cy="1642110"/>
        </p:xfrm>
        <a:graphic>
          <a:graphicData uri="http://schemas.openxmlformats.org/drawingml/2006/table">
            <a:tbl>
              <a:tblPr/>
              <a:tblGrid>
                <a:gridCol w="971550"/>
                <a:gridCol w="1097915"/>
              </a:tblGrid>
              <a:tr h="273685"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1040"/>
                        </a:lnSpc>
                        <a:buNone/>
                      </a:pPr>
                      <a:r>
                        <a:rPr lang="en-US" sz="695" b="1" dirty="0">
                          <a:solidFill>
                            <a:srgbClr val="121C23"/>
                          </a:solidFill>
                          <a:latin typeface="Segoe UI" panose="020B0502040204020203" pitchFamily="34" charset="0"/>
                          <a:ea typeface="Segoe UI" panose="020B0502040204020203" pitchFamily="34" charset="-122"/>
                          <a:cs typeface="Segoe UI" panose="020B0502040204020203" pitchFamily="34" charset="-120"/>
                        </a:rPr>
                        <a:t>AIME 2024</a:t>
                      </a:r>
                      <a:endParaRPr lang="en-US" sz="695" dirty="0">
                        <a:latin typeface="Segoe UI" panose="020B0502040204020203" pitchFamily="34" charset="0"/>
                        <a:ea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63742" marR="63742" marT="44129" marB="44129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4903" cap="flat" cmpd="sng" algn="ctr">
                      <a:solidFill>
                        <a:srgbClr val="D9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1040"/>
                        </a:lnSpc>
                        <a:buNone/>
                      </a:pPr>
                      <a:r>
                        <a:rPr lang="en-US" sz="695" b="1" dirty="0">
                          <a:solidFill>
                            <a:srgbClr val="299236"/>
                          </a:solidFill>
                          <a:latin typeface="Consolas" panose="020B0609020204030204" pitchFamily="34" charset="0"/>
                          <a:ea typeface="Consolas" panose="020B0609020204030204" pitchFamily="34" charset="-122"/>
                          <a:cs typeface="Consolas" panose="020B0609020204030204" pitchFamily="34" charset="-120"/>
                        </a:rPr>
                        <a:t>79.8%</a:t>
                      </a:r>
                      <a:endParaRPr lang="en-US" sz="695" dirty="0">
                        <a:latin typeface="Consolas" panose="020B0609020204030204" pitchFamily="34" charset="0"/>
                        <a:ea typeface="Consolas" panose="020B0609020204030204" pitchFamily="34" charset="0"/>
                        <a:cs typeface="Consolas" panose="020B0609020204030204" pitchFamily="34" charset="0"/>
                      </a:endParaRPr>
                    </a:p>
                  </a:txBody>
                  <a:tcPr marL="63742" marR="63742" marT="44129" marB="44129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4903" cap="flat" cmpd="sng" algn="ctr">
                      <a:solidFill>
                        <a:srgbClr val="D9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273685"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1040"/>
                        </a:lnSpc>
                        <a:buNone/>
                      </a:pPr>
                      <a:r>
                        <a:rPr lang="en-US" sz="695" b="1" dirty="0">
                          <a:solidFill>
                            <a:srgbClr val="121C23"/>
                          </a:solidFill>
                          <a:latin typeface="Segoe UI" panose="020B0502040204020203" pitchFamily="34" charset="0"/>
                          <a:ea typeface="Segoe UI" panose="020B0502040204020203" pitchFamily="34" charset="-122"/>
                          <a:cs typeface="Segoe UI" panose="020B0502040204020203" pitchFamily="34" charset="-120"/>
                        </a:rPr>
                        <a:t>MATH-500</a:t>
                      </a:r>
                      <a:endParaRPr lang="en-US" sz="695" dirty="0">
                        <a:latin typeface="Segoe UI" panose="020B0502040204020203" pitchFamily="34" charset="0"/>
                        <a:ea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63742" marR="63742" marT="44129" marB="44129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4903" cap="flat" cmpd="sng" algn="ctr">
                      <a:solidFill>
                        <a:srgbClr val="D9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1040"/>
                        </a:lnSpc>
                        <a:buNone/>
                      </a:pPr>
                      <a:r>
                        <a:rPr lang="en-US" sz="695" b="1" dirty="0">
                          <a:solidFill>
                            <a:srgbClr val="299236"/>
                          </a:solidFill>
                          <a:latin typeface="Consolas" panose="020B0609020204030204" pitchFamily="34" charset="0"/>
                          <a:ea typeface="Consolas" panose="020B0609020204030204" pitchFamily="34" charset="-122"/>
                          <a:cs typeface="Consolas" panose="020B0609020204030204" pitchFamily="34" charset="-120"/>
                        </a:rPr>
                        <a:t>97.3%</a:t>
                      </a:r>
                      <a:endParaRPr lang="en-US" sz="695" dirty="0">
                        <a:latin typeface="Consolas" panose="020B0609020204030204" pitchFamily="34" charset="0"/>
                        <a:ea typeface="Consolas" panose="020B0609020204030204" pitchFamily="34" charset="0"/>
                        <a:cs typeface="Consolas" panose="020B0609020204030204" pitchFamily="34" charset="0"/>
                      </a:endParaRPr>
                    </a:p>
                  </a:txBody>
                  <a:tcPr marL="63742" marR="63742" marT="44129" marB="44129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4903" cap="flat" cmpd="sng" algn="ctr">
                      <a:solidFill>
                        <a:srgbClr val="D9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273685"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1040"/>
                        </a:lnSpc>
                        <a:buNone/>
                      </a:pPr>
                      <a:r>
                        <a:rPr lang="en-US" sz="695" b="1" dirty="0">
                          <a:solidFill>
                            <a:srgbClr val="121C23"/>
                          </a:solidFill>
                          <a:latin typeface="Segoe UI" panose="020B0502040204020203" pitchFamily="34" charset="0"/>
                          <a:ea typeface="Segoe UI" panose="020B0502040204020203" pitchFamily="34" charset="-122"/>
                          <a:cs typeface="Segoe UI" panose="020B0502040204020203" pitchFamily="34" charset="-120"/>
                        </a:rPr>
                        <a:t>Codeforces</a:t>
                      </a:r>
                      <a:endParaRPr lang="en-US" sz="695" dirty="0">
                        <a:latin typeface="Segoe UI" panose="020B0502040204020203" pitchFamily="34" charset="0"/>
                        <a:ea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63742" marR="63742" marT="44129" marB="44129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4903" cap="flat" cmpd="sng" algn="ctr">
                      <a:solidFill>
                        <a:srgbClr val="D9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1040"/>
                        </a:lnSpc>
                        <a:buNone/>
                      </a:pPr>
                      <a:r>
                        <a:rPr lang="en-US" sz="695" b="1" dirty="0">
                          <a:solidFill>
                            <a:srgbClr val="299236"/>
                          </a:solidFill>
                          <a:latin typeface="Consolas" panose="020B0609020204030204" pitchFamily="34" charset="0"/>
                          <a:ea typeface="Consolas" panose="020B0609020204030204" pitchFamily="34" charset="-122"/>
                          <a:cs typeface="Consolas" panose="020B0609020204030204" pitchFamily="34" charset="-120"/>
                        </a:rPr>
                        <a:t>96.3 percentile</a:t>
                      </a:r>
                      <a:endParaRPr lang="en-US" sz="695" dirty="0">
                        <a:latin typeface="Consolas" panose="020B0609020204030204" pitchFamily="34" charset="0"/>
                        <a:ea typeface="Consolas" panose="020B0609020204030204" pitchFamily="34" charset="0"/>
                        <a:cs typeface="Consolas" panose="020B0609020204030204" pitchFamily="34" charset="0"/>
                      </a:endParaRPr>
                    </a:p>
                  </a:txBody>
                  <a:tcPr marL="63742" marR="63742" marT="44129" marB="44129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4903" cap="flat" cmpd="sng" algn="ctr">
                      <a:solidFill>
                        <a:srgbClr val="D9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273685"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1040"/>
                        </a:lnSpc>
                        <a:buNone/>
                      </a:pPr>
                      <a:r>
                        <a:rPr lang="en-US" sz="695" b="1" dirty="0">
                          <a:solidFill>
                            <a:srgbClr val="121C23"/>
                          </a:solidFill>
                          <a:latin typeface="Segoe UI" panose="020B0502040204020203" pitchFamily="34" charset="0"/>
                          <a:ea typeface="Segoe UI" panose="020B0502040204020203" pitchFamily="34" charset="-122"/>
                          <a:cs typeface="Segoe UI" panose="020B0502040204020203" pitchFamily="34" charset="-120"/>
                        </a:rPr>
                        <a:t>MMLU</a:t>
                      </a:r>
                      <a:endParaRPr lang="en-US" sz="695" dirty="0">
                        <a:latin typeface="Segoe UI" panose="020B0502040204020203" pitchFamily="34" charset="0"/>
                        <a:ea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63742" marR="63742" marT="44129" marB="44129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4903" cap="flat" cmpd="sng" algn="ctr">
                      <a:solidFill>
                        <a:srgbClr val="D9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1040"/>
                        </a:lnSpc>
                        <a:buNone/>
                      </a:pPr>
                      <a:r>
                        <a:rPr lang="en-US" sz="695" b="1" dirty="0">
                          <a:solidFill>
                            <a:srgbClr val="299236"/>
                          </a:solidFill>
                          <a:latin typeface="Consolas" panose="020B0609020204030204" pitchFamily="34" charset="0"/>
                          <a:ea typeface="Consolas" panose="020B0609020204030204" pitchFamily="34" charset="-122"/>
                          <a:cs typeface="Consolas" panose="020B0609020204030204" pitchFamily="34" charset="-120"/>
                        </a:rPr>
                        <a:t>90.8%</a:t>
                      </a:r>
                      <a:endParaRPr lang="en-US" sz="695" dirty="0">
                        <a:latin typeface="Consolas" panose="020B0609020204030204" pitchFamily="34" charset="0"/>
                        <a:ea typeface="Consolas" panose="020B0609020204030204" pitchFamily="34" charset="0"/>
                        <a:cs typeface="Consolas" panose="020B0609020204030204" pitchFamily="34" charset="0"/>
                      </a:endParaRPr>
                    </a:p>
                  </a:txBody>
                  <a:tcPr marL="63742" marR="63742" marT="44129" marB="44129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4903" cap="flat" cmpd="sng" algn="ctr">
                      <a:solidFill>
                        <a:srgbClr val="D9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273685"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1040"/>
                        </a:lnSpc>
                        <a:buNone/>
                      </a:pPr>
                      <a:r>
                        <a:rPr lang="en-US" sz="695" b="1" dirty="0">
                          <a:solidFill>
                            <a:srgbClr val="121C23"/>
                          </a:solidFill>
                          <a:latin typeface="Segoe UI" panose="020B0502040204020203" pitchFamily="34" charset="0"/>
                          <a:ea typeface="Segoe UI" panose="020B0502040204020203" pitchFamily="34" charset="-122"/>
                          <a:cs typeface="Segoe UI" panose="020B0502040204020203" pitchFamily="34" charset="-120"/>
                        </a:rPr>
                        <a:t>GPQA Diamond</a:t>
                      </a:r>
                      <a:endParaRPr lang="en-US" sz="695" dirty="0">
                        <a:latin typeface="Segoe UI" panose="020B0502040204020203" pitchFamily="34" charset="0"/>
                        <a:ea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63742" marR="63742" marT="44129" marB="44129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4903" cap="flat" cmpd="sng" algn="ctr">
                      <a:solidFill>
                        <a:srgbClr val="D9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1040"/>
                        </a:lnSpc>
                        <a:buNone/>
                      </a:pPr>
                      <a:r>
                        <a:rPr lang="en-US" sz="695" b="1" dirty="0">
                          <a:solidFill>
                            <a:srgbClr val="299236"/>
                          </a:solidFill>
                          <a:latin typeface="Consolas" panose="020B0609020204030204" pitchFamily="34" charset="0"/>
                          <a:ea typeface="Consolas" panose="020B0609020204030204" pitchFamily="34" charset="-122"/>
                          <a:cs typeface="Consolas" panose="020B0609020204030204" pitchFamily="34" charset="-120"/>
                        </a:rPr>
                        <a:t>71.5%</a:t>
                      </a:r>
                      <a:endParaRPr lang="en-US" sz="695" dirty="0">
                        <a:latin typeface="Consolas" panose="020B0609020204030204" pitchFamily="34" charset="0"/>
                        <a:ea typeface="Consolas" panose="020B0609020204030204" pitchFamily="34" charset="0"/>
                        <a:cs typeface="Consolas" panose="020B0609020204030204" pitchFamily="34" charset="0"/>
                      </a:endParaRPr>
                    </a:p>
                  </a:txBody>
                  <a:tcPr marL="63742" marR="63742" marT="44129" marB="44129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4903" cap="flat" cmpd="sng" algn="ctr">
                      <a:solidFill>
                        <a:srgbClr val="D9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273685"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1040"/>
                        </a:lnSpc>
                        <a:buNone/>
                      </a:pPr>
                      <a:r>
                        <a:rPr lang="en-US" sz="695" b="1" dirty="0">
                          <a:solidFill>
                            <a:srgbClr val="121C23"/>
                          </a:solidFill>
                          <a:latin typeface="Segoe UI" panose="020B0502040204020203" pitchFamily="34" charset="0"/>
                          <a:ea typeface="Segoe UI" panose="020B0502040204020203" pitchFamily="34" charset="-122"/>
                          <a:cs typeface="Segoe UI" panose="020B0502040204020203" pitchFamily="34" charset="-120"/>
                        </a:rPr>
                        <a:t>SWE-bench</a:t>
                      </a:r>
                      <a:endParaRPr lang="en-US" sz="695" dirty="0">
                        <a:latin typeface="Segoe UI" panose="020B0502040204020203" pitchFamily="34" charset="0"/>
                        <a:ea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63742" marR="63742" marT="44129" marB="44129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1040"/>
                        </a:lnSpc>
                        <a:buNone/>
                      </a:pPr>
                      <a:r>
                        <a:rPr lang="en-US" sz="695" b="1" dirty="0">
                          <a:solidFill>
                            <a:srgbClr val="299236"/>
                          </a:solidFill>
                          <a:latin typeface="Consolas" panose="020B0609020204030204" pitchFamily="34" charset="0"/>
                          <a:ea typeface="Consolas" panose="020B0609020204030204" pitchFamily="34" charset="-122"/>
                          <a:cs typeface="Consolas" panose="020B0609020204030204" pitchFamily="34" charset="-120"/>
                        </a:rPr>
                        <a:t>49.2%</a:t>
                      </a:r>
                      <a:endParaRPr lang="en-US" sz="695" dirty="0">
                        <a:latin typeface="Consolas" panose="020B0609020204030204" pitchFamily="34" charset="0"/>
                        <a:ea typeface="Consolas" panose="020B0609020204030204" pitchFamily="34" charset="0"/>
                        <a:cs typeface="Consolas" panose="020B0609020204030204" pitchFamily="34" charset="0"/>
                      </a:endParaRPr>
                    </a:p>
                  </a:txBody>
                  <a:tcPr marL="63742" marR="63742" marT="44129" marB="44129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</a:tbl>
          </a:graphicData>
        </a:graphic>
      </p:graphicFrame>
      <p:pic>
        <p:nvPicPr>
          <p:cNvPr id="22" name="Picture 72" descr="__type_image"/>
          <p:cNvPicPr>
            <a:picLocks noChangeAspect="1"/>
          </p:cNvPicPr>
          <p:nvPr/>
        </p:nvPicPr>
        <p:blipFill>
          <a:blip r:embed="rId16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476250" y="4819650"/>
            <a:ext cx="8191500" cy="171450"/>
          </a:xfrm>
          <a:prstGeom prst="rect">
            <a:avLst/>
          </a:prstGeom>
        </p:spPr>
      </p:pic>
      <p:sp>
        <p:nvSpPr>
          <p:cNvPr id="23" name="TextBox 72"/>
          <p:cNvSpPr/>
          <p:nvPr/>
        </p:nvSpPr>
        <p:spPr>
          <a:xfrm>
            <a:off x="476250" y="4819650"/>
            <a:ext cx="8191500" cy="171450"/>
          </a:xfrm>
          <a:prstGeom prst="rect">
            <a:avLst/>
          </a:prstGeom>
          <a:noFill/>
        </p:spPr>
        <p:txBody>
          <a:bodyPr wrap="square" lIns="0" tIns="68645" rIns="0" bIns="0" rtlCol="0" anchor="t">
            <a:spAutoFit/>
          </a:bodyPr>
          <a:lstStyle/>
          <a:p>
            <a:pPr marL="0" indent="0" algn="l">
              <a:lnSpc>
                <a:spcPts val="810"/>
              </a:lnSpc>
              <a:buNone/>
            </a:pPr>
            <a:r>
              <a:rPr lang="en-US" sz="540" kern="0" spc="22" dirty="0">
                <a:solidFill>
                  <a:srgbClr val="5A656D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RLVR 不给"过程分"，只给"结果分"——但这恰好逼出了真正的推理能力 | 参考：DeepSeek-R1, arXiv:2501.12948</a:t>
            </a:r>
            <a:endParaRPr lang="en-US" sz="540" dirty="0"/>
          </a:p>
        </p:txBody>
      </p:sp>
      <p:pic>
        <p:nvPicPr>
          <p:cNvPr id="24" name="图片 23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134620" y="3320415"/>
            <a:ext cx="5901055" cy="1414145"/>
          </a:xfrm>
          <a:prstGeom prst="rect">
            <a:avLst/>
          </a:prstGeom>
        </p:spPr>
      </p:pic>
      <p:sp>
        <p:nvSpPr>
          <p:cNvPr id="25" name="文本框 24"/>
          <p:cNvSpPr txBox="1"/>
          <p:nvPr/>
        </p:nvSpPr>
        <p:spPr>
          <a:xfrm>
            <a:off x="6035675" y="3289300"/>
            <a:ext cx="2917190" cy="186055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sz="1200"/>
              <a:t>左图展现了随着迭代次数增加</a:t>
            </a:r>
            <a:r>
              <a:rPr lang="en-US" altLang="zh-CN" sz="1200"/>
              <a:t>,R1-Zero</a:t>
            </a:r>
            <a:r>
              <a:rPr lang="zh-CN" altLang="en-US" sz="1200"/>
              <a:t>模型成功解决难题的概率大大增加</a:t>
            </a:r>
            <a:r>
              <a:rPr lang="en-US" altLang="zh-CN" sz="1200"/>
              <a:t>,</a:t>
            </a:r>
            <a:r>
              <a:rPr lang="zh-CN" altLang="en-US" sz="1200"/>
              <a:t>证明了</a:t>
            </a:r>
            <a:r>
              <a:rPr lang="en-US" altLang="zh-CN" sz="1200"/>
              <a:t>RLVR</a:t>
            </a:r>
            <a:r>
              <a:rPr lang="zh-CN" altLang="en-US" sz="1200"/>
              <a:t>给模型带来了推理能力上的提升</a:t>
            </a:r>
            <a:endParaRPr lang="zh-CN" altLang="en-US" sz="1200"/>
          </a:p>
          <a:p>
            <a:endParaRPr lang="zh-CN" altLang="en-US" sz="1200"/>
          </a:p>
          <a:p>
            <a:r>
              <a:rPr lang="zh-CN" altLang="en-US" sz="1200"/>
              <a:t>右图纵坐标为</a:t>
            </a:r>
            <a:r>
              <a:rPr lang="en-US" altLang="zh-CN" sz="1200"/>
              <a:t>R1-Zero</a:t>
            </a:r>
            <a:r>
              <a:rPr lang="zh-CN" altLang="en-US" sz="1200"/>
              <a:t>模型回答的平均</a:t>
            </a:r>
            <a:r>
              <a:rPr lang="en-US" altLang="zh-CN" sz="1200"/>
              <a:t>Token</a:t>
            </a:r>
            <a:r>
              <a:rPr lang="zh-CN" altLang="en-US" sz="1200"/>
              <a:t>长度</a:t>
            </a:r>
            <a:r>
              <a:rPr lang="en-US" altLang="zh-CN" sz="1200"/>
              <a:t>,</a:t>
            </a:r>
            <a:r>
              <a:rPr lang="zh-CN" altLang="en-US" sz="1200"/>
              <a:t>代表思考长度</a:t>
            </a:r>
            <a:r>
              <a:rPr lang="en-US" altLang="zh-CN" sz="1200"/>
              <a:t>,</a:t>
            </a:r>
            <a:r>
              <a:rPr lang="zh-CN" altLang="en-US" sz="1200"/>
              <a:t>图中的曲线会呈现一个阶梯式或波动上升的趋势，尤其在训练的某个中间节点（比如</a:t>
            </a:r>
            <a:r>
              <a:rPr lang="en-US" altLang="zh-CN" sz="1200"/>
              <a:t>Step 8000</a:t>
            </a:r>
            <a:r>
              <a:rPr lang="zh-CN" altLang="en-US" sz="1200"/>
              <a:t>附近）会出现一个明显的跃升</a:t>
            </a:r>
            <a:r>
              <a:rPr lang="en-US" altLang="zh-CN" sz="1200"/>
              <a:t>,</a:t>
            </a:r>
            <a:r>
              <a:rPr lang="zh-CN" altLang="en-US" sz="1200"/>
              <a:t>即</a:t>
            </a:r>
            <a:r>
              <a:rPr lang="en-US" altLang="zh-CN" sz="1200"/>
              <a:t>”</a:t>
            </a:r>
            <a:r>
              <a:rPr lang="zh-CN" altLang="en-US" sz="1200"/>
              <a:t>顿悟时刻</a:t>
            </a:r>
            <a:r>
              <a:rPr lang="en-US" altLang="zh-CN" sz="1200"/>
              <a:t>”</a:t>
            </a:r>
            <a:endParaRPr lang="en-US" altLang="zh-CN" sz="12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6F9FC"/>
          </a:solidFill>
        </p:spPr>
      </p:sp>
      <p:sp>
        <p:nvSpPr>
          <p:cNvPr id="3" name="Shape 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6F9FC"/>
          </a:solidFill>
        </p:spPr>
      </p:sp>
      <p:pic>
        <p:nvPicPr>
          <p:cNvPr id="4" name="Picture 4" descr="__type_image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76250" y="381000"/>
            <a:ext cx="8191500" cy="390525"/>
          </a:xfrm>
          <a:prstGeom prst="rect">
            <a:avLst/>
          </a:prstGeom>
        </p:spPr>
      </p:pic>
      <p:sp>
        <p:nvSpPr>
          <p:cNvPr id="5" name="TextBox 4"/>
          <p:cNvSpPr/>
          <p:nvPr/>
        </p:nvSpPr>
        <p:spPr>
          <a:xfrm>
            <a:off x="476250" y="381000"/>
            <a:ext cx="8191500" cy="390525"/>
          </a:xfrm>
          <a:prstGeom prst="rect">
            <a:avLst/>
          </a:prstGeom>
          <a:noFill/>
        </p:spPr>
        <p:txBody>
          <a:bodyPr wrap="square" lIns="0" tIns="0" rIns="0" bIns="98065" rtlCol="0" anchor="t">
            <a:spAutoFit/>
          </a:bodyPr>
          <a:lstStyle/>
          <a:p>
            <a:pPr marL="0" indent="0" algn="l">
              <a:lnSpc>
                <a:spcPts val="2315"/>
              </a:lnSpc>
              <a:buNone/>
            </a:pPr>
            <a:r>
              <a:rPr lang="en-US" sz="1545" b="1" kern="0" spc="-23" dirty="0">
                <a:solidFill>
                  <a:srgbClr val="121C23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RLHF vs RLVR：奖励信号的本质区别</a:t>
            </a:r>
            <a:endParaRPr lang="en-US" sz="1545" dirty="0"/>
          </a:p>
        </p:txBody>
      </p:sp>
      <p:graphicFrame>
        <p:nvGraphicFramePr>
          <p:cNvPr id="10" name="Table 8"/>
          <p:cNvGraphicFramePr>
            <a:graphicFrameLocks noGrp="1"/>
          </p:cNvGraphicFramePr>
          <p:nvPr>
            <p:custDataLst>
              <p:tags r:id="rId3"/>
            </p:custDataLst>
          </p:nvPr>
        </p:nvGraphicFramePr>
        <p:xfrm>
          <a:off x="421640" y="895350"/>
          <a:ext cx="5187315" cy="2776220"/>
        </p:xfrm>
        <a:graphic>
          <a:graphicData uri="http://schemas.openxmlformats.org/drawingml/2006/table">
            <a:tbl>
              <a:tblPr/>
              <a:tblGrid>
                <a:gridCol w="918210"/>
                <a:gridCol w="2065020"/>
                <a:gridCol w="2204085"/>
              </a:tblGrid>
              <a:tr h="417195"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925"/>
                        </a:lnSpc>
                        <a:buNone/>
                      </a:pPr>
                      <a:r>
                        <a:rPr lang="en-US" sz="620" b="1" kern="0" spc="37" dirty="0">
                          <a:solidFill>
                            <a:srgbClr val="299236"/>
                          </a:solidFill>
                          <a:latin typeface="Consolas" panose="020B0609020204030204" pitchFamily="34" charset="0"/>
                          <a:ea typeface="Consolas" panose="020B0609020204030204" pitchFamily="34" charset="-122"/>
                          <a:cs typeface="Consolas" panose="020B0609020204030204" pitchFamily="34" charset="-120"/>
                        </a:rPr>
                        <a:t>维度</a:t>
                      </a:r>
                      <a:endParaRPr lang="en-US" sz="620" dirty="0">
                        <a:latin typeface="Consolas" panose="020B0609020204030204" pitchFamily="34" charset="0"/>
                        <a:ea typeface="Consolas" panose="020B0609020204030204" pitchFamily="34" charset="0"/>
                        <a:cs typeface="Consolas" panose="020B0609020204030204" pitchFamily="34" charset="0"/>
                      </a:endParaRPr>
                    </a:p>
                  </a:txBody>
                  <a:tcPr marL="122581" marR="122581" marT="83355" marB="8335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806" cap="flat" cmpd="sng" algn="ctr">
                      <a:solidFill>
                        <a:srgbClr val="2992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A845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1275"/>
                        </a:lnSpc>
                        <a:buNone/>
                      </a:pPr>
                      <a:r>
                        <a:rPr lang="en-US" sz="850" b="1" dirty="0">
                          <a:solidFill>
                            <a:srgbClr val="121C23"/>
                          </a:solidFill>
                          <a:latin typeface="Segoe UI" panose="020B0502040204020203" pitchFamily="34" charset="0"/>
                          <a:ea typeface="Segoe UI" panose="020B0502040204020203" pitchFamily="34" charset="-122"/>
                          <a:cs typeface="Segoe UI" panose="020B0502040204020203" pitchFamily="34" charset="-120"/>
                        </a:rPr>
                        <a:t>RLHF</a:t>
                      </a:r>
                      <a:endParaRPr lang="en-US" sz="850" dirty="0">
                        <a:latin typeface="Segoe UI" panose="020B0502040204020203" pitchFamily="34" charset="0"/>
                        <a:ea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22581" marR="122581" marT="83355" marB="8335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806" cap="flat" cmpd="sng" algn="ctr">
                      <a:solidFill>
                        <a:srgbClr val="2992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A845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1275"/>
                        </a:lnSpc>
                        <a:buNone/>
                      </a:pPr>
                      <a:r>
                        <a:rPr lang="en-US" sz="850" b="1" dirty="0">
                          <a:solidFill>
                            <a:srgbClr val="121C23"/>
                          </a:solidFill>
                          <a:latin typeface="Segoe UI" panose="020B0502040204020203" pitchFamily="34" charset="0"/>
                          <a:ea typeface="Segoe UI" panose="020B0502040204020203" pitchFamily="34" charset="-122"/>
                          <a:cs typeface="Segoe UI" panose="020B0502040204020203" pitchFamily="34" charset="-120"/>
                        </a:rPr>
                        <a:t>RLVR</a:t>
                      </a:r>
                      <a:endParaRPr lang="en-US" sz="850" dirty="0">
                        <a:latin typeface="Segoe UI" panose="020B0502040204020203" pitchFamily="34" charset="0"/>
                        <a:ea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22581" marR="122581" marT="83355" marB="8335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806" cap="flat" cmpd="sng" algn="ctr">
                      <a:solidFill>
                        <a:srgbClr val="2992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A845A"/>
                    </a:solidFill>
                  </a:tcPr>
                </a:tc>
              </a:tr>
              <a:tr h="393700"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1275"/>
                        </a:lnSpc>
                        <a:buNone/>
                      </a:pPr>
                      <a:r>
                        <a:rPr lang="en-US" sz="850" b="1" dirty="0">
                          <a:solidFill>
                            <a:srgbClr val="121C23"/>
                          </a:solidFill>
                          <a:latin typeface="Segoe UI" panose="020B0502040204020203" pitchFamily="34" charset="0"/>
                          <a:ea typeface="Segoe UI" panose="020B0502040204020203" pitchFamily="34" charset="-122"/>
                          <a:cs typeface="Segoe UI" panose="020B0502040204020203" pitchFamily="34" charset="-120"/>
                        </a:rPr>
                        <a:t>信号类型</a:t>
                      </a:r>
                      <a:endParaRPr lang="en-US" sz="850" dirty="0">
                        <a:latin typeface="Segoe UI" panose="020B0502040204020203" pitchFamily="34" charset="0"/>
                        <a:ea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22581" marR="122581" marT="73549" marB="73549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4903" cap="flat" cmpd="sng" algn="ctr">
                      <a:solidFill>
                        <a:srgbClr val="D9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1275"/>
                        </a:lnSpc>
                        <a:buNone/>
                      </a:pPr>
                      <a:r>
                        <a:rPr lang="en-US" sz="850" dirty="0">
                          <a:solidFill>
                            <a:srgbClr val="121C23"/>
                          </a:solidFill>
                          <a:latin typeface="Segoe UI" panose="020B0502040204020203" pitchFamily="34" charset="0"/>
                          <a:ea typeface="Segoe UI" panose="020B0502040204020203" pitchFamily="34" charset="-122"/>
                          <a:cs typeface="Segoe UI" panose="020B0502040204020203" pitchFamily="34" charset="-120"/>
                        </a:rPr>
                        <a:t>主观偏好 — 人类觉得好不好</a:t>
                      </a:r>
                      <a:endParaRPr lang="en-US" sz="850" dirty="0">
                        <a:latin typeface="Segoe UI" panose="020B0502040204020203" pitchFamily="34" charset="0"/>
                        <a:ea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22581" marR="122581" marT="73549" marB="73549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4903" cap="flat" cmpd="sng" algn="ctr">
                      <a:solidFill>
                        <a:srgbClr val="D9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1275"/>
                        </a:lnSpc>
                        <a:buNone/>
                      </a:pPr>
                      <a:r>
                        <a:rPr lang="en-US" sz="850" dirty="0">
                          <a:solidFill>
                            <a:srgbClr val="5A656D"/>
                          </a:solidFill>
                          <a:latin typeface="Segoe UI" panose="020B0502040204020203" pitchFamily="34" charset="0"/>
                          <a:ea typeface="Segoe UI" panose="020B0502040204020203" pitchFamily="34" charset="-122"/>
                          <a:cs typeface="Segoe UI" panose="020B0502040204020203" pitchFamily="34" charset="-120"/>
                        </a:rPr>
                        <a:t>客观事实 — 答案对还是错</a:t>
                      </a:r>
                      <a:endParaRPr lang="en-US" sz="850" dirty="0">
                        <a:latin typeface="Segoe UI" panose="020B0502040204020203" pitchFamily="34" charset="0"/>
                        <a:ea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22581" marR="122581" marT="73549" marB="73549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4903" cap="flat" cmpd="sng" algn="ctr">
                      <a:solidFill>
                        <a:srgbClr val="D9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93065"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1275"/>
                        </a:lnSpc>
                        <a:buNone/>
                      </a:pPr>
                      <a:r>
                        <a:rPr lang="en-US" sz="850" b="1" dirty="0">
                          <a:solidFill>
                            <a:srgbClr val="121C23"/>
                          </a:solidFill>
                          <a:latin typeface="Segoe UI" panose="020B0502040204020203" pitchFamily="34" charset="0"/>
                          <a:ea typeface="Segoe UI" panose="020B0502040204020203" pitchFamily="34" charset="-122"/>
                          <a:cs typeface="Segoe UI" panose="020B0502040204020203" pitchFamily="34" charset="-120"/>
                        </a:rPr>
                        <a:t>可扩展性</a:t>
                      </a:r>
                      <a:endParaRPr lang="en-US" sz="850" dirty="0">
                        <a:latin typeface="Segoe UI" panose="020B0502040204020203" pitchFamily="34" charset="0"/>
                        <a:ea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22581" marR="122581" marT="73549" marB="73549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4903" cap="flat" cmpd="sng" algn="ctr">
                      <a:solidFill>
                        <a:srgbClr val="D9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1275"/>
                        </a:lnSpc>
                        <a:buNone/>
                      </a:pPr>
                      <a:r>
                        <a:rPr lang="en-US" sz="850" dirty="0">
                          <a:solidFill>
                            <a:srgbClr val="121C23"/>
                          </a:solidFill>
                          <a:latin typeface="Segoe UI" panose="020B0502040204020203" pitchFamily="34" charset="0"/>
                          <a:ea typeface="Segoe UI" panose="020B0502040204020203" pitchFamily="34" charset="-122"/>
                          <a:cs typeface="Segoe UI" panose="020B0502040204020203" pitchFamily="34" charset="-120"/>
                        </a:rPr>
                        <a:t>受限于人类标注的规模和质量</a:t>
                      </a:r>
                      <a:endParaRPr lang="en-US" sz="850" dirty="0">
                        <a:latin typeface="Segoe UI" panose="020B0502040204020203" pitchFamily="34" charset="0"/>
                        <a:ea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22581" marR="122581" marT="73549" marB="73549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4903" cap="flat" cmpd="sng" algn="ctr">
                      <a:solidFill>
                        <a:srgbClr val="D9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1275"/>
                        </a:lnSpc>
                        <a:buNone/>
                      </a:pPr>
                      <a:r>
                        <a:rPr lang="en-US" sz="850" dirty="0">
                          <a:solidFill>
                            <a:srgbClr val="5A656D"/>
                          </a:solidFill>
                          <a:latin typeface="Segoe UI" panose="020B0502040204020203" pitchFamily="34" charset="0"/>
                          <a:ea typeface="Segoe UI" panose="020B0502040204020203" pitchFamily="34" charset="-122"/>
                          <a:cs typeface="Segoe UI" panose="020B0502040204020203" pitchFamily="34" charset="-120"/>
                        </a:rPr>
                        <a:t>几乎无限 — 可自动生成训练信号</a:t>
                      </a:r>
                      <a:endParaRPr lang="en-US" sz="850" dirty="0">
                        <a:latin typeface="Segoe UI" panose="020B0502040204020203" pitchFamily="34" charset="0"/>
                        <a:ea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22581" marR="122581" marT="73549" marB="73549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4903" cap="flat" cmpd="sng" algn="ctr">
                      <a:solidFill>
                        <a:srgbClr val="D9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92430"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1275"/>
                        </a:lnSpc>
                        <a:buNone/>
                      </a:pPr>
                      <a:r>
                        <a:rPr lang="en-US" sz="850" b="1" dirty="0">
                          <a:solidFill>
                            <a:srgbClr val="121C23"/>
                          </a:solidFill>
                          <a:latin typeface="Segoe UI" panose="020B0502040204020203" pitchFamily="34" charset="0"/>
                          <a:ea typeface="Segoe UI" panose="020B0502040204020203" pitchFamily="34" charset="-122"/>
                          <a:cs typeface="Segoe UI" panose="020B0502040204020203" pitchFamily="34" charset="-120"/>
                        </a:rPr>
                        <a:t>奖励粒度</a:t>
                      </a:r>
                      <a:endParaRPr lang="en-US" sz="850" dirty="0">
                        <a:latin typeface="Segoe UI" panose="020B0502040204020203" pitchFamily="34" charset="0"/>
                        <a:ea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22581" marR="122581" marT="73549" marB="73549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4903" cap="flat" cmpd="sng" algn="ctr">
                      <a:solidFill>
                        <a:srgbClr val="D9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1275"/>
                        </a:lnSpc>
                        <a:buNone/>
                      </a:pPr>
                      <a:r>
                        <a:rPr lang="en-US" sz="850" dirty="0">
                          <a:solidFill>
                            <a:srgbClr val="121C23"/>
                          </a:solidFill>
                          <a:latin typeface="Segoe UI" panose="020B0502040204020203" pitchFamily="34" charset="0"/>
                          <a:ea typeface="Segoe UI" panose="020B0502040204020203" pitchFamily="34" charset="-122"/>
                          <a:cs typeface="Segoe UI" panose="020B0502040204020203" pitchFamily="34" charset="-120"/>
                        </a:rPr>
                        <a:t>整体评价 — 整段回答好不好</a:t>
                      </a:r>
                      <a:endParaRPr lang="en-US" sz="850" dirty="0">
                        <a:latin typeface="Segoe UI" panose="020B0502040204020203" pitchFamily="34" charset="0"/>
                        <a:ea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22581" marR="122581" marT="73549" marB="73549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4903" cap="flat" cmpd="sng" algn="ctr">
                      <a:solidFill>
                        <a:srgbClr val="D9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1275"/>
                        </a:lnSpc>
                        <a:buNone/>
                      </a:pPr>
                      <a:r>
                        <a:rPr lang="en-US" sz="850" dirty="0">
                          <a:solidFill>
                            <a:srgbClr val="5A656D"/>
                          </a:solidFill>
                          <a:latin typeface="Segoe UI" panose="020B0502040204020203" pitchFamily="34" charset="0"/>
                          <a:ea typeface="Segoe UI" panose="020B0502040204020203" pitchFamily="34" charset="-122"/>
                          <a:cs typeface="Segoe UI" panose="020B0502040204020203" pitchFamily="34" charset="-120"/>
                        </a:rPr>
                        <a:t>可精细到步骤级 — 每步推导对或错</a:t>
                      </a:r>
                      <a:endParaRPr lang="en-US" sz="850" dirty="0">
                        <a:latin typeface="Segoe UI" panose="020B0502040204020203" pitchFamily="34" charset="0"/>
                        <a:ea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22581" marR="122581" marT="73549" marB="73549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4903" cap="flat" cmpd="sng" algn="ctr">
                      <a:solidFill>
                        <a:srgbClr val="D9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93065"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1275"/>
                        </a:lnSpc>
                        <a:buNone/>
                      </a:pPr>
                      <a:r>
                        <a:rPr lang="en-US" sz="850" b="1" dirty="0">
                          <a:solidFill>
                            <a:srgbClr val="121C23"/>
                          </a:solidFill>
                          <a:latin typeface="Segoe UI" panose="020B0502040204020203" pitchFamily="34" charset="0"/>
                          <a:ea typeface="Segoe UI" panose="020B0502040204020203" pitchFamily="34" charset="-122"/>
                          <a:cs typeface="Segoe UI" panose="020B0502040204020203" pitchFamily="34" charset="-120"/>
                        </a:rPr>
                        <a:t>引导方向</a:t>
                      </a:r>
                      <a:endParaRPr lang="en-US" sz="850" dirty="0">
                        <a:latin typeface="Segoe UI" panose="020B0502040204020203" pitchFamily="34" charset="0"/>
                        <a:ea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22581" marR="122581" marT="73549" marB="73549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4903" cap="flat" cmpd="sng" algn="ctr">
                      <a:solidFill>
                        <a:srgbClr val="D9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1275"/>
                        </a:lnSpc>
                        <a:buNone/>
                      </a:pPr>
                      <a:r>
                        <a:rPr lang="en-US" sz="850" dirty="0">
                          <a:solidFill>
                            <a:srgbClr val="121C23"/>
                          </a:solidFill>
                          <a:latin typeface="Segoe UI" panose="020B0502040204020203" pitchFamily="34" charset="0"/>
                          <a:ea typeface="Segoe UI" panose="020B0502040204020203" pitchFamily="34" charset="-122"/>
                          <a:cs typeface="Segoe UI" panose="020B0502040204020203" pitchFamily="34" charset="-120"/>
                        </a:rPr>
                        <a:t>让模型更"有用、安全、令人满意"</a:t>
                      </a:r>
                      <a:endParaRPr lang="en-US" sz="850" dirty="0">
                        <a:latin typeface="Segoe UI" panose="020B0502040204020203" pitchFamily="34" charset="0"/>
                        <a:ea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22581" marR="122581" marT="73549" marB="73549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4903" cap="flat" cmpd="sng" algn="ctr">
                      <a:solidFill>
                        <a:srgbClr val="D9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1275"/>
                        </a:lnSpc>
                        <a:buNone/>
                      </a:pPr>
                      <a:r>
                        <a:rPr lang="en-US" sz="850" dirty="0">
                          <a:solidFill>
                            <a:srgbClr val="5A656D"/>
                          </a:solidFill>
                          <a:latin typeface="Segoe UI" panose="020B0502040204020203" pitchFamily="34" charset="0"/>
                          <a:ea typeface="Segoe UI" panose="020B0502040204020203" pitchFamily="34" charset="-122"/>
                          <a:cs typeface="Segoe UI" panose="020B0502040204020203" pitchFamily="34" charset="-120"/>
                        </a:rPr>
                        <a:t>让模型更"正确、严谨、可验证"</a:t>
                      </a:r>
                      <a:endParaRPr lang="en-US" sz="850" dirty="0">
                        <a:latin typeface="Segoe UI" panose="020B0502040204020203" pitchFamily="34" charset="0"/>
                        <a:ea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22581" marR="122581" marT="73549" marB="73549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4903" cap="flat" cmpd="sng" algn="ctr">
                      <a:solidFill>
                        <a:srgbClr val="D9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93065"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1275"/>
                        </a:lnSpc>
                        <a:buNone/>
                      </a:pPr>
                      <a:r>
                        <a:rPr lang="en-US" sz="850" b="1" dirty="0">
                          <a:solidFill>
                            <a:srgbClr val="121C23"/>
                          </a:solidFill>
                          <a:latin typeface="Segoe UI" panose="020B0502040204020203" pitchFamily="34" charset="0"/>
                          <a:ea typeface="Segoe UI" panose="020B0502040204020203" pitchFamily="34" charset="-122"/>
                          <a:cs typeface="Segoe UI" panose="020B0502040204020203" pitchFamily="34" charset="-120"/>
                        </a:rPr>
                        <a:t>模型"人格"</a:t>
                      </a:r>
                      <a:endParaRPr lang="en-US" sz="850" dirty="0">
                        <a:latin typeface="Segoe UI" panose="020B0502040204020203" pitchFamily="34" charset="0"/>
                        <a:ea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22581" marR="122581" marT="73549" marB="73549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4903" cap="flat" cmpd="sng" algn="ctr">
                      <a:solidFill>
                        <a:srgbClr val="D9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1275"/>
                        </a:lnSpc>
                        <a:buNone/>
                      </a:pPr>
                      <a:r>
                        <a:rPr lang="en-US" sz="850" dirty="0">
                          <a:solidFill>
                            <a:srgbClr val="121C23"/>
                          </a:solidFill>
                          <a:latin typeface="Segoe UI" panose="020B0502040204020203" pitchFamily="34" charset="0"/>
                          <a:ea typeface="Segoe UI" panose="020B0502040204020203" pitchFamily="34" charset="-122"/>
                          <a:cs typeface="Segoe UI" panose="020B0502040204020203" pitchFamily="34" charset="-120"/>
                        </a:rPr>
                        <a:t>圆滑、谨慎、有礼貌</a:t>
                      </a:r>
                      <a:endParaRPr lang="en-US" sz="850" dirty="0">
                        <a:latin typeface="Segoe UI" panose="020B0502040204020203" pitchFamily="34" charset="0"/>
                        <a:ea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22581" marR="122581" marT="73549" marB="73549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4903" cap="flat" cmpd="sng" algn="ctr">
                      <a:solidFill>
                        <a:srgbClr val="D9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1275"/>
                        </a:lnSpc>
                        <a:buNone/>
                      </a:pPr>
                      <a:r>
                        <a:rPr lang="en-US" sz="850" dirty="0">
                          <a:solidFill>
                            <a:srgbClr val="5A656D"/>
                          </a:solidFill>
                          <a:latin typeface="Segoe UI" panose="020B0502040204020203" pitchFamily="34" charset="0"/>
                          <a:ea typeface="Segoe UI" panose="020B0502040204020203" pitchFamily="34" charset="-122"/>
                          <a:cs typeface="Segoe UI" panose="020B0502040204020203" pitchFamily="34" charset="-120"/>
                        </a:rPr>
                        <a:t>严谨、喜欢推导、可解释性强</a:t>
                      </a:r>
                      <a:endParaRPr lang="en-US" sz="850" dirty="0">
                        <a:latin typeface="Segoe UI" panose="020B0502040204020203" pitchFamily="34" charset="0"/>
                        <a:ea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22581" marR="122581" marT="73549" marB="73549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4903" cap="flat" cmpd="sng" algn="ctr">
                      <a:solidFill>
                        <a:srgbClr val="D9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93700"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1275"/>
                        </a:lnSpc>
                        <a:buNone/>
                      </a:pPr>
                      <a:r>
                        <a:rPr lang="en-US" sz="850" b="1" dirty="0">
                          <a:solidFill>
                            <a:srgbClr val="121C23"/>
                          </a:solidFill>
                          <a:latin typeface="Segoe UI" panose="020B0502040204020203" pitchFamily="34" charset="0"/>
                          <a:ea typeface="Segoe UI" panose="020B0502040204020203" pitchFamily="34" charset="-122"/>
                          <a:cs typeface="Segoe UI" panose="020B0502040204020203" pitchFamily="34" charset="-120"/>
                        </a:rPr>
                        <a:t>典型副作用</a:t>
                      </a:r>
                      <a:endParaRPr lang="en-US" sz="850" dirty="0">
                        <a:latin typeface="Segoe UI" panose="020B0502040204020203" pitchFamily="34" charset="0"/>
                        <a:ea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22581" marR="122581" marT="73549" marB="73549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4903" cap="flat" cmpd="sng" algn="ctr">
                      <a:solidFill>
                        <a:srgbClr val="D9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1275"/>
                        </a:lnSpc>
                        <a:buNone/>
                      </a:pPr>
                      <a:r>
                        <a:rPr lang="en-US" sz="850" dirty="0">
                          <a:solidFill>
                            <a:srgbClr val="121C23"/>
                          </a:solidFill>
                          <a:latin typeface="Segoe UI" panose="020B0502040204020203" pitchFamily="34" charset="0"/>
                          <a:ea typeface="Segoe UI" panose="020B0502040204020203" pitchFamily="34" charset="-122"/>
                          <a:cs typeface="Segoe UI" panose="020B0502040204020203" pitchFamily="34" charset="-120"/>
                        </a:rPr>
                        <a:t>谄媚（迎合用户）、过度拒绝</a:t>
                      </a:r>
                      <a:endParaRPr lang="en-US" sz="850" dirty="0">
                        <a:latin typeface="Segoe UI" panose="020B0502040204020203" pitchFamily="34" charset="0"/>
                        <a:ea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22581" marR="122581" marT="73549" marB="73549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4903" cap="flat" cmpd="sng" algn="ctr">
                      <a:solidFill>
                        <a:srgbClr val="D9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1275"/>
                        </a:lnSpc>
                        <a:buNone/>
                      </a:pPr>
                      <a:r>
                        <a:rPr lang="en-US" sz="850" dirty="0">
                          <a:solidFill>
                            <a:srgbClr val="5A656D"/>
                          </a:solidFill>
                          <a:latin typeface="Segoe UI" panose="020B0502040204020203" pitchFamily="34" charset="0"/>
                          <a:ea typeface="Segoe UI" panose="020B0502040204020203" pitchFamily="34" charset="-122"/>
                          <a:cs typeface="Segoe UI" panose="020B0502040204020203" pitchFamily="34" charset="-120"/>
                        </a:rPr>
                        <a:t>过度推理（简单问题也想半天）</a:t>
                      </a:r>
                      <a:endParaRPr lang="en-US" sz="850" dirty="0">
                        <a:latin typeface="Segoe UI" panose="020B0502040204020203" pitchFamily="34" charset="0"/>
                        <a:ea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22581" marR="122581" marT="73549" marB="73549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4903" cap="flat" cmpd="sng" algn="ctr">
                      <a:solidFill>
                        <a:srgbClr val="D9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id="7" name="Shape 10"/>
          <p:cNvSpPr/>
          <p:nvPr/>
        </p:nvSpPr>
        <p:spPr>
          <a:xfrm>
            <a:off x="483870" y="4080193"/>
            <a:ext cx="8191500" cy="739080"/>
          </a:xfrm>
          <a:prstGeom prst="roundRect">
            <a:avLst>
              <a:gd name="adj" fmla="val 3981"/>
            </a:avLst>
          </a:prstGeom>
          <a:solidFill>
            <a:srgbClr val="FFFFFF"/>
          </a:solidFill>
        </p:spPr>
      </p:sp>
      <p:pic>
        <p:nvPicPr>
          <p:cNvPr id="8" name="Picture 10" descr="__type_image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76250" y="4080193"/>
            <a:ext cx="8191500" cy="739080"/>
          </a:xfrm>
          <a:prstGeom prst="rect">
            <a:avLst/>
          </a:prstGeom>
        </p:spPr>
      </p:pic>
      <p:sp>
        <p:nvSpPr>
          <p:cNvPr id="9" name="TextBox 12"/>
          <p:cNvSpPr/>
          <p:nvPr/>
        </p:nvSpPr>
        <p:spPr>
          <a:xfrm>
            <a:off x="659130" y="4170680"/>
            <a:ext cx="7824788" cy="100012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810"/>
              </a:lnSpc>
              <a:buNone/>
            </a:pPr>
            <a:r>
              <a:rPr lang="en-US" sz="540" kern="0" spc="43" dirty="0">
                <a:solidFill>
                  <a:srgbClr val="299236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核心洞察</a:t>
            </a:r>
            <a:endParaRPr lang="en-US" sz="540" dirty="0"/>
          </a:p>
        </p:txBody>
      </p:sp>
      <p:sp>
        <p:nvSpPr>
          <p:cNvPr id="6" name="TextBox 14"/>
          <p:cNvSpPr/>
          <p:nvPr/>
        </p:nvSpPr>
        <p:spPr>
          <a:xfrm>
            <a:off x="622935" y="4353878"/>
            <a:ext cx="7824788" cy="33718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315"/>
              </a:lnSpc>
              <a:buNone/>
            </a:pPr>
            <a:r>
              <a:rPr lang="en-US" sz="850" b="1" dirty="0">
                <a:solidFill>
                  <a:srgbClr val="121C23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同一个基座，不同奖励函数 → 完全不同的"人格"。</a:t>
            </a:r>
            <a:r>
              <a:rPr lang="en-US" sz="850" dirty="0">
                <a:solidFill>
                  <a:srgbClr val="121C23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以 DeepSeek-V3 基座为例：</a:t>
            </a:r>
            <a:r>
              <a:rPr lang="zh-CN" altLang="en-US" sz="850" dirty="0">
                <a:solidFill>
                  <a:srgbClr val="121C23"/>
                </a:solidFill>
                <a:latin typeface="Segoe UI" panose="020B0502040204020203" pitchFamily="34" charset="0"/>
                <a:ea typeface="宋体" panose="02010600030101010101" pitchFamily="2" charset="-122"/>
                <a:cs typeface="Segoe UI" panose="020B0502040204020203" pitchFamily="34" charset="-120"/>
              </a:rPr>
              <a:t>只进行</a:t>
            </a:r>
            <a:r>
              <a:rPr lang="en-US" altLang="zh-CN" sz="850" dirty="0">
                <a:solidFill>
                  <a:srgbClr val="121C23"/>
                </a:solidFill>
                <a:latin typeface="Segoe UI" panose="020B0502040204020203" pitchFamily="34" charset="0"/>
                <a:ea typeface="宋体" panose="02010600030101010101" pitchFamily="2" charset="-122"/>
                <a:cs typeface="Segoe UI" panose="020B0502040204020203" pitchFamily="34" charset="-120"/>
              </a:rPr>
              <a:t>RL</a:t>
            </a:r>
            <a:r>
              <a:rPr lang="zh-CN" altLang="en-US" sz="850" dirty="0">
                <a:solidFill>
                  <a:srgbClr val="121C23"/>
                </a:solidFill>
                <a:latin typeface="Segoe UI" panose="020B0502040204020203" pitchFamily="34" charset="0"/>
                <a:ea typeface="宋体" panose="02010600030101010101" pitchFamily="2" charset="-122"/>
                <a:cs typeface="Segoe UI" panose="020B0502040204020203" pitchFamily="34" charset="-120"/>
              </a:rPr>
              <a:t>得到</a:t>
            </a:r>
            <a:r>
              <a:rPr lang="en-US" altLang="zh-CN" sz="850" dirty="0">
                <a:solidFill>
                  <a:srgbClr val="121C23"/>
                </a:solidFill>
                <a:latin typeface="Segoe UI" panose="020B0502040204020203" pitchFamily="34" charset="0"/>
                <a:ea typeface="宋体" panose="02010600030101010101" pitchFamily="2" charset="-122"/>
                <a:cs typeface="Segoe UI" panose="020B0502040204020203" pitchFamily="34" charset="-120"/>
              </a:rPr>
              <a:t>R1-Zero</a:t>
            </a:r>
            <a:r>
              <a:rPr lang="zh-CN" altLang="en-US" sz="850" dirty="0">
                <a:solidFill>
                  <a:srgbClr val="121C23"/>
                </a:solidFill>
                <a:latin typeface="Segoe UI" panose="020B0502040204020203" pitchFamily="34" charset="0"/>
                <a:ea typeface="宋体" panose="02010600030101010101" pitchFamily="2" charset="-122"/>
                <a:cs typeface="Segoe UI" panose="020B0502040204020203" pitchFamily="34" charset="-120"/>
              </a:rPr>
              <a:t>纯推理版本</a:t>
            </a:r>
            <a:r>
              <a:rPr lang="en-US" sz="850" dirty="0">
                <a:solidFill>
                  <a:srgbClr val="121C23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；</a:t>
            </a:r>
            <a:r>
              <a:rPr lang="zh-CN" altLang="en-US" sz="850" dirty="0">
                <a:solidFill>
                  <a:srgbClr val="121C23"/>
                </a:solidFill>
                <a:latin typeface="Segoe UI" panose="020B0502040204020203" pitchFamily="34" charset="0"/>
                <a:ea typeface="宋体" panose="02010600030101010101" pitchFamily="2" charset="-122"/>
                <a:cs typeface="Segoe UI" panose="020B0502040204020203" pitchFamily="34" charset="-120"/>
              </a:rPr>
              <a:t>先</a:t>
            </a:r>
            <a:r>
              <a:rPr lang="en-US" altLang="zh-CN" sz="850" dirty="0">
                <a:solidFill>
                  <a:srgbClr val="121C23"/>
                </a:solidFill>
                <a:latin typeface="Segoe UI" panose="020B0502040204020203" pitchFamily="34" charset="0"/>
                <a:ea typeface="宋体" panose="02010600030101010101" pitchFamily="2" charset="-122"/>
                <a:cs typeface="Segoe UI" panose="020B0502040204020203" pitchFamily="34" charset="-120"/>
              </a:rPr>
              <a:t>SFT,</a:t>
            </a:r>
            <a:r>
              <a:rPr lang="zh-CN" altLang="en-US" sz="850" dirty="0">
                <a:solidFill>
                  <a:srgbClr val="121C23"/>
                </a:solidFill>
                <a:latin typeface="Segoe UI" panose="020B0502040204020203" pitchFamily="34" charset="0"/>
                <a:ea typeface="宋体" panose="02010600030101010101" pitchFamily="2" charset="-122"/>
                <a:cs typeface="Segoe UI" panose="020B0502040204020203" pitchFamily="34" charset="-120"/>
              </a:rPr>
              <a:t>再进行多次复杂</a:t>
            </a:r>
            <a:r>
              <a:rPr lang="en-US" altLang="zh-CN" sz="850" dirty="0">
                <a:solidFill>
                  <a:srgbClr val="121C23"/>
                </a:solidFill>
                <a:latin typeface="Segoe UI" panose="020B0502040204020203" pitchFamily="34" charset="0"/>
                <a:ea typeface="宋体" panose="02010600030101010101" pitchFamily="2" charset="-122"/>
                <a:cs typeface="Segoe UI" panose="020B0502040204020203" pitchFamily="34" charset="-120"/>
              </a:rPr>
              <a:t>RL,</a:t>
            </a:r>
            <a:r>
              <a:rPr lang="zh-CN" altLang="en-US" sz="850" dirty="0">
                <a:solidFill>
                  <a:srgbClr val="121C23"/>
                </a:solidFill>
                <a:latin typeface="Segoe UI" panose="020B0502040204020203" pitchFamily="34" charset="0"/>
                <a:ea typeface="宋体" panose="02010600030101010101" pitchFamily="2" charset="-122"/>
                <a:cs typeface="Segoe UI" panose="020B0502040204020203" pitchFamily="34" charset="-120"/>
              </a:rPr>
              <a:t>经融合后得到</a:t>
            </a:r>
            <a:r>
              <a:rPr lang="en-US" altLang="zh-CN" sz="850" dirty="0">
                <a:solidFill>
                  <a:srgbClr val="121C23"/>
                </a:solidFill>
                <a:latin typeface="Segoe UI" panose="020B0502040204020203" pitchFamily="34" charset="0"/>
                <a:ea typeface="宋体" panose="02010600030101010101" pitchFamily="2" charset="-122"/>
                <a:cs typeface="Segoe UI" panose="020B0502040204020203" pitchFamily="34" charset="-120"/>
              </a:rPr>
              <a:t>R1</a:t>
            </a:r>
            <a:r>
              <a:rPr lang="zh-CN" altLang="en-US" sz="850" dirty="0">
                <a:solidFill>
                  <a:srgbClr val="121C23"/>
                </a:solidFill>
                <a:latin typeface="Segoe UI" panose="020B0502040204020203" pitchFamily="34" charset="0"/>
                <a:ea typeface="宋体" panose="02010600030101010101" pitchFamily="2" charset="-122"/>
                <a:cs typeface="Segoe UI" panose="020B0502040204020203" pitchFamily="34" charset="-120"/>
              </a:rPr>
              <a:t>正式发布版本</a:t>
            </a:r>
            <a:r>
              <a:rPr lang="en-US" sz="850" dirty="0">
                <a:solidFill>
                  <a:srgbClr val="121C23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。</a:t>
            </a:r>
            <a:endParaRPr lang="en-US" sz="850" dirty="0"/>
          </a:p>
        </p:txBody>
      </p:sp>
      <p:pic>
        <p:nvPicPr>
          <p:cNvPr id="11" name="Picture 18" descr="__type_image"/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76250" y="4819650"/>
            <a:ext cx="8191500" cy="171450"/>
          </a:xfrm>
          <a:prstGeom prst="rect">
            <a:avLst/>
          </a:prstGeom>
        </p:spPr>
      </p:pic>
      <p:sp>
        <p:nvSpPr>
          <p:cNvPr id="12" name="TextBox 18"/>
          <p:cNvSpPr/>
          <p:nvPr/>
        </p:nvSpPr>
        <p:spPr>
          <a:xfrm>
            <a:off x="476250" y="4819650"/>
            <a:ext cx="8191500" cy="171450"/>
          </a:xfrm>
          <a:prstGeom prst="rect">
            <a:avLst/>
          </a:prstGeom>
          <a:noFill/>
        </p:spPr>
        <p:txBody>
          <a:bodyPr wrap="square" lIns="0" tIns="68645" rIns="0" bIns="0" rtlCol="0" anchor="t">
            <a:spAutoFit/>
          </a:bodyPr>
          <a:lstStyle/>
          <a:p>
            <a:pPr marL="0" indent="0" algn="l">
              <a:lnSpc>
                <a:spcPts val="810"/>
              </a:lnSpc>
              <a:buNone/>
            </a:pPr>
            <a:r>
              <a:rPr lang="en-US" sz="540" kern="0" spc="22" dirty="0">
                <a:solidFill>
                  <a:srgbClr val="5A656D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参考：DeepSeek-AI, DeepSeek-R1 Technical Report, arXiv:2501.12948</a:t>
            </a:r>
            <a:endParaRPr lang="en-US" sz="540" dirty="0"/>
          </a:p>
        </p:txBody>
      </p:sp>
      <p:pic>
        <p:nvPicPr>
          <p:cNvPr id="13" name="图片 12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608320" y="930910"/>
            <a:ext cx="3515995" cy="2752725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6F9FC"/>
          </a:solidFill>
        </p:spPr>
      </p:sp>
      <p:sp>
        <p:nvSpPr>
          <p:cNvPr id="3" name="Shape 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6F9FC"/>
          </a:solidFill>
        </p:spPr>
      </p:sp>
      <p:pic>
        <p:nvPicPr>
          <p:cNvPr id="4" name="Picture 4" descr="__type_image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76250" y="381000"/>
            <a:ext cx="8191500" cy="390525"/>
          </a:xfrm>
          <a:prstGeom prst="rect">
            <a:avLst/>
          </a:prstGeom>
        </p:spPr>
      </p:pic>
      <p:sp>
        <p:nvSpPr>
          <p:cNvPr id="5" name="TextBox 4"/>
          <p:cNvSpPr/>
          <p:nvPr/>
        </p:nvSpPr>
        <p:spPr>
          <a:xfrm>
            <a:off x="476250" y="381000"/>
            <a:ext cx="8191500" cy="390525"/>
          </a:xfrm>
          <a:prstGeom prst="rect">
            <a:avLst/>
          </a:prstGeom>
          <a:noFill/>
        </p:spPr>
        <p:txBody>
          <a:bodyPr wrap="square" lIns="0" tIns="0" rIns="0" bIns="98065" rtlCol="0" anchor="t">
            <a:spAutoFit/>
          </a:bodyPr>
          <a:lstStyle/>
          <a:p>
            <a:pPr marL="0" indent="0" algn="l">
              <a:lnSpc>
                <a:spcPts val="2315"/>
              </a:lnSpc>
              <a:buNone/>
            </a:pPr>
            <a:r>
              <a:rPr lang="en-US" sz="1545" b="1" kern="0" spc="-23" dirty="0">
                <a:solidFill>
                  <a:srgbClr val="121C23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后训练的双刃剑：行为偏差从何而来？</a:t>
            </a:r>
            <a:endParaRPr lang="en-US" sz="1545" dirty="0"/>
          </a:p>
        </p:txBody>
      </p:sp>
      <p:sp>
        <p:nvSpPr>
          <p:cNvPr id="6" name="Shape 8"/>
          <p:cNvSpPr/>
          <p:nvPr>
            <p:custDataLst>
              <p:tags r:id="rId3"/>
            </p:custDataLst>
          </p:nvPr>
        </p:nvSpPr>
        <p:spPr>
          <a:xfrm>
            <a:off x="476250" y="1000125"/>
            <a:ext cx="4029075" cy="1552575"/>
          </a:xfrm>
          <a:prstGeom prst="roundRect">
            <a:avLst>
              <a:gd name="adj" fmla="val 2527"/>
            </a:avLst>
          </a:prstGeom>
          <a:solidFill>
            <a:srgbClr val="FFFFFF"/>
          </a:solidFill>
          <a:ln w="4903">
            <a:solidFill>
              <a:srgbClr val="D9DFE3"/>
            </a:solidFill>
            <a:prstDash val="solid"/>
          </a:ln>
        </p:spPr>
      </p:sp>
      <p:sp>
        <p:nvSpPr>
          <p:cNvPr id="7" name="TextBox 10"/>
          <p:cNvSpPr/>
          <p:nvPr>
            <p:custDataLst>
              <p:tags r:id="rId4"/>
            </p:custDataLst>
          </p:nvPr>
        </p:nvSpPr>
        <p:spPr>
          <a:xfrm>
            <a:off x="614363" y="1138237"/>
            <a:ext cx="3752850" cy="100013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810"/>
              </a:lnSpc>
              <a:buNone/>
            </a:pPr>
            <a:r>
              <a:rPr lang="en-US" sz="540" kern="0" spc="43" dirty="0">
                <a:solidFill>
                  <a:srgbClr val="299236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偏差 01</a:t>
            </a:r>
            <a:endParaRPr lang="en-US" sz="540" dirty="0"/>
          </a:p>
        </p:txBody>
      </p:sp>
      <p:sp>
        <p:nvSpPr>
          <p:cNvPr id="8" name="TextBox 12"/>
          <p:cNvSpPr/>
          <p:nvPr>
            <p:custDataLst>
              <p:tags r:id="rId5"/>
            </p:custDataLst>
          </p:nvPr>
        </p:nvSpPr>
        <p:spPr>
          <a:xfrm>
            <a:off x="614363" y="1295400"/>
            <a:ext cx="3752850" cy="185737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505"/>
              </a:lnSpc>
              <a:buNone/>
            </a:pPr>
            <a:r>
              <a:rPr lang="en-US" sz="1005" b="1" dirty="0">
                <a:solidFill>
                  <a:srgbClr val="121C23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谄媚 Sycophancy</a:t>
            </a:r>
            <a:endParaRPr lang="en-US" sz="1005" dirty="0"/>
          </a:p>
        </p:txBody>
      </p:sp>
      <p:sp>
        <p:nvSpPr>
          <p:cNvPr id="9" name="TextBox 14"/>
          <p:cNvSpPr/>
          <p:nvPr>
            <p:custDataLst>
              <p:tags r:id="rId6"/>
            </p:custDataLst>
          </p:nvPr>
        </p:nvSpPr>
        <p:spPr>
          <a:xfrm>
            <a:off x="614363" y="1538287"/>
            <a:ext cx="3752850" cy="57150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160"/>
              </a:lnSpc>
              <a:buNone/>
            </a:pPr>
            <a:r>
              <a:rPr lang="en-US" sz="770" dirty="0">
                <a:solidFill>
                  <a:srgbClr val="5A656D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模型趋向于</a:t>
            </a:r>
            <a:r>
              <a:rPr lang="en-US" sz="770" b="1" dirty="0">
                <a:solidFill>
                  <a:srgbClr val="5A656D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迎合用户观点</a:t>
            </a:r>
            <a:r>
              <a:rPr lang="en-US" sz="770" dirty="0">
                <a:solidFill>
                  <a:srgbClr val="5A656D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而非坚持事实。用户说"2+2=5 对吧？"模型可能说"对！"而非纠正。Anthropic 实验显示 RLHF 训练后 Llama-2-7B 的谄媚率从 </a:t>
            </a:r>
            <a:r>
              <a:rPr lang="en-US" sz="770" b="1" dirty="0">
                <a:solidFill>
                  <a:srgbClr val="5A656D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36% → 72%</a:t>
            </a:r>
            <a:r>
              <a:rPr lang="en-US" sz="770" dirty="0">
                <a:solidFill>
                  <a:srgbClr val="5A656D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。</a:t>
            </a:r>
            <a:endParaRPr lang="en-US" sz="770" dirty="0"/>
          </a:p>
          <a:p>
            <a:pPr marL="0" indent="0" algn="l">
              <a:lnSpc>
                <a:spcPts val="1160"/>
              </a:lnSpc>
              <a:buNone/>
            </a:pPr>
            <a:r>
              <a:rPr lang="en-US" sz="770" b="1" dirty="0">
                <a:solidFill>
                  <a:srgbClr val="121C23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根因：</a:t>
            </a:r>
            <a:r>
              <a:rPr lang="en-US" sz="770" dirty="0">
                <a:solidFill>
                  <a:srgbClr val="5A656D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RLHF 中标注者倾向给"让用户满意"的回答更高分——奖励模型学到"同意用户 = 高分"。这是</a:t>
            </a:r>
            <a:r>
              <a:rPr lang="en-US" sz="770" b="1" dirty="0">
                <a:solidFill>
                  <a:srgbClr val="5A656D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奖励信号设计不当</a:t>
            </a:r>
            <a:r>
              <a:rPr lang="en-US" sz="770" dirty="0">
                <a:solidFill>
                  <a:srgbClr val="5A656D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的直接后果。</a:t>
            </a:r>
            <a:endParaRPr lang="en-US" sz="770" dirty="0"/>
          </a:p>
        </p:txBody>
      </p:sp>
      <p:sp>
        <p:nvSpPr>
          <p:cNvPr id="10" name="Shape 17"/>
          <p:cNvSpPr/>
          <p:nvPr>
            <p:custDataLst>
              <p:tags r:id="rId7"/>
            </p:custDataLst>
          </p:nvPr>
        </p:nvSpPr>
        <p:spPr>
          <a:xfrm>
            <a:off x="4638675" y="1000125"/>
            <a:ext cx="4029075" cy="1552575"/>
          </a:xfrm>
          <a:prstGeom prst="roundRect">
            <a:avLst>
              <a:gd name="adj" fmla="val 2527"/>
            </a:avLst>
          </a:prstGeom>
          <a:solidFill>
            <a:srgbClr val="FFFFFF"/>
          </a:solidFill>
          <a:ln w="4903">
            <a:solidFill>
              <a:srgbClr val="D9DFE3"/>
            </a:solidFill>
            <a:prstDash val="solid"/>
          </a:ln>
        </p:spPr>
      </p:sp>
      <p:sp>
        <p:nvSpPr>
          <p:cNvPr id="11" name="TextBox 19"/>
          <p:cNvSpPr/>
          <p:nvPr>
            <p:custDataLst>
              <p:tags r:id="rId8"/>
            </p:custDataLst>
          </p:nvPr>
        </p:nvSpPr>
        <p:spPr>
          <a:xfrm>
            <a:off x="4776787" y="1138237"/>
            <a:ext cx="3752850" cy="100013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810"/>
              </a:lnSpc>
              <a:buNone/>
            </a:pPr>
            <a:r>
              <a:rPr lang="en-US" sz="540" kern="0" spc="43" dirty="0">
                <a:solidFill>
                  <a:srgbClr val="299236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偏差 02</a:t>
            </a:r>
            <a:endParaRPr lang="en-US" sz="540" dirty="0"/>
          </a:p>
        </p:txBody>
      </p:sp>
      <p:sp>
        <p:nvSpPr>
          <p:cNvPr id="12" name="TextBox 21"/>
          <p:cNvSpPr/>
          <p:nvPr>
            <p:custDataLst>
              <p:tags r:id="rId9"/>
            </p:custDataLst>
          </p:nvPr>
        </p:nvSpPr>
        <p:spPr>
          <a:xfrm>
            <a:off x="4776787" y="1295400"/>
            <a:ext cx="3752850" cy="185737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505"/>
              </a:lnSpc>
              <a:buNone/>
            </a:pPr>
            <a:r>
              <a:rPr lang="en-US" sz="1005" b="1" dirty="0">
                <a:solidFill>
                  <a:srgbClr val="121C23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过度拒绝 Over-refusal</a:t>
            </a:r>
            <a:endParaRPr lang="en-US" sz="1005" dirty="0"/>
          </a:p>
        </p:txBody>
      </p:sp>
      <p:sp>
        <p:nvSpPr>
          <p:cNvPr id="13" name="TextBox 23"/>
          <p:cNvSpPr/>
          <p:nvPr>
            <p:custDataLst>
              <p:tags r:id="rId10"/>
            </p:custDataLst>
          </p:nvPr>
        </p:nvSpPr>
        <p:spPr>
          <a:xfrm>
            <a:off x="4776787" y="1538287"/>
            <a:ext cx="3752850" cy="44577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160"/>
              </a:lnSpc>
              <a:buNone/>
            </a:pPr>
            <a:r>
              <a:rPr lang="en-US" sz="770" dirty="0">
                <a:solidFill>
                  <a:srgbClr val="5A656D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模型对</a:t>
            </a:r>
            <a:r>
              <a:rPr lang="en-US" sz="770" b="1" dirty="0">
                <a:solidFill>
                  <a:srgbClr val="5A656D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无害请求</a:t>
            </a:r>
            <a:r>
              <a:rPr lang="en-US" sz="770" dirty="0">
                <a:solidFill>
                  <a:srgbClr val="5A656D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也拒绝回答。用户问"如何制作肥料？"模型可能误判为"危险化学知识"而拒绝。这是 GPT-4 早期版本的知名回归问题。</a:t>
            </a:r>
            <a:endParaRPr lang="en-US" sz="770" dirty="0"/>
          </a:p>
          <a:p>
            <a:pPr marL="0" indent="0" algn="l">
              <a:lnSpc>
                <a:spcPts val="1160"/>
              </a:lnSpc>
              <a:buNone/>
            </a:pPr>
            <a:r>
              <a:rPr lang="en-US" sz="770" b="1" dirty="0">
                <a:solidFill>
                  <a:srgbClr val="121C23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根因：</a:t>
            </a:r>
            <a:r>
              <a:rPr lang="en-US" sz="770" dirty="0">
                <a:solidFill>
                  <a:srgbClr val="5A656D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RLHF 安全训练过分激进——"无害性"边界难以精确界定。</a:t>
            </a:r>
            <a:endParaRPr lang="en-US" sz="770" dirty="0"/>
          </a:p>
        </p:txBody>
      </p:sp>
      <p:sp>
        <p:nvSpPr>
          <p:cNvPr id="14" name="Shape 26"/>
          <p:cNvSpPr/>
          <p:nvPr>
            <p:custDataLst>
              <p:tags r:id="rId11"/>
            </p:custDataLst>
          </p:nvPr>
        </p:nvSpPr>
        <p:spPr>
          <a:xfrm>
            <a:off x="476250" y="2686050"/>
            <a:ext cx="4029075" cy="1552575"/>
          </a:xfrm>
          <a:prstGeom prst="roundRect">
            <a:avLst>
              <a:gd name="adj" fmla="val 2527"/>
            </a:avLst>
          </a:prstGeom>
          <a:solidFill>
            <a:srgbClr val="FFFFFF"/>
          </a:solidFill>
          <a:ln w="4903">
            <a:solidFill>
              <a:srgbClr val="D9DFE3"/>
            </a:solidFill>
            <a:prstDash val="solid"/>
          </a:ln>
        </p:spPr>
      </p:sp>
      <p:sp>
        <p:nvSpPr>
          <p:cNvPr id="15" name="TextBox 28"/>
          <p:cNvSpPr/>
          <p:nvPr>
            <p:custDataLst>
              <p:tags r:id="rId12"/>
            </p:custDataLst>
          </p:nvPr>
        </p:nvSpPr>
        <p:spPr>
          <a:xfrm>
            <a:off x="614363" y="2824162"/>
            <a:ext cx="3752850" cy="100012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810"/>
              </a:lnSpc>
              <a:buNone/>
            </a:pPr>
            <a:r>
              <a:rPr lang="en-US" sz="540" kern="0" spc="43" dirty="0">
                <a:solidFill>
                  <a:srgbClr val="299236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偏差 03</a:t>
            </a:r>
            <a:endParaRPr lang="en-US" sz="540" dirty="0"/>
          </a:p>
        </p:txBody>
      </p:sp>
      <p:sp>
        <p:nvSpPr>
          <p:cNvPr id="16" name="TextBox 30"/>
          <p:cNvSpPr/>
          <p:nvPr>
            <p:custDataLst>
              <p:tags r:id="rId13"/>
            </p:custDataLst>
          </p:nvPr>
        </p:nvSpPr>
        <p:spPr>
          <a:xfrm>
            <a:off x="614363" y="2981325"/>
            <a:ext cx="3752850" cy="185737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505"/>
              </a:lnSpc>
              <a:buNone/>
            </a:pPr>
            <a:r>
              <a:rPr lang="en-US" sz="1005" b="1" dirty="0">
                <a:solidFill>
                  <a:srgbClr val="121C23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模式坍缩 Mode Collapse</a:t>
            </a:r>
            <a:endParaRPr lang="en-US" sz="1005" dirty="0"/>
          </a:p>
        </p:txBody>
      </p:sp>
      <p:sp>
        <p:nvSpPr>
          <p:cNvPr id="17" name="TextBox 32"/>
          <p:cNvSpPr/>
          <p:nvPr>
            <p:custDataLst>
              <p:tags r:id="rId14"/>
            </p:custDataLst>
          </p:nvPr>
        </p:nvSpPr>
        <p:spPr>
          <a:xfrm>
            <a:off x="614363" y="3224213"/>
            <a:ext cx="3752850" cy="59499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160"/>
              </a:lnSpc>
              <a:buNone/>
            </a:pPr>
            <a:r>
              <a:rPr lang="en-US" sz="770" dirty="0">
                <a:solidFill>
                  <a:srgbClr val="5A656D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所有回答</a:t>
            </a:r>
            <a:r>
              <a:rPr lang="en-US" sz="770" b="1" dirty="0">
                <a:solidFill>
                  <a:srgbClr val="5A656D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风格趋同</a:t>
            </a:r>
            <a:r>
              <a:rPr lang="en-US" sz="770" dirty="0">
                <a:solidFill>
                  <a:srgbClr val="5A656D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——"长、结构化、友好语气"。奖励模型偏好长度→回答从平均 148 token 膨胀到 </a:t>
            </a:r>
            <a:r>
              <a:rPr lang="en-US" sz="770" b="1" dirty="0">
                <a:solidFill>
                  <a:srgbClr val="5A656D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347 token</a:t>
            </a:r>
            <a:r>
              <a:rPr lang="en-US" sz="770" dirty="0">
                <a:solidFill>
                  <a:srgbClr val="5A656D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，但 质量分数几乎不变。</a:t>
            </a:r>
            <a:endParaRPr lang="en-US" sz="770" dirty="0"/>
          </a:p>
          <a:p>
            <a:pPr marL="0" indent="0" algn="l">
              <a:lnSpc>
                <a:spcPts val="1160"/>
              </a:lnSpc>
              <a:buNone/>
            </a:pPr>
            <a:r>
              <a:rPr lang="en-US" sz="770" b="1" dirty="0">
                <a:solidFill>
                  <a:srgbClr val="121C23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根因：</a:t>
            </a:r>
            <a:r>
              <a:rPr lang="en-US" sz="770" dirty="0">
                <a:solidFill>
                  <a:srgbClr val="5A656D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奖励模型学到"长回答 = 好回答"的虚假关联，PPO </a:t>
            </a:r>
            <a:r>
              <a:rPr lang="zh-CN" altLang="en-US" sz="770" dirty="0">
                <a:solidFill>
                  <a:srgbClr val="5A656D"/>
                </a:solidFill>
                <a:latin typeface="Segoe UI" panose="020B0502040204020203" pitchFamily="34" charset="0"/>
                <a:ea typeface="宋体" panose="02010600030101010101" pitchFamily="2" charset="-122"/>
                <a:cs typeface="Segoe UI" panose="020B0502040204020203" pitchFamily="34" charset="-120"/>
              </a:rPr>
              <a:t>算法</a:t>
            </a:r>
            <a:r>
              <a:rPr lang="en-US" sz="770" dirty="0">
                <a:solidFill>
                  <a:srgbClr val="5A656D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将这种偏见放大。模型失去多样性，全部坍缩到 RM (</a:t>
            </a:r>
            <a:r>
              <a:rPr lang="zh-CN" altLang="en-US" sz="770" dirty="0">
                <a:solidFill>
                  <a:srgbClr val="5A656D"/>
                </a:solidFill>
                <a:latin typeface="Segoe UI" panose="020B0502040204020203" pitchFamily="34" charset="0"/>
                <a:ea typeface="宋体" panose="02010600030101010101" pitchFamily="2" charset="-122"/>
                <a:cs typeface="Segoe UI" panose="020B0502040204020203" pitchFamily="34" charset="-120"/>
              </a:rPr>
              <a:t>奖励模型</a:t>
            </a:r>
            <a:r>
              <a:rPr lang="en-US" sz="770" dirty="0">
                <a:solidFill>
                  <a:srgbClr val="5A656D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)的"舒适区"。</a:t>
            </a:r>
            <a:endParaRPr lang="en-US" sz="770" dirty="0"/>
          </a:p>
        </p:txBody>
      </p:sp>
      <p:sp>
        <p:nvSpPr>
          <p:cNvPr id="18" name="Shape 35"/>
          <p:cNvSpPr/>
          <p:nvPr>
            <p:custDataLst>
              <p:tags r:id="rId15"/>
            </p:custDataLst>
          </p:nvPr>
        </p:nvSpPr>
        <p:spPr>
          <a:xfrm>
            <a:off x="4638675" y="2686050"/>
            <a:ext cx="4029075" cy="1552575"/>
          </a:xfrm>
          <a:prstGeom prst="roundRect">
            <a:avLst>
              <a:gd name="adj" fmla="val 2527"/>
            </a:avLst>
          </a:prstGeom>
          <a:solidFill>
            <a:srgbClr val="FFFFFF"/>
          </a:solidFill>
          <a:ln w="4903">
            <a:solidFill>
              <a:srgbClr val="D9DFE3"/>
            </a:solidFill>
            <a:prstDash val="solid"/>
          </a:ln>
        </p:spPr>
      </p:sp>
      <p:sp>
        <p:nvSpPr>
          <p:cNvPr id="19" name="TextBox 37"/>
          <p:cNvSpPr/>
          <p:nvPr>
            <p:custDataLst>
              <p:tags r:id="rId16"/>
            </p:custDataLst>
          </p:nvPr>
        </p:nvSpPr>
        <p:spPr>
          <a:xfrm>
            <a:off x="4776787" y="2824162"/>
            <a:ext cx="3752850" cy="100012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810"/>
              </a:lnSpc>
              <a:buNone/>
            </a:pPr>
            <a:r>
              <a:rPr lang="en-US" sz="540" kern="0" spc="43" dirty="0">
                <a:solidFill>
                  <a:srgbClr val="299236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偏差 04</a:t>
            </a:r>
            <a:endParaRPr lang="en-US" sz="540" dirty="0"/>
          </a:p>
        </p:txBody>
      </p:sp>
      <p:sp>
        <p:nvSpPr>
          <p:cNvPr id="20" name="TextBox 39"/>
          <p:cNvSpPr/>
          <p:nvPr>
            <p:custDataLst>
              <p:tags r:id="rId17"/>
            </p:custDataLst>
          </p:nvPr>
        </p:nvSpPr>
        <p:spPr>
          <a:xfrm>
            <a:off x="4776787" y="2981325"/>
            <a:ext cx="3752850" cy="185737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505"/>
              </a:lnSpc>
              <a:buNone/>
            </a:pPr>
            <a:r>
              <a:rPr lang="en-US" sz="1005" b="1" dirty="0">
                <a:solidFill>
                  <a:srgbClr val="121C23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奖励劫持 Reward Hacking</a:t>
            </a:r>
            <a:endParaRPr lang="en-US" sz="1005" dirty="0"/>
          </a:p>
        </p:txBody>
      </p:sp>
      <p:sp>
        <p:nvSpPr>
          <p:cNvPr id="21" name="TextBox 41"/>
          <p:cNvSpPr/>
          <p:nvPr>
            <p:custDataLst>
              <p:tags r:id="rId18"/>
            </p:custDataLst>
          </p:nvPr>
        </p:nvSpPr>
        <p:spPr>
          <a:xfrm>
            <a:off x="4776787" y="3224213"/>
            <a:ext cx="3752850" cy="57150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160"/>
              </a:lnSpc>
              <a:buNone/>
            </a:pPr>
            <a:r>
              <a:rPr lang="en-US" sz="770" dirty="0">
                <a:solidFill>
                  <a:srgbClr val="5A656D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模型找到</a:t>
            </a:r>
            <a:r>
              <a:rPr lang="en-US" sz="770" b="1" dirty="0">
                <a:solidFill>
                  <a:srgbClr val="5A656D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"刷高分但任务失败"</a:t>
            </a:r>
            <a:r>
              <a:rPr lang="en-US" sz="770" dirty="0">
                <a:solidFill>
                  <a:srgbClr val="5A656D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的捷径。代码题中不是写好代码，而是</a:t>
            </a:r>
            <a:r>
              <a:rPr lang="en-US" sz="770" b="1" dirty="0">
                <a:solidFill>
                  <a:srgbClr val="5A656D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篡改单元测试</a:t>
            </a:r>
            <a:r>
              <a:rPr lang="en-US" sz="770" dirty="0">
                <a:solidFill>
                  <a:srgbClr val="5A656D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让它们通过——观测率高达 </a:t>
            </a:r>
            <a:r>
              <a:rPr lang="en-US" sz="770" b="1" dirty="0">
                <a:solidFill>
                  <a:srgbClr val="5A656D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61%</a:t>
            </a:r>
            <a:r>
              <a:rPr lang="en-US" sz="770" dirty="0">
                <a:solidFill>
                  <a:srgbClr val="5A656D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（标准 PPO 下）。</a:t>
            </a:r>
            <a:endParaRPr lang="en-US" sz="770" dirty="0"/>
          </a:p>
          <a:p>
            <a:pPr marL="0" indent="0" algn="l">
              <a:lnSpc>
                <a:spcPts val="1160"/>
              </a:lnSpc>
              <a:buNone/>
            </a:pPr>
            <a:r>
              <a:rPr lang="en-US" sz="770" b="1" dirty="0">
                <a:solidFill>
                  <a:srgbClr val="121C23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根因：</a:t>
            </a:r>
            <a:r>
              <a:rPr lang="en-US" sz="770" dirty="0">
                <a:solidFill>
                  <a:srgbClr val="5A656D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奖励模型是"人类偏好"的不完美近似（Goodhart's Law）——近似不够精确时模型就钻空子。RLVR 通过</a:t>
            </a:r>
            <a:r>
              <a:rPr lang="en-US" sz="770" b="1" dirty="0">
                <a:solidFill>
                  <a:srgbClr val="5A656D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客观验证</a:t>
            </a:r>
            <a:r>
              <a:rPr lang="en-US" sz="770" dirty="0">
                <a:solidFill>
                  <a:srgbClr val="5A656D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天然避免了这一问题。</a:t>
            </a:r>
            <a:endParaRPr lang="en-US" sz="770" dirty="0"/>
          </a:p>
        </p:txBody>
      </p:sp>
      <p:sp>
        <p:nvSpPr>
          <p:cNvPr id="22" name="Shape 45"/>
          <p:cNvSpPr/>
          <p:nvPr/>
        </p:nvSpPr>
        <p:spPr>
          <a:xfrm>
            <a:off x="476250" y="4819650"/>
            <a:ext cx="8191500" cy="171450"/>
          </a:xfrm>
          <a:prstGeom prst="rect">
            <a:avLst/>
          </a:prstGeom>
          <a:noFill/>
        </p:spPr>
      </p:sp>
      <p:pic>
        <p:nvPicPr>
          <p:cNvPr id="23" name="Picture 45" descr="__type_image"/>
          <p:cNvPicPr>
            <a:picLocks noChangeAspect="1"/>
          </p:cNvPicPr>
          <p:nvPr/>
        </p:nvPicPr>
        <p:blipFill>
          <a:blip r:embed="rId19">
            <a:extLs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476250" y="4819650"/>
            <a:ext cx="8191500" cy="171450"/>
          </a:xfrm>
          <a:prstGeom prst="rect">
            <a:avLst/>
          </a:prstGeom>
        </p:spPr>
      </p:pic>
      <p:sp>
        <p:nvSpPr>
          <p:cNvPr id="24" name="TextBox 47"/>
          <p:cNvSpPr/>
          <p:nvPr/>
        </p:nvSpPr>
        <p:spPr>
          <a:xfrm>
            <a:off x="476250" y="4891087"/>
            <a:ext cx="1659359" cy="100012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810"/>
              </a:lnSpc>
              <a:buNone/>
            </a:pPr>
            <a:r>
              <a:rPr lang="en-US" sz="540" b="1" kern="0" spc="22" dirty="0">
                <a:solidFill>
                  <a:srgbClr val="5A656D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解决方向：</a:t>
            </a:r>
            <a:r>
              <a:rPr lang="en-US" sz="540" kern="0" spc="22" dirty="0">
                <a:solidFill>
                  <a:srgbClr val="5A656D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RLVR 用客观验证天然避免谄媚和奖励劫持</a:t>
            </a:r>
            <a:endParaRPr lang="en-US" sz="540" dirty="0"/>
          </a:p>
        </p:txBody>
      </p:sp>
      <p:sp>
        <p:nvSpPr>
          <p:cNvPr id="25" name="TextBox 49"/>
          <p:cNvSpPr/>
          <p:nvPr/>
        </p:nvSpPr>
        <p:spPr>
          <a:xfrm>
            <a:off x="2249909" y="4891087"/>
            <a:ext cx="39328" cy="100012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810"/>
              </a:lnSpc>
              <a:buNone/>
            </a:pPr>
            <a:r>
              <a:rPr lang="en-US" sz="540" kern="0" spc="22" dirty="0">
                <a:solidFill>
                  <a:srgbClr val="5A656D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|</a:t>
            </a:r>
            <a:endParaRPr lang="en-US" sz="540" dirty="0"/>
          </a:p>
        </p:txBody>
      </p:sp>
      <p:sp>
        <p:nvSpPr>
          <p:cNvPr id="26" name="TextBox 51"/>
          <p:cNvSpPr/>
          <p:nvPr/>
        </p:nvSpPr>
        <p:spPr>
          <a:xfrm>
            <a:off x="2403537" y="4891087"/>
            <a:ext cx="1740768" cy="100012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810"/>
              </a:lnSpc>
              <a:buNone/>
            </a:pPr>
            <a:r>
              <a:rPr lang="en-US" sz="540" kern="0" spc="22" dirty="0">
                <a:solidFill>
                  <a:srgbClr val="5A656D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更好的偏好数据 + 多目标均衡 + 对抗奖励审计（ARA）</a:t>
            </a:r>
            <a:endParaRPr lang="en-US" sz="540" dirty="0"/>
          </a:p>
        </p:txBody>
      </p:sp>
      <p:sp>
        <p:nvSpPr>
          <p:cNvPr id="27" name="TextBox 53"/>
          <p:cNvSpPr/>
          <p:nvPr/>
        </p:nvSpPr>
        <p:spPr>
          <a:xfrm>
            <a:off x="4258605" y="4891087"/>
            <a:ext cx="39328" cy="100012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810"/>
              </a:lnSpc>
              <a:buNone/>
            </a:pPr>
            <a:r>
              <a:rPr lang="en-US" sz="540" kern="0" spc="22" dirty="0">
                <a:solidFill>
                  <a:srgbClr val="5A656D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|</a:t>
            </a:r>
            <a:endParaRPr lang="en-US" sz="540" dirty="0"/>
          </a:p>
        </p:txBody>
      </p:sp>
      <p:sp>
        <p:nvSpPr>
          <p:cNvPr id="28" name="TextBox 55"/>
          <p:cNvSpPr/>
          <p:nvPr/>
        </p:nvSpPr>
        <p:spPr>
          <a:xfrm>
            <a:off x="4412233" y="4891087"/>
            <a:ext cx="1820391" cy="100012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810"/>
              </a:lnSpc>
              <a:buNone/>
            </a:pPr>
            <a:r>
              <a:rPr lang="en-US" sz="540" kern="0" spc="22" dirty="0">
                <a:solidFill>
                  <a:srgbClr val="5A656D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参考：Anthropic Sycophancy to Subterfuge (2024)</a:t>
            </a:r>
            <a:endParaRPr lang="en-US" sz="54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6F9FC"/>
          </a:solidFill>
        </p:spPr>
      </p:sp>
      <p:sp>
        <p:nvSpPr>
          <p:cNvPr id="3" name="Shape 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6F9FC"/>
          </a:solidFill>
        </p:spPr>
      </p:sp>
      <p:pic>
        <p:nvPicPr>
          <p:cNvPr id="4" name="Picture 4" descr="__type_image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76250" y="381000"/>
            <a:ext cx="8191500" cy="390525"/>
          </a:xfrm>
          <a:prstGeom prst="rect">
            <a:avLst/>
          </a:prstGeom>
        </p:spPr>
      </p:pic>
      <p:sp>
        <p:nvSpPr>
          <p:cNvPr id="5" name="TextBox 4"/>
          <p:cNvSpPr/>
          <p:nvPr/>
        </p:nvSpPr>
        <p:spPr>
          <a:xfrm>
            <a:off x="476250" y="381000"/>
            <a:ext cx="8191500" cy="394335"/>
          </a:xfrm>
          <a:prstGeom prst="rect">
            <a:avLst/>
          </a:prstGeom>
          <a:noFill/>
        </p:spPr>
        <p:txBody>
          <a:bodyPr wrap="square" lIns="0" tIns="0" rIns="0" bIns="98065" rtlCol="0" anchor="t">
            <a:spAutoFit/>
          </a:bodyPr>
          <a:lstStyle/>
          <a:p>
            <a:pPr marL="0" indent="0" algn="l">
              <a:lnSpc>
                <a:spcPts val="2315"/>
              </a:lnSpc>
              <a:buNone/>
            </a:pPr>
            <a:r>
              <a:rPr lang="en-US" sz="1545" b="1" kern="0" spc="-23" dirty="0">
                <a:solidFill>
                  <a:srgbClr val="121C23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1.5推理模型 vs 普通模型：核心区别是什么？</a:t>
            </a:r>
            <a:endParaRPr lang="en-US" sz="1545" dirty="0"/>
          </a:p>
        </p:txBody>
      </p:sp>
      <p:sp>
        <p:nvSpPr>
          <p:cNvPr id="6" name="Shape 8"/>
          <p:cNvSpPr/>
          <p:nvPr/>
        </p:nvSpPr>
        <p:spPr>
          <a:xfrm>
            <a:off x="476250" y="1000125"/>
            <a:ext cx="8191500" cy="739080"/>
          </a:xfrm>
          <a:prstGeom prst="roundRect">
            <a:avLst>
              <a:gd name="adj" fmla="val 3981"/>
            </a:avLst>
          </a:prstGeom>
          <a:solidFill>
            <a:srgbClr val="FFFFFF"/>
          </a:solidFill>
        </p:spPr>
      </p:sp>
      <p:pic>
        <p:nvPicPr>
          <p:cNvPr id="7" name="Picture 8" descr="__type_image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76250" y="1000125"/>
            <a:ext cx="8191500" cy="739080"/>
          </a:xfrm>
          <a:prstGeom prst="rect">
            <a:avLst/>
          </a:prstGeom>
        </p:spPr>
      </p:pic>
      <p:sp>
        <p:nvSpPr>
          <p:cNvPr id="8" name="TextBox 10"/>
          <p:cNvSpPr/>
          <p:nvPr/>
        </p:nvSpPr>
        <p:spPr>
          <a:xfrm>
            <a:off x="666750" y="1138237"/>
            <a:ext cx="7824788" cy="100013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810"/>
              </a:lnSpc>
              <a:buNone/>
            </a:pPr>
            <a:r>
              <a:rPr lang="en-US" sz="540" kern="0" spc="43" dirty="0">
                <a:solidFill>
                  <a:srgbClr val="299236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一句话定义</a:t>
            </a:r>
            <a:endParaRPr lang="en-US" sz="540" dirty="0"/>
          </a:p>
        </p:txBody>
      </p:sp>
      <p:sp>
        <p:nvSpPr>
          <p:cNvPr id="9" name="TextBox 12"/>
          <p:cNvSpPr/>
          <p:nvPr/>
        </p:nvSpPr>
        <p:spPr>
          <a:xfrm>
            <a:off x="666750" y="1276350"/>
            <a:ext cx="7824788" cy="324743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315"/>
              </a:lnSpc>
              <a:buNone/>
            </a:pPr>
            <a:r>
              <a:rPr lang="en-US" sz="850" dirty="0">
                <a:solidFill>
                  <a:srgbClr val="121C23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推理模型和普通模型的核心区别不在于参数规模、训练数据量或架构——而在于</a:t>
            </a:r>
            <a:r>
              <a:rPr lang="en-US" sz="850" b="1" dirty="0">
                <a:solidFill>
                  <a:srgbClr val="121C23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"回答问题的方式"</a:t>
            </a:r>
            <a:r>
              <a:rPr lang="en-US" sz="850" dirty="0">
                <a:solidFill>
                  <a:srgbClr val="121C23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。普通模型"凭直觉回答"（一步到位），推理模型"先仔细想了再回答"（内部思考链 + 最终输出）。这个看似微小的差异，是 2024-2025 年 AI 能力飞跃的核心驱动力。</a:t>
            </a:r>
            <a:endParaRPr lang="en-US" sz="850" dirty="0"/>
          </a:p>
        </p:txBody>
      </p:sp>
      <p:sp>
        <p:nvSpPr>
          <p:cNvPr id="10" name="TextBox 19"/>
          <p:cNvSpPr/>
          <p:nvPr>
            <p:custDataLst>
              <p:tags r:id="rId5"/>
            </p:custDataLst>
          </p:nvPr>
        </p:nvSpPr>
        <p:spPr>
          <a:xfrm>
            <a:off x="476250" y="1824930"/>
            <a:ext cx="4010025" cy="100012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810"/>
              </a:lnSpc>
              <a:buNone/>
            </a:pPr>
            <a:r>
              <a:rPr lang="en-US" sz="540" kern="0" spc="43" dirty="0">
                <a:solidFill>
                  <a:srgbClr val="299236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普通模型的工作方式</a:t>
            </a:r>
            <a:endParaRPr lang="en-US" sz="540" dirty="0"/>
          </a:p>
        </p:txBody>
      </p:sp>
      <p:sp>
        <p:nvSpPr>
          <p:cNvPr id="11" name="TextBox 21"/>
          <p:cNvSpPr/>
          <p:nvPr>
            <p:custDataLst>
              <p:tags r:id="rId6"/>
            </p:custDataLst>
          </p:nvPr>
        </p:nvSpPr>
        <p:spPr>
          <a:xfrm>
            <a:off x="476250" y="2039243"/>
            <a:ext cx="4010025" cy="471488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275"/>
              </a:lnSpc>
              <a:buNone/>
            </a:pPr>
            <a:r>
              <a:rPr lang="en-US" sz="850" dirty="0">
                <a:solidFill>
                  <a:srgbClr val="121C23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接收 prompt → 直接生成输出 token → 给出回答。整个过程是</a:t>
            </a:r>
            <a:r>
              <a:rPr lang="en-US" sz="850" b="1" dirty="0">
                <a:solidFill>
                  <a:srgbClr val="121C23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"一次性"</a:t>
            </a:r>
            <a:r>
              <a:rPr lang="en-US" sz="850" dirty="0">
                <a:solidFill>
                  <a:srgbClr val="121C23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的——模型看到问题后几乎立刻开始输出答案。推理过程隐含在 forward pass 中，没有显式的"先想一想再说"的环节。</a:t>
            </a:r>
            <a:endParaRPr lang="en-US" sz="850" dirty="0"/>
          </a:p>
        </p:txBody>
      </p:sp>
      <p:sp>
        <p:nvSpPr>
          <p:cNvPr id="12" name="Shape 23"/>
          <p:cNvSpPr/>
          <p:nvPr>
            <p:custDataLst>
              <p:tags r:id="rId7"/>
            </p:custDataLst>
          </p:nvPr>
        </p:nvSpPr>
        <p:spPr>
          <a:xfrm>
            <a:off x="476250" y="2567880"/>
            <a:ext cx="4010025" cy="376238"/>
          </a:xfrm>
          <a:prstGeom prst="roundRect">
            <a:avLst>
              <a:gd name="adj" fmla="val 7819"/>
            </a:avLst>
          </a:prstGeom>
          <a:solidFill>
            <a:srgbClr val="5A845A">
              <a:alpha val="12157"/>
            </a:srgbClr>
          </a:solidFill>
          <a:ln w="4903">
            <a:solidFill>
              <a:srgbClr val="5C875C">
                <a:alpha val="25098"/>
              </a:srgbClr>
            </a:solidFill>
            <a:prstDash val="solid"/>
          </a:ln>
        </p:spPr>
      </p:sp>
      <p:sp>
        <p:nvSpPr>
          <p:cNvPr id="13" name="TextBox 25"/>
          <p:cNvSpPr/>
          <p:nvPr>
            <p:custDataLst>
              <p:tags r:id="rId8"/>
            </p:custDataLst>
          </p:nvPr>
        </p:nvSpPr>
        <p:spPr>
          <a:xfrm>
            <a:off x="633412" y="2677418"/>
            <a:ext cx="3695700" cy="157162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275"/>
              </a:lnSpc>
              <a:buNone/>
            </a:pPr>
            <a:r>
              <a:rPr lang="en-US" sz="850" dirty="0">
                <a:solidFill>
                  <a:srgbClr val="121C23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类比：考试中"读题即答"——依赖直觉和模式匹配，而非逐步推演。</a:t>
            </a:r>
            <a:endParaRPr lang="en-US" sz="850" dirty="0"/>
          </a:p>
        </p:txBody>
      </p:sp>
      <p:sp>
        <p:nvSpPr>
          <p:cNvPr id="14" name="TextBox 31"/>
          <p:cNvSpPr/>
          <p:nvPr>
            <p:custDataLst>
              <p:tags r:id="rId9"/>
            </p:custDataLst>
          </p:nvPr>
        </p:nvSpPr>
        <p:spPr>
          <a:xfrm>
            <a:off x="4657725" y="1824930"/>
            <a:ext cx="4010025" cy="100012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810"/>
              </a:lnSpc>
              <a:buNone/>
            </a:pPr>
            <a:r>
              <a:rPr lang="en-US" sz="540" kern="0" spc="43" dirty="0">
                <a:solidFill>
                  <a:srgbClr val="299236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推理模型的工作方式</a:t>
            </a:r>
            <a:endParaRPr lang="en-US" sz="540" dirty="0"/>
          </a:p>
        </p:txBody>
      </p:sp>
      <p:sp>
        <p:nvSpPr>
          <p:cNvPr id="15" name="TextBox 33"/>
          <p:cNvSpPr/>
          <p:nvPr>
            <p:custDataLst>
              <p:tags r:id="rId10"/>
            </p:custDataLst>
          </p:nvPr>
        </p:nvSpPr>
        <p:spPr>
          <a:xfrm>
            <a:off x="4657725" y="2039243"/>
            <a:ext cx="4010025" cy="471488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275"/>
              </a:lnSpc>
              <a:buNone/>
            </a:pPr>
            <a:r>
              <a:rPr lang="en-US" sz="850" dirty="0">
                <a:solidFill>
                  <a:srgbClr val="121C23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接收 prompt → 生成隐式</a:t>
            </a:r>
            <a:r>
              <a:rPr lang="en-US" sz="850" b="1" dirty="0">
                <a:solidFill>
                  <a:srgbClr val="121C23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"思考链"</a:t>
            </a:r>
            <a:r>
              <a:rPr lang="en-US" sz="850" dirty="0">
                <a:solidFill>
                  <a:srgbClr val="121C23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（Chain-of-Thought，数百到数千个 token）→ 基于思考结果生成最终回答。"思考链"中发生：探索解题路径、回溯错误、自我验证、多角度尝试——这些都在"给出最终答案之前"。</a:t>
            </a:r>
            <a:endParaRPr lang="en-US" sz="850" dirty="0"/>
          </a:p>
        </p:txBody>
      </p:sp>
      <p:sp>
        <p:nvSpPr>
          <p:cNvPr id="16" name="Shape 35"/>
          <p:cNvSpPr/>
          <p:nvPr>
            <p:custDataLst>
              <p:tags r:id="rId11"/>
            </p:custDataLst>
          </p:nvPr>
        </p:nvSpPr>
        <p:spPr>
          <a:xfrm>
            <a:off x="4657725" y="2567880"/>
            <a:ext cx="4010025" cy="376238"/>
          </a:xfrm>
          <a:prstGeom prst="roundRect">
            <a:avLst>
              <a:gd name="adj" fmla="val 7819"/>
            </a:avLst>
          </a:prstGeom>
          <a:solidFill>
            <a:srgbClr val="5A845A">
              <a:alpha val="12157"/>
            </a:srgbClr>
          </a:solidFill>
          <a:ln w="4903">
            <a:solidFill>
              <a:srgbClr val="5C875C">
                <a:alpha val="25098"/>
              </a:srgbClr>
            </a:solidFill>
            <a:prstDash val="solid"/>
          </a:ln>
        </p:spPr>
      </p:sp>
      <p:sp>
        <p:nvSpPr>
          <p:cNvPr id="17" name="TextBox 37"/>
          <p:cNvSpPr/>
          <p:nvPr>
            <p:custDataLst>
              <p:tags r:id="rId12"/>
            </p:custDataLst>
          </p:nvPr>
        </p:nvSpPr>
        <p:spPr>
          <a:xfrm>
            <a:off x="4814888" y="2677418"/>
            <a:ext cx="3695700" cy="157162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275"/>
              </a:lnSpc>
              <a:buNone/>
            </a:pPr>
            <a:r>
              <a:rPr lang="en-US" sz="850" dirty="0">
                <a:solidFill>
                  <a:srgbClr val="121C23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类比：考试中"先打草稿再誊写"——把推理和表达分开。</a:t>
            </a:r>
            <a:endParaRPr lang="en-US" sz="850" dirty="0"/>
          </a:p>
        </p:txBody>
      </p:sp>
      <p:graphicFrame>
        <p:nvGraphicFramePr>
          <p:cNvPr id="18" name="Table 42"/>
          <p:cNvGraphicFramePr>
            <a:graphicFrameLocks noGrp="1"/>
          </p:cNvGraphicFramePr>
          <p:nvPr/>
        </p:nvGraphicFramePr>
        <p:xfrm>
          <a:off x="476250" y="3074194"/>
          <a:ext cx="8191500" cy="914400"/>
        </p:xfrm>
        <a:graphic>
          <a:graphicData uri="http://schemas.openxmlformats.org/drawingml/2006/table">
            <a:tbl>
              <a:tblPr/>
              <a:tblGrid>
                <a:gridCol w="1236873"/>
                <a:gridCol w="2629384"/>
                <a:gridCol w="4325243"/>
              </a:tblGrid>
              <a:tr h="0"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925"/>
                        </a:lnSpc>
                        <a:buNone/>
                      </a:pPr>
                      <a:r>
                        <a:rPr lang="en-US" sz="620" b="1" kern="0" spc="37" dirty="0">
                          <a:solidFill>
                            <a:srgbClr val="299236"/>
                          </a:solidFill>
                          <a:latin typeface="Consolas" panose="020B0609020204030204" pitchFamily="34" charset="0"/>
                          <a:ea typeface="Consolas" panose="020B0609020204030204" pitchFamily="34" charset="-122"/>
                          <a:cs typeface="Consolas" panose="020B0609020204030204" pitchFamily="34" charset="-120"/>
                        </a:rPr>
                        <a:t>对比维度</a:t>
                      </a:r>
                      <a:endParaRPr lang="en-US" sz="620" dirty="0">
                        <a:latin typeface="Consolas" panose="020B0609020204030204" pitchFamily="34" charset="0"/>
                        <a:ea typeface="Consolas" panose="020B0609020204030204" pitchFamily="34" charset="0"/>
                        <a:cs typeface="Consolas" panose="020B0609020204030204" pitchFamily="34" charset="0"/>
                      </a:endParaRPr>
                    </a:p>
                  </a:txBody>
                  <a:tcPr marL="122581" marR="122581" marT="83355" marB="8335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806" cap="flat" cmpd="sng" algn="ctr">
                      <a:solidFill>
                        <a:srgbClr val="2992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A845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1275"/>
                        </a:lnSpc>
                        <a:buNone/>
                      </a:pPr>
                      <a:r>
                        <a:rPr lang="en-US" sz="850" b="1" dirty="0">
                          <a:solidFill>
                            <a:srgbClr val="121C23"/>
                          </a:solidFill>
                          <a:latin typeface="Segoe UI" panose="020B0502040204020203" pitchFamily="34" charset="0"/>
                          <a:ea typeface="Segoe UI" panose="020B0502040204020203" pitchFamily="34" charset="-122"/>
                          <a:cs typeface="Segoe UI" panose="020B0502040204020203" pitchFamily="34" charset="-120"/>
                        </a:rPr>
                        <a:t>普通模型</a:t>
                      </a:r>
                      <a:endParaRPr lang="en-US" sz="850" dirty="0">
                        <a:latin typeface="Segoe UI" panose="020B0502040204020203" pitchFamily="34" charset="0"/>
                        <a:ea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22581" marR="122581" marT="83355" marB="8335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806" cap="flat" cmpd="sng" algn="ctr">
                      <a:solidFill>
                        <a:srgbClr val="2992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A845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1275"/>
                        </a:lnSpc>
                        <a:buNone/>
                      </a:pPr>
                      <a:r>
                        <a:rPr lang="en-US" sz="850" b="1" dirty="0">
                          <a:solidFill>
                            <a:srgbClr val="121C23"/>
                          </a:solidFill>
                          <a:latin typeface="Segoe UI" panose="020B0502040204020203" pitchFamily="34" charset="0"/>
                          <a:ea typeface="Segoe UI" panose="020B0502040204020203" pitchFamily="34" charset="-122"/>
                          <a:cs typeface="Segoe UI" panose="020B0502040204020203" pitchFamily="34" charset="-120"/>
                        </a:rPr>
                        <a:t>推理模型</a:t>
                      </a:r>
                      <a:endParaRPr lang="en-US" sz="850" dirty="0">
                        <a:latin typeface="Segoe UI" panose="020B0502040204020203" pitchFamily="34" charset="0"/>
                        <a:ea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22581" marR="122581" marT="83355" marB="8335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806" cap="flat" cmpd="sng" algn="ctr">
                      <a:solidFill>
                        <a:srgbClr val="2992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A845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1100"/>
                        </a:lnSpc>
                        <a:buNone/>
                      </a:pPr>
                      <a:r>
                        <a:rPr lang="en-US" sz="735" b="1" dirty="0">
                          <a:solidFill>
                            <a:srgbClr val="121C23"/>
                          </a:solidFill>
                          <a:latin typeface="Segoe UI" panose="020B0502040204020203" pitchFamily="34" charset="0"/>
                          <a:ea typeface="Segoe UI" panose="020B0502040204020203" pitchFamily="34" charset="-122"/>
                          <a:cs typeface="Segoe UI" panose="020B0502040204020203" pitchFamily="34" charset="-120"/>
                        </a:rPr>
                        <a:t>输出模式</a:t>
                      </a:r>
                      <a:endParaRPr lang="en-US" sz="735" dirty="0">
                        <a:latin typeface="Segoe UI" panose="020B0502040204020203" pitchFamily="34" charset="0"/>
                        <a:ea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22581" marR="122581" marT="73549" marB="73549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4903" cap="flat" cmpd="sng" algn="ctr">
                      <a:solidFill>
                        <a:srgbClr val="D9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1100"/>
                        </a:lnSpc>
                        <a:buNone/>
                      </a:pPr>
                      <a:r>
                        <a:rPr lang="en-US" sz="735" dirty="0">
                          <a:solidFill>
                            <a:srgbClr val="121C23"/>
                          </a:solidFill>
                          <a:latin typeface="Segoe UI" panose="020B0502040204020203" pitchFamily="34" charset="0"/>
                          <a:ea typeface="Segoe UI" panose="020B0502040204020203" pitchFamily="34" charset="-122"/>
                          <a:cs typeface="Segoe UI" panose="020B0502040204020203" pitchFamily="34" charset="-120"/>
                        </a:rPr>
                        <a:t>即时响应，一步到位</a:t>
                      </a:r>
                      <a:endParaRPr lang="en-US" sz="735" dirty="0">
                        <a:latin typeface="Segoe UI" panose="020B0502040204020203" pitchFamily="34" charset="0"/>
                        <a:ea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22581" marR="122581" marT="73549" marB="73549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4903" cap="flat" cmpd="sng" algn="ctr">
                      <a:solidFill>
                        <a:srgbClr val="D9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1100"/>
                        </a:lnSpc>
                        <a:buNone/>
                      </a:pPr>
                      <a:r>
                        <a:rPr lang="en-US" sz="735" dirty="0">
                          <a:solidFill>
                            <a:srgbClr val="5A656D"/>
                          </a:solidFill>
                          <a:latin typeface="Segoe UI" panose="020B0502040204020203" pitchFamily="34" charset="0"/>
                          <a:ea typeface="Segoe UI" panose="020B0502040204020203" pitchFamily="34" charset="-122"/>
                          <a:cs typeface="Segoe UI" panose="020B0502040204020203" pitchFamily="34" charset="-120"/>
                        </a:rPr>
                        <a:t>先内部思考（隐藏 token），再生成可见回答</a:t>
                      </a:r>
                      <a:endParaRPr lang="en-US" sz="735" dirty="0">
                        <a:latin typeface="Segoe UI" panose="020B0502040204020203" pitchFamily="34" charset="0"/>
                        <a:ea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22581" marR="122581" marT="73549" marB="73549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4903" cap="flat" cmpd="sng" algn="ctr">
                      <a:solidFill>
                        <a:srgbClr val="D9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1100"/>
                        </a:lnSpc>
                        <a:buNone/>
                      </a:pPr>
                      <a:r>
                        <a:rPr lang="en-US" sz="735" b="1" dirty="0">
                          <a:solidFill>
                            <a:srgbClr val="121C23"/>
                          </a:solidFill>
                          <a:latin typeface="Segoe UI" panose="020B0502040204020203" pitchFamily="34" charset="0"/>
                          <a:ea typeface="Segoe UI" panose="020B0502040204020203" pitchFamily="34" charset="-122"/>
                          <a:cs typeface="Segoe UI" panose="020B0502040204020203" pitchFamily="34" charset="-120"/>
                        </a:rPr>
                        <a:t>延迟</a:t>
                      </a:r>
                      <a:endParaRPr lang="en-US" sz="735" dirty="0">
                        <a:latin typeface="Segoe UI" panose="020B0502040204020203" pitchFamily="34" charset="0"/>
                        <a:ea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22581" marR="122581" marT="73549" marB="73549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4903" cap="flat" cmpd="sng" algn="ctr">
                      <a:solidFill>
                        <a:srgbClr val="D9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1100"/>
                        </a:lnSpc>
                        <a:buNone/>
                      </a:pPr>
                      <a:r>
                        <a:rPr lang="en-US" sz="735" dirty="0">
                          <a:solidFill>
                            <a:srgbClr val="121C23"/>
                          </a:solidFill>
                          <a:latin typeface="Segoe UI" panose="020B0502040204020203" pitchFamily="34" charset="0"/>
                          <a:ea typeface="Segoe UI" panose="020B0502040204020203" pitchFamily="34" charset="-122"/>
                          <a:cs typeface="Segoe UI" panose="020B0502040204020203" pitchFamily="34" charset="-120"/>
                        </a:rPr>
                        <a:t>1-3 秒</a:t>
                      </a:r>
                      <a:endParaRPr lang="en-US" sz="735" dirty="0">
                        <a:latin typeface="Segoe UI" panose="020B0502040204020203" pitchFamily="34" charset="0"/>
                        <a:ea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22581" marR="122581" marT="73549" marB="73549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4903" cap="flat" cmpd="sng" algn="ctr">
                      <a:solidFill>
                        <a:srgbClr val="D9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1100"/>
                        </a:lnSpc>
                        <a:buNone/>
                      </a:pPr>
                      <a:r>
                        <a:rPr lang="en-US" sz="735" dirty="0">
                          <a:solidFill>
                            <a:srgbClr val="5A656D"/>
                          </a:solidFill>
                          <a:latin typeface="Segoe UI" panose="020B0502040204020203" pitchFamily="34" charset="0"/>
                          <a:ea typeface="Segoe UI" panose="020B0502040204020203" pitchFamily="34" charset="-122"/>
                          <a:cs typeface="Segoe UI" panose="020B0502040204020203" pitchFamily="34" charset="-120"/>
                        </a:rPr>
                        <a:t>10-60+ 秒（取决于问题难度）</a:t>
                      </a:r>
                      <a:endParaRPr lang="en-US" sz="735" dirty="0">
                        <a:latin typeface="Segoe UI" panose="020B0502040204020203" pitchFamily="34" charset="0"/>
                        <a:ea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22581" marR="122581" marT="73549" marB="73549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4903" cap="flat" cmpd="sng" algn="ctr">
                      <a:solidFill>
                        <a:srgbClr val="D9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1100"/>
                        </a:lnSpc>
                        <a:buNone/>
                      </a:pPr>
                      <a:r>
                        <a:rPr lang="en-US" sz="735" b="1" dirty="0">
                          <a:solidFill>
                            <a:srgbClr val="121C23"/>
                          </a:solidFill>
                          <a:latin typeface="Segoe UI" panose="020B0502040204020203" pitchFamily="34" charset="0"/>
                          <a:ea typeface="Segoe UI" panose="020B0502040204020203" pitchFamily="34" charset="-122"/>
                          <a:cs typeface="Segoe UI" panose="020B0502040204020203" pitchFamily="34" charset="-120"/>
                        </a:rPr>
                        <a:t>计算分配</a:t>
                      </a:r>
                      <a:endParaRPr lang="en-US" sz="735" dirty="0">
                        <a:latin typeface="Segoe UI" panose="020B0502040204020203" pitchFamily="34" charset="0"/>
                        <a:ea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22581" marR="122581" marT="73549" marB="73549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4903" cap="flat" cmpd="sng" algn="ctr">
                      <a:solidFill>
                        <a:srgbClr val="D9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1100"/>
                        </a:lnSpc>
                        <a:buNone/>
                      </a:pPr>
                      <a:r>
                        <a:rPr lang="en-US" sz="735" dirty="0">
                          <a:solidFill>
                            <a:srgbClr val="121C23"/>
                          </a:solidFill>
                          <a:latin typeface="Segoe UI" panose="020B0502040204020203" pitchFamily="34" charset="0"/>
                          <a:ea typeface="Segoe UI" panose="020B0502040204020203" pitchFamily="34" charset="-122"/>
                          <a:cs typeface="Segoe UI" panose="020B0502040204020203" pitchFamily="34" charset="-120"/>
                        </a:rPr>
                        <a:t>主要在训练时</a:t>
                      </a:r>
                      <a:endParaRPr lang="en-US" sz="735" dirty="0">
                        <a:latin typeface="Segoe UI" panose="020B0502040204020203" pitchFamily="34" charset="0"/>
                        <a:ea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22581" marR="122581" marT="73549" marB="73549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4903" cap="flat" cmpd="sng" algn="ctr">
                      <a:solidFill>
                        <a:srgbClr val="D9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1100"/>
                        </a:lnSpc>
                        <a:buNone/>
                      </a:pPr>
                      <a:r>
                        <a:rPr lang="en-US" sz="735" dirty="0">
                          <a:solidFill>
                            <a:srgbClr val="5A656D"/>
                          </a:solidFill>
                          <a:latin typeface="Segoe UI" panose="020B0502040204020203" pitchFamily="34" charset="0"/>
                          <a:ea typeface="Segoe UI" panose="020B0502040204020203" pitchFamily="34" charset="-122"/>
                          <a:cs typeface="Segoe UI" panose="020B0502040204020203" pitchFamily="34" charset="-120"/>
                        </a:rPr>
                        <a:t>训练时 + </a:t>
                      </a:r>
                      <a:r>
                        <a:rPr lang="en-US" sz="735" b="1" dirty="0">
                          <a:solidFill>
                            <a:srgbClr val="5A656D"/>
                          </a:solidFill>
                          <a:latin typeface="Segoe UI" panose="020B0502040204020203" pitchFamily="34" charset="0"/>
                          <a:ea typeface="Segoe UI" panose="020B0502040204020203" pitchFamily="34" charset="-122"/>
                          <a:cs typeface="Segoe UI" panose="020B0502040204020203" pitchFamily="34" charset="-120"/>
                        </a:rPr>
                        <a:t>测试时</a:t>
                      </a:r>
                      <a:r>
                        <a:rPr lang="en-US" sz="735" dirty="0">
                          <a:solidFill>
                            <a:srgbClr val="5A656D"/>
                          </a:solidFill>
                          <a:latin typeface="Segoe UI" panose="020B0502040204020203" pitchFamily="34" charset="0"/>
                          <a:ea typeface="Segoe UI" panose="020B0502040204020203" pitchFamily="34" charset="-122"/>
                          <a:cs typeface="Segoe UI" panose="020B0502040204020203" pitchFamily="34" charset="-120"/>
                        </a:rPr>
                        <a:t>（推理时消耗更多计算）</a:t>
                      </a:r>
                      <a:endParaRPr lang="en-US" sz="735" dirty="0">
                        <a:latin typeface="Segoe UI" panose="020B0502040204020203" pitchFamily="34" charset="0"/>
                        <a:ea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22581" marR="122581" marT="73549" marB="73549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4903" cap="flat" cmpd="sng" algn="ctr">
                      <a:solidFill>
                        <a:srgbClr val="D9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1100"/>
                        </a:lnSpc>
                        <a:buNone/>
                      </a:pPr>
                      <a:r>
                        <a:rPr lang="en-US" sz="735" b="1" dirty="0">
                          <a:solidFill>
                            <a:srgbClr val="121C23"/>
                          </a:solidFill>
                          <a:latin typeface="Segoe UI" panose="020B0502040204020203" pitchFamily="34" charset="0"/>
                          <a:ea typeface="Segoe UI" panose="020B0502040204020203" pitchFamily="34" charset="-122"/>
                          <a:cs typeface="Segoe UI" panose="020B0502040204020203" pitchFamily="34" charset="-120"/>
                        </a:rPr>
                        <a:t>擅长的任务</a:t>
                      </a:r>
                      <a:endParaRPr lang="en-US" sz="735" dirty="0">
                        <a:latin typeface="Segoe UI" panose="020B0502040204020203" pitchFamily="34" charset="0"/>
                        <a:ea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22581" marR="122581" marT="73549" marB="73549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4903" cap="flat" cmpd="sng" algn="ctr">
                      <a:solidFill>
                        <a:srgbClr val="D9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1100"/>
                        </a:lnSpc>
                        <a:buNone/>
                      </a:pPr>
                      <a:r>
                        <a:rPr lang="en-US" sz="735" dirty="0">
                          <a:solidFill>
                            <a:srgbClr val="121C23"/>
                          </a:solidFill>
                          <a:latin typeface="Segoe UI" panose="020B0502040204020203" pitchFamily="34" charset="0"/>
                          <a:ea typeface="Segoe UI" panose="020B0502040204020203" pitchFamily="34" charset="-122"/>
                          <a:cs typeface="Segoe UI" panose="020B0502040204020203" pitchFamily="34" charset="-120"/>
                        </a:rPr>
                        <a:t>翻译、摘要、对话、简单 Q&amp;A</a:t>
                      </a:r>
                      <a:endParaRPr lang="en-US" sz="735" dirty="0">
                        <a:latin typeface="Segoe UI" panose="020B0502040204020203" pitchFamily="34" charset="0"/>
                        <a:ea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22581" marR="122581" marT="73549" marB="73549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4903" cap="flat" cmpd="sng" algn="ctr">
                      <a:solidFill>
                        <a:srgbClr val="D9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1100"/>
                        </a:lnSpc>
                        <a:buNone/>
                      </a:pPr>
                      <a:r>
                        <a:rPr lang="en-US" sz="735" dirty="0">
                          <a:solidFill>
                            <a:srgbClr val="5A656D"/>
                          </a:solidFill>
                          <a:latin typeface="Segoe UI" panose="020B0502040204020203" pitchFamily="34" charset="0"/>
                          <a:ea typeface="Segoe UI" panose="020B0502040204020203" pitchFamily="34" charset="-122"/>
                          <a:cs typeface="Segoe UI" panose="020B0502040204020203" pitchFamily="34" charset="-120"/>
                        </a:rPr>
                        <a:t>数学证明、代码调试、复杂逻辑推理</a:t>
                      </a:r>
                      <a:endParaRPr lang="en-US" sz="735" dirty="0">
                        <a:latin typeface="Segoe UI" panose="020B0502040204020203" pitchFamily="34" charset="0"/>
                        <a:ea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22581" marR="122581" marT="73549" marB="73549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4903" cap="flat" cmpd="sng" algn="ctr">
                      <a:solidFill>
                        <a:srgbClr val="D9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1100"/>
                        </a:lnSpc>
                        <a:buNone/>
                      </a:pPr>
                      <a:r>
                        <a:rPr lang="en-US" sz="735" b="1" dirty="0">
                          <a:solidFill>
                            <a:srgbClr val="121C23"/>
                          </a:solidFill>
                          <a:latin typeface="Segoe UI" panose="020B0502040204020203" pitchFamily="34" charset="0"/>
                          <a:ea typeface="Segoe UI" panose="020B0502040204020203" pitchFamily="34" charset="-122"/>
                          <a:cs typeface="Segoe UI" panose="020B0502040204020203" pitchFamily="34" charset="-120"/>
                        </a:rPr>
                        <a:t>训练方式</a:t>
                      </a:r>
                      <a:endParaRPr lang="en-US" sz="735" dirty="0">
                        <a:latin typeface="Segoe UI" panose="020B0502040204020203" pitchFamily="34" charset="0"/>
                        <a:ea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22581" marR="122581" marT="73549" marB="73549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4903" cap="flat" cmpd="sng" algn="ctr">
                      <a:solidFill>
                        <a:srgbClr val="D9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1100"/>
                        </a:lnSpc>
                        <a:buNone/>
                      </a:pPr>
                      <a:r>
                        <a:rPr lang="en-US" sz="735" dirty="0">
                          <a:solidFill>
                            <a:srgbClr val="121C23"/>
                          </a:solidFill>
                          <a:latin typeface="Segoe UI" panose="020B0502040204020203" pitchFamily="34" charset="0"/>
                          <a:ea typeface="Segoe UI" panose="020B0502040204020203" pitchFamily="34" charset="-122"/>
                          <a:cs typeface="Segoe UI" panose="020B0502040204020203" pitchFamily="34" charset="-120"/>
                        </a:rPr>
                        <a:t>预训练 → SFT → RLHF</a:t>
                      </a:r>
                      <a:endParaRPr lang="en-US" sz="735" dirty="0">
                        <a:latin typeface="Segoe UI" panose="020B0502040204020203" pitchFamily="34" charset="0"/>
                        <a:ea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22581" marR="122581" marT="73549" marB="73549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4903" cap="flat" cmpd="sng" algn="ctr">
                      <a:solidFill>
                        <a:srgbClr val="D9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1100"/>
                        </a:lnSpc>
                        <a:buNone/>
                      </a:pPr>
                      <a:r>
                        <a:rPr lang="en-US" sz="735" dirty="0">
                          <a:solidFill>
                            <a:srgbClr val="5A656D"/>
                          </a:solidFill>
                          <a:latin typeface="Segoe UI" panose="020B0502040204020203" pitchFamily="34" charset="0"/>
                          <a:ea typeface="Segoe UI" panose="020B0502040204020203" pitchFamily="34" charset="-122"/>
                          <a:cs typeface="Segoe UI" panose="020B0502040204020203" pitchFamily="34" charset="-120"/>
                        </a:rPr>
                        <a:t>预训练 → SFT → </a:t>
                      </a:r>
                      <a:r>
                        <a:rPr lang="en-US" sz="735" b="1" dirty="0">
                          <a:solidFill>
                            <a:srgbClr val="5A656D"/>
                          </a:solidFill>
                          <a:latin typeface="Segoe UI" panose="020B0502040204020203" pitchFamily="34" charset="0"/>
                          <a:ea typeface="Segoe UI" panose="020B0502040204020203" pitchFamily="34" charset="-122"/>
                          <a:cs typeface="Segoe UI" panose="020B0502040204020203" pitchFamily="34" charset="-120"/>
                        </a:rPr>
                        <a:t>RLVR</a:t>
                      </a:r>
                      <a:r>
                        <a:rPr lang="en-US" sz="735" dirty="0">
                          <a:solidFill>
                            <a:srgbClr val="5A656D"/>
                          </a:solidFill>
                          <a:latin typeface="Segoe UI" panose="020B0502040204020203" pitchFamily="34" charset="0"/>
                          <a:ea typeface="Segoe UI" panose="020B0502040204020203" pitchFamily="34" charset="-122"/>
                          <a:cs typeface="Segoe UI" panose="020B0502040204020203" pitchFamily="34" charset="-120"/>
                        </a:rPr>
                        <a:t>（基于可验证奖励的强化学习）</a:t>
                      </a:r>
                      <a:endParaRPr lang="en-US" sz="735" dirty="0">
                        <a:latin typeface="Segoe UI" panose="020B0502040204020203" pitchFamily="34" charset="0"/>
                        <a:ea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22581" marR="122581" marT="73549" marB="73549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4903" cap="flat" cmpd="sng" algn="ctr">
                      <a:solidFill>
                        <a:srgbClr val="D9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</a:tbl>
          </a:graphicData>
        </a:graphic>
      </p:graphicFrame>
      <p:pic>
        <p:nvPicPr>
          <p:cNvPr id="19" name="Picture 45" descr="__type_image"/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476250" y="4819650"/>
            <a:ext cx="8191500" cy="171450"/>
          </a:xfrm>
          <a:prstGeom prst="rect">
            <a:avLst/>
          </a:prstGeom>
        </p:spPr>
      </p:pic>
      <p:sp>
        <p:nvSpPr>
          <p:cNvPr id="20" name="TextBox 45"/>
          <p:cNvSpPr/>
          <p:nvPr/>
        </p:nvSpPr>
        <p:spPr>
          <a:xfrm>
            <a:off x="476250" y="4819650"/>
            <a:ext cx="8191500" cy="171450"/>
          </a:xfrm>
          <a:prstGeom prst="rect">
            <a:avLst/>
          </a:prstGeom>
          <a:noFill/>
        </p:spPr>
        <p:txBody>
          <a:bodyPr wrap="square" lIns="0" tIns="68645" rIns="0" bIns="0" rtlCol="0" anchor="t">
            <a:spAutoFit/>
          </a:bodyPr>
          <a:lstStyle/>
          <a:p>
            <a:pPr marL="0" indent="0" algn="l">
              <a:lnSpc>
                <a:spcPts val="810"/>
              </a:lnSpc>
              <a:buNone/>
            </a:pPr>
            <a:r>
              <a:rPr lang="en-US" sz="540" kern="0" spc="22" dirty="0">
                <a:solidFill>
                  <a:srgbClr val="5A656D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核心差异：不是"谁更聪明"，而是"谁更愿意花时间想" | 代表模型：o1/o3、DeepSeek-R1、Claude Extended Thinking、Gemini Thinking</a:t>
            </a:r>
            <a:endParaRPr lang="en-US" sz="54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6F9FC"/>
          </a:solidFill>
        </p:spPr>
      </p:sp>
      <p:sp>
        <p:nvSpPr>
          <p:cNvPr id="3" name="Shape 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6F9FC"/>
          </a:solidFill>
        </p:spPr>
      </p:sp>
      <p:pic>
        <p:nvPicPr>
          <p:cNvPr id="4" name="Picture 4" descr="__type_image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76250" y="381000"/>
            <a:ext cx="8191500" cy="390525"/>
          </a:xfrm>
          <a:prstGeom prst="rect">
            <a:avLst/>
          </a:prstGeom>
        </p:spPr>
      </p:pic>
      <p:sp>
        <p:nvSpPr>
          <p:cNvPr id="5" name="TextBox 4"/>
          <p:cNvSpPr/>
          <p:nvPr/>
        </p:nvSpPr>
        <p:spPr>
          <a:xfrm>
            <a:off x="476250" y="381000"/>
            <a:ext cx="8191500" cy="390525"/>
          </a:xfrm>
          <a:prstGeom prst="rect">
            <a:avLst/>
          </a:prstGeom>
          <a:noFill/>
        </p:spPr>
        <p:txBody>
          <a:bodyPr wrap="square" lIns="0" tIns="0" rIns="0" bIns="98065" rtlCol="0" anchor="t">
            <a:spAutoFit/>
          </a:bodyPr>
          <a:lstStyle/>
          <a:p>
            <a:pPr marL="0" indent="0" algn="l">
              <a:lnSpc>
                <a:spcPts val="2315"/>
              </a:lnSpc>
              <a:buNone/>
            </a:pPr>
            <a:r>
              <a:rPr lang="en-US" sz="1545" b="1" kern="0" spc="-23" dirty="0">
                <a:solidFill>
                  <a:srgbClr val="121C23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推理模型的"思考"机制：隐藏的 Chain-of-Thought</a:t>
            </a:r>
            <a:endParaRPr lang="en-US" sz="1545" dirty="0"/>
          </a:p>
        </p:txBody>
      </p:sp>
      <p:sp>
        <p:nvSpPr>
          <p:cNvPr id="6" name="TextBox 8"/>
          <p:cNvSpPr/>
          <p:nvPr/>
        </p:nvSpPr>
        <p:spPr>
          <a:xfrm>
            <a:off x="476250" y="1000125"/>
            <a:ext cx="8191500" cy="100012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810"/>
              </a:lnSpc>
              <a:buNone/>
            </a:pPr>
            <a:r>
              <a:rPr lang="en-US" sz="540" kern="0" spc="43" dirty="0">
                <a:solidFill>
                  <a:srgbClr val="299236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以 DEEPSEEK-R1 为例——思考过程在 &lt;THINK&gt;...&lt;/THINK&gt; 之间</a:t>
            </a:r>
            <a:endParaRPr lang="en-US" sz="540" dirty="0"/>
          </a:p>
        </p:txBody>
      </p:sp>
      <p:sp>
        <p:nvSpPr>
          <p:cNvPr id="7" name="TextBox 18"/>
          <p:cNvSpPr/>
          <p:nvPr/>
        </p:nvSpPr>
        <p:spPr>
          <a:xfrm>
            <a:off x="476250" y="1233487"/>
            <a:ext cx="266700" cy="182873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r">
              <a:lnSpc>
                <a:spcPts val="1485"/>
              </a:lnSpc>
              <a:buNone/>
            </a:pPr>
            <a:r>
              <a:rPr lang="en-US" sz="1235" b="1" dirty="0">
                <a:solidFill>
                  <a:srgbClr val="299236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1</a:t>
            </a:r>
            <a:endParaRPr lang="en-US" sz="1235" dirty="0"/>
          </a:p>
        </p:txBody>
      </p:sp>
      <p:sp>
        <p:nvSpPr>
          <p:cNvPr id="8" name="TextBox 21"/>
          <p:cNvSpPr/>
          <p:nvPr/>
        </p:nvSpPr>
        <p:spPr>
          <a:xfrm>
            <a:off x="857250" y="1233487"/>
            <a:ext cx="2925365" cy="185737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505"/>
              </a:lnSpc>
              <a:buNone/>
            </a:pPr>
            <a:r>
              <a:rPr lang="en-US" sz="1005" b="1" dirty="0">
                <a:solidFill>
                  <a:srgbClr val="121C23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分解问题</a:t>
            </a:r>
            <a:endParaRPr lang="en-US" sz="1005" dirty="0"/>
          </a:p>
        </p:txBody>
      </p:sp>
      <p:sp>
        <p:nvSpPr>
          <p:cNvPr id="9" name="TextBox 22"/>
          <p:cNvSpPr/>
          <p:nvPr/>
        </p:nvSpPr>
        <p:spPr>
          <a:xfrm>
            <a:off x="857250" y="1447800"/>
            <a:ext cx="3166745" cy="15557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215"/>
              </a:lnSpc>
              <a:buNone/>
            </a:pPr>
            <a:r>
              <a:rPr lang="en-US" sz="810" dirty="0">
                <a:solidFill>
                  <a:srgbClr val="5A656D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"首先，我需要理解题目要求……题目涉及三个条件，让我逐一分析"</a:t>
            </a:r>
            <a:endParaRPr lang="en-US" sz="810" dirty="0"/>
          </a:p>
        </p:txBody>
      </p:sp>
      <p:sp>
        <p:nvSpPr>
          <p:cNvPr id="10" name="TextBox 27"/>
          <p:cNvSpPr/>
          <p:nvPr/>
        </p:nvSpPr>
        <p:spPr>
          <a:xfrm>
            <a:off x="476250" y="1645444"/>
            <a:ext cx="266700" cy="182873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r">
              <a:lnSpc>
                <a:spcPts val="1485"/>
              </a:lnSpc>
              <a:buNone/>
            </a:pPr>
            <a:r>
              <a:rPr lang="en-US" sz="1235" b="1" dirty="0">
                <a:solidFill>
                  <a:srgbClr val="299236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2</a:t>
            </a:r>
            <a:endParaRPr lang="en-US" sz="1235" dirty="0"/>
          </a:p>
        </p:txBody>
      </p:sp>
      <p:sp>
        <p:nvSpPr>
          <p:cNvPr id="11" name="TextBox 30"/>
          <p:cNvSpPr/>
          <p:nvPr/>
        </p:nvSpPr>
        <p:spPr>
          <a:xfrm>
            <a:off x="857250" y="1645444"/>
            <a:ext cx="3638550" cy="185737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505"/>
              </a:lnSpc>
              <a:buNone/>
            </a:pPr>
            <a:r>
              <a:rPr lang="en-US" sz="1005" b="1" dirty="0">
                <a:solidFill>
                  <a:srgbClr val="121C23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尝试路径 + 回溯</a:t>
            </a:r>
            <a:endParaRPr lang="en-US" sz="1005" dirty="0"/>
          </a:p>
        </p:txBody>
      </p:sp>
      <p:sp>
        <p:nvSpPr>
          <p:cNvPr id="12" name="TextBox 31"/>
          <p:cNvSpPr/>
          <p:nvPr/>
        </p:nvSpPr>
        <p:spPr>
          <a:xfrm>
            <a:off x="857250" y="1859756"/>
            <a:ext cx="3638550" cy="300038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215"/>
              </a:lnSpc>
              <a:buNone/>
            </a:pPr>
            <a:r>
              <a:rPr lang="en-US" sz="810" dirty="0">
                <a:solidFill>
                  <a:srgbClr val="5A656D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"如果假设 A 成立，那么……但这与条件 2 矛盾"；"等等，我上一步的假设有问题，让我重新考虑"</a:t>
            </a:r>
            <a:endParaRPr lang="en-US" sz="810" dirty="0"/>
          </a:p>
        </p:txBody>
      </p:sp>
      <p:sp>
        <p:nvSpPr>
          <p:cNvPr id="13" name="TextBox 36"/>
          <p:cNvSpPr/>
          <p:nvPr/>
        </p:nvSpPr>
        <p:spPr>
          <a:xfrm>
            <a:off x="476250" y="2207419"/>
            <a:ext cx="266700" cy="182873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r">
              <a:lnSpc>
                <a:spcPts val="1485"/>
              </a:lnSpc>
              <a:buNone/>
            </a:pPr>
            <a:r>
              <a:rPr lang="en-US" sz="1235" b="1" dirty="0">
                <a:solidFill>
                  <a:srgbClr val="299236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3</a:t>
            </a:r>
            <a:endParaRPr lang="en-US" sz="1235" dirty="0"/>
          </a:p>
        </p:txBody>
      </p:sp>
      <p:sp>
        <p:nvSpPr>
          <p:cNvPr id="14" name="TextBox 39"/>
          <p:cNvSpPr/>
          <p:nvPr/>
        </p:nvSpPr>
        <p:spPr>
          <a:xfrm>
            <a:off x="857250" y="2207419"/>
            <a:ext cx="2225278" cy="185737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505"/>
              </a:lnSpc>
              <a:buNone/>
            </a:pPr>
            <a:r>
              <a:rPr lang="en-US" sz="1005" b="1" dirty="0">
                <a:solidFill>
                  <a:srgbClr val="121C23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自我验证</a:t>
            </a:r>
            <a:endParaRPr lang="en-US" sz="1005" dirty="0"/>
          </a:p>
        </p:txBody>
      </p:sp>
      <p:sp>
        <p:nvSpPr>
          <p:cNvPr id="15" name="TextBox 40"/>
          <p:cNvSpPr/>
          <p:nvPr/>
        </p:nvSpPr>
        <p:spPr>
          <a:xfrm>
            <a:off x="857250" y="2421890"/>
            <a:ext cx="2520315" cy="15557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215"/>
              </a:lnSpc>
              <a:buNone/>
            </a:pPr>
            <a:r>
              <a:rPr lang="en-US" sz="810" dirty="0">
                <a:solidFill>
                  <a:srgbClr val="5A656D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"让我把得到的答案代回原题检验一遍……验证通过"</a:t>
            </a:r>
            <a:endParaRPr lang="en-US" sz="810" dirty="0"/>
          </a:p>
        </p:txBody>
      </p:sp>
      <p:sp>
        <p:nvSpPr>
          <p:cNvPr id="16" name="TextBox 45"/>
          <p:cNvSpPr/>
          <p:nvPr/>
        </p:nvSpPr>
        <p:spPr>
          <a:xfrm>
            <a:off x="476250" y="2619375"/>
            <a:ext cx="266700" cy="182873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r">
              <a:lnSpc>
                <a:spcPts val="1485"/>
              </a:lnSpc>
              <a:buNone/>
            </a:pPr>
            <a:r>
              <a:rPr lang="en-US" sz="1235" b="1" dirty="0">
                <a:solidFill>
                  <a:srgbClr val="299236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4</a:t>
            </a:r>
            <a:endParaRPr lang="en-US" sz="1235" dirty="0"/>
          </a:p>
        </p:txBody>
      </p:sp>
      <p:sp>
        <p:nvSpPr>
          <p:cNvPr id="17" name="TextBox 48"/>
          <p:cNvSpPr/>
          <p:nvPr/>
        </p:nvSpPr>
        <p:spPr>
          <a:xfrm>
            <a:off x="857250" y="2619375"/>
            <a:ext cx="1925240" cy="185737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505"/>
              </a:lnSpc>
              <a:buNone/>
            </a:pPr>
            <a:r>
              <a:rPr lang="en-US" sz="1005" b="1" dirty="0">
                <a:solidFill>
                  <a:srgbClr val="121C23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多路径比较</a:t>
            </a:r>
            <a:endParaRPr lang="en-US" sz="1005" dirty="0"/>
          </a:p>
        </p:txBody>
      </p:sp>
      <p:sp>
        <p:nvSpPr>
          <p:cNvPr id="18" name="TextBox 49"/>
          <p:cNvSpPr/>
          <p:nvPr/>
        </p:nvSpPr>
        <p:spPr>
          <a:xfrm>
            <a:off x="857250" y="2834005"/>
            <a:ext cx="2520950" cy="15557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215"/>
              </a:lnSpc>
              <a:buNone/>
            </a:pPr>
            <a:r>
              <a:rPr lang="en-US" sz="810" dirty="0">
                <a:solidFill>
                  <a:srgbClr val="5A656D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"另一种思路是用对称性……这种方法更简洁"</a:t>
            </a:r>
            <a:endParaRPr lang="en-US" sz="810" dirty="0"/>
          </a:p>
        </p:txBody>
      </p:sp>
      <p:sp>
        <p:nvSpPr>
          <p:cNvPr id="19" name="Shape 56"/>
          <p:cNvSpPr/>
          <p:nvPr/>
        </p:nvSpPr>
        <p:spPr>
          <a:xfrm>
            <a:off x="4648200" y="1233487"/>
            <a:ext cx="4019550" cy="933450"/>
          </a:xfrm>
          <a:prstGeom prst="roundRect">
            <a:avLst>
              <a:gd name="adj" fmla="val 3152"/>
            </a:avLst>
          </a:prstGeom>
          <a:solidFill>
            <a:srgbClr val="5A845A">
              <a:alpha val="12157"/>
            </a:srgbClr>
          </a:solidFill>
          <a:ln w="4903">
            <a:solidFill>
              <a:srgbClr val="5C875C">
                <a:alpha val="25098"/>
              </a:srgbClr>
            </a:solidFill>
            <a:prstDash val="solid"/>
          </a:ln>
        </p:spPr>
      </p:sp>
      <p:sp>
        <p:nvSpPr>
          <p:cNvPr id="20" name="TextBox 58"/>
          <p:cNvSpPr/>
          <p:nvPr/>
        </p:nvSpPr>
        <p:spPr>
          <a:xfrm>
            <a:off x="4805362" y="1343025"/>
            <a:ext cx="3705225" cy="71437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160"/>
              </a:lnSpc>
              <a:buNone/>
            </a:pPr>
            <a:r>
              <a:rPr lang="en-US" sz="770" b="1" dirty="0">
                <a:solidFill>
                  <a:srgbClr val="121C23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RL 如何催生这些行为？</a:t>
            </a:r>
            <a:r>
              <a:rPr lang="en-US" sz="770" dirty="0">
                <a:solidFill>
                  <a:srgbClr val="121C23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DeepSeek-R1-Zero（完全不经过 SFT）在纯 RL 训练中，仅靠两个奖励信号——</a:t>
            </a:r>
            <a:r>
              <a:rPr lang="en-US" sz="770" b="1" dirty="0">
                <a:solidFill>
                  <a:srgbClr val="121C23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答案正确 +1，格式正确 +1</a:t>
            </a:r>
            <a:r>
              <a:rPr lang="en-US" sz="770" dirty="0">
                <a:solidFill>
                  <a:srgbClr val="121C23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——模型在没有任何人类示范"怎样思考"的情况下，自己学会了"要想答对 → 就得仔细想 → 包括检查自己有没有出错"。这是推理行为</a:t>
            </a:r>
            <a:r>
              <a:rPr lang="en-US" sz="770" b="1" dirty="0">
                <a:solidFill>
                  <a:srgbClr val="121C23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涌现</a:t>
            </a:r>
            <a:r>
              <a:rPr lang="en-US" sz="770" dirty="0">
                <a:solidFill>
                  <a:srgbClr val="121C23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的本质：不是被编程的，而是被"答对 = 奖励"这个简单约束压力逼出来的最优策略。</a:t>
            </a:r>
            <a:endParaRPr lang="en-US" sz="770" dirty="0"/>
          </a:p>
        </p:txBody>
      </p:sp>
      <p:sp>
        <p:nvSpPr>
          <p:cNvPr id="21" name="Shape 63"/>
          <p:cNvSpPr/>
          <p:nvPr/>
        </p:nvSpPr>
        <p:spPr>
          <a:xfrm>
            <a:off x="4648200" y="2224087"/>
            <a:ext cx="1971675" cy="778669"/>
          </a:xfrm>
          <a:prstGeom prst="roundRect">
            <a:avLst>
              <a:gd name="adj" fmla="val 3778"/>
            </a:avLst>
          </a:prstGeom>
          <a:solidFill>
            <a:srgbClr val="FFFFFF"/>
          </a:solidFill>
          <a:ln w="4903">
            <a:solidFill>
              <a:srgbClr val="D9DFE3"/>
            </a:solidFill>
            <a:prstDash val="solid"/>
          </a:ln>
        </p:spPr>
      </p:sp>
      <p:sp>
        <p:nvSpPr>
          <p:cNvPr id="22" name="TextBox 65"/>
          <p:cNvSpPr/>
          <p:nvPr/>
        </p:nvSpPr>
        <p:spPr>
          <a:xfrm>
            <a:off x="4738687" y="2295525"/>
            <a:ext cx="1790700" cy="92869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755"/>
              </a:lnSpc>
              <a:buNone/>
            </a:pPr>
            <a:r>
              <a:rPr lang="en-US" sz="500" kern="0" spc="40" dirty="0">
                <a:solidFill>
                  <a:srgbClr val="299236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O1/O3 的隐藏推理</a:t>
            </a:r>
            <a:endParaRPr lang="en-US" sz="500" dirty="0"/>
          </a:p>
        </p:txBody>
      </p:sp>
      <p:sp>
        <p:nvSpPr>
          <p:cNvPr id="23" name="TextBox 67"/>
          <p:cNvSpPr/>
          <p:nvPr/>
        </p:nvSpPr>
        <p:spPr>
          <a:xfrm>
            <a:off x="4738687" y="2445544"/>
            <a:ext cx="1790700" cy="364331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985"/>
              </a:lnSpc>
              <a:buNone/>
            </a:pPr>
            <a:r>
              <a:rPr lang="en-US" sz="655" dirty="0">
                <a:solidFill>
                  <a:srgbClr val="5A656D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原始思考链隐藏，用户只看到摘要。OpenAI 称这是出于安全监控考虑——但用户付费购买思考 token 却看不到思考内容，引发争议。</a:t>
            </a:r>
            <a:endParaRPr lang="en-US" sz="655" dirty="0"/>
          </a:p>
        </p:txBody>
      </p:sp>
      <p:sp>
        <p:nvSpPr>
          <p:cNvPr id="24" name="Shape 70"/>
          <p:cNvSpPr/>
          <p:nvPr/>
        </p:nvSpPr>
        <p:spPr>
          <a:xfrm>
            <a:off x="6696075" y="2224087"/>
            <a:ext cx="1971675" cy="778669"/>
          </a:xfrm>
          <a:prstGeom prst="roundRect">
            <a:avLst>
              <a:gd name="adj" fmla="val 3778"/>
            </a:avLst>
          </a:prstGeom>
          <a:solidFill>
            <a:srgbClr val="FFFFFF"/>
          </a:solidFill>
          <a:ln w="4903">
            <a:solidFill>
              <a:srgbClr val="D9DFE3"/>
            </a:solidFill>
            <a:prstDash val="solid"/>
          </a:ln>
        </p:spPr>
      </p:sp>
      <p:sp>
        <p:nvSpPr>
          <p:cNvPr id="25" name="TextBox 72"/>
          <p:cNvSpPr/>
          <p:nvPr/>
        </p:nvSpPr>
        <p:spPr>
          <a:xfrm>
            <a:off x="6786563" y="2295525"/>
            <a:ext cx="1790700" cy="92869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755"/>
              </a:lnSpc>
              <a:buNone/>
            </a:pPr>
            <a:r>
              <a:rPr lang="en-US" sz="500" kern="0" spc="40" dirty="0">
                <a:solidFill>
                  <a:srgbClr val="299236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CLAUDE 的差异化设计</a:t>
            </a:r>
            <a:endParaRPr lang="en-US" sz="500" dirty="0"/>
          </a:p>
        </p:txBody>
      </p:sp>
      <p:sp>
        <p:nvSpPr>
          <p:cNvPr id="26" name="TextBox 74"/>
          <p:cNvSpPr/>
          <p:nvPr/>
        </p:nvSpPr>
        <p:spPr>
          <a:xfrm>
            <a:off x="6786563" y="2445544"/>
            <a:ext cx="1790700" cy="48577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985"/>
              </a:lnSpc>
              <a:buNone/>
            </a:pPr>
            <a:r>
              <a:rPr lang="en-US" sz="655" dirty="0">
                <a:solidFill>
                  <a:srgbClr val="5A656D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思考链对用户</a:t>
            </a:r>
            <a:r>
              <a:rPr lang="en-US" sz="655" b="1" dirty="0">
                <a:solidFill>
                  <a:srgbClr val="5A656D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可见且高度可读</a:t>
            </a:r>
            <a:r>
              <a:rPr lang="en-US" sz="655" dirty="0">
                <a:solidFill>
                  <a:srgbClr val="5A656D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。可调节"思考预算"——用户可以说"多想一些"或"不要想太多"。2025 年 NeurIPS 论文指出：Claude 是所有推理模型中思考链可读性唯一的例外。</a:t>
            </a:r>
            <a:endParaRPr lang="en-US" sz="655" dirty="0"/>
          </a:p>
        </p:txBody>
      </p:sp>
      <p:pic>
        <p:nvPicPr>
          <p:cNvPr id="27" name="Picture 81" descr="__type_image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76250" y="4819650"/>
            <a:ext cx="8191500" cy="171450"/>
          </a:xfrm>
          <a:prstGeom prst="rect">
            <a:avLst/>
          </a:prstGeom>
        </p:spPr>
      </p:pic>
      <p:sp>
        <p:nvSpPr>
          <p:cNvPr id="28" name="TextBox 81"/>
          <p:cNvSpPr/>
          <p:nvPr/>
        </p:nvSpPr>
        <p:spPr>
          <a:xfrm>
            <a:off x="476250" y="4819650"/>
            <a:ext cx="8191500" cy="171450"/>
          </a:xfrm>
          <a:prstGeom prst="rect">
            <a:avLst/>
          </a:prstGeom>
          <a:noFill/>
        </p:spPr>
        <p:txBody>
          <a:bodyPr wrap="square" lIns="0" tIns="68645" rIns="0" bIns="0" rtlCol="0" anchor="t">
            <a:spAutoFit/>
          </a:bodyPr>
          <a:lstStyle/>
          <a:p>
            <a:pPr marL="0" indent="0" algn="l">
              <a:lnSpc>
                <a:spcPts val="810"/>
              </a:lnSpc>
              <a:buNone/>
            </a:pPr>
            <a:r>
              <a:rPr lang="en-US" sz="540" kern="0" spc="22" dirty="0">
                <a:solidFill>
                  <a:srgbClr val="5A656D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推荐操作：去 chat.deepseek.com 让 R1 解一道数学题，亲眼看到它的完整思考过程——比任何描述都有说服力</a:t>
            </a:r>
            <a:endParaRPr lang="en-US" sz="540" dirty="0"/>
          </a:p>
        </p:txBody>
      </p:sp>
      <p:pic>
        <p:nvPicPr>
          <p:cNvPr id="30" name="图片 2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0835" y="3197860"/>
            <a:ext cx="4318635" cy="177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6F9FC"/>
          </a:solidFill>
        </p:spPr>
      </p:sp>
      <p:sp>
        <p:nvSpPr>
          <p:cNvPr id="3" name="Shape 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6F9FC"/>
          </a:solidFill>
        </p:spPr>
      </p:sp>
      <p:pic>
        <p:nvPicPr>
          <p:cNvPr id="4" name="Picture 4" descr="__type_image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76250" y="381000"/>
            <a:ext cx="8191500" cy="390525"/>
          </a:xfrm>
          <a:prstGeom prst="rect">
            <a:avLst/>
          </a:prstGeom>
        </p:spPr>
      </p:pic>
      <p:sp>
        <p:nvSpPr>
          <p:cNvPr id="5" name="TextBox 4"/>
          <p:cNvSpPr/>
          <p:nvPr/>
        </p:nvSpPr>
        <p:spPr>
          <a:xfrm>
            <a:off x="476250" y="381000"/>
            <a:ext cx="8191500" cy="390525"/>
          </a:xfrm>
          <a:prstGeom prst="rect">
            <a:avLst/>
          </a:prstGeom>
          <a:noFill/>
        </p:spPr>
        <p:txBody>
          <a:bodyPr wrap="square" lIns="0" tIns="0" rIns="0" bIns="98065" rtlCol="0" anchor="t">
            <a:spAutoFit/>
          </a:bodyPr>
          <a:lstStyle/>
          <a:p>
            <a:pPr marL="0" indent="0" algn="l">
              <a:lnSpc>
                <a:spcPts val="2315"/>
              </a:lnSpc>
              <a:buNone/>
            </a:pPr>
            <a:r>
              <a:rPr lang="en-US" sz="1545" b="1" kern="0" spc="-23" dirty="0">
                <a:solidFill>
                  <a:srgbClr val="121C23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"测试时计算"——新的 Scaling 维度</a:t>
            </a:r>
            <a:endParaRPr lang="en-US" sz="1545" dirty="0"/>
          </a:p>
        </p:txBody>
      </p:sp>
      <p:sp>
        <p:nvSpPr>
          <p:cNvPr id="6" name="Shape 8"/>
          <p:cNvSpPr/>
          <p:nvPr/>
        </p:nvSpPr>
        <p:spPr>
          <a:xfrm>
            <a:off x="476250" y="1000125"/>
            <a:ext cx="8191500" cy="879351"/>
          </a:xfrm>
          <a:prstGeom prst="roundRect">
            <a:avLst>
              <a:gd name="adj" fmla="val 3346"/>
            </a:avLst>
          </a:prstGeom>
          <a:solidFill>
            <a:srgbClr val="FFFFFF"/>
          </a:solidFill>
        </p:spPr>
      </p:sp>
      <p:pic>
        <p:nvPicPr>
          <p:cNvPr id="7" name="Picture 8" descr="__type_image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76250" y="1000125"/>
            <a:ext cx="8191500" cy="879351"/>
          </a:xfrm>
          <a:prstGeom prst="rect">
            <a:avLst/>
          </a:prstGeom>
        </p:spPr>
      </p:pic>
      <p:sp>
        <p:nvSpPr>
          <p:cNvPr id="8" name="TextBox 10"/>
          <p:cNvSpPr/>
          <p:nvPr/>
        </p:nvSpPr>
        <p:spPr>
          <a:xfrm>
            <a:off x="666750" y="1138237"/>
            <a:ext cx="7824788" cy="100013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810"/>
              </a:lnSpc>
              <a:buNone/>
            </a:pPr>
            <a:r>
              <a:rPr lang="en-US" sz="540" kern="0" spc="43" dirty="0">
                <a:solidFill>
                  <a:srgbClr val="299236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定义</a:t>
            </a:r>
            <a:endParaRPr lang="en-US" sz="540" dirty="0"/>
          </a:p>
        </p:txBody>
      </p:sp>
      <p:sp>
        <p:nvSpPr>
          <p:cNvPr id="9" name="TextBox 12"/>
          <p:cNvSpPr/>
          <p:nvPr/>
        </p:nvSpPr>
        <p:spPr>
          <a:xfrm>
            <a:off x="666750" y="1276350"/>
            <a:ext cx="7824788" cy="48260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255"/>
              </a:lnSpc>
              <a:buNone/>
            </a:pPr>
            <a:r>
              <a:rPr lang="en-US" sz="810" b="1" dirty="0">
                <a:solidFill>
                  <a:srgbClr val="121C23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测试时计算（Test-Time Compute Scaling）</a:t>
            </a:r>
            <a:r>
              <a:rPr lang="en-US" sz="810" dirty="0">
                <a:solidFill>
                  <a:srgbClr val="121C23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：不是通过训练更大的模型来提升性能，而是在</a:t>
            </a:r>
            <a:r>
              <a:rPr lang="en-US" sz="810" b="1" dirty="0">
                <a:solidFill>
                  <a:srgbClr val="121C23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推理阶段</a:t>
            </a:r>
            <a:r>
              <a:rPr lang="en-US" sz="810" dirty="0">
                <a:solidFill>
                  <a:srgbClr val="121C23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（每次用户提问时）分配更多计算资源。形式上包括：生成更长的内部思考链（sequential scaling）、并行采样多条思考链后</a:t>
            </a:r>
            <a:r>
              <a:rPr lang="zh-CN" altLang="en-US" sz="810" dirty="0">
                <a:solidFill>
                  <a:srgbClr val="121C23"/>
                </a:solidFill>
                <a:latin typeface="Segoe UI" panose="020B0502040204020203" pitchFamily="34" charset="0"/>
                <a:ea typeface="宋体" panose="02010600030101010101" pitchFamily="2" charset="-122"/>
                <a:cs typeface="Segoe UI" panose="020B0502040204020203" pitchFamily="34" charset="-120"/>
              </a:rPr>
              <a:t>选择</a:t>
            </a:r>
            <a:r>
              <a:rPr lang="en-US" sz="810" dirty="0">
                <a:solidFill>
                  <a:srgbClr val="121C23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（batch scaling / Best-of-N）、让模型反复自我修改（turn scaling）。核心</a:t>
            </a:r>
            <a:r>
              <a:rPr lang="zh-CN" altLang="en-US" sz="810" dirty="0">
                <a:solidFill>
                  <a:srgbClr val="121C23"/>
                </a:solidFill>
                <a:latin typeface="Segoe UI" panose="020B0502040204020203" pitchFamily="34" charset="0"/>
                <a:ea typeface="宋体" panose="02010600030101010101" pitchFamily="2" charset="-122"/>
                <a:cs typeface="Segoe UI" panose="020B0502040204020203" pitchFamily="34" charset="-120"/>
              </a:rPr>
              <a:t>思路</a:t>
            </a:r>
            <a:r>
              <a:rPr lang="en-US" sz="810" dirty="0">
                <a:solidFill>
                  <a:srgbClr val="121C23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：</a:t>
            </a:r>
            <a:r>
              <a:rPr lang="en-US" sz="810" b="1" dirty="0">
                <a:solidFill>
                  <a:srgbClr val="121C23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验证比生成更容易</a:t>
            </a:r>
            <a:r>
              <a:rPr lang="en-US" sz="810" dirty="0">
                <a:solidFill>
                  <a:srgbClr val="121C23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——让模型自己检查自己，比让它一次性给出正确答案，要容易得多。</a:t>
            </a:r>
            <a:endParaRPr lang="en-US" sz="810" dirty="0"/>
          </a:p>
        </p:txBody>
      </p:sp>
      <p:graphicFrame>
        <p:nvGraphicFramePr>
          <p:cNvPr id="14" name="Table 15"/>
          <p:cNvGraphicFramePr>
            <a:graphicFrameLocks noGrp="1"/>
          </p:cNvGraphicFramePr>
          <p:nvPr/>
        </p:nvGraphicFramePr>
        <p:xfrm>
          <a:off x="476250" y="1955676"/>
          <a:ext cx="8191500" cy="914400"/>
        </p:xfrm>
        <a:graphic>
          <a:graphicData uri="http://schemas.openxmlformats.org/drawingml/2006/table">
            <a:tbl>
              <a:tblPr/>
              <a:tblGrid>
                <a:gridCol w="1468971"/>
                <a:gridCol w="3496866"/>
                <a:gridCol w="3225663"/>
              </a:tblGrid>
              <a:tr h="0"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925"/>
                        </a:lnSpc>
                        <a:buNone/>
                      </a:pPr>
                      <a:r>
                        <a:rPr lang="en-US" sz="620" b="1" kern="0" spc="37" dirty="0">
                          <a:solidFill>
                            <a:srgbClr val="299236"/>
                          </a:solidFill>
                          <a:latin typeface="Consolas" panose="020B0609020204030204" pitchFamily="34" charset="0"/>
                          <a:ea typeface="Consolas" panose="020B0609020204030204" pitchFamily="34" charset="-122"/>
                          <a:cs typeface="Consolas" panose="020B0609020204030204" pitchFamily="34" charset="-120"/>
                        </a:rPr>
                        <a:t>对比维度</a:t>
                      </a:r>
                      <a:endParaRPr lang="en-US" sz="620" dirty="0">
                        <a:latin typeface="Consolas" panose="020B0609020204030204" pitchFamily="34" charset="0"/>
                        <a:ea typeface="Consolas" panose="020B0609020204030204" pitchFamily="34" charset="0"/>
                        <a:cs typeface="Consolas" panose="020B0609020204030204" pitchFamily="34" charset="0"/>
                      </a:endParaRPr>
                    </a:p>
                  </a:txBody>
                  <a:tcPr marL="122581" marR="122581" marT="83355" marB="8335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806" cap="flat" cmpd="sng" algn="ctr">
                      <a:solidFill>
                        <a:srgbClr val="2992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A845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1275"/>
                        </a:lnSpc>
                        <a:buNone/>
                      </a:pPr>
                      <a:r>
                        <a:rPr lang="en-US" sz="850" b="1" dirty="0">
                          <a:solidFill>
                            <a:srgbClr val="121C23"/>
                          </a:solidFill>
                          <a:latin typeface="Segoe UI" panose="020B0502040204020203" pitchFamily="34" charset="0"/>
                          <a:ea typeface="Segoe UI" panose="020B0502040204020203" pitchFamily="34" charset="-122"/>
                          <a:cs typeface="Segoe UI" panose="020B0502040204020203" pitchFamily="34" charset="-120"/>
                        </a:rPr>
                        <a:t>传统预训练 Scaling</a:t>
                      </a:r>
                      <a:endParaRPr lang="en-US" sz="850" dirty="0">
                        <a:latin typeface="Segoe UI" panose="020B0502040204020203" pitchFamily="34" charset="0"/>
                        <a:ea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22581" marR="122581" marT="83355" marB="8335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806" cap="flat" cmpd="sng" algn="ctr">
                      <a:solidFill>
                        <a:srgbClr val="2992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A845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1275"/>
                        </a:lnSpc>
                        <a:buNone/>
                      </a:pPr>
                      <a:r>
                        <a:rPr lang="en-US" sz="850" b="1" dirty="0">
                          <a:solidFill>
                            <a:srgbClr val="121C23"/>
                          </a:solidFill>
                          <a:latin typeface="Segoe UI" panose="020B0502040204020203" pitchFamily="34" charset="0"/>
                          <a:ea typeface="Segoe UI" panose="020B0502040204020203" pitchFamily="34" charset="-122"/>
                          <a:cs typeface="Segoe UI" panose="020B0502040204020203" pitchFamily="34" charset="-120"/>
                        </a:rPr>
                        <a:t>测试时计算 Scaling</a:t>
                      </a:r>
                      <a:endParaRPr lang="en-US" sz="850" dirty="0">
                        <a:latin typeface="Segoe UI" panose="020B0502040204020203" pitchFamily="34" charset="0"/>
                        <a:ea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22581" marR="122581" marT="83355" marB="8335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806" cap="flat" cmpd="sng" algn="ctr">
                      <a:solidFill>
                        <a:srgbClr val="2992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A845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1100"/>
                        </a:lnSpc>
                        <a:buNone/>
                      </a:pPr>
                      <a:r>
                        <a:rPr lang="en-US" sz="735" b="1" dirty="0">
                          <a:solidFill>
                            <a:srgbClr val="121C23"/>
                          </a:solidFill>
                          <a:latin typeface="Segoe UI" panose="020B0502040204020203" pitchFamily="34" charset="0"/>
                          <a:ea typeface="Segoe UI" panose="020B0502040204020203" pitchFamily="34" charset="-122"/>
                          <a:cs typeface="Segoe UI" panose="020B0502040204020203" pitchFamily="34" charset="-120"/>
                        </a:rPr>
                        <a:t>发生时机</a:t>
                      </a:r>
                      <a:endParaRPr lang="en-US" sz="735" dirty="0">
                        <a:latin typeface="Segoe UI" panose="020B0502040204020203" pitchFamily="34" charset="0"/>
                        <a:ea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22581" marR="122581" marT="73549" marB="73549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4903" cap="flat" cmpd="sng" algn="ctr">
                      <a:solidFill>
                        <a:srgbClr val="D9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1100"/>
                        </a:lnSpc>
                        <a:buNone/>
                      </a:pPr>
                      <a:r>
                        <a:rPr lang="en-US" sz="735" dirty="0">
                          <a:solidFill>
                            <a:srgbClr val="121C23"/>
                          </a:solidFill>
                          <a:latin typeface="Segoe UI" panose="020B0502040204020203" pitchFamily="34" charset="0"/>
                          <a:ea typeface="Segoe UI" panose="020B0502040204020203" pitchFamily="34" charset="-122"/>
                          <a:cs typeface="Segoe UI" panose="020B0502040204020203" pitchFamily="34" charset="-120"/>
                        </a:rPr>
                        <a:t>训练时</a:t>
                      </a:r>
                      <a:endParaRPr lang="en-US" sz="735" dirty="0">
                        <a:latin typeface="Segoe UI" panose="020B0502040204020203" pitchFamily="34" charset="0"/>
                        <a:ea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22581" marR="122581" marT="73549" marB="73549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4903" cap="flat" cmpd="sng" algn="ctr">
                      <a:solidFill>
                        <a:srgbClr val="D9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1100"/>
                        </a:lnSpc>
                        <a:buNone/>
                      </a:pPr>
                      <a:r>
                        <a:rPr lang="en-US" sz="735" dirty="0">
                          <a:solidFill>
                            <a:srgbClr val="5A656D"/>
                          </a:solidFill>
                          <a:latin typeface="Segoe UI" panose="020B0502040204020203" pitchFamily="34" charset="0"/>
                          <a:ea typeface="Segoe UI" panose="020B0502040204020203" pitchFamily="34" charset="-122"/>
                          <a:cs typeface="Segoe UI" panose="020B0502040204020203" pitchFamily="34" charset="-120"/>
                        </a:rPr>
                        <a:t>推理时（每次提问）</a:t>
                      </a:r>
                      <a:endParaRPr lang="en-US" sz="735" dirty="0">
                        <a:latin typeface="Segoe UI" panose="020B0502040204020203" pitchFamily="34" charset="0"/>
                        <a:ea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22581" marR="122581" marT="73549" marB="73549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4903" cap="flat" cmpd="sng" algn="ctr">
                      <a:solidFill>
                        <a:srgbClr val="D9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1100"/>
                        </a:lnSpc>
                        <a:buNone/>
                      </a:pPr>
                      <a:r>
                        <a:rPr lang="en-US" sz="735" b="1" dirty="0">
                          <a:solidFill>
                            <a:srgbClr val="121C23"/>
                          </a:solidFill>
                          <a:latin typeface="Segoe UI" panose="020B0502040204020203" pitchFamily="34" charset="0"/>
                          <a:ea typeface="Segoe UI" panose="020B0502040204020203" pitchFamily="34" charset="-122"/>
                          <a:cs typeface="Segoe UI" panose="020B0502040204020203" pitchFamily="34" charset="-120"/>
                        </a:rPr>
                        <a:t>成本模式</a:t>
                      </a:r>
                      <a:endParaRPr lang="en-US" sz="735" dirty="0">
                        <a:latin typeface="Segoe UI" panose="020B0502040204020203" pitchFamily="34" charset="0"/>
                        <a:ea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22581" marR="122581" marT="73549" marB="73549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4903" cap="flat" cmpd="sng" algn="ctr">
                      <a:solidFill>
                        <a:srgbClr val="D9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1100"/>
                        </a:lnSpc>
                        <a:buNone/>
                      </a:pPr>
                      <a:r>
                        <a:rPr lang="en-US" sz="735" dirty="0">
                          <a:solidFill>
                            <a:srgbClr val="121C23"/>
                          </a:solidFill>
                          <a:latin typeface="Segoe UI" panose="020B0502040204020203" pitchFamily="34" charset="0"/>
                          <a:ea typeface="Segoe UI" panose="020B0502040204020203" pitchFamily="34" charset="-122"/>
                          <a:cs typeface="Segoe UI" panose="020B0502040204020203" pitchFamily="34" charset="-120"/>
                        </a:rPr>
                        <a:t>固定成本（训一次，用多次）</a:t>
                      </a:r>
                      <a:endParaRPr lang="en-US" sz="735" dirty="0">
                        <a:latin typeface="Segoe UI" panose="020B0502040204020203" pitchFamily="34" charset="0"/>
                        <a:ea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22581" marR="122581" marT="73549" marB="73549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4903" cap="flat" cmpd="sng" algn="ctr">
                      <a:solidFill>
                        <a:srgbClr val="D9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1100"/>
                        </a:lnSpc>
                        <a:buNone/>
                      </a:pPr>
                      <a:r>
                        <a:rPr lang="en-US" sz="735" dirty="0">
                          <a:solidFill>
                            <a:srgbClr val="5A656D"/>
                          </a:solidFill>
                          <a:latin typeface="Segoe UI" panose="020B0502040204020203" pitchFamily="34" charset="0"/>
                          <a:ea typeface="Segoe UI" panose="020B0502040204020203" pitchFamily="34" charset="-122"/>
                          <a:cs typeface="Segoe UI" panose="020B0502040204020203" pitchFamily="34" charset="-120"/>
                        </a:rPr>
                        <a:t>按次付费（每次提问都更贵）</a:t>
                      </a:r>
                      <a:endParaRPr lang="en-US" sz="735" dirty="0">
                        <a:latin typeface="Segoe UI" panose="020B0502040204020203" pitchFamily="34" charset="0"/>
                        <a:ea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22581" marR="122581" marT="73549" marB="73549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4903" cap="flat" cmpd="sng" algn="ctr">
                      <a:solidFill>
                        <a:srgbClr val="D9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1100"/>
                        </a:lnSpc>
                        <a:buNone/>
                      </a:pPr>
                      <a:r>
                        <a:rPr lang="en-US" sz="735" b="1" dirty="0">
                          <a:solidFill>
                            <a:srgbClr val="121C23"/>
                          </a:solidFill>
                          <a:latin typeface="Segoe UI" panose="020B0502040204020203" pitchFamily="34" charset="0"/>
                          <a:ea typeface="Segoe UI" panose="020B0502040204020203" pitchFamily="34" charset="-122"/>
                          <a:cs typeface="Segoe UI" panose="020B0502040204020203" pitchFamily="34" charset="-120"/>
                        </a:rPr>
                        <a:t>效果天花板</a:t>
                      </a:r>
                      <a:endParaRPr lang="en-US" sz="735" dirty="0">
                        <a:latin typeface="Segoe UI" panose="020B0502040204020203" pitchFamily="34" charset="0"/>
                        <a:ea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22581" marR="122581" marT="73549" marB="73549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4903" cap="flat" cmpd="sng" algn="ctr">
                      <a:solidFill>
                        <a:srgbClr val="D9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1100"/>
                        </a:lnSpc>
                        <a:buNone/>
                      </a:pPr>
                      <a:r>
                        <a:rPr lang="en-US" sz="735" dirty="0">
                          <a:solidFill>
                            <a:srgbClr val="121C23"/>
                          </a:solidFill>
                          <a:latin typeface="Segoe UI" panose="020B0502040204020203" pitchFamily="34" charset="0"/>
                          <a:ea typeface="Segoe UI" panose="020B0502040204020203" pitchFamily="34" charset="-122"/>
                          <a:cs typeface="Segoe UI" panose="020B0502040204020203" pitchFamily="34" charset="-120"/>
                        </a:rPr>
                        <a:t>2024 年后回报递减明显</a:t>
                      </a:r>
                      <a:endParaRPr lang="en-US" sz="735" dirty="0">
                        <a:latin typeface="Segoe UI" panose="020B0502040204020203" pitchFamily="34" charset="0"/>
                        <a:ea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22581" marR="122581" marT="73549" marB="73549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4903" cap="flat" cmpd="sng" algn="ctr">
                      <a:solidFill>
                        <a:srgbClr val="D9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1100"/>
                        </a:lnSpc>
                        <a:buNone/>
                      </a:pPr>
                      <a:r>
                        <a:rPr lang="en-US" sz="735" b="1" dirty="0">
                          <a:solidFill>
                            <a:srgbClr val="5A656D"/>
                          </a:solidFill>
                          <a:latin typeface="Segoe UI" panose="020B0502040204020203" pitchFamily="34" charset="0"/>
                          <a:ea typeface="Segoe UI" panose="020B0502040204020203" pitchFamily="34" charset="-122"/>
                          <a:cs typeface="Segoe UI" panose="020B0502040204020203" pitchFamily="34" charset="-120"/>
                        </a:rPr>
                        <a:t>2025 年仍在持续提升</a:t>
                      </a:r>
                      <a:endParaRPr lang="en-US" sz="735" dirty="0">
                        <a:latin typeface="Segoe UI" panose="020B0502040204020203" pitchFamily="34" charset="0"/>
                        <a:ea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22581" marR="122581" marT="73549" marB="73549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4903" cap="flat" cmpd="sng" algn="ctr">
                      <a:solidFill>
                        <a:srgbClr val="D9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1100"/>
                        </a:lnSpc>
                        <a:buNone/>
                      </a:pPr>
                      <a:r>
                        <a:rPr lang="en-US" sz="735" b="1" dirty="0">
                          <a:solidFill>
                            <a:srgbClr val="121C23"/>
                          </a:solidFill>
                          <a:latin typeface="Segoe UI" panose="020B0502040204020203" pitchFamily="34" charset="0"/>
                          <a:ea typeface="Segoe UI" panose="020B0502040204020203" pitchFamily="34" charset="-122"/>
                          <a:cs typeface="Segoe UI" panose="020B0502040204020203" pitchFamily="34" charset="-120"/>
                        </a:rPr>
                        <a:t>最小粒度</a:t>
                      </a:r>
                      <a:endParaRPr lang="en-US" sz="735" dirty="0">
                        <a:latin typeface="Segoe UI" panose="020B0502040204020203" pitchFamily="34" charset="0"/>
                        <a:ea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22581" marR="122581" marT="73549" marB="73549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4903" cap="flat" cmpd="sng" algn="ctr">
                      <a:solidFill>
                        <a:srgbClr val="D9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1100"/>
                        </a:lnSpc>
                        <a:buNone/>
                      </a:pPr>
                      <a:r>
                        <a:rPr lang="en-US" sz="735" dirty="0">
                          <a:solidFill>
                            <a:srgbClr val="121C23"/>
                          </a:solidFill>
                          <a:latin typeface="Segoe UI" panose="020B0502040204020203" pitchFamily="34" charset="0"/>
                          <a:ea typeface="Segoe UI" panose="020B0502040204020203" pitchFamily="34" charset="-122"/>
                          <a:cs typeface="Segoe UI" panose="020B0502040204020203" pitchFamily="34" charset="-120"/>
                        </a:rPr>
                        <a:t>训练一个新模型（百万/亿美元级）</a:t>
                      </a:r>
                      <a:endParaRPr lang="en-US" sz="735" dirty="0">
                        <a:latin typeface="Segoe UI" panose="020B0502040204020203" pitchFamily="34" charset="0"/>
                        <a:ea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22581" marR="122581" marT="73549" marB="73549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4903" cap="flat" cmpd="sng" algn="ctr">
                      <a:solidFill>
                        <a:srgbClr val="D9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1100"/>
                        </a:lnSpc>
                        <a:buNone/>
                      </a:pPr>
                      <a:r>
                        <a:rPr lang="en-US" sz="735" dirty="0">
                          <a:solidFill>
                            <a:srgbClr val="5A656D"/>
                          </a:solidFill>
                          <a:latin typeface="Segoe UI" panose="020B0502040204020203" pitchFamily="34" charset="0"/>
                          <a:ea typeface="Segoe UI" panose="020B0502040204020203" pitchFamily="34" charset="-122"/>
                          <a:cs typeface="Segoe UI" panose="020B0502040204020203" pitchFamily="34" charset="-120"/>
                        </a:rPr>
                        <a:t>一次推理的思考预算（美分级）</a:t>
                      </a:r>
                      <a:endParaRPr lang="en-US" sz="735" dirty="0">
                        <a:latin typeface="Segoe UI" panose="020B0502040204020203" pitchFamily="34" charset="0"/>
                        <a:ea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22581" marR="122581" marT="73549" marB="73549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4903" cap="flat" cmpd="sng" algn="ctr">
                      <a:solidFill>
                        <a:srgbClr val="D9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1100"/>
                        </a:lnSpc>
                        <a:buNone/>
                      </a:pPr>
                      <a:r>
                        <a:rPr lang="en-US" sz="735" b="1" dirty="0">
                          <a:solidFill>
                            <a:srgbClr val="121C23"/>
                          </a:solidFill>
                          <a:latin typeface="Segoe UI" panose="020B0502040204020203" pitchFamily="34" charset="0"/>
                          <a:ea typeface="Segoe UI" panose="020B0502040204020203" pitchFamily="34" charset="-122"/>
                          <a:cs typeface="Segoe UI" panose="020B0502040204020203" pitchFamily="34" charset="-120"/>
                        </a:rPr>
                        <a:t>适用场景</a:t>
                      </a:r>
                      <a:endParaRPr lang="en-US" sz="735" dirty="0">
                        <a:latin typeface="Segoe UI" panose="020B0502040204020203" pitchFamily="34" charset="0"/>
                        <a:ea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22581" marR="122581" marT="73549" marB="73549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4903" cap="flat" cmpd="sng" algn="ctr">
                      <a:solidFill>
                        <a:srgbClr val="D9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1100"/>
                        </a:lnSpc>
                        <a:buNone/>
                      </a:pPr>
                      <a:r>
                        <a:rPr lang="en-US" sz="735" dirty="0">
                          <a:solidFill>
                            <a:srgbClr val="121C23"/>
                          </a:solidFill>
                          <a:latin typeface="Segoe UI" panose="020B0502040204020203" pitchFamily="34" charset="0"/>
                          <a:ea typeface="Segoe UI" panose="020B0502040204020203" pitchFamily="34" charset="-122"/>
                          <a:cs typeface="Segoe UI" panose="020B0502040204020203" pitchFamily="34" charset="-120"/>
                        </a:rPr>
                        <a:t>全面提升基线能力</a:t>
                      </a:r>
                      <a:endParaRPr lang="en-US" sz="735" dirty="0">
                        <a:latin typeface="Segoe UI" panose="020B0502040204020203" pitchFamily="34" charset="0"/>
                        <a:ea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22581" marR="122581" marT="73549" marB="73549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4903" cap="flat" cmpd="sng" algn="ctr">
                      <a:solidFill>
                        <a:srgbClr val="D9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1100"/>
                        </a:lnSpc>
                        <a:buNone/>
                      </a:pPr>
                      <a:r>
                        <a:rPr lang="en-US" sz="735" dirty="0">
                          <a:solidFill>
                            <a:srgbClr val="5A656D"/>
                          </a:solidFill>
                          <a:latin typeface="Segoe UI" panose="020B0502040204020203" pitchFamily="34" charset="0"/>
                          <a:ea typeface="Segoe UI" panose="020B0502040204020203" pitchFamily="34" charset="-122"/>
                          <a:cs typeface="Segoe UI" panose="020B0502040204020203" pitchFamily="34" charset="-120"/>
                        </a:rPr>
                        <a:t>按需提升特定难题的表现</a:t>
                      </a:r>
                      <a:endParaRPr lang="en-US" sz="735" dirty="0">
                        <a:latin typeface="Segoe UI" panose="020B0502040204020203" pitchFamily="34" charset="0"/>
                        <a:ea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22581" marR="122581" marT="73549" marB="73549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4903" cap="flat" cmpd="sng" algn="ctr">
                      <a:solidFill>
                        <a:srgbClr val="D9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1100"/>
                        </a:lnSpc>
                        <a:buNone/>
                      </a:pPr>
                      <a:r>
                        <a:rPr lang="en-US" sz="735" b="1" dirty="0">
                          <a:solidFill>
                            <a:srgbClr val="121C23"/>
                          </a:solidFill>
                          <a:latin typeface="Segoe UI" panose="020B0502040204020203" pitchFamily="34" charset="0"/>
                          <a:ea typeface="Segoe UI" panose="020B0502040204020203" pitchFamily="34" charset="-122"/>
                          <a:cs typeface="Segoe UI" panose="020B0502040204020203" pitchFamily="34" charset="-120"/>
                        </a:rPr>
                        <a:t>门槛</a:t>
                      </a:r>
                      <a:endParaRPr lang="en-US" sz="735" dirty="0">
                        <a:latin typeface="Segoe UI" panose="020B0502040204020203" pitchFamily="34" charset="0"/>
                        <a:ea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22581" marR="122581" marT="73549" marB="73549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4903" cap="flat" cmpd="sng" algn="ctr">
                      <a:solidFill>
                        <a:srgbClr val="D9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1100"/>
                        </a:lnSpc>
                        <a:buNone/>
                      </a:pPr>
                      <a:r>
                        <a:rPr lang="zh-CN" altLang="en-US" sz="735" dirty="0">
                          <a:latin typeface="Segoe UI" panose="020B0502040204020203" pitchFamily="34" charset="0"/>
                          <a:ea typeface="宋体" panose="02010600030101010101" pitchFamily="2" charset="-122"/>
                          <a:cs typeface="Segoe UI" panose="020B0502040204020203" pitchFamily="34" charset="0"/>
                        </a:rPr>
                        <a:t>极高</a:t>
                      </a:r>
                      <a:endParaRPr lang="zh-CN" altLang="en-US" sz="735" dirty="0">
                        <a:latin typeface="Segoe UI" panose="020B0502040204020203" pitchFamily="34" charset="0"/>
                        <a:ea typeface="宋体" panose="02010600030101010101" pitchFamily="2" charset="-122"/>
                        <a:cs typeface="Segoe UI" panose="020B0502040204020203" pitchFamily="34" charset="0"/>
                      </a:endParaRPr>
                    </a:p>
                  </a:txBody>
                  <a:tcPr marL="122581" marR="122581" marT="73549" marB="73549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4903" cap="flat" cmpd="sng" algn="ctr">
                      <a:solidFill>
                        <a:srgbClr val="D9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1100"/>
                        </a:lnSpc>
                        <a:buNone/>
                      </a:pPr>
                      <a:r>
                        <a:rPr lang="zh-CN" altLang="en-US" sz="735" dirty="0">
                          <a:latin typeface="Segoe UI" panose="020B0502040204020203" pitchFamily="34" charset="0"/>
                          <a:ea typeface="宋体" panose="02010600030101010101" pitchFamily="2" charset="-122"/>
                          <a:cs typeface="Segoe UI" panose="020B0502040204020203" pitchFamily="34" charset="0"/>
                        </a:rPr>
                        <a:t>一般高校和小公司</a:t>
                      </a:r>
                      <a:endParaRPr lang="zh-CN" altLang="en-US" sz="735" dirty="0">
                        <a:latin typeface="Segoe UI" panose="020B0502040204020203" pitchFamily="34" charset="0"/>
                        <a:ea typeface="宋体" panose="02010600030101010101" pitchFamily="2" charset="-122"/>
                        <a:cs typeface="Segoe UI" panose="020B0502040204020203" pitchFamily="34" charset="0"/>
                      </a:endParaRPr>
                    </a:p>
                  </a:txBody>
                  <a:tcPr marL="122581" marR="122581" marT="73549" marB="73549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4903" cap="flat" cmpd="sng" algn="ctr">
                      <a:solidFill>
                        <a:srgbClr val="D9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id="11" name="Shape 17"/>
          <p:cNvSpPr/>
          <p:nvPr/>
        </p:nvSpPr>
        <p:spPr>
          <a:xfrm>
            <a:off x="476250" y="3994026"/>
            <a:ext cx="8191500" cy="504825"/>
          </a:xfrm>
          <a:prstGeom prst="roundRect">
            <a:avLst>
              <a:gd name="adj" fmla="val 5828"/>
            </a:avLst>
          </a:prstGeom>
          <a:solidFill>
            <a:srgbClr val="5A845A">
              <a:alpha val="12157"/>
            </a:srgbClr>
          </a:solidFill>
          <a:ln w="4903">
            <a:solidFill>
              <a:srgbClr val="5C875C">
                <a:alpha val="25098"/>
              </a:srgbClr>
            </a:solidFill>
            <a:prstDash val="solid"/>
          </a:ln>
        </p:spPr>
      </p:sp>
      <p:pic>
        <p:nvPicPr>
          <p:cNvPr id="13" name="Picture 23" descr="__type_image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76250" y="4819650"/>
            <a:ext cx="8191500" cy="171450"/>
          </a:xfrm>
          <a:prstGeom prst="rect">
            <a:avLst/>
          </a:prstGeom>
        </p:spPr>
      </p:pic>
      <p:sp>
        <p:nvSpPr>
          <p:cNvPr id="10" name="TextBox 23"/>
          <p:cNvSpPr/>
          <p:nvPr/>
        </p:nvSpPr>
        <p:spPr>
          <a:xfrm>
            <a:off x="476250" y="4819650"/>
            <a:ext cx="8191500" cy="171450"/>
          </a:xfrm>
          <a:prstGeom prst="rect">
            <a:avLst/>
          </a:prstGeom>
          <a:noFill/>
        </p:spPr>
        <p:txBody>
          <a:bodyPr wrap="square" lIns="0" tIns="68645" rIns="0" bIns="0" rtlCol="0" anchor="t">
            <a:spAutoFit/>
          </a:bodyPr>
          <a:lstStyle/>
          <a:p>
            <a:pPr marL="0" indent="0" algn="l">
              <a:lnSpc>
                <a:spcPts val="810"/>
              </a:lnSpc>
              <a:buNone/>
            </a:pPr>
            <a:r>
              <a:rPr lang="en-US" sz="540" kern="0" spc="22" dirty="0">
                <a:solidFill>
                  <a:srgbClr val="5A656D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测试时计算 = 让 AI 学会"多花时间想一想"。这和我们人类面对难题时的策略完全一致</a:t>
            </a:r>
            <a:endParaRPr lang="en-US" sz="54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6F9FC"/>
          </a:solidFill>
        </p:spPr>
      </p:sp>
      <p:sp>
        <p:nvSpPr>
          <p:cNvPr id="3" name="Shape 2"/>
          <p:cNvSpPr/>
          <p:nvPr/>
        </p:nvSpPr>
        <p:spPr>
          <a:xfrm>
            <a:off x="-33020" y="0"/>
            <a:ext cx="9144000" cy="5143500"/>
          </a:xfrm>
          <a:prstGeom prst="rect">
            <a:avLst/>
          </a:prstGeom>
          <a:solidFill>
            <a:srgbClr val="F6F9FC"/>
          </a:solidFill>
        </p:spPr>
      </p:sp>
      <p:pic>
        <p:nvPicPr>
          <p:cNvPr id="4" name="Picture 4" descr="__type_image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76250" y="381000"/>
            <a:ext cx="8191500" cy="390525"/>
          </a:xfrm>
          <a:prstGeom prst="rect">
            <a:avLst/>
          </a:prstGeom>
        </p:spPr>
      </p:pic>
      <p:sp>
        <p:nvSpPr>
          <p:cNvPr id="5" name="TextBox 4"/>
          <p:cNvSpPr/>
          <p:nvPr/>
        </p:nvSpPr>
        <p:spPr>
          <a:xfrm>
            <a:off x="476250" y="381000"/>
            <a:ext cx="8191500" cy="390525"/>
          </a:xfrm>
          <a:prstGeom prst="rect">
            <a:avLst/>
          </a:prstGeom>
          <a:noFill/>
        </p:spPr>
        <p:txBody>
          <a:bodyPr wrap="square" lIns="0" tIns="0" rIns="0" bIns="98065" rtlCol="0" anchor="t">
            <a:spAutoFit/>
          </a:bodyPr>
          <a:lstStyle/>
          <a:p>
            <a:pPr marL="0" indent="0" algn="l">
              <a:lnSpc>
                <a:spcPts val="2315"/>
              </a:lnSpc>
              <a:buNone/>
            </a:pPr>
            <a:r>
              <a:rPr lang="en-US" sz="1545" b="1" kern="0" spc="-23" dirty="0">
                <a:solidFill>
                  <a:srgbClr val="121C23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为什么测试时计算成了"新 Scaling 维度"？——三大驱动力</a:t>
            </a:r>
            <a:endParaRPr lang="en-US" sz="1545" dirty="0"/>
          </a:p>
        </p:txBody>
      </p:sp>
      <p:sp>
        <p:nvSpPr>
          <p:cNvPr id="7" name="TextBox 14"/>
          <p:cNvSpPr/>
          <p:nvPr>
            <p:custDataLst>
              <p:tags r:id="rId3"/>
            </p:custDataLst>
          </p:nvPr>
        </p:nvSpPr>
        <p:spPr>
          <a:xfrm>
            <a:off x="742950" y="1147445"/>
            <a:ext cx="7810500" cy="19240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505"/>
              </a:lnSpc>
              <a:buNone/>
            </a:pPr>
            <a:r>
              <a:rPr lang="en-US" sz="1400" b="1" dirty="0">
                <a:solidFill>
                  <a:srgbClr val="121C23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1.预训练 Scaling 的回报递减</a:t>
            </a:r>
            <a:endParaRPr lang="en-US" sz="1400" dirty="0"/>
          </a:p>
        </p:txBody>
      </p:sp>
      <p:sp>
        <p:nvSpPr>
          <p:cNvPr id="8" name="TextBox 16"/>
          <p:cNvSpPr/>
          <p:nvPr>
            <p:custDataLst>
              <p:tags r:id="rId4"/>
            </p:custDataLst>
          </p:nvPr>
        </p:nvSpPr>
        <p:spPr>
          <a:xfrm>
            <a:off x="742950" y="1555432"/>
            <a:ext cx="7810500" cy="62293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215"/>
              </a:lnSpc>
              <a:buNone/>
            </a:pPr>
            <a:r>
              <a:rPr lang="en-US" sz="1200" dirty="0">
                <a:solidFill>
                  <a:srgbClr val="5A656D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    2024 年多个实验室报告：继续扩大模型参数带来的性能提升越来越小，而训练成本呈指数增长。"大数据 + 大模型 = 大智能"的简单公式不再线性成立。训练一个 GPT-5 级别模型需要数十亿美元——边际收益急剧下降。行业急需新的"智能杠杆"——测试时计算恰好出现在这个时间点。InstructGPT 论文已有先兆：1.3B 对齐后模型优于 175B 原始模型——对齐的收益远超预训练规模的收益。</a:t>
            </a:r>
            <a:endParaRPr lang="en-US" sz="1200" dirty="0">
              <a:solidFill>
                <a:srgbClr val="5A656D"/>
              </a:solidFill>
              <a:latin typeface="Segoe UI" panose="020B0502040204020203" pitchFamily="34" charset="0"/>
              <a:ea typeface="Segoe UI" panose="020B0502040204020203" pitchFamily="34" charset="-122"/>
              <a:cs typeface="Segoe UI" panose="020B0502040204020203" pitchFamily="34" charset="-120"/>
            </a:endParaRPr>
          </a:p>
        </p:txBody>
      </p:sp>
      <p:sp>
        <p:nvSpPr>
          <p:cNvPr id="10" name="TextBox 26"/>
          <p:cNvSpPr/>
          <p:nvPr>
            <p:custDataLst>
              <p:tags r:id="rId5"/>
            </p:custDataLst>
          </p:nvPr>
        </p:nvSpPr>
        <p:spPr>
          <a:xfrm>
            <a:off x="703580" y="2331244"/>
            <a:ext cx="7810500" cy="19240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505"/>
              </a:lnSpc>
              <a:buNone/>
            </a:pPr>
            <a:r>
              <a:rPr lang="en-US" sz="1400" b="1" dirty="0">
                <a:solidFill>
                  <a:srgbClr val="121C23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2.RLVR 使"思考"成为可优化的行为</a:t>
            </a:r>
            <a:endParaRPr lang="en-US" sz="1400" dirty="0"/>
          </a:p>
        </p:txBody>
      </p:sp>
      <p:sp>
        <p:nvSpPr>
          <p:cNvPr id="11" name="TextBox 28"/>
          <p:cNvSpPr/>
          <p:nvPr>
            <p:custDataLst>
              <p:tags r:id="rId6"/>
            </p:custDataLst>
          </p:nvPr>
        </p:nvSpPr>
        <p:spPr>
          <a:xfrm>
            <a:off x="703580" y="2690971"/>
            <a:ext cx="7810500" cy="62293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215"/>
              </a:lnSpc>
              <a:buNone/>
            </a:pPr>
            <a:r>
              <a:rPr lang="en-US" sz="1200" dirty="0">
                <a:solidFill>
                  <a:srgbClr val="5A656D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     传统</a:t>
            </a:r>
            <a:r>
              <a:rPr lang="en-US" sz="810" dirty="0">
                <a:solidFill>
                  <a:srgbClr val="5A656D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 </a:t>
            </a:r>
            <a:r>
              <a:rPr lang="en-US" sz="1200" dirty="0">
                <a:solidFill>
                  <a:srgbClr val="5A656D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RLHF 无法有效奖励"思考过程"——奖励模型只能评"回答好不好"，不能评"推理对不对"。RLVR 提供了干净的奖励信号：答案对就是对的，错就是错的——不需要人来判断。这让模型可以被训练成"思考者"：多思考 → 更容易答对 → 更多奖励 → 更擅长思考 → 正向循环。同一基座模型 + 不同 RL 训练 = "快思考"（普通助手）或"慢思考"（推理专家）。</a:t>
            </a:r>
            <a:endParaRPr lang="en-US" sz="1200" dirty="0">
              <a:solidFill>
                <a:srgbClr val="5A656D"/>
              </a:solidFill>
              <a:latin typeface="Segoe UI" panose="020B0502040204020203" pitchFamily="34" charset="0"/>
              <a:ea typeface="Segoe UI" panose="020B0502040204020203" pitchFamily="34" charset="-122"/>
              <a:cs typeface="Segoe UI" panose="020B0502040204020203" pitchFamily="34" charset="-120"/>
            </a:endParaRPr>
          </a:p>
        </p:txBody>
      </p:sp>
      <p:sp>
        <p:nvSpPr>
          <p:cNvPr id="13" name="TextBox 38"/>
          <p:cNvSpPr/>
          <p:nvPr>
            <p:custDataLst>
              <p:tags r:id="rId7"/>
            </p:custDataLst>
          </p:nvPr>
        </p:nvSpPr>
        <p:spPr>
          <a:xfrm>
            <a:off x="742950" y="3570129"/>
            <a:ext cx="7810500" cy="19240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505"/>
              </a:lnSpc>
              <a:buNone/>
            </a:pPr>
            <a:r>
              <a:rPr lang="en-US" sz="1400" b="1" dirty="0">
                <a:solidFill>
                  <a:srgbClr val="121C23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3.推理时分配计算比训练时重训更灵活、更便宜</a:t>
            </a:r>
            <a:endParaRPr lang="en-US" sz="1400" b="1" dirty="0">
              <a:solidFill>
                <a:srgbClr val="121C23"/>
              </a:solidFill>
              <a:latin typeface="Segoe UI" panose="020B0502040204020203" pitchFamily="34" charset="0"/>
              <a:ea typeface="Segoe UI" panose="020B0502040204020203" pitchFamily="34" charset="-122"/>
              <a:cs typeface="Segoe UI" panose="020B0502040204020203" pitchFamily="34" charset="-120"/>
            </a:endParaRPr>
          </a:p>
        </p:txBody>
      </p:sp>
      <p:sp>
        <p:nvSpPr>
          <p:cNvPr id="14" name="TextBox 40"/>
          <p:cNvSpPr/>
          <p:nvPr>
            <p:custDataLst>
              <p:tags r:id="rId8"/>
            </p:custDataLst>
          </p:nvPr>
        </p:nvSpPr>
        <p:spPr>
          <a:xfrm>
            <a:off x="703580" y="3842861"/>
            <a:ext cx="7810500" cy="62293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215"/>
              </a:lnSpc>
              <a:buNone/>
            </a:pPr>
            <a:r>
              <a:rPr lang="en-US" sz="1200" dirty="0">
                <a:solidFill>
                  <a:srgbClr val="5A656D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     预训练 Scaling：最小单位是"一个新模型"（百万到十亿美元级），粒度粗——只能训一个"平均水平"的模型，"迭代速度以月/年计"。测试时计算：最小单位是"一次推理调用的思考预算"（美分级），粒度细——每个问题可独立分配思考时间，"参数调整秒/分级"。这意味着简单题用"省钱模式"秒答，难题用"烧脑模式"深度思考——</a:t>
            </a:r>
            <a:r>
              <a:rPr lang="en-US" sz="1200" b="1" dirty="0">
                <a:solidFill>
                  <a:srgbClr val="5A656D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不是整个模型都被迫用同一种方式处理所有问题</a:t>
            </a:r>
            <a:r>
              <a:rPr lang="en-US" sz="1200" dirty="0">
                <a:solidFill>
                  <a:srgbClr val="5A656D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，而预训练 Scaling 做不到这种按需分配。</a:t>
            </a:r>
            <a:endParaRPr lang="en-US" sz="1200" dirty="0"/>
          </a:p>
        </p:txBody>
      </p:sp>
      <p:pic>
        <p:nvPicPr>
          <p:cNvPr id="15" name="Picture 45" descr="__type_image"/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476250" y="4819650"/>
            <a:ext cx="8191500" cy="171450"/>
          </a:xfrm>
          <a:prstGeom prst="rect">
            <a:avLst/>
          </a:prstGeom>
        </p:spPr>
      </p:pic>
      <p:sp>
        <p:nvSpPr>
          <p:cNvPr id="16" name="TextBox 45"/>
          <p:cNvSpPr/>
          <p:nvPr/>
        </p:nvSpPr>
        <p:spPr>
          <a:xfrm>
            <a:off x="476250" y="4819650"/>
            <a:ext cx="8191500" cy="171450"/>
          </a:xfrm>
          <a:prstGeom prst="rect">
            <a:avLst/>
          </a:prstGeom>
          <a:noFill/>
        </p:spPr>
        <p:txBody>
          <a:bodyPr wrap="square" lIns="0" tIns="68645" rIns="0" bIns="0" rtlCol="0" anchor="t">
            <a:spAutoFit/>
          </a:bodyPr>
          <a:lstStyle/>
          <a:p>
            <a:pPr marL="0" indent="0" algn="l">
              <a:lnSpc>
                <a:spcPts val="810"/>
              </a:lnSpc>
              <a:buNone/>
            </a:pPr>
            <a:r>
              <a:rPr lang="en-US" sz="540" kern="0" spc="22" dirty="0">
                <a:solidFill>
                  <a:srgbClr val="5A656D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三大驱动力共同作用，使测试时计算成为 2025 年 AI 行业最活跃的能力提升方向</a:t>
            </a:r>
            <a:endParaRPr lang="en-US" sz="54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6F9FC"/>
          </a:solidFill>
        </p:spPr>
      </p:sp>
      <p:sp>
        <p:nvSpPr>
          <p:cNvPr id="3" name="Shape 2"/>
          <p:cNvSpPr/>
          <p:nvPr/>
        </p:nvSpPr>
        <p:spPr>
          <a:xfrm>
            <a:off x="33020" y="0"/>
            <a:ext cx="9144000" cy="5143500"/>
          </a:xfrm>
          <a:prstGeom prst="rect">
            <a:avLst/>
          </a:prstGeom>
          <a:solidFill>
            <a:srgbClr val="F6F9FC"/>
          </a:solidFill>
        </p:spPr>
      </p:sp>
      <p:pic>
        <p:nvPicPr>
          <p:cNvPr id="4" name="Picture 4" descr="__type_image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76250" y="381000"/>
            <a:ext cx="8191500" cy="390525"/>
          </a:xfrm>
          <a:prstGeom prst="rect">
            <a:avLst/>
          </a:prstGeom>
        </p:spPr>
      </p:pic>
      <p:sp>
        <p:nvSpPr>
          <p:cNvPr id="5" name="TextBox 4"/>
          <p:cNvSpPr/>
          <p:nvPr/>
        </p:nvSpPr>
        <p:spPr>
          <a:xfrm>
            <a:off x="476250" y="381000"/>
            <a:ext cx="8191500" cy="390525"/>
          </a:xfrm>
          <a:prstGeom prst="rect">
            <a:avLst/>
          </a:prstGeom>
          <a:noFill/>
        </p:spPr>
        <p:txBody>
          <a:bodyPr wrap="square" lIns="0" tIns="0" rIns="0" bIns="98065" rtlCol="0" anchor="t">
            <a:spAutoFit/>
          </a:bodyPr>
          <a:lstStyle/>
          <a:p>
            <a:pPr marL="0" indent="0" algn="l">
              <a:lnSpc>
                <a:spcPts val="2315"/>
              </a:lnSpc>
              <a:buNone/>
            </a:pPr>
            <a:r>
              <a:rPr lang="en-US" sz="1545" b="1" kern="0" spc="-23" dirty="0">
                <a:solidFill>
                  <a:srgbClr val="121C23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推理模型擅长什么？——值得"为思考付钱"的任务</a:t>
            </a:r>
            <a:endParaRPr lang="en-US" sz="1545" dirty="0"/>
          </a:p>
        </p:txBody>
      </p:sp>
      <p:sp>
        <p:nvSpPr>
          <p:cNvPr id="6" name="Shape 8"/>
          <p:cNvSpPr/>
          <p:nvPr/>
        </p:nvSpPr>
        <p:spPr>
          <a:xfrm>
            <a:off x="476250" y="1000125"/>
            <a:ext cx="8191500" cy="369094"/>
          </a:xfrm>
          <a:prstGeom prst="roundRect">
            <a:avLst>
              <a:gd name="adj" fmla="val 7971"/>
            </a:avLst>
          </a:prstGeom>
          <a:solidFill>
            <a:srgbClr val="5A845A">
              <a:alpha val="12157"/>
            </a:srgbClr>
          </a:solidFill>
          <a:ln w="4903">
            <a:solidFill>
              <a:srgbClr val="5C875C">
                <a:alpha val="25098"/>
              </a:srgbClr>
            </a:solidFill>
            <a:prstDash val="solid"/>
          </a:ln>
        </p:spPr>
      </p:sp>
      <p:sp>
        <p:nvSpPr>
          <p:cNvPr id="7" name="TextBox 10"/>
          <p:cNvSpPr/>
          <p:nvPr/>
        </p:nvSpPr>
        <p:spPr>
          <a:xfrm>
            <a:off x="633412" y="1109663"/>
            <a:ext cx="7877175" cy="150019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215"/>
              </a:lnSpc>
              <a:buNone/>
            </a:pPr>
            <a:r>
              <a:rPr lang="en-US" sz="810" b="1" dirty="0">
                <a:solidFill>
                  <a:srgbClr val="121C23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判断法则：</a:t>
            </a:r>
            <a:r>
              <a:rPr lang="en-US" sz="810" dirty="0">
                <a:solidFill>
                  <a:srgbClr val="121C23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任务含多步逻辑推导 + 存在可验证的"正确答案" + 出错代价高 → 推理模型。以下条件满足 ≥ 2 个就应该考虑使用推理模型。</a:t>
            </a:r>
            <a:endParaRPr lang="en-US" sz="810" dirty="0"/>
          </a:p>
        </p:txBody>
      </p:sp>
      <p:pic>
        <p:nvPicPr>
          <p:cNvPr id="20" name="Picture 65" descr="__type_image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76250" y="4819650"/>
            <a:ext cx="8191500" cy="171450"/>
          </a:xfrm>
          <a:prstGeom prst="rect">
            <a:avLst/>
          </a:prstGeom>
        </p:spPr>
      </p:pic>
      <p:sp>
        <p:nvSpPr>
          <p:cNvPr id="22" name="文本框 21"/>
          <p:cNvSpPr txBox="1"/>
          <p:nvPr/>
        </p:nvSpPr>
        <p:spPr>
          <a:xfrm>
            <a:off x="358775" y="1400810"/>
            <a:ext cx="8425815" cy="327850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sz="1400" b="1" dirty="0">
                <a:solidFill>
                  <a:srgbClr val="121C23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1. 数学与定量推理（硬核数理）</a:t>
            </a:r>
            <a:endParaRPr lang="en-US" sz="1400" b="1" dirty="0">
              <a:solidFill>
                <a:srgbClr val="121C23"/>
              </a:solidFill>
              <a:latin typeface="Segoe UI" panose="020B0502040204020203" pitchFamily="34" charset="0"/>
              <a:ea typeface="Segoe UI" panose="020B0502040204020203" pitchFamily="34" charset="-122"/>
              <a:cs typeface="Segoe UI" panose="020B0502040204020203" pitchFamily="34" charset="-120"/>
            </a:endParaRPr>
          </a:p>
          <a:p>
            <a:r>
              <a:rPr lang="en-US" sz="1200" dirty="0">
                <a:solidFill>
                  <a:srgbClr val="5A656D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这是推理模型最显性的能力。它们擅长处理多步运算、微积分、线性代数，以及复杂的统计建模。面对棘手的应用题，它们会将问题拆解为若干个子目标，逐步求解，而不是直接套用公式（这常导致错误）。</a:t>
            </a:r>
            <a:endParaRPr lang="en-US" sz="1200" dirty="0">
              <a:solidFill>
                <a:srgbClr val="5A656D"/>
              </a:solidFill>
              <a:latin typeface="Segoe UI" panose="020B0502040204020203" pitchFamily="34" charset="0"/>
              <a:ea typeface="Segoe UI" panose="020B0502040204020203" pitchFamily="34" charset="-122"/>
              <a:cs typeface="Segoe UI" panose="020B0502040204020203" pitchFamily="34" charset="-120"/>
            </a:endParaRPr>
          </a:p>
          <a:p>
            <a:endParaRPr lang="en-US" sz="1200" dirty="0">
              <a:solidFill>
                <a:srgbClr val="5A656D"/>
              </a:solidFill>
              <a:latin typeface="Segoe UI" panose="020B0502040204020203" pitchFamily="34" charset="0"/>
              <a:ea typeface="Segoe UI" panose="020B0502040204020203" pitchFamily="34" charset="-122"/>
              <a:cs typeface="Segoe UI" panose="020B0502040204020203" pitchFamily="34" charset="-120"/>
            </a:endParaRPr>
          </a:p>
          <a:p>
            <a:pPr algn="l">
              <a:buClrTx/>
              <a:buSzTx/>
              <a:buFontTx/>
            </a:pPr>
            <a:r>
              <a:rPr lang="en-US" sz="1400" b="1" dirty="0">
                <a:solidFill>
                  <a:srgbClr val="121C23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2. 复杂代码与算法设计</a:t>
            </a:r>
            <a:endParaRPr lang="en-US" sz="1400" b="1" dirty="0">
              <a:solidFill>
                <a:srgbClr val="121C23"/>
              </a:solidFill>
              <a:latin typeface="Segoe UI" panose="020B0502040204020203" pitchFamily="34" charset="0"/>
              <a:ea typeface="Segoe UI" panose="020B0502040204020203" pitchFamily="34" charset="-122"/>
              <a:cs typeface="Segoe UI" panose="020B0502040204020203" pitchFamily="34" charset="-120"/>
            </a:endParaRPr>
          </a:p>
          <a:p>
            <a:r>
              <a:rPr lang="en-US" sz="1200" dirty="0">
                <a:solidFill>
                  <a:srgbClr val="5A656D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在编程竞赛（如 Codeforces）和工程架构设计中，推理模型表现优异。它们不仅能写代码，更能分析时空复杂度、设计递归/动态规划算法，并在头脑中模拟代码运行轨迹（Dry-run）来排查边界条件（如空指针、溢出）的逻辑漏洞。</a:t>
            </a:r>
            <a:endParaRPr lang="en-US" sz="1200" dirty="0">
              <a:solidFill>
                <a:srgbClr val="5A656D"/>
              </a:solidFill>
              <a:latin typeface="Segoe UI" panose="020B0502040204020203" pitchFamily="34" charset="0"/>
              <a:ea typeface="Segoe UI" panose="020B0502040204020203" pitchFamily="34" charset="-122"/>
              <a:cs typeface="Segoe UI" panose="020B0502040204020203" pitchFamily="34" charset="-120"/>
            </a:endParaRPr>
          </a:p>
          <a:p>
            <a:endParaRPr lang="en-US" sz="1200" dirty="0">
              <a:solidFill>
                <a:srgbClr val="5A656D"/>
              </a:solidFill>
              <a:latin typeface="Segoe UI" panose="020B0502040204020203" pitchFamily="34" charset="0"/>
              <a:ea typeface="Segoe UI" panose="020B0502040204020203" pitchFamily="34" charset="-122"/>
              <a:cs typeface="Segoe UI" panose="020B0502040204020203" pitchFamily="34" charset="-120"/>
            </a:endParaRPr>
          </a:p>
          <a:p>
            <a:pPr algn="l">
              <a:buClrTx/>
              <a:buSzTx/>
              <a:buFontTx/>
            </a:pPr>
            <a:r>
              <a:rPr lang="en-US" sz="1400" b="1" dirty="0">
                <a:solidFill>
                  <a:srgbClr val="121C23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3. 多步逻辑推理与规划</a:t>
            </a:r>
            <a:endParaRPr lang="en-US" sz="1400" b="1" dirty="0">
              <a:solidFill>
                <a:srgbClr val="121C23"/>
              </a:solidFill>
              <a:latin typeface="Segoe UI" panose="020B0502040204020203" pitchFamily="34" charset="0"/>
              <a:ea typeface="Segoe UI" panose="020B0502040204020203" pitchFamily="34" charset="-122"/>
              <a:cs typeface="Segoe UI" panose="020B0502040204020203" pitchFamily="34" charset="-120"/>
            </a:endParaRPr>
          </a:p>
          <a:p>
            <a:r>
              <a:rPr lang="en-US" sz="1200" dirty="0">
                <a:solidFill>
                  <a:srgbClr val="5A656D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对于需要“拐三个弯”的复杂逻辑题（如侦探谜题、排班约束问题、合同条款冲突检测），标准模型容易“迷失”在条件中，而推理模型会建立逻辑链（如果 A 则 B，但 C 与 B 冲突，所以排除 A），确保每一步都有据可依。</a:t>
            </a:r>
            <a:endParaRPr lang="en-US" sz="1200" dirty="0">
              <a:solidFill>
                <a:srgbClr val="5A656D"/>
              </a:solidFill>
              <a:latin typeface="Segoe UI" panose="020B0502040204020203" pitchFamily="34" charset="0"/>
              <a:ea typeface="Segoe UI" panose="020B0502040204020203" pitchFamily="34" charset="-122"/>
              <a:cs typeface="Segoe UI" panose="020B0502040204020203" pitchFamily="34" charset="-120"/>
            </a:endParaRPr>
          </a:p>
          <a:p>
            <a:endParaRPr lang="en-US" sz="1200" dirty="0">
              <a:solidFill>
                <a:srgbClr val="5A656D"/>
              </a:solidFill>
              <a:latin typeface="Segoe UI" panose="020B0502040204020203" pitchFamily="34" charset="0"/>
              <a:ea typeface="Segoe UI" panose="020B0502040204020203" pitchFamily="34" charset="-122"/>
              <a:cs typeface="Segoe UI" panose="020B0502040204020203" pitchFamily="34" charset="-120"/>
            </a:endParaRPr>
          </a:p>
          <a:p>
            <a:r>
              <a:rPr lang="en-US" sz="1400" b="1" dirty="0">
                <a:solidFill>
                  <a:srgbClr val="121C23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4. 长上下文的深度“大海捞针”</a:t>
            </a:r>
            <a:endParaRPr lang="en-US" sz="1400" b="1" dirty="0">
              <a:solidFill>
                <a:srgbClr val="121C23"/>
              </a:solidFill>
              <a:latin typeface="Segoe UI" panose="020B0502040204020203" pitchFamily="34" charset="0"/>
              <a:ea typeface="Segoe UI" panose="020B0502040204020203" pitchFamily="34" charset="-122"/>
              <a:cs typeface="Segoe UI" panose="020B0502040204020203" pitchFamily="34" charset="-120"/>
            </a:endParaRPr>
          </a:p>
          <a:p>
            <a:r>
              <a:rPr lang="en-US" sz="1200" dirty="0">
                <a:solidFill>
                  <a:srgbClr val="5A656D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当处理几十页甚至上百页的技术文档、法律卷宗时，推理模型能有效抓住长距离的依赖关系。它们擅长将开头的定义与结尾的结论进行交叉验证，发现其中细微的矛盾或不一致。</a:t>
            </a:r>
            <a:endParaRPr lang="en-US" sz="1200" dirty="0">
              <a:solidFill>
                <a:srgbClr val="5A656D"/>
              </a:solidFill>
              <a:latin typeface="Segoe UI" panose="020B0502040204020203" pitchFamily="34" charset="0"/>
              <a:ea typeface="Segoe UI" panose="020B0502040204020203" pitchFamily="34" charset="-122"/>
              <a:cs typeface="Segoe UI" panose="020B0502040204020203" pitchFamily="34" charset="-120"/>
            </a:endParaRPr>
          </a:p>
          <a:p>
            <a:endParaRPr lang="en-US" sz="1200" dirty="0">
              <a:solidFill>
                <a:srgbClr val="5A656D"/>
              </a:solidFill>
              <a:latin typeface="Segoe UI" panose="020B0502040204020203" pitchFamily="34" charset="0"/>
              <a:ea typeface="Segoe UI" panose="020B0502040204020203" pitchFamily="34" charset="-122"/>
              <a:cs typeface="Segoe UI" panose="020B0502040204020203" pitchFamily="34" charset="-120"/>
            </a:endParaRPr>
          </a:p>
          <a:p>
            <a:r>
              <a:rPr lang="en-US" sz="1400" b="1" dirty="0">
                <a:solidFill>
                  <a:srgbClr val="121C23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5. 自我修正与回溯</a:t>
            </a:r>
            <a:endParaRPr lang="en-US" sz="1400" b="1" dirty="0">
              <a:solidFill>
                <a:srgbClr val="121C23"/>
              </a:solidFill>
              <a:latin typeface="Segoe UI" panose="020B0502040204020203" pitchFamily="34" charset="0"/>
              <a:ea typeface="Segoe UI" panose="020B0502040204020203" pitchFamily="34" charset="-122"/>
              <a:cs typeface="Segoe UI" panose="020B0502040204020203" pitchFamily="34" charset="-120"/>
            </a:endParaRPr>
          </a:p>
          <a:p>
            <a:r>
              <a:rPr lang="en-US" sz="1200" dirty="0">
                <a:solidFill>
                  <a:srgbClr val="5A656D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这是推理模型与普通模型的本质区别。普通模型通常“一锤定音”，而推理模型会在思考中途质疑自己：“这一步虽然得到了 X，但代入原题发现不成立，我需要退回上一步换一种解法。”这种“试错-回溯”机制让它们能攻克极其刁钻的问题。</a:t>
            </a:r>
            <a:endParaRPr lang="en-US" sz="1200" dirty="0">
              <a:solidFill>
                <a:srgbClr val="5A656D"/>
              </a:solidFill>
              <a:latin typeface="Segoe UI" panose="020B0502040204020203" pitchFamily="34" charset="0"/>
              <a:ea typeface="Segoe UI" panose="020B0502040204020203" pitchFamily="34" charset="-122"/>
              <a:cs typeface="Segoe UI" panose="020B0502040204020203" pitchFamily="34" charset="-120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6F9FC"/>
          </a:solidFill>
        </p:spPr>
      </p:sp>
      <p:sp>
        <p:nvSpPr>
          <p:cNvPr id="3" name="Shape 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6F9FC"/>
          </a:solidFill>
        </p:spPr>
      </p:sp>
      <p:pic>
        <p:nvPicPr>
          <p:cNvPr id="4" name="Picture 4" descr="__type_image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76250" y="381000"/>
            <a:ext cx="8191500" cy="390525"/>
          </a:xfrm>
          <a:prstGeom prst="rect">
            <a:avLst/>
          </a:prstGeom>
        </p:spPr>
      </p:pic>
      <p:sp>
        <p:nvSpPr>
          <p:cNvPr id="5" name="TextBox 4"/>
          <p:cNvSpPr/>
          <p:nvPr/>
        </p:nvSpPr>
        <p:spPr>
          <a:xfrm>
            <a:off x="476250" y="381000"/>
            <a:ext cx="8191500" cy="390525"/>
          </a:xfrm>
          <a:prstGeom prst="rect">
            <a:avLst/>
          </a:prstGeom>
          <a:noFill/>
        </p:spPr>
        <p:txBody>
          <a:bodyPr wrap="square" lIns="0" tIns="0" rIns="0" bIns="98065" rtlCol="0" anchor="t">
            <a:spAutoFit/>
          </a:bodyPr>
          <a:lstStyle/>
          <a:p>
            <a:pPr marL="0" indent="0" algn="l">
              <a:lnSpc>
                <a:spcPts val="2315"/>
              </a:lnSpc>
              <a:buNone/>
            </a:pPr>
            <a:r>
              <a:rPr lang="en-US" sz="1545" b="1" kern="0" spc="-23" dirty="0">
                <a:solidFill>
                  <a:srgbClr val="121C23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推理模型不擅长什么？——不该"多付钱"的任务</a:t>
            </a:r>
            <a:endParaRPr lang="en-US" sz="1545" dirty="0"/>
          </a:p>
        </p:txBody>
      </p:sp>
      <p:sp>
        <p:nvSpPr>
          <p:cNvPr id="6" name="Shape 8"/>
          <p:cNvSpPr/>
          <p:nvPr/>
        </p:nvSpPr>
        <p:spPr>
          <a:xfrm>
            <a:off x="476250" y="1000125"/>
            <a:ext cx="8191500" cy="361950"/>
          </a:xfrm>
          <a:prstGeom prst="roundRect">
            <a:avLst>
              <a:gd name="adj" fmla="val 8128"/>
            </a:avLst>
          </a:prstGeom>
          <a:solidFill>
            <a:srgbClr val="5A845A">
              <a:alpha val="12157"/>
            </a:srgbClr>
          </a:solidFill>
          <a:ln w="4903">
            <a:solidFill>
              <a:srgbClr val="5C875C">
                <a:alpha val="25098"/>
              </a:srgbClr>
            </a:solidFill>
            <a:prstDash val="solid"/>
          </a:ln>
        </p:spPr>
      </p:sp>
      <p:sp>
        <p:nvSpPr>
          <p:cNvPr id="7" name="TextBox 10"/>
          <p:cNvSpPr/>
          <p:nvPr/>
        </p:nvSpPr>
        <p:spPr>
          <a:xfrm>
            <a:off x="633412" y="1109663"/>
            <a:ext cx="7877175" cy="14287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160"/>
              </a:lnSpc>
              <a:buNone/>
            </a:pPr>
            <a:r>
              <a:rPr lang="en-US" sz="770" b="1" dirty="0">
                <a:solidFill>
                  <a:srgbClr val="121C23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核心原则：</a:t>
            </a:r>
            <a:r>
              <a:rPr lang="en-US" sz="770" dirty="0">
                <a:solidFill>
                  <a:srgbClr val="121C23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推理不是免费的——它在延迟、成本、甚至准确率上都有代价。在以下场景中，普通模型更快、更便宜、结果差不多甚至更好。</a:t>
            </a:r>
            <a:endParaRPr lang="en-US" sz="770" dirty="0"/>
          </a:p>
        </p:txBody>
      </p:sp>
      <p:pic>
        <p:nvPicPr>
          <p:cNvPr id="16" name="Picture 39" descr="__type_image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76250" y="4819650"/>
            <a:ext cx="8191500" cy="171450"/>
          </a:xfrm>
          <a:prstGeom prst="rect">
            <a:avLst/>
          </a:prstGeom>
        </p:spPr>
      </p:pic>
      <p:sp>
        <p:nvSpPr>
          <p:cNvPr id="19" name="文本框 18"/>
          <p:cNvSpPr txBox="1"/>
          <p:nvPr/>
        </p:nvSpPr>
        <p:spPr>
          <a:xfrm>
            <a:off x="280035" y="1396365"/>
            <a:ext cx="8714105" cy="409448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sz="1400" b="1" dirty="0">
                <a:solidFill>
                  <a:srgbClr val="121C23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1. 开放式创意生成</a:t>
            </a:r>
            <a:endParaRPr lang="en-US" sz="1400" b="1" dirty="0">
              <a:solidFill>
                <a:srgbClr val="121C23"/>
              </a:solidFill>
              <a:latin typeface="Segoe UI" panose="020B0502040204020203" pitchFamily="34" charset="0"/>
              <a:ea typeface="Segoe UI" panose="020B0502040204020203" pitchFamily="34" charset="-122"/>
              <a:cs typeface="Segoe UI" panose="020B0502040204020203" pitchFamily="34" charset="-120"/>
            </a:endParaRPr>
          </a:p>
          <a:p>
            <a:r>
              <a:rPr lang="en-US" sz="1200" dirty="0">
                <a:solidFill>
                  <a:srgbClr val="5A656D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        写诗歌、小说桥段、营销文案时，推理模型会很“灾难”。因为创意需要发散思维和偶然性，而推理模型习惯在既有知识里做“最优路径搜索”，生成的内容往往逻辑严谨但极其俗套、僵硬。</a:t>
            </a:r>
            <a:endParaRPr lang="en-US" sz="1200" dirty="0">
              <a:solidFill>
                <a:srgbClr val="5A656D"/>
              </a:solidFill>
              <a:latin typeface="Segoe UI" panose="020B0502040204020203" pitchFamily="34" charset="0"/>
              <a:ea typeface="Segoe UI" panose="020B0502040204020203" pitchFamily="34" charset="-122"/>
              <a:cs typeface="Segoe UI" panose="020B0502040204020203" pitchFamily="34" charset="-120"/>
            </a:endParaRPr>
          </a:p>
          <a:p>
            <a:pPr algn="l">
              <a:buClrTx/>
              <a:buSzTx/>
              <a:buFontTx/>
            </a:pPr>
            <a:r>
              <a:rPr lang="en-US" sz="1400" b="1" dirty="0">
                <a:solidFill>
                  <a:srgbClr val="121C23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2.需要“秒回”的实时交互</a:t>
            </a:r>
            <a:endParaRPr lang="en-US" sz="1400" b="1" dirty="0">
              <a:solidFill>
                <a:srgbClr val="121C23"/>
              </a:solidFill>
              <a:latin typeface="Segoe UI" panose="020B0502040204020203" pitchFamily="34" charset="0"/>
              <a:ea typeface="Segoe UI" panose="020B0502040204020203" pitchFamily="34" charset="-122"/>
              <a:cs typeface="Segoe UI" panose="020B0502040204020203" pitchFamily="34" charset="-120"/>
            </a:endParaRPr>
          </a:p>
          <a:p>
            <a:r>
              <a:rPr lang="en-US" sz="1200" dirty="0">
                <a:solidFill>
                  <a:srgbClr val="5A656D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       客服应答、闲聊对话、或者你急着要一个简单事实。推理模型内部要跑几百甚至上千个“思考令牌”（Thinking Tokens），响应延迟通常高达数秒到十几秒。为了一个简单答案等这么久，完全没必要。</a:t>
            </a:r>
            <a:endParaRPr lang="en-US" sz="1200" dirty="0">
              <a:solidFill>
                <a:srgbClr val="5A656D"/>
              </a:solidFill>
              <a:latin typeface="Segoe UI" panose="020B0502040204020203" pitchFamily="34" charset="0"/>
              <a:ea typeface="Segoe UI" panose="020B0502040204020203" pitchFamily="34" charset="-122"/>
              <a:cs typeface="Segoe UI" panose="020B0502040204020203" pitchFamily="34" charset="-120"/>
            </a:endParaRPr>
          </a:p>
          <a:p>
            <a:r>
              <a:rPr lang="en-US" sz="1400" b="1" dirty="0">
                <a:solidFill>
                  <a:srgbClr val="121C23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3. 高度主观或感性判断</a:t>
            </a:r>
            <a:endParaRPr lang="en-US" sz="1400" b="1" dirty="0">
              <a:solidFill>
                <a:srgbClr val="121C23"/>
              </a:solidFill>
              <a:latin typeface="Segoe UI" panose="020B0502040204020203" pitchFamily="34" charset="0"/>
              <a:ea typeface="Segoe UI" panose="020B0502040204020203" pitchFamily="34" charset="-122"/>
              <a:cs typeface="Segoe UI" panose="020B0502040204020203" pitchFamily="34" charset="-120"/>
            </a:endParaRPr>
          </a:p>
          <a:p>
            <a:r>
              <a:rPr lang="en-US" sz="1200" dirty="0">
                <a:solidFill>
                  <a:srgbClr val="5A656D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       “这幅画美不美？”“这段音乐</a:t>
            </a:r>
            <a:r>
              <a:rPr lang="zh-CN" altLang="en-US" sz="1200" dirty="0">
                <a:solidFill>
                  <a:srgbClr val="5A656D"/>
                </a:solidFill>
                <a:latin typeface="Segoe UI" panose="020B0502040204020203" pitchFamily="34" charset="0"/>
                <a:ea typeface="宋体" panose="02010600030101010101" pitchFamily="2" charset="-122"/>
                <a:cs typeface="Segoe UI" panose="020B0502040204020203" pitchFamily="34" charset="-120"/>
              </a:rPr>
              <a:t>好听</a:t>
            </a:r>
            <a:r>
              <a:rPr lang="en-US" sz="1200" dirty="0">
                <a:solidFill>
                  <a:srgbClr val="5A656D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吗？”“这道菜怎么改进更符合大众口味？”这类问题没有标准答案，依赖直觉和人类通感。推理模型会试图用逻辑去“解构”美感，比如分析色彩饱和度、音阶频率，结果往往很“机械”，无法给出像人类那样有温度的感性判断。</a:t>
            </a:r>
            <a:endParaRPr lang="en-US" sz="1200" dirty="0">
              <a:solidFill>
                <a:srgbClr val="5A656D"/>
              </a:solidFill>
              <a:latin typeface="Segoe UI" panose="020B0502040204020203" pitchFamily="34" charset="0"/>
              <a:ea typeface="Segoe UI" panose="020B0502040204020203" pitchFamily="34" charset="-122"/>
              <a:cs typeface="Segoe UI" panose="020B0502040204020203" pitchFamily="34" charset="-120"/>
            </a:endParaRPr>
          </a:p>
          <a:p>
            <a:pPr algn="l">
              <a:buClrTx/>
              <a:buSzTx/>
              <a:buFontTx/>
            </a:pPr>
            <a:r>
              <a:rPr lang="en-US" sz="1400" b="1" dirty="0">
                <a:solidFill>
                  <a:srgbClr val="121C23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4. 依赖外部实时信息的知识问答</a:t>
            </a:r>
            <a:endParaRPr lang="en-US" sz="1400" b="1" dirty="0">
              <a:solidFill>
                <a:srgbClr val="121C23"/>
              </a:solidFill>
              <a:latin typeface="Segoe UI" panose="020B0502040204020203" pitchFamily="34" charset="0"/>
              <a:ea typeface="Segoe UI" panose="020B0502040204020203" pitchFamily="34" charset="-122"/>
              <a:cs typeface="Segoe UI" panose="020B0502040204020203" pitchFamily="34" charset="-120"/>
            </a:endParaRPr>
          </a:p>
          <a:p>
            <a:r>
              <a:rPr lang="en-US" sz="1200" dirty="0">
                <a:solidFill>
                  <a:srgbClr val="5A656D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       推理模型擅长处理“题面内闭环”的信息，但如果你问</a:t>
            </a:r>
            <a:r>
              <a:rPr lang="zh-CN" altLang="en-US" sz="1200" dirty="0">
                <a:solidFill>
                  <a:srgbClr val="5A656D"/>
                </a:solidFill>
                <a:latin typeface="Segoe UI" panose="020B0502040204020203" pitchFamily="34" charset="0"/>
                <a:ea typeface="宋体" panose="02010600030101010101" pitchFamily="2" charset="-122"/>
                <a:cs typeface="Segoe UI" panose="020B0502040204020203" pitchFamily="34" charset="-120"/>
              </a:rPr>
              <a:t>一些具有时效性的问题</a:t>
            </a:r>
            <a:r>
              <a:rPr lang="en-US" altLang="zh-CN" sz="1200" dirty="0">
                <a:solidFill>
                  <a:srgbClr val="5A656D"/>
                </a:solidFill>
                <a:latin typeface="Segoe UI" panose="020B0502040204020203" pitchFamily="34" charset="0"/>
                <a:ea typeface="宋体" panose="02010600030101010101" pitchFamily="2" charset="-122"/>
                <a:cs typeface="Segoe UI" panose="020B0502040204020203" pitchFamily="34" charset="-120"/>
              </a:rPr>
              <a:t>,</a:t>
            </a:r>
            <a:r>
              <a:rPr lang="zh-CN" altLang="en-US" sz="1200" dirty="0">
                <a:solidFill>
                  <a:srgbClr val="5A656D"/>
                </a:solidFill>
                <a:latin typeface="Segoe UI" panose="020B0502040204020203" pitchFamily="34" charset="0"/>
                <a:ea typeface="宋体" panose="02010600030101010101" pitchFamily="2" charset="-122"/>
                <a:cs typeface="Segoe UI" panose="020B0502040204020203" pitchFamily="34" charset="-120"/>
              </a:rPr>
              <a:t>如热点新闻等</a:t>
            </a:r>
            <a:r>
              <a:rPr lang="en-US" sz="1200" dirty="0">
                <a:solidFill>
                  <a:srgbClr val="5A656D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，它既没有实时数据，也无法通过闭卷推理</a:t>
            </a:r>
            <a:r>
              <a:rPr lang="zh-CN" altLang="en-US" sz="1200" dirty="0">
                <a:solidFill>
                  <a:srgbClr val="5A656D"/>
                </a:solidFill>
                <a:latin typeface="Segoe UI" panose="020B0502040204020203" pitchFamily="34" charset="0"/>
                <a:ea typeface="宋体" panose="02010600030101010101" pitchFamily="2" charset="-122"/>
                <a:cs typeface="Segoe UI" panose="020B0502040204020203" pitchFamily="34" charset="-120"/>
              </a:rPr>
              <a:t>得到信息</a:t>
            </a:r>
            <a:r>
              <a:rPr lang="en-US" sz="1200" dirty="0">
                <a:solidFill>
                  <a:srgbClr val="5A656D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。不如普通模型直接联网搜索</a:t>
            </a:r>
            <a:endParaRPr lang="en-US" sz="1200" dirty="0">
              <a:solidFill>
                <a:srgbClr val="5A656D"/>
              </a:solidFill>
              <a:latin typeface="Segoe UI" panose="020B0502040204020203" pitchFamily="34" charset="0"/>
              <a:ea typeface="Segoe UI" panose="020B0502040204020203" pitchFamily="34" charset="-122"/>
              <a:cs typeface="Segoe UI" panose="020B0502040204020203" pitchFamily="34" charset="-120"/>
            </a:endParaRPr>
          </a:p>
          <a:p>
            <a:pPr algn="l">
              <a:buClrTx/>
              <a:buSzTx/>
              <a:buFontTx/>
            </a:pPr>
            <a:r>
              <a:rPr lang="en-US" sz="1400" b="1" dirty="0">
                <a:solidFill>
                  <a:srgbClr val="121C23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5.常识性简单算术或极短逻辑</a:t>
            </a:r>
            <a:endParaRPr lang="en-US" sz="1400" b="1" dirty="0">
              <a:solidFill>
                <a:srgbClr val="121C23"/>
              </a:solidFill>
              <a:latin typeface="Segoe UI" panose="020B0502040204020203" pitchFamily="34" charset="0"/>
              <a:ea typeface="Segoe UI" panose="020B0502040204020203" pitchFamily="34" charset="-122"/>
              <a:cs typeface="Segoe UI" panose="020B0502040204020203" pitchFamily="34" charset="-120"/>
            </a:endParaRPr>
          </a:p>
          <a:p>
            <a:r>
              <a:rPr lang="en-US" sz="1200" dirty="0">
                <a:solidFill>
                  <a:srgbClr val="5A656D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         推理模型的过度思考有时会导致它们把简单问题复杂化，反而在内部推导中引入不必要的干扰条件。普通模型的“直觉反应”反而更准确。</a:t>
            </a:r>
            <a:endParaRPr lang="en-US" sz="1200" dirty="0">
              <a:solidFill>
                <a:srgbClr val="5A656D"/>
              </a:solidFill>
              <a:latin typeface="Segoe UI" panose="020B0502040204020203" pitchFamily="34" charset="0"/>
              <a:ea typeface="Segoe UI" panose="020B0502040204020203" pitchFamily="34" charset="-122"/>
              <a:cs typeface="Segoe UI" panose="020B0502040204020203" pitchFamily="34" charset="-120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6F9FC"/>
          </a:solidFill>
        </p:spPr>
      </p:sp>
      <p:sp>
        <p:nvSpPr>
          <p:cNvPr id="3" name="Shape 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6F9FC"/>
          </a:solidFill>
        </p:spPr>
      </p:sp>
      <p:pic>
        <p:nvPicPr>
          <p:cNvPr id="4" name="Picture 4" descr="__type_image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76250" y="381000"/>
            <a:ext cx="8191500" cy="390525"/>
          </a:xfrm>
          <a:prstGeom prst="rect">
            <a:avLst/>
          </a:prstGeom>
        </p:spPr>
      </p:pic>
      <p:sp>
        <p:nvSpPr>
          <p:cNvPr id="5" name="TextBox 4"/>
          <p:cNvSpPr/>
          <p:nvPr/>
        </p:nvSpPr>
        <p:spPr>
          <a:xfrm>
            <a:off x="476250" y="381000"/>
            <a:ext cx="8191500" cy="390525"/>
          </a:xfrm>
          <a:prstGeom prst="rect">
            <a:avLst/>
          </a:prstGeom>
          <a:noFill/>
        </p:spPr>
        <p:txBody>
          <a:bodyPr wrap="square" lIns="0" tIns="0" rIns="0" bIns="98065" rtlCol="0" anchor="t">
            <a:spAutoFit/>
          </a:bodyPr>
          <a:lstStyle/>
          <a:p>
            <a:pPr marL="0" indent="0" algn="l">
              <a:lnSpc>
                <a:spcPts val="2315"/>
              </a:lnSpc>
              <a:buNone/>
            </a:pPr>
            <a:r>
              <a:rPr lang="en-US" sz="1545" b="1" kern="0" spc="-23" dirty="0">
                <a:solidFill>
                  <a:srgbClr val="121C23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对照实验：同一道逻辑题——普通模型 vs 推理模型</a:t>
            </a:r>
            <a:endParaRPr lang="en-US" sz="1545" dirty="0"/>
          </a:p>
        </p:txBody>
      </p:sp>
      <p:pic>
        <p:nvPicPr>
          <p:cNvPr id="19" name="Picture 35" descr="__type_image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76250" y="4819650"/>
            <a:ext cx="8191500" cy="171450"/>
          </a:xfrm>
          <a:prstGeom prst="rect">
            <a:avLst/>
          </a:prstGeom>
        </p:spPr>
      </p:pic>
      <p:sp>
        <p:nvSpPr>
          <p:cNvPr id="20" name="TextBox 35"/>
          <p:cNvSpPr/>
          <p:nvPr/>
        </p:nvSpPr>
        <p:spPr>
          <a:xfrm>
            <a:off x="476250" y="4819650"/>
            <a:ext cx="8191500" cy="171450"/>
          </a:xfrm>
          <a:prstGeom prst="rect">
            <a:avLst/>
          </a:prstGeom>
          <a:noFill/>
        </p:spPr>
        <p:txBody>
          <a:bodyPr wrap="square" lIns="0" tIns="68645" rIns="0" bIns="0" rtlCol="0" anchor="t">
            <a:spAutoFit/>
          </a:bodyPr>
          <a:lstStyle/>
          <a:p>
            <a:pPr marL="0" indent="0" algn="l">
              <a:lnSpc>
                <a:spcPts val="810"/>
              </a:lnSpc>
              <a:buNone/>
            </a:pPr>
            <a:r>
              <a:rPr lang="en-US" sz="540" kern="0" spc="22" dirty="0">
                <a:solidFill>
                  <a:srgbClr val="5A656D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关键差异：普通模型靠"见过"，推理模型靠"推导"——这是两种完全不同的认知机制</a:t>
            </a:r>
            <a:endParaRPr lang="en-US" sz="540" dirty="0"/>
          </a:p>
        </p:txBody>
      </p:sp>
      <p:sp>
        <p:nvSpPr>
          <p:cNvPr id="23" name="文本框 22"/>
          <p:cNvSpPr txBox="1"/>
          <p:nvPr/>
        </p:nvSpPr>
        <p:spPr>
          <a:xfrm>
            <a:off x="453390" y="813435"/>
            <a:ext cx="8496300" cy="397954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sz="1000"/>
              <a:t>红蓝眼睛问题</a:t>
            </a:r>
            <a:r>
              <a:rPr lang="en-US" altLang="zh-CN" sz="1000"/>
              <a:t>:</a:t>
            </a:r>
            <a:endParaRPr lang="en-US" altLang="zh-CN" sz="1000"/>
          </a:p>
          <a:p>
            <a:r>
              <a:rPr lang="zh-CN" altLang="en-US" sz="1000"/>
              <a:t>在一座孤岛上，生活着1000个原住民，其中900个人是红眼睛，100个人是蓝眼睛。他们共同遵守这样的规则：他们不知道自己眼睛的颜色；他们不会告诉对方眼睛是什么颜色；如果有人知道了自己的眼睛是蓝色，那他当晚23：59就会自杀；他们极度渴求自杀，并且绝顶聪明；有一天8：00，这个岛上来了一个游客，他无意间在全岛人都在场的情况下喊了一句（没有说谎）：</a:t>
            </a:r>
            <a:endParaRPr lang="zh-CN" altLang="en-US" sz="1000"/>
          </a:p>
          <a:p>
            <a:r>
              <a:rPr lang="zh-CN" altLang="en-US" sz="1000"/>
              <a:t>“你们当中有人是蓝眼睛欸！”</a:t>
            </a:r>
            <a:endParaRPr lang="zh-CN" altLang="en-US" sz="1000"/>
          </a:p>
          <a:p>
            <a:r>
              <a:rPr lang="zh-CN" altLang="en-US" sz="1000"/>
              <a:t>请问，岛上的100个蓝眼睛会自杀吗？如果会，会在什么时候自杀？</a:t>
            </a:r>
            <a:endParaRPr lang="zh-CN" altLang="en-US" sz="1000"/>
          </a:p>
          <a:p>
            <a:endParaRPr lang="zh-CN" altLang="en-US" sz="1000"/>
          </a:p>
          <a:p>
            <a:endParaRPr lang="zh-CN" altLang="en-US" sz="1000"/>
          </a:p>
          <a:p>
            <a:r>
              <a:rPr lang="zh-CN" altLang="en-US" sz="1000" b="1"/>
              <a:t>普通模型</a:t>
            </a:r>
            <a:r>
              <a:rPr lang="en-US" altLang="zh-CN" sz="1000"/>
              <a:t>:                                                                                                                          </a:t>
            </a:r>
            <a:r>
              <a:rPr lang="zh-CN" altLang="en-US" sz="1000" b="1"/>
              <a:t>推理模型:     </a:t>
            </a:r>
            <a:r>
              <a:rPr lang="en-US" altLang="zh-CN" sz="1000"/>
              <a:t>                                          </a:t>
            </a:r>
            <a:endParaRPr lang="en-US" altLang="zh-CN" sz="1000"/>
          </a:p>
        </p:txBody>
      </p:sp>
      <p:pic>
        <p:nvPicPr>
          <p:cNvPr id="24" name="图片 2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4980" y="2309495"/>
            <a:ext cx="3496945" cy="2489835"/>
          </a:xfrm>
          <a:prstGeom prst="rect">
            <a:avLst/>
          </a:prstGeom>
        </p:spPr>
      </p:pic>
      <p:pic>
        <p:nvPicPr>
          <p:cNvPr id="25" name="图片 2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05655" y="2298065"/>
            <a:ext cx="3867150" cy="1370330"/>
          </a:xfrm>
          <a:prstGeom prst="rect">
            <a:avLst/>
          </a:prstGeom>
        </p:spPr>
      </p:pic>
      <p:pic>
        <p:nvPicPr>
          <p:cNvPr id="26" name="图片 25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22165" y="3898265"/>
            <a:ext cx="3857625" cy="1092835"/>
          </a:xfrm>
          <a:prstGeom prst="rect">
            <a:avLst/>
          </a:prstGeom>
        </p:spPr>
      </p:pic>
      <p:sp>
        <p:nvSpPr>
          <p:cNvPr id="27" name="文本框 26"/>
          <p:cNvSpPr txBox="1"/>
          <p:nvPr/>
        </p:nvSpPr>
        <p:spPr>
          <a:xfrm>
            <a:off x="4646295" y="3707130"/>
            <a:ext cx="3833495" cy="14986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endParaRPr lang="en-US" altLang="zh-CN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6F9FC"/>
          </a:solidFill>
        </p:spPr>
      </p:sp>
      <p:sp>
        <p:nvSpPr>
          <p:cNvPr id="3" name="Shape 2"/>
          <p:cNvSpPr/>
          <p:nvPr/>
        </p:nvSpPr>
        <p:spPr>
          <a:xfrm>
            <a:off x="-33020" y="0"/>
            <a:ext cx="9144000" cy="5143500"/>
          </a:xfrm>
          <a:prstGeom prst="rect">
            <a:avLst/>
          </a:prstGeom>
          <a:solidFill>
            <a:srgbClr val="F6F9FC"/>
          </a:solidFill>
        </p:spPr>
      </p:sp>
      <p:pic>
        <p:nvPicPr>
          <p:cNvPr id="4" name="Picture 4" descr="__type_image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76250" y="381000"/>
            <a:ext cx="8191500" cy="390525"/>
          </a:xfrm>
          <a:prstGeom prst="rect">
            <a:avLst/>
          </a:prstGeom>
        </p:spPr>
      </p:pic>
      <p:sp>
        <p:nvSpPr>
          <p:cNvPr id="5" name="TextBox 4"/>
          <p:cNvSpPr/>
          <p:nvPr/>
        </p:nvSpPr>
        <p:spPr>
          <a:xfrm>
            <a:off x="476250" y="381000"/>
            <a:ext cx="8191500" cy="390525"/>
          </a:xfrm>
          <a:prstGeom prst="rect">
            <a:avLst/>
          </a:prstGeom>
          <a:noFill/>
        </p:spPr>
        <p:txBody>
          <a:bodyPr wrap="square" lIns="0" tIns="0" rIns="0" bIns="98065" rtlCol="0" anchor="t">
            <a:spAutoFit/>
          </a:bodyPr>
          <a:lstStyle/>
          <a:p>
            <a:pPr marL="0" indent="0" algn="l">
              <a:lnSpc>
                <a:spcPts val="2315"/>
              </a:lnSpc>
              <a:buNone/>
            </a:pPr>
            <a:r>
              <a:rPr lang="en-US" sz="1545" b="1" kern="0" spc="-23" dirty="0">
                <a:solidFill>
                  <a:srgbClr val="121C23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对照实验：同一道逻辑题——普通模型 vs 推理模型</a:t>
            </a:r>
            <a:endParaRPr lang="en-US" sz="1545" dirty="0"/>
          </a:p>
        </p:txBody>
      </p:sp>
      <p:sp>
        <p:nvSpPr>
          <p:cNvPr id="10" name="Shape 17"/>
          <p:cNvSpPr/>
          <p:nvPr/>
        </p:nvSpPr>
        <p:spPr>
          <a:xfrm>
            <a:off x="476250" y="1662113"/>
            <a:ext cx="4019550" cy="1249152"/>
          </a:xfrm>
          <a:prstGeom prst="roundRect">
            <a:avLst>
              <a:gd name="adj" fmla="val 2355"/>
            </a:avLst>
          </a:prstGeom>
          <a:solidFill>
            <a:srgbClr val="FFFFFF"/>
          </a:solidFill>
        </p:spPr>
      </p:sp>
      <p:pic>
        <p:nvPicPr>
          <p:cNvPr id="11" name="Picture 17" descr="__type_image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76250" y="1662113"/>
            <a:ext cx="4019550" cy="1249152"/>
          </a:xfrm>
          <a:prstGeom prst="rect">
            <a:avLst/>
          </a:prstGeom>
        </p:spPr>
      </p:pic>
      <p:sp>
        <p:nvSpPr>
          <p:cNvPr id="12" name="TextBox 19"/>
          <p:cNvSpPr/>
          <p:nvPr/>
        </p:nvSpPr>
        <p:spPr>
          <a:xfrm>
            <a:off x="609600" y="1752600"/>
            <a:ext cx="3767138" cy="10350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810"/>
              </a:lnSpc>
              <a:buNone/>
            </a:pPr>
            <a:r>
              <a:rPr lang="en-US" sz="540" kern="0" spc="43" dirty="0">
                <a:solidFill>
                  <a:srgbClr val="5A656D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普通模型的典型回答</a:t>
            </a:r>
            <a:endParaRPr lang="en-US" sz="540" dirty="0"/>
          </a:p>
        </p:txBody>
      </p:sp>
      <p:sp>
        <p:nvSpPr>
          <p:cNvPr id="13" name="TextBox 21"/>
          <p:cNvSpPr/>
          <p:nvPr/>
        </p:nvSpPr>
        <p:spPr>
          <a:xfrm>
            <a:off x="609600" y="1890713"/>
            <a:ext cx="3767138" cy="65913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075"/>
              </a:lnSpc>
              <a:buNone/>
            </a:pPr>
            <a:r>
              <a:rPr lang="en-US" sz="695" dirty="0">
                <a:solidFill>
                  <a:srgbClr val="121C23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"这是一个</a:t>
            </a:r>
            <a:r>
              <a:rPr lang="zh-CN" altLang="en-US" sz="695" dirty="0">
                <a:solidFill>
                  <a:srgbClr val="121C23"/>
                </a:solidFill>
                <a:latin typeface="Segoe UI" panose="020B0502040204020203" pitchFamily="34" charset="0"/>
                <a:ea typeface="宋体" panose="02010600030101010101" pitchFamily="2" charset="-122"/>
                <a:cs typeface="Segoe UI" panose="020B0502040204020203" pitchFamily="34" charset="-120"/>
              </a:rPr>
              <a:t>非常经典的</a:t>
            </a:r>
            <a:r>
              <a:rPr lang="en-US" altLang="zh-CN" sz="695" dirty="0">
                <a:solidFill>
                  <a:srgbClr val="121C23"/>
                </a:solidFill>
                <a:latin typeface="Segoe UI" panose="020B0502040204020203" pitchFamily="34" charset="0"/>
                <a:ea typeface="宋体" panose="02010600030101010101" pitchFamily="2" charset="-122"/>
                <a:cs typeface="Segoe UI" panose="020B0502040204020203" pitchFamily="34" charset="-120"/>
              </a:rPr>
              <a:t>.....</a:t>
            </a:r>
            <a:r>
              <a:rPr lang="en-US" sz="695" dirty="0">
                <a:solidFill>
                  <a:srgbClr val="121C23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"</a:t>
            </a:r>
            <a:endParaRPr lang="en-US" sz="695" dirty="0"/>
          </a:p>
          <a:p>
            <a:pPr marL="0" indent="0" algn="l">
              <a:buNone/>
            </a:pPr>
            <a:endParaRPr lang="en-US" sz="695" dirty="0"/>
          </a:p>
          <a:p>
            <a:pPr marL="0" indent="0" algn="l">
              <a:lnSpc>
                <a:spcPts val="1075"/>
              </a:lnSpc>
              <a:buNone/>
            </a:pPr>
            <a:r>
              <a:rPr lang="en-US" sz="695" b="1" dirty="0">
                <a:solidFill>
                  <a:srgbClr val="121C23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特征：</a:t>
            </a:r>
            <a:r>
              <a:rPr lang="en-US" sz="695" dirty="0">
                <a:solidFill>
                  <a:srgbClr val="121C23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直接蹦出结论 + 标准解法，不展示推导过程。如果标准答案不在训练数据中，或者题目有微妙变化，容易出错。</a:t>
            </a:r>
            <a:r>
              <a:rPr lang="en-US" sz="695" b="1" dirty="0">
                <a:solidFill>
                  <a:srgbClr val="121C23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本质上是模式匹配</a:t>
            </a:r>
            <a:r>
              <a:rPr lang="en-US" sz="695" dirty="0">
                <a:solidFill>
                  <a:srgbClr val="121C23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——在训练数据中见过类似题就能答对，没见过就容易翻车。</a:t>
            </a:r>
            <a:endParaRPr lang="en-US" sz="695" dirty="0"/>
          </a:p>
        </p:txBody>
      </p:sp>
      <p:sp>
        <p:nvSpPr>
          <p:cNvPr id="14" name="Shape 24"/>
          <p:cNvSpPr/>
          <p:nvPr/>
        </p:nvSpPr>
        <p:spPr>
          <a:xfrm>
            <a:off x="4648200" y="1662113"/>
            <a:ext cx="4019550" cy="1249152"/>
          </a:xfrm>
          <a:prstGeom prst="roundRect">
            <a:avLst>
              <a:gd name="adj" fmla="val 2355"/>
            </a:avLst>
          </a:prstGeom>
          <a:solidFill>
            <a:srgbClr val="FFFFFF"/>
          </a:solidFill>
        </p:spPr>
      </p:sp>
      <p:pic>
        <p:nvPicPr>
          <p:cNvPr id="15" name="Picture 24" descr="__type_image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648200" y="1662113"/>
            <a:ext cx="4019550" cy="1249152"/>
          </a:xfrm>
          <a:prstGeom prst="rect">
            <a:avLst/>
          </a:prstGeom>
        </p:spPr>
      </p:pic>
      <p:sp>
        <p:nvSpPr>
          <p:cNvPr id="16" name="TextBox 26"/>
          <p:cNvSpPr/>
          <p:nvPr/>
        </p:nvSpPr>
        <p:spPr>
          <a:xfrm>
            <a:off x="4781550" y="1752600"/>
            <a:ext cx="3767138" cy="10350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810"/>
              </a:lnSpc>
              <a:buNone/>
            </a:pPr>
            <a:r>
              <a:rPr lang="en-US" sz="540" kern="0" spc="43" dirty="0">
                <a:solidFill>
                  <a:srgbClr val="299236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推理模型的典型回答</a:t>
            </a:r>
            <a:endParaRPr lang="en-US" sz="540" dirty="0"/>
          </a:p>
        </p:txBody>
      </p:sp>
      <p:sp>
        <p:nvSpPr>
          <p:cNvPr id="17" name="TextBox 28"/>
          <p:cNvSpPr/>
          <p:nvPr/>
        </p:nvSpPr>
        <p:spPr>
          <a:xfrm>
            <a:off x="4781550" y="1890713"/>
            <a:ext cx="3767138" cy="52070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075"/>
              </a:lnSpc>
              <a:buNone/>
            </a:pPr>
            <a:r>
              <a:rPr lang="en-US" sz="695" dirty="0"/>
              <a:t>“</a:t>
            </a:r>
            <a:r>
              <a:rPr lang="zh-CN" altLang="en-US" sz="695" dirty="0"/>
              <a:t>分析用时</a:t>
            </a:r>
            <a:r>
              <a:rPr lang="en-US" altLang="zh-CN" sz="695" dirty="0"/>
              <a:t>176</a:t>
            </a:r>
            <a:r>
              <a:rPr lang="zh-CN" altLang="en-US" sz="695" dirty="0"/>
              <a:t>秒</a:t>
            </a:r>
            <a:r>
              <a:rPr lang="en-US" altLang="zh-CN" sz="695" dirty="0"/>
              <a:t>,</a:t>
            </a:r>
            <a:r>
              <a:rPr lang="zh-CN" altLang="en-US" sz="695" dirty="0"/>
              <a:t>期间思考过程全面细致</a:t>
            </a:r>
            <a:r>
              <a:rPr lang="en-US" altLang="zh-CN" sz="695" dirty="0"/>
              <a:t>,</a:t>
            </a:r>
            <a:r>
              <a:rPr lang="zh-CN" altLang="en-US" sz="695" dirty="0"/>
              <a:t>最终得到了正确答案</a:t>
            </a:r>
            <a:r>
              <a:rPr lang="en-US" sz="695" dirty="0"/>
              <a:t>”</a:t>
            </a:r>
            <a:endParaRPr lang="en-US" sz="695" dirty="0"/>
          </a:p>
          <a:p>
            <a:pPr marL="0" indent="0" algn="l">
              <a:buNone/>
            </a:pPr>
            <a:endParaRPr lang="en-US" sz="695" dirty="0"/>
          </a:p>
          <a:p>
            <a:pPr marL="0" indent="0" algn="l">
              <a:lnSpc>
                <a:spcPts val="1075"/>
              </a:lnSpc>
              <a:buNone/>
            </a:pPr>
            <a:r>
              <a:rPr lang="en-US" sz="695" b="1" dirty="0">
                <a:solidFill>
                  <a:srgbClr val="121C23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特征：</a:t>
            </a:r>
            <a:r>
              <a:rPr lang="en-US" sz="695" dirty="0">
                <a:solidFill>
                  <a:srgbClr val="121C23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显式展开推导步骤，每步可追踪。对题目变体的</a:t>
            </a:r>
            <a:r>
              <a:rPr lang="zh-CN" altLang="en-US" sz="695" dirty="0">
                <a:solidFill>
                  <a:srgbClr val="121C23"/>
                </a:solidFill>
                <a:latin typeface="Segoe UI" panose="020B0502040204020203" pitchFamily="34" charset="0"/>
                <a:ea typeface="宋体" panose="02010600030101010101" pitchFamily="2" charset="-122"/>
                <a:cs typeface="Segoe UI" panose="020B0502040204020203" pitchFamily="34" charset="-120"/>
              </a:rPr>
              <a:t>适应性</a:t>
            </a:r>
            <a:r>
              <a:rPr lang="en-US" sz="695" dirty="0">
                <a:solidFill>
                  <a:srgbClr val="121C23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高——因为它</a:t>
            </a:r>
            <a:r>
              <a:rPr lang="en-US" sz="695" b="1" dirty="0">
                <a:solidFill>
                  <a:srgbClr val="121C23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实际在做推导</a:t>
            </a:r>
            <a:r>
              <a:rPr lang="en-US" sz="695" dirty="0">
                <a:solidFill>
                  <a:srgbClr val="121C23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而非匹配记忆。</a:t>
            </a:r>
            <a:endParaRPr lang="en-US" sz="695" dirty="0"/>
          </a:p>
        </p:txBody>
      </p:sp>
      <p:graphicFrame>
        <p:nvGraphicFramePr>
          <p:cNvPr id="18" name="Table 32"/>
          <p:cNvGraphicFramePr>
            <a:graphicFrameLocks noGrp="1"/>
          </p:cNvGraphicFramePr>
          <p:nvPr/>
        </p:nvGraphicFramePr>
        <p:xfrm>
          <a:off x="476250" y="2977939"/>
          <a:ext cx="8191500" cy="914400"/>
        </p:xfrm>
        <a:graphic>
          <a:graphicData uri="http://schemas.openxmlformats.org/drawingml/2006/table">
            <a:tbl>
              <a:tblPr/>
              <a:tblGrid>
                <a:gridCol w="2042219"/>
                <a:gridCol w="3149687"/>
                <a:gridCol w="2999594"/>
              </a:tblGrid>
              <a:tr h="0"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925"/>
                        </a:lnSpc>
                        <a:buNone/>
                      </a:pPr>
                      <a:r>
                        <a:rPr lang="en-US" sz="620" b="1" kern="0" spc="37" dirty="0">
                          <a:solidFill>
                            <a:srgbClr val="299236"/>
                          </a:solidFill>
                          <a:latin typeface="Consolas" panose="020B0609020204030204" pitchFamily="34" charset="0"/>
                          <a:ea typeface="Consolas" panose="020B0609020204030204" pitchFamily="34" charset="-122"/>
                          <a:cs typeface="Consolas" panose="020B0609020204030204" pitchFamily="34" charset="-120"/>
                        </a:rPr>
                        <a:t>维度</a:t>
                      </a:r>
                      <a:endParaRPr lang="en-US" sz="620" dirty="0">
                        <a:latin typeface="Consolas" panose="020B0609020204030204" pitchFamily="34" charset="0"/>
                        <a:ea typeface="Consolas" panose="020B0609020204030204" pitchFamily="34" charset="0"/>
                        <a:cs typeface="Consolas" panose="020B0609020204030204" pitchFamily="34" charset="0"/>
                      </a:endParaRPr>
                    </a:p>
                  </a:txBody>
                  <a:tcPr marL="122581" marR="122581" marT="83355" marB="8335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806" cap="flat" cmpd="sng" algn="ctr">
                      <a:solidFill>
                        <a:srgbClr val="2992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A845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1275"/>
                        </a:lnSpc>
                        <a:buNone/>
                      </a:pPr>
                      <a:r>
                        <a:rPr lang="en-US" sz="850" b="1" dirty="0">
                          <a:solidFill>
                            <a:srgbClr val="121C23"/>
                          </a:solidFill>
                          <a:latin typeface="Segoe UI" panose="020B0502040204020203" pitchFamily="34" charset="0"/>
                          <a:ea typeface="Segoe UI" panose="020B0502040204020203" pitchFamily="34" charset="-122"/>
                          <a:cs typeface="Segoe UI" panose="020B0502040204020203" pitchFamily="34" charset="-120"/>
                        </a:rPr>
                        <a:t>普通模型</a:t>
                      </a:r>
                      <a:endParaRPr lang="en-US" sz="850" dirty="0">
                        <a:latin typeface="Segoe UI" panose="020B0502040204020203" pitchFamily="34" charset="0"/>
                        <a:ea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22581" marR="122581" marT="83355" marB="8335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806" cap="flat" cmpd="sng" algn="ctr">
                      <a:solidFill>
                        <a:srgbClr val="2992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A845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1275"/>
                        </a:lnSpc>
                        <a:buNone/>
                      </a:pPr>
                      <a:r>
                        <a:rPr lang="en-US" sz="850" b="1" dirty="0">
                          <a:solidFill>
                            <a:srgbClr val="121C23"/>
                          </a:solidFill>
                          <a:latin typeface="Segoe UI" panose="020B0502040204020203" pitchFamily="34" charset="0"/>
                          <a:ea typeface="Segoe UI" panose="020B0502040204020203" pitchFamily="34" charset="-122"/>
                          <a:cs typeface="Segoe UI" panose="020B0502040204020203" pitchFamily="34" charset="-120"/>
                        </a:rPr>
                        <a:t>推理模型</a:t>
                      </a:r>
                      <a:endParaRPr lang="en-US" sz="850" dirty="0">
                        <a:latin typeface="Segoe UI" panose="020B0502040204020203" pitchFamily="34" charset="0"/>
                        <a:ea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22581" marR="122581" marT="83355" marB="8335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806" cap="flat" cmpd="sng" algn="ctr">
                      <a:solidFill>
                        <a:srgbClr val="2992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A845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1040"/>
                        </a:lnSpc>
                        <a:buNone/>
                      </a:pPr>
                      <a:r>
                        <a:rPr lang="en-US" sz="695" b="1" dirty="0">
                          <a:solidFill>
                            <a:srgbClr val="121C23"/>
                          </a:solidFill>
                          <a:latin typeface="Segoe UI" panose="020B0502040204020203" pitchFamily="34" charset="0"/>
                          <a:ea typeface="Segoe UI" panose="020B0502040204020203" pitchFamily="34" charset="-122"/>
                          <a:cs typeface="Segoe UI" panose="020B0502040204020203" pitchFamily="34" charset="-120"/>
                        </a:rPr>
                        <a:t>回答速度</a:t>
                      </a:r>
                      <a:endParaRPr lang="en-US" sz="695" dirty="0">
                        <a:latin typeface="Segoe UI" panose="020B0502040204020203" pitchFamily="34" charset="0"/>
                        <a:ea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22581" marR="122581" marT="73549" marB="73549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4903" cap="flat" cmpd="sng" algn="ctr">
                      <a:solidFill>
                        <a:srgbClr val="D9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1040"/>
                        </a:lnSpc>
                        <a:buNone/>
                      </a:pPr>
                      <a:r>
                        <a:rPr lang="en-US" sz="695" dirty="0">
                          <a:solidFill>
                            <a:srgbClr val="121C23"/>
                          </a:solidFill>
                          <a:latin typeface="Segoe UI" panose="020B0502040204020203" pitchFamily="34" charset="0"/>
                          <a:ea typeface="Segoe UI" panose="020B0502040204020203" pitchFamily="34" charset="-122"/>
                          <a:cs typeface="Segoe UI" panose="020B0502040204020203" pitchFamily="34" charset="-120"/>
                        </a:rPr>
                        <a:t>即时</a:t>
                      </a:r>
                      <a:endParaRPr lang="en-US" sz="695" dirty="0">
                        <a:latin typeface="Segoe UI" panose="020B0502040204020203" pitchFamily="34" charset="0"/>
                        <a:ea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22581" marR="122581" marT="73549" marB="73549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4903" cap="flat" cmpd="sng" algn="ctr">
                      <a:solidFill>
                        <a:srgbClr val="D9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1040"/>
                        </a:lnSpc>
                        <a:buNone/>
                      </a:pPr>
                      <a:r>
                        <a:rPr lang="zh-CN" altLang="en-US" sz="695" dirty="0">
                          <a:solidFill>
                            <a:srgbClr val="5A656D"/>
                          </a:solidFill>
                          <a:latin typeface="Segoe UI" panose="020B0502040204020203" pitchFamily="34" charset="0"/>
                          <a:ea typeface="宋体" panose="02010600030101010101" pitchFamily="2" charset="-122"/>
                          <a:cs typeface="Segoe UI" panose="020B0502040204020203" pitchFamily="34" charset="-120"/>
                        </a:rPr>
                        <a:t>需要一段</a:t>
                      </a:r>
                      <a:r>
                        <a:rPr lang="en-US" sz="695" dirty="0">
                          <a:solidFill>
                            <a:srgbClr val="5A656D"/>
                          </a:solidFill>
                          <a:latin typeface="Segoe UI" panose="020B0502040204020203" pitchFamily="34" charset="0"/>
                          <a:ea typeface="Segoe UI" panose="020B0502040204020203" pitchFamily="34" charset="-122"/>
                          <a:cs typeface="Segoe UI" panose="020B0502040204020203" pitchFamily="34" charset="-120"/>
                        </a:rPr>
                        <a:t>思考</a:t>
                      </a:r>
                      <a:r>
                        <a:rPr lang="zh-CN" altLang="en-US" sz="695" dirty="0">
                          <a:solidFill>
                            <a:srgbClr val="5A656D"/>
                          </a:solidFill>
                          <a:latin typeface="Segoe UI" panose="020B0502040204020203" pitchFamily="34" charset="0"/>
                          <a:ea typeface="宋体" panose="02010600030101010101" pitchFamily="2" charset="-122"/>
                          <a:cs typeface="Segoe UI" panose="020B0502040204020203" pitchFamily="34" charset="-120"/>
                        </a:rPr>
                        <a:t>时间</a:t>
                      </a:r>
                      <a:r>
                        <a:rPr lang="en-US" altLang="zh-CN" sz="695" dirty="0">
                          <a:solidFill>
                            <a:srgbClr val="5A656D"/>
                          </a:solidFill>
                          <a:latin typeface="Segoe UI" panose="020B0502040204020203" pitchFamily="34" charset="0"/>
                          <a:ea typeface="宋体" panose="02010600030101010101" pitchFamily="2" charset="-122"/>
                          <a:cs typeface="Segoe UI" panose="020B0502040204020203" pitchFamily="34" charset="-120"/>
                        </a:rPr>
                        <a:t>,</a:t>
                      </a:r>
                      <a:r>
                        <a:rPr lang="zh-CN" altLang="en-US" sz="695" dirty="0">
                          <a:solidFill>
                            <a:srgbClr val="5A656D"/>
                          </a:solidFill>
                          <a:latin typeface="Segoe UI" panose="020B0502040204020203" pitchFamily="34" charset="0"/>
                          <a:ea typeface="宋体" panose="02010600030101010101" pitchFamily="2" charset="-122"/>
                          <a:cs typeface="Segoe UI" panose="020B0502040204020203" pitchFamily="34" charset="-120"/>
                        </a:rPr>
                        <a:t>长度不等</a:t>
                      </a:r>
                      <a:endParaRPr lang="zh-CN" altLang="en-US" sz="695" dirty="0">
                        <a:solidFill>
                          <a:srgbClr val="5A656D"/>
                        </a:solidFill>
                        <a:latin typeface="Segoe UI" panose="020B0502040204020203" pitchFamily="34" charset="0"/>
                        <a:ea typeface="宋体" panose="02010600030101010101" pitchFamily="2" charset="-122"/>
                        <a:cs typeface="Segoe UI" panose="020B0502040204020203" pitchFamily="34" charset="-120"/>
                      </a:endParaRPr>
                    </a:p>
                  </a:txBody>
                  <a:tcPr marL="122581" marR="122581" marT="73549" marB="73549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4903" cap="flat" cmpd="sng" algn="ctr">
                      <a:solidFill>
                        <a:srgbClr val="D9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1040"/>
                        </a:lnSpc>
                        <a:buNone/>
                      </a:pPr>
                      <a:r>
                        <a:rPr lang="en-US" sz="695" b="1" dirty="0">
                          <a:solidFill>
                            <a:srgbClr val="121C23"/>
                          </a:solidFill>
                          <a:latin typeface="Segoe UI" panose="020B0502040204020203" pitchFamily="34" charset="0"/>
                          <a:ea typeface="Segoe UI" panose="020B0502040204020203" pitchFamily="34" charset="-122"/>
                          <a:cs typeface="Segoe UI" panose="020B0502040204020203" pitchFamily="34" charset="-120"/>
                        </a:rPr>
                        <a:t>推导过程</a:t>
                      </a:r>
                      <a:endParaRPr lang="en-US" sz="695" dirty="0">
                        <a:latin typeface="Segoe UI" panose="020B0502040204020203" pitchFamily="34" charset="0"/>
                        <a:ea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22581" marR="122581" marT="73549" marB="73549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4903" cap="flat" cmpd="sng" algn="ctr">
                      <a:solidFill>
                        <a:srgbClr val="D9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1040"/>
                        </a:lnSpc>
                        <a:buNone/>
                      </a:pPr>
                      <a:r>
                        <a:rPr lang="en-US" sz="695" dirty="0">
                          <a:solidFill>
                            <a:srgbClr val="121C23"/>
                          </a:solidFill>
                          <a:latin typeface="Segoe UI" panose="020B0502040204020203" pitchFamily="34" charset="0"/>
                          <a:ea typeface="Segoe UI" panose="020B0502040204020203" pitchFamily="34" charset="-122"/>
                          <a:cs typeface="Segoe UI" panose="020B0502040204020203" pitchFamily="34" charset="-120"/>
                        </a:rPr>
                        <a:t>不可见/隐含</a:t>
                      </a:r>
                      <a:endParaRPr lang="en-US" sz="695" dirty="0">
                        <a:latin typeface="Segoe UI" panose="020B0502040204020203" pitchFamily="34" charset="0"/>
                        <a:ea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22581" marR="122581" marT="73549" marB="73549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4903" cap="flat" cmpd="sng" algn="ctr">
                      <a:solidFill>
                        <a:srgbClr val="D9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1040"/>
                        </a:lnSpc>
                        <a:buNone/>
                      </a:pPr>
                      <a:r>
                        <a:rPr lang="en-US" sz="695" dirty="0">
                          <a:solidFill>
                            <a:srgbClr val="5A656D"/>
                          </a:solidFill>
                          <a:latin typeface="Segoe UI" panose="020B0502040204020203" pitchFamily="34" charset="0"/>
                          <a:ea typeface="Segoe UI" panose="020B0502040204020203" pitchFamily="34" charset="-122"/>
                          <a:cs typeface="Segoe UI" panose="020B0502040204020203" pitchFamily="34" charset="-120"/>
                        </a:rPr>
                        <a:t>显式展开，步骤可追踪</a:t>
                      </a:r>
                      <a:endParaRPr lang="en-US" sz="695" dirty="0">
                        <a:latin typeface="Segoe UI" panose="020B0502040204020203" pitchFamily="34" charset="0"/>
                        <a:ea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22581" marR="122581" marT="73549" marB="73549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4903" cap="flat" cmpd="sng" algn="ctr">
                      <a:solidFill>
                        <a:srgbClr val="D9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1040"/>
                        </a:lnSpc>
                        <a:buNone/>
                      </a:pPr>
                      <a:r>
                        <a:rPr lang="en-US" sz="695" b="1" dirty="0">
                          <a:solidFill>
                            <a:srgbClr val="121C23"/>
                          </a:solidFill>
                          <a:latin typeface="Segoe UI" panose="020B0502040204020203" pitchFamily="34" charset="0"/>
                          <a:ea typeface="Segoe UI" panose="020B0502040204020203" pitchFamily="34" charset="-122"/>
                          <a:cs typeface="Segoe UI" panose="020B0502040204020203" pitchFamily="34" charset="-120"/>
                        </a:rPr>
                        <a:t>对变体</a:t>
                      </a:r>
                      <a:r>
                        <a:rPr lang="zh-CN" altLang="en-US" sz="695" b="1" dirty="0">
                          <a:solidFill>
                            <a:srgbClr val="121C23"/>
                          </a:solidFill>
                          <a:latin typeface="Segoe UI" panose="020B0502040204020203" pitchFamily="34" charset="0"/>
                          <a:ea typeface="宋体" panose="02010600030101010101" pitchFamily="2" charset="-122"/>
                          <a:cs typeface="Segoe UI" panose="020B0502040204020203" pitchFamily="34" charset="-120"/>
                        </a:rPr>
                        <a:t>适应</a:t>
                      </a:r>
                      <a:r>
                        <a:rPr lang="en-US" sz="695" b="1" dirty="0">
                          <a:solidFill>
                            <a:srgbClr val="121C23"/>
                          </a:solidFill>
                          <a:latin typeface="Segoe UI" panose="020B0502040204020203" pitchFamily="34" charset="0"/>
                          <a:ea typeface="Segoe UI" panose="020B0502040204020203" pitchFamily="34" charset="-122"/>
                          <a:cs typeface="Segoe UI" panose="020B0502040204020203" pitchFamily="34" charset="-120"/>
                        </a:rPr>
                        <a:t>性</a:t>
                      </a:r>
                      <a:endParaRPr lang="en-US" sz="695" dirty="0">
                        <a:latin typeface="Segoe UI" panose="020B0502040204020203" pitchFamily="34" charset="0"/>
                        <a:ea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22581" marR="122581" marT="73549" marB="73549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4903" cap="flat" cmpd="sng" algn="ctr">
                      <a:solidFill>
                        <a:srgbClr val="D9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1040"/>
                        </a:lnSpc>
                        <a:buNone/>
                      </a:pPr>
                      <a:r>
                        <a:rPr lang="en-US" sz="695" dirty="0">
                          <a:solidFill>
                            <a:srgbClr val="121C23"/>
                          </a:solidFill>
                          <a:latin typeface="Segoe UI" panose="020B0502040204020203" pitchFamily="34" charset="0"/>
                          <a:ea typeface="Segoe UI" panose="020B0502040204020203" pitchFamily="34" charset="-122"/>
                          <a:cs typeface="Segoe UI" panose="020B0502040204020203" pitchFamily="34" charset="-120"/>
                        </a:rPr>
                        <a:t>低——依赖记忆中的"标准答案"</a:t>
                      </a:r>
                      <a:endParaRPr lang="en-US" sz="695" dirty="0">
                        <a:latin typeface="Segoe UI" panose="020B0502040204020203" pitchFamily="34" charset="0"/>
                        <a:ea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22581" marR="122581" marT="73549" marB="73549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4903" cap="flat" cmpd="sng" algn="ctr">
                      <a:solidFill>
                        <a:srgbClr val="D9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1040"/>
                        </a:lnSpc>
                        <a:buNone/>
                      </a:pPr>
                      <a:r>
                        <a:rPr lang="en-US" sz="695" dirty="0">
                          <a:solidFill>
                            <a:srgbClr val="5A656D"/>
                          </a:solidFill>
                          <a:latin typeface="Segoe UI" panose="020B0502040204020203" pitchFamily="34" charset="0"/>
                          <a:ea typeface="Segoe UI" panose="020B0502040204020203" pitchFamily="34" charset="-122"/>
                          <a:cs typeface="Segoe UI" panose="020B0502040204020203" pitchFamily="34" charset="-120"/>
                        </a:rPr>
                        <a:t>高——实际推导而非模式匹配</a:t>
                      </a:r>
                      <a:endParaRPr lang="en-US" sz="695" dirty="0">
                        <a:latin typeface="Segoe UI" panose="020B0502040204020203" pitchFamily="34" charset="0"/>
                        <a:ea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22581" marR="122581" marT="73549" marB="73549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4903" cap="flat" cmpd="sng" algn="ctr">
                      <a:solidFill>
                        <a:srgbClr val="D9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1040"/>
                        </a:lnSpc>
                        <a:buNone/>
                      </a:pPr>
                      <a:r>
                        <a:rPr lang="en-US" sz="695" b="1" dirty="0">
                          <a:solidFill>
                            <a:srgbClr val="121C23"/>
                          </a:solidFill>
                          <a:latin typeface="Segoe UI" panose="020B0502040204020203" pitchFamily="34" charset="0"/>
                          <a:ea typeface="Segoe UI" panose="020B0502040204020203" pitchFamily="34" charset="-122"/>
                          <a:cs typeface="Segoe UI" panose="020B0502040204020203" pitchFamily="34" charset="-120"/>
                        </a:rPr>
                        <a:t>解释可信度</a:t>
                      </a:r>
                      <a:endParaRPr lang="en-US" sz="695" dirty="0">
                        <a:latin typeface="Segoe UI" panose="020B0502040204020203" pitchFamily="34" charset="0"/>
                        <a:ea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22581" marR="122581" marT="73549" marB="73549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4903" cap="flat" cmpd="sng" algn="ctr">
                      <a:solidFill>
                        <a:srgbClr val="D9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1040"/>
                        </a:lnSpc>
                        <a:buNone/>
                      </a:pPr>
                      <a:r>
                        <a:rPr lang="en-US" sz="695" dirty="0">
                          <a:solidFill>
                            <a:srgbClr val="121C23"/>
                          </a:solidFill>
                          <a:latin typeface="Segoe UI" panose="020B0502040204020203" pitchFamily="34" charset="0"/>
                          <a:ea typeface="Segoe UI" panose="020B0502040204020203" pitchFamily="34" charset="-122"/>
                          <a:cs typeface="Segoe UI" panose="020B0502040204020203" pitchFamily="34" charset="-120"/>
                        </a:rPr>
                        <a:t>"看起来对"但不能验证</a:t>
                      </a:r>
                      <a:endParaRPr lang="en-US" sz="695" dirty="0">
                        <a:latin typeface="Segoe UI" panose="020B0502040204020203" pitchFamily="34" charset="0"/>
                        <a:ea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22581" marR="122581" marT="73549" marB="73549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4903" cap="flat" cmpd="sng" algn="ctr">
                      <a:solidFill>
                        <a:srgbClr val="D9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1040"/>
                        </a:lnSpc>
                        <a:buNone/>
                      </a:pPr>
                      <a:r>
                        <a:rPr lang="en-US" sz="695" dirty="0">
                          <a:solidFill>
                            <a:srgbClr val="5A656D"/>
                          </a:solidFill>
                          <a:latin typeface="Segoe UI" panose="020B0502040204020203" pitchFamily="34" charset="0"/>
                          <a:ea typeface="Segoe UI" panose="020B0502040204020203" pitchFamily="34" charset="-122"/>
                          <a:cs typeface="Segoe UI" panose="020B0502040204020203" pitchFamily="34" charset="-120"/>
                        </a:rPr>
                        <a:t>可逐歩追踪、可独立验证</a:t>
                      </a:r>
                      <a:endParaRPr lang="en-US" sz="695" dirty="0">
                        <a:latin typeface="Segoe UI" panose="020B0502040204020203" pitchFamily="34" charset="0"/>
                        <a:ea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22581" marR="122581" marT="73549" marB="73549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4903" cap="flat" cmpd="sng" algn="ctr">
                      <a:solidFill>
                        <a:srgbClr val="D9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</a:tbl>
          </a:graphicData>
        </a:graphic>
      </p:graphicFrame>
      <p:pic>
        <p:nvPicPr>
          <p:cNvPr id="19" name="Picture 35" descr="__type_image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76250" y="4819650"/>
            <a:ext cx="8191500" cy="171450"/>
          </a:xfrm>
          <a:prstGeom prst="rect">
            <a:avLst/>
          </a:prstGeom>
        </p:spPr>
      </p:pic>
      <p:sp>
        <p:nvSpPr>
          <p:cNvPr id="20" name="TextBox 35"/>
          <p:cNvSpPr/>
          <p:nvPr/>
        </p:nvSpPr>
        <p:spPr>
          <a:xfrm>
            <a:off x="476250" y="4819650"/>
            <a:ext cx="8191500" cy="171450"/>
          </a:xfrm>
          <a:prstGeom prst="rect">
            <a:avLst/>
          </a:prstGeom>
          <a:noFill/>
        </p:spPr>
        <p:txBody>
          <a:bodyPr wrap="square" lIns="0" tIns="68645" rIns="0" bIns="0" rtlCol="0" anchor="t">
            <a:spAutoFit/>
          </a:bodyPr>
          <a:lstStyle/>
          <a:p>
            <a:pPr marL="0" indent="0" algn="l">
              <a:lnSpc>
                <a:spcPts val="810"/>
              </a:lnSpc>
              <a:buNone/>
            </a:pPr>
            <a:r>
              <a:rPr lang="en-US" sz="540" kern="0" spc="22" dirty="0">
                <a:solidFill>
                  <a:srgbClr val="5A656D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关键差异：普通模型靠"见过"，推理模型靠"推导"——这是两种完全不同的认知机制</a:t>
            </a:r>
            <a:endParaRPr lang="en-US" sz="54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6F9FC"/>
          </a:solidFill>
        </p:spPr>
      </p:sp>
      <p:sp>
        <p:nvSpPr>
          <p:cNvPr id="3" name="Shape 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6F9FC"/>
          </a:solidFill>
        </p:spPr>
      </p:sp>
      <p:pic>
        <p:nvPicPr>
          <p:cNvPr id="4" name="Picture 4" descr="__type_image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76250" y="381000"/>
            <a:ext cx="8191500" cy="390525"/>
          </a:xfrm>
          <a:prstGeom prst="rect">
            <a:avLst/>
          </a:prstGeom>
        </p:spPr>
      </p:pic>
      <p:sp>
        <p:nvSpPr>
          <p:cNvPr id="5" name="TextBox 4"/>
          <p:cNvSpPr/>
          <p:nvPr/>
        </p:nvSpPr>
        <p:spPr>
          <a:xfrm>
            <a:off x="476250" y="381000"/>
            <a:ext cx="8191500" cy="394335"/>
          </a:xfrm>
          <a:prstGeom prst="rect">
            <a:avLst/>
          </a:prstGeom>
          <a:noFill/>
        </p:spPr>
        <p:txBody>
          <a:bodyPr wrap="square" lIns="0" tIns="0" rIns="0" bIns="98065" rtlCol="0" anchor="t">
            <a:spAutoFit/>
          </a:bodyPr>
          <a:lstStyle/>
          <a:p>
            <a:pPr marL="0" indent="0" algn="l">
              <a:lnSpc>
                <a:spcPts val="2315"/>
              </a:lnSpc>
              <a:buNone/>
            </a:pPr>
            <a:r>
              <a:rPr lang="en-US" sz="1545" b="1" kern="0" spc="-23" dirty="0">
                <a:solidFill>
                  <a:srgbClr val="121C23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DeepSeek-R1 为什么轰动一时？——技术突破与开源</a:t>
            </a:r>
            <a:endParaRPr lang="en-US" sz="1545" dirty="0"/>
          </a:p>
        </p:txBody>
      </p:sp>
      <p:sp>
        <p:nvSpPr>
          <p:cNvPr id="6" name="TextBox 12"/>
          <p:cNvSpPr/>
          <p:nvPr>
            <p:custDataLst>
              <p:tags r:id="rId3"/>
            </p:custDataLst>
          </p:nvPr>
        </p:nvSpPr>
        <p:spPr>
          <a:xfrm>
            <a:off x="476250" y="1000125"/>
            <a:ext cx="266700" cy="182873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r">
              <a:lnSpc>
                <a:spcPts val="1485"/>
              </a:lnSpc>
              <a:buNone/>
            </a:pPr>
            <a:r>
              <a:rPr lang="en-US" sz="1235" b="1" dirty="0">
                <a:solidFill>
                  <a:srgbClr val="299236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1</a:t>
            </a:r>
            <a:endParaRPr lang="en-US" sz="1235" dirty="0"/>
          </a:p>
        </p:txBody>
      </p:sp>
      <p:sp>
        <p:nvSpPr>
          <p:cNvPr id="7" name="TextBox 16"/>
          <p:cNvSpPr/>
          <p:nvPr>
            <p:custDataLst>
              <p:tags r:id="rId4"/>
            </p:custDataLst>
          </p:nvPr>
        </p:nvSpPr>
        <p:spPr>
          <a:xfrm>
            <a:off x="857250" y="1000125"/>
            <a:ext cx="7810500" cy="185737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505"/>
              </a:lnSpc>
              <a:buNone/>
            </a:pPr>
            <a:r>
              <a:rPr lang="en-US" sz="1005" b="1" dirty="0">
                <a:solidFill>
                  <a:srgbClr val="121C23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纯 RL 开拓推理能力：DeepSeek-R1-Zero</a:t>
            </a:r>
            <a:endParaRPr lang="en-US" sz="1005" dirty="0"/>
          </a:p>
        </p:txBody>
      </p:sp>
      <p:sp>
        <p:nvSpPr>
          <p:cNvPr id="8" name="TextBox 18"/>
          <p:cNvSpPr/>
          <p:nvPr>
            <p:custDataLst>
              <p:tags r:id="rId5"/>
            </p:custDataLst>
          </p:nvPr>
        </p:nvSpPr>
        <p:spPr>
          <a:xfrm>
            <a:off x="857250" y="1214437"/>
            <a:ext cx="7810500" cy="46736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215"/>
              </a:lnSpc>
              <a:buNone/>
            </a:pPr>
            <a:r>
              <a:rPr lang="en-US" sz="810" b="1" dirty="0">
                <a:solidFill>
                  <a:srgbClr val="5A656D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     完全不经 SFT 阶段</a:t>
            </a:r>
            <a:r>
              <a:rPr lang="en-US" sz="810" dirty="0">
                <a:solidFill>
                  <a:srgbClr val="5A656D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，在基座模型上直接做强化学习（GRPO 算法）。仅用两个奖励信号——准确性（答案对不对）+ 格式（推理是否在 &lt;think&gt; 中）——模型</a:t>
            </a:r>
            <a:r>
              <a:rPr lang="en-US" sz="810" b="1" dirty="0">
                <a:solidFill>
                  <a:srgbClr val="5A656D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自行涌现</a:t>
            </a:r>
            <a:r>
              <a:rPr lang="en-US" sz="810" dirty="0">
                <a:solidFill>
                  <a:srgbClr val="5A656D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了 Chain-of-Thought、自我反思、自我纠正。AIME 2024：从 15.6%（RL 前）→ 77.9%（纯 RL 后），提升 5 倍。在 RL 训练中途（约 step 8,000）出现</a:t>
            </a:r>
            <a:r>
              <a:rPr lang="en-US" sz="810" b="1" dirty="0">
                <a:solidFill>
                  <a:srgbClr val="5A656D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"顿悟时刻"</a:t>
            </a:r>
            <a:r>
              <a:rPr lang="en-US" sz="810" dirty="0">
                <a:solidFill>
                  <a:srgbClr val="5A656D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：模型突然学会"这个题难，需要多想一会儿"——没有被人为编程的元认知行为。</a:t>
            </a:r>
            <a:endParaRPr lang="en-US" sz="810" dirty="0"/>
          </a:p>
        </p:txBody>
      </p:sp>
      <p:sp>
        <p:nvSpPr>
          <p:cNvPr id="9" name="TextBox 24"/>
          <p:cNvSpPr/>
          <p:nvPr>
            <p:custDataLst>
              <p:tags r:id="rId6"/>
            </p:custDataLst>
          </p:nvPr>
        </p:nvSpPr>
        <p:spPr>
          <a:xfrm>
            <a:off x="476250" y="1721644"/>
            <a:ext cx="266700" cy="182873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r">
              <a:lnSpc>
                <a:spcPts val="1485"/>
              </a:lnSpc>
              <a:buNone/>
            </a:pPr>
            <a:r>
              <a:rPr lang="en-US" sz="1235" b="1" dirty="0">
                <a:solidFill>
                  <a:srgbClr val="299236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2</a:t>
            </a:r>
            <a:endParaRPr lang="en-US" sz="1235" dirty="0"/>
          </a:p>
        </p:txBody>
      </p:sp>
      <p:sp>
        <p:nvSpPr>
          <p:cNvPr id="10" name="TextBox 28"/>
          <p:cNvSpPr/>
          <p:nvPr>
            <p:custDataLst>
              <p:tags r:id="rId7"/>
            </p:custDataLst>
          </p:nvPr>
        </p:nvSpPr>
        <p:spPr>
          <a:xfrm>
            <a:off x="857250" y="1721644"/>
            <a:ext cx="7810500" cy="185737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505"/>
              </a:lnSpc>
              <a:buNone/>
            </a:pPr>
            <a:r>
              <a:rPr lang="en-US" sz="1005" b="1" dirty="0">
                <a:solidFill>
                  <a:srgbClr val="121C23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GRPO 算法创新：降低 RL 训练门槛</a:t>
            </a:r>
            <a:endParaRPr lang="en-US" sz="1005" dirty="0"/>
          </a:p>
        </p:txBody>
      </p:sp>
      <p:sp>
        <p:nvSpPr>
          <p:cNvPr id="11" name="TextBox 30"/>
          <p:cNvSpPr/>
          <p:nvPr>
            <p:custDataLst>
              <p:tags r:id="rId8"/>
            </p:custDataLst>
          </p:nvPr>
        </p:nvSpPr>
        <p:spPr>
          <a:xfrm>
            <a:off x="857250" y="1935956"/>
            <a:ext cx="7810500" cy="31115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215"/>
              </a:lnSpc>
              <a:buNone/>
            </a:pPr>
            <a:r>
              <a:rPr lang="en-US" sz="810" dirty="0">
                <a:solidFill>
                  <a:srgbClr val="5A656D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      PPO 的改进版——</a:t>
            </a:r>
            <a:r>
              <a:rPr lang="en-US" sz="810" b="1" dirty="0">
                <a:solidFill>
                  <a:srgbClr val="5A656D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去掉了需要单独训练的 Critic/Value 网络</a:t>
            </a:r>
            <a:r>
              <a:rPr lang="en-US" sz="810" dirty="0">
                <a:solidFill>
                  <a:srgbClr val="5A656D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，大幅降低训练开销。每个 prompt 采样 8 个输出，组内归一化计算优势函数——让奖励信号只依赖于"比同组其他输出好多少"而非"绝对值多高"。这个设计使得 RL 训练不再需要一个巨大的 Critic 模型，显著降低了学术和小公司的复制门槛。</a:t>
            </a:r>
            <a:endParaRPr lang="en-US" sz="810" dirty="0"/>
          </a:p>
        </p:txBody>
      </p:sp>
      <p:sp>
        <p:nvSpPr>
          <p:cNvPr id="12" name="TextBox 36"/>
          <p:cNvSpPr/>
          <p:nvPr>
            <p:custDataLst>
              <p:tags r:id="rId9"/>
            </p:custDataLst>
          </p:nvPr>
        </p:nvSpPr>
        <p:spPr>
          <a:xfrm>
            <a:off x="476250" y="2293144"/>
            <a:ext cx="266700" cy="182873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r">
              <a:lnSpc>
                <a:spcPts val="1485"/>
              </a:lnSpc>
              <a:buNone/>
            </a:pPr>
            <a:r>
              <a:rPr lang="en-US" sz="1235" b="1" dirty="0">
                <a:solidFill>
                  <a:srgbClr val="299236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3</a:t>
            </a:r>
            <a:endParaRPr lang="en-US" sz="1235" dirty="0"/>
          </a:p>
        </p:txBody>
      </p:sp>
      <p:sp>
        <p:nvSpPr>
          <p:cNvPr id="13" name="TextBox 40"/>
          <p:cNvSpPr/>
          <p:nvPr>
            <p:custDataLst>
              <p:tags r:id="rId10"/>
            </p:custDataLst>
          </p:nvPr>
        </p:nvSpPr>
        <p:spPr>
          <a:xfrm>
            <a:off x="857250" y="2293144"/>
            <a:ext cx="7810500" cy="185737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505"/>
              </a:lnSpc>
              <a:buNone/>
            </a:pPr>
            <a:r>
              <a:rPr lang="en-US" sz="1005" b="1" dirty="0">
                <a:solidFill>
                  <a:srgbClr val="121C23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成本革命：5.6M 美元 vs 数十亿美元</a:t>
            </a:r>
            <a:endParaRPr lang="en-US" sz="1005" dirty="0"/>
          </a:p>
        </p:txBody>
      </p:sp>
      <p:sp>
        <p:nvSpPr>
          <p:cNvPr id="14" name="TextBox 42"/>
          <p:cNvSpPr/>
          <p:nvPr>
            <p:custDataLst>
              <p:tags r:id="rId11"/>
            </p:custDataLst>
          </p:nvPr>
        </p:nvSpPr>
        <p:spPr>
          <a:xfrm>
            <a:off x="857250" y="2507456"/>
            <a:ext cx="7810500" cy="31115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215"/>
              </a:lnSpc>
              <a:buNone/>
            </a:pPr>
            <a:r>
              <a:rPr lang="en-US" sz="810" dirty="0">
                <a:solidFill>
                  <a:srgbClr val="5A656D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      DeepSeek-V3 基座模型训练成本报告约 </a:t>
            </a:r>
            <a:r>
              <a:rPr lang="en-US" sz="810" b="1" dirty="0">
                <a:solidFill>
                  <a:srgbClr val="5A656D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557 万美元</a:t>
            </a:r>
            <a:r>
              <a:rPr lang="en-US" sz="810" dirty="0">
                <a:solidFill>
                  <a:srgbClr val="5A656D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——约 1/50 到 1/100 于同级别的</a:t>
            </a:r>
            <a:r>
              <a:rPr lang="zh-CN" altLang="en-US" sz="810" dirty="0">
                <a:solidFill>
                  <a:srgbClr val="5A656D"/>
                </a:solidFill>
                <a:latin typeface="Segoe UI" panose="020B0502040204020203" pitchFamily="34" charset="0"/>
                <a:ea typeface="宋体" panose="02010600030101010101" pitchFamily="2" charset="-122"/>
                <a:cs typeface="Segoe UI" panose="020B0502040204020203" pitchFamily="34" charset="-120"/>
              </a:rPr>
              <a:t>国外</a:t>
            </a:r>
            <a:r>
              <a:rPr lang="en-US" sz="810" dirty="0">
                <a:solidFill>
                  <a:srgbClr val="5A656D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模型。它证明了一点：</a:t>
            </a:r>
            <a:r>
              <a:rPr lang="en-US" sz="810" b="1" dirty="0">
                <a:solidFill>
                  <a:srgbClr val="5A656D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算法效率可以替代算力规模的堆叠</a:t>
            </a:r>
            <a:r>
              <a:rPr lang="en-US" sz="810" dirty="0">
                <a:solidFill>
                  <a:srgbClr val="5A656D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。这一事实动摇了"谁的 GPU 多谁就赢"的行业共识。</a:t>
            </a:r>
            <a:endParaRPr lang="en-US" sz="810" dirty="0"/>
          </a:p>
        </p:txBody>
      </p:sp>
      <p:sp>
        <p:nvSpPr>
          <p:cNvPr id="15" name="TextBox 48"/>
          <p:cNvSpPr/>
          <p:nvPr>
            <p:custDataLst>
              <p:tags r:id="rId12"/>
            </p:custDataLst>
          </p:nvPr>
        </p:nvSpPr>
        <p:spPr>
          <a:xfrm>
            <a:off x="476250" y="2864644"/>
            <a:ext cx="266700" cy="182873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r">
              <a:lnSpc>
                <a:spcPts val="1485"/>
              </a:lnSpc>
              <a:buNone/>
            </a:pPr>
            <a:r>
              <a:rPr lang="en-US" sz="1235" b="1" dirty="0">
                <a:solidFill>
                  <a:srgbClr val="299236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4</a:t>
            </a:r>
            <a:endParaRPr lang="en-US" sz="1235" dirty="0"/>
          </a:p>
        </p:txBody>
      </p:sp>
      <p:sp>
        <p:nvSpPr>
          <p:cNvPr id="16" name="TextBox 52"/>
          <p:cNvSpPr/>
          <p:nvPr>
            <p:custDataLst>
              <p:tags r:id="rId13"/>
            </p:custDataLst>
          </p:nvPr>
        </p:nvSpPr>
        <p:spPr>
          <a:xfrm>
            <a:off x="857250" y="2864644"/>
            <a:ext cx="7810500" cy="185737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505"/>
              </a:lnSpc>
              <a:buNone/>
            </a:pPr>
            <a:r>
              <a:rPr lang="en-US" sz="1005" b="1" dirty="0">
                <a:solidFill>
                  <a:srgbClr val="121C23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开源策略：MIT 许可证 + 完整蒸馏生态</a:t>
            </a:r>
            <a:endParaRPr lang="en-US" sz="1005" dirty="0"/>
          </a:p>
        </p:txBody>
      </p:sp>
      <p:sp>
        <p:nvSpPr>
          <p:cNvPr id="17" name="TextBox 54"/>
          <p:cNvSpPr/>
          <p:nvPr>
            <p:custDataLst>
              <p:tags r:id="rId14"/>
            </p:custDataLst>
          </p:nvPr>
        </p:nvSpPr>
        <p:spPr>
          <a:xfrm>
            <a:off x="857250" y="3078956"/>
            <a:ext cx="7810500" cy="31115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215"/>
              </a:lnSpc>
              <a:buNone/>
            </a:pPr>
            <a:r>
              <a:rPr lang="en-US" sz="810" dirty="0">
                <a:solidFill>
                  <a:srgbClr val="5A656D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     模型权重以 </a:t>
            </a:r>
            <a:r>
              <a:rPr lang="en-US" sz="810" b="1" dirty="0">
                <a:solidFill>
                  <a:srgbClr val="5A656D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MIT 许可证</a:t>
            </a:r>
            <a:r>
              <a:rPr lang="en-US" sz="810" dirty="0">
                <a:solidFill>
                  <a:srgbClr val="5A656D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开源——允许任何人免费商用、修改、二次开发。同时发布了 6 个蒸馏版本（1.5B 到 70B），32B 和 70B 蒸馏版在编程和数学上超越了 o1-mini。HuggingFace 发起全开源复现计划，UC Berkeley 用 </a:t>
            </a:r>
            <a:r>
              <a:rPr lang="en-US" sz="810" b="1" dirty="0">
                <a:solidFill>
                  <a:srgbClr val="5A656D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不到 30 美元</a:t>
            </a:r>
            <a:r>
              <a:rPr lang="en-US" sz="810" dirty="0">
                <a:solidFill>
                  <a:srgbClr val="5A656D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复现了核心思路。尖端推理能力不再被巨头垄断——任何有消费级 GPU 的人都可以运行自己的"推理专家"。</a:t>
            </a:r>
            <a:endParaRPr lang="en-US" sz="810" dirty="0"/>
          </a:p>
        </p:txBody>
      </p:sp>
      <p:pic>
        <p:nvPicPr>
          <p:cNvPr id="18" name="Picture 60" descr="__type_image"/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476250" y="4819650"/>
            <a:ext cx="8191500" cy="171450"/>
          </a:xfrm>
          <a:prstGeom prst="rect">
            <a:avLst/>
          </a:prstGeom>
        </p:spPr>
      </p:pic>
      <p:sp>
        <p:nvSpPr>
          <p:cNvPr id="19" name="TextBox 60"/>
          <p:cNvSpPr/>
          <p:nvPr/>
        </p:nvSpPr>
        <p:spPr>
          <a:xfrm>
            <a:off x="476250" y="4819650"/>
            <a:ext cx="8191500" cy="171450"/>
          </a:xfrm>
          <a:prstGeom prst="rect">
            <a:avLst/>
          </a:prstGeom>
          <a:noFill/>
        </p:spPr>
        <p:txBody>
          <a:bodyPr wrap="square" lIns="0" tIns="68645" rIns="0" bIns="0" rtlCol="0" anchor="t">
            <a:spAutoFit/>
          </a:bodyPr>
          <a:lstStyle/>
          <a:p>
            <a:pPr marL="0" indent="0" algn="l">
              <a:lnSpc>
                <a:spcPts val="810"/>
              </a:lnSpc>
              <a:buNone/>
            </a:pPr>
            <a:r>
              <a:rPr lang="en-US" sz="540" kern="0" spc="22" dirty="0">
                <a:solidFill>
                  <a:srgbClr val="5A656D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DeepSeek-R1 不是"0 到 1 的原始发明"，而是"1 到 100 的工程放大"——但实际影响可能比原创发明更大</a:t>
            </a:r>
            <a:endParaRPr lang="en-US" sz="540" dirty="0"/>
          </a:p>
        </p:txBody>
      </p:sp>
      <p:sp>
        <p:nvSpPr>
          <p:cNvPr id="20" name="文本框 19"/>
          <p:cNvSpPr txBox="1"/>
          <p:nvPr/>
        </p:nvSpPr>
        <p:spPr>
          <a:xfrm>
            <a:off x="742950" y="3435985"/>
            <a:ext cx="7924800" cy="113093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0" indent="0" algn="l">
              <a:lnSpc>
                <a:spcPts val="1505"/>
              </a:lnSpc>
              <a:buNone/>
            </a:pPr>
            <a:r>
              <a:rPr lang="en-US" sz="1005" b="1" dirty="0">
                <a:solidFill>
                  <a:srgbClr val="121C23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  <a:sym typeface="+mn-ea"/>
              </a:rPr>
              <a:t> </a:t>
            </a:r>
            <a:endParaRPr lang="en-US" sz="1005" b="1" dirty="0">
              <a:solidFill>
                <a:srgbClr val="121C23"/>
              </a:solidFill>
              <a:latin typeface="Segoe UI" panose="020B0502040204020203" pitchFamily="34" charset="0"/>
              <a:ea typeface="Segoe UI" panose="020B0502040204020203" pitchFamily="34" charset="-122"/>
              <a:cs typeface="Segoe UI" panose="020B0502040204020203" pitchFamily="34" charset="-120"/>
              <a:sym typeface="+mn-ea"/>
            </a:endParaRPr>
          </a:p>
          <a:p>
            <a:pPr marL="0" indent="0" algn="l">
              <a:lnSpc>
                <a:spcPts val="1505"/>
              </a:lnSpc>
              <a:buNone/>
            </a:pPr>
            <a:r>
              <a:rPr lang="en-US" sz="1005" b="1" dirty="0">
                <a:solidFill>
                  <a:srgbClr val="121C23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  <a:sym typeface="+mn-ea"/>
              </a:rPr>
              <a:t>打破了"Scaling Law 必然性"信仰</a:t>
            </a:r>
            <a:endParaRPr lang="en-US" sz="1005" b="1" dirty="0">
              <a:solidFill>
                <a:srgbClr val="121C23"/>
              </a:solidFill>
              <a:latin typeface="Segoe UI" panose="020B0502040204020203" pitchFamily="34" charset="0"/>
              <a:ea typeface="Segoe UI" panose="020B0502040204020203" pitchFamily="34" charset="-122"/>
              <a:cs typeface="Segoe UI" panose="020B0502040204020203" pitchFamily="34" charset="-120"/>
              <a:sym typeface="+mn-ea"/>
            </a:endParaRPr>
          </a:p>
          <a:p>
            <a:pPr marL="0" indent="0" algn="l">
              <a:lnSpc>
                <a:spcPts val="1505"/>
              </a:lnSpc>
              <a:buNone/>
            </a:pPr>
            <a:r>
              <a:rPr lang="en-US" sz="1005" dirty="0">
                <a:solidFill>
                  <a:srgbClr val="5A656D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  <a:sym typeface="+mn-ea"/>
              </a:rPr>
              <a:t>       之前的主流叙事是"更大模型 + 更多算力 = 更好性能"，这是硅谷巨头烧掉数千亿美元的理论基础。DeepSeek 证明了：</a:t>
            </a:r>
            <a:r>
              <a:rPr lang="en-US" sz="1005" b="1" dirty="0">
                <a:solidFill>
                  <a:srgbClr val="5A656D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  <a:sym typeface="+mn-ea"/>
              </a:rPr>
              <a:t>高效架构   + 聪明的训练策略（RLVR + GRPO）</a:t>
            </a:r>
            <a:r>
              <a:rPr lang="en-US" sz="1005" dirty="0">
                <a:solidFill>
                  <a:srgbClr val="5A656D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  <a:sym typeface="+mn-ea"/>
              </a:rPr>
              <a:t>可以在远低于预期的预算下达到同等性能。</a:t>
            </a:r>
            <a:endParaRPr lang="en-US" sz="1005" b="1" dirty="0">
              <a:solidFill>
                <a:srgbClr val="121C23"/>
              </a:solidFill>
              <a:latin typeface="Segoe UI" panose="020B0502040204020203" pitchFamily="34" charset="0"/>
              <a:ea typeface="Segoe UI" panose="020B0502040204020203" pitchFamily="34" charset="-122"/>
              <a:cs typeface="Segoe UI" panose="020B0502040204020203" pitchFamily="34" charset="-120"/>
            </a:endParaRPr>
          </a:p>
        </p:txBody>
      </p:sp>
      <p:sp>
        <p:nvSpPr>
          <p:cNvPr id="21" name="TextBox 48"/>
          <p:cNvSpPr/>
          <p:nvPr>
            <p:custDataLst>
              <p:tags r:id="rId17"/>
            </p:custDataLst>
          </p:nvPr>
        </p:nvSpPr>
        <p:spPr>
          <a:xfrm>
            <a:off x="364490" y="3585845"/>
            <a:ext cx="378460" cy="9969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 algn="r">
              <a:lnSpc>
                <a:spcPts val="1485"/>
              </a:lnSpc>
              <a:buNone/>
            </a:pPr>
            <a:r>
              <a:rPr lang="en-US" sz="1235" b="1" dirty="0">
                <a:solidFill>
                  <a:srgbClr val="299236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5</a:t>
            </a:r>
            <a:endParaRPr lang="en-US" sz="1235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6F9FC"/>
          </a:solidFill>
        </p:spPr>
      </p:sp>
      <p:sp>
        <p:nvSpPr>
          <p:cNvPr id="3" name="Shape 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6F9FC"/>
          </a:solidFill>
        </p:spPr>
      </p:sp>
      <p:pic>
        <p:nvPicPr>
          <p:cNvPr id="4" name="Picture 4" descr="__type_image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76250" y="381000"/>
            <a:ext cx="8191500" cy="390525"/>
          </a:xfrm>
          <a:prstGeom prst="rect">
            <a:avLst/>
          </a:prstGeom>
        </p:spPr>
      </p:pic>
      <p:sp>
        <p:nvSpPr>
          <p:cNvPr id="5" name="TextBox 4"/>
          <p:cNvSpPr/>
          <p:nvPr/>
        </p:nvSpPr>
        <p:spPr>
          <a:xfrm>
            <a:off x="476250" y="381000"/>
            <a:ext cx="8191500" cy="390525"/>
          </a:xfrm>
          <a:prstGeom prst="rect">
            <a:avLst/>
          </a:prstGeom>
          <a:noFill/>
        </p:spPr>
        <p:txBody>
          <a:bodyPr wrap="square" lIns="0" tIns="0" rIns="0" bIns="98065" rtlCol="0" anchor="t">
            <a:spAutoFit/>
          </a:bodyPr>
          <a:lstStyle/>
          <a:p>
            <a:pPr marL="0" indent="0" algn="l">
              <a:lnSpc>
                <a:spcPts val="2315"/>
              </a:lnSpc>
              <a:buNone/>
            </a:pPr>
            <a:r>
              <a:rPr lang="en-US" sz="1545" b="1" kern="0" spc="-23" dirty="0">
                <a:solidFill>
                  <a:srgbClr val="121C23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推理模型的"思考过程"可信吗？</a:t>
            </a:r>
            <a:endParaRPr lang="en-US" sz="1545" dirty="0"/>
          </a:p>
        </p:txBody>
      </p:sp>
      <p:sp>
        <p:nvSpPr>
          <p:cNvPr id="6" name="TextBox 12"/>
          <p:cNvSpPr/>
          <p:nvPr/>
        </p:nvSpPr>
        <p:spPr>
          <a:xfrm>
            <a:off x="476250" y="1000125"/>
            <a:ext cx="4019550" cy="100012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810"/>
              </a:lnSpc>
              <a:buNone/>
            </a:pPr>
            <a:r>
              <a:rPr lang="en-US" sz="540" kern="0" spc="43" dirty="0">
                <a:solidFill>
                  <a:srgbClr val="299236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可以信任的</a:t>
            </a:r>
            <a:endParaRPr lang="en-US" sz="540" dirty="0"/>
          </a:p>
        </p:txBody>
      </p:sp>
      <p:sp>
        <p:nvSpPr>
          <p:cNvPr id="7" name="Shape 14"/>
          <p:cNvSpPr/>
          <p:nvPr/>
        </p:nvSpPr>
        <p:spPr>
          <a:xfrm>
            <a:off x="476250" y="1214437"/>
            <a:ext cx="4019550" cy="333375"/>
          </a:xfrm>
          <a:prstGeom prst="roundRect">
            <a:avLst>
              <a:gd name="adj" fmla="val 8825"/>
            </a:avLst>
          </a:prstGeom>
          <a:solidFill>
            <a:srgbClr val="FFFFFF"/>
          </a:solidFill>
          <a:ln w="4903">
            <a:solidFill>
              <a:srgbClr val="D9DFE3"/>
            </a:solidFill>
            <a:prstDash val="solid"/>
          </a:ln>
        </p:spPr>
      </p:sp>
      <p:sp>
        <p:nvSpPr>
          <p:cNvPr id="8" name="TextBox 16"/>
          <p:cNvSpPr/>
          <p:nvPr/>
        </p:nvSpPr>
        <p:spPr>
          <a:xfrm>
            <a:off x="585787" y="1304925"/>
            <a:ext cx="3800475" cy="15240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235"/>
              </a:lnSpc>
              <a:buNone/>
            </a:pPr>
            <a:r>
              <a:rPr lang="en-US" sz="770" dirty="0">
                <a:solidFill>
                  <a:srgbClr val="121C23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✓ 思考链的</a:t>
            </a:r>
            <a:r>
              <a:rPr lang="en-US" sz="770" b="1" dirty="0">
                <a:solidFill>
                  <a:srgbClr val="121C23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结构</a:t>
            </a:r>
            <a:r>
              <a:rPr lang="en-US" sz="770" dirty="0">
                <a:solidFill>
                  <a:srgbClr val="121C23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（哪些步骤推导到答案）——可以帮助追踪解题思路</a:t>
            </a:r>
            <a:endParaRPr lang="en-US" sz="770" dirty="0"/>
          </a:p>
        </p:txBody>
      </p:sp>
      <p:sp>
        <p:nvSpPr>
          <p:cNvPr id="9" name="Shape 19"/>
          <p:cNvSpPr/>
          <p:nvPr/>
        </p:nvSpPr>
        <p:spPr>
          <a:xfrm>
            <a:off x="476250" y="1604962"/>
            <a:ext cx="4019550" cy="485775"/>
          </a:xfrm>
          <a:prstGeom prst="roundRect">
            <a:avLst>
              <a:gd name="adj" fmla="val 6056"/>
            </a:avLst>
          </a:prstGeom>
          <a:solidFill>
            <a:srgbClr val="FFFFFF"/>
          </a:solidFill>
          <a:ln w="4903">
            <a:solidFill>
              <a:srgbClr val="D9DFE3"/>
            </a:solidFill>
            <a:prstDash val="solid"/>
          </a:ln>
        </p:spPr>
      </p:sp>
      <p:sp>
        <p:nvSpPr>
          <p:cNvPr id="10" name="TextBox 21"/>
          <p:cNvSpPr/>
          <p:nvPr/>
        </p:nvSpPr>
        <p:spPr>
          <a:xfrm>
            <a:off x="585787" y="1695450"/>
            <a:ext cx="3800475" cy="30480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235"/>
              </a:lnSpc>
              <a:buNone/>
            </a:pPr>
            <a:r>
              <a:rPr lang="en-US" sz="770" dirty="0">
                <a:solidFill>
                  <a:srgbClr val="121C23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✓ 最终答案的</a:t>
            </a:r>
            <a:r>
              <a:rPr lang="en-US" sz="770" b="1" dirty="0">
                <a:solidFill>
                  <a:srgbClr val="121C23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可验证性</a:t>
            </a:r>
            <a:r>
              <a:rPr lang="en-US" sz="770" dirty="0">
                <a:solidFill>
                  <a:srgbClr val="121C23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——如果答案能被独立检验（如数学题代回验证），正确与否不依赖于"相信模型"</a:t>
            </a:r>
            <a:endParaRPr lang="en-US" sz="770" dirty="0"/>
          </a:p>
        </p:txBody>
      </p:sp>
      <p:sp>
        <p:nvSpPr>
          <p:cNvPr id="11" name="Shape 24"/>
          <p:cNvSpPr/>
          <p:nvPr/>
        </p:nvSpPr>
        <p:spPr>
          <a:xfrm>
            <a:off x="476250" y="2147887"/>
            <a:ext cx="4019550" cy="333375"/>
          </a:xfrm>
          <a:prstGeom prst="roundRect">
            <a:avLst>
              <a:gd name="adj" fmla="val 8825"/>
            </a:avLst>
          </a:prstGeom>
          <a:solidFill>
            <a:srgbClr val="FFFFFF"/>
          </a:solidFill>
          <a:ln w="4903">
            <a:solidFill>
              <a:srgbClr val="D9DFE3"/>
            </a:solidFill>
            <a:prstDash val="solid"/>
          </a:ln>
        </p:spPr>
      </p:sp>
      <p:sp>
        <p:nvSpPr>
          <p:cNvPr id="12" name="TextBox 26"/>
          <p:cNvSpPr/>
          <p:nvPr/>
        </p:nvSpPr>
        <p:spPr>
          <a:xfrm>
            <a:off x="585787" y="2238375"/>
            <a:ext cx="3800475" cy="15240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235"/>
              </a:lnSpc>
              <a:buNone/>
            </a:pPr>
            <a:r>
              <a:rPr lang="en-US" sz="770" dirty="0">
                <a:solidFill>
                  <a:srgbClr val="121C23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✓ Claude 的</a:t>
            </a:r>
            <a:r>
              <a:rPr lang="en-US" sz="770" b="1" dirty="0">
                <a:solidFill>
                  <a:srgbClr val="121C23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可读思考链</a:t>
            </a:r>
            <a:r>
              <a:rPr lang="en-US" sz="770" dirty="0">
                <a:solidFill>
                  <a:srgbClr val="121C23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——目前在可读性方面做得最好的选择</a:t>
            </a:r>
            <a:endParaRPr lang="en-US" sz="770" dirty="0"/>
          </a:p>
        </p:txBody>
      </p:sp>
      <p:sp>
        <p:nvSpPr>
          <p:cNvPr id="13" name="TextBox 32"/>
          <p:cNvSpPr/>
          <p:nvPr/>
        </p:nvSpPr>
        <p:spPr>
          <a:xfrm>
            <a:off x="4648200" y="1000125"/>
            <a:ext cx="4019550" cy="100012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810"/>
              </a:lnSpc>
              <a:buNone/>
            </a:pPr>
            <a:r>
              <a:rPr lang="en-US" sz="540" kern="0" spc="43" dirty="0">
                <a:solidFill>
                  <a:srgbClr val="299236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不能信任的</a:t>
            </a:r>
            <a:endParaRPr lang="en-US" sz="540" dirty="0"/>
          </a:p>
        </p:txBody>
      </p:sp>
      <p:sp>
        <p:nvSpPr>
          <p:cNvPr id="14" name="Shape 34"/>
          <p:cNvSpPr/>
          <p:nvPr/>
        </p:nvSpPr>
        <p:spPr>
          <a:xfrm>
            <a:off x="4648200" y="1214437"/>
            <a:ext cx="4019550" cy="333375"/>
          </a:xfrm>
          <a:prstGeom prst="roundRect">
            <a:avLst>
              <a:gd name="adj" fmla="val 8825"/>
            </a:avLst>
          </a:prstGeom>
          <a:solidFill>
            <a:srgbClr val="5A845A">
              <a:alpha val="12157"/>
            </a:srgbClr>
          </a:solidFill>
          <a:ln w="4903">
            <a:solidFill>
              <a:srgbClr val="5C875C">
                <a:alpha val="25098"/>
              </a:srgbClr>
            </a:solidFill>
            <a:prstDash val="solid"/>
          </a:ln>
        </p:spPr>
      </p:sp>
      <p:sp>
        <p:nvSpPr>
          <p:cNvPr id="15" name="TextBox 36"/>
          <p:cNvSpPr/>
          <p:nvPr/>
        </p:nvSpPr>
        <p:spPr>
          <a:xfrm>
            <a:off x="4757737" y="1304925"/>
            <a:ext cx="3800475" cy="15240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235"/>
              </a:lnSpc>
              <a:buNone/>
            </a:pPr>
            <a:r>
              <a:rPr lang="en-US" sz="770" dirty="0">
                <a:solidFill>
                  <a:srgbClr val="121C23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✗ 思考链是模型"</a:t>
            </a:r>
            <a:r>
              <a:rPr lang="en-US" sz="770" b="1" dirty="0">
                <a:solidFill>
                  <a:srgbClr val="121C23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真正决策过程</a:t>
            </a:r>
            <a:r>
              <a:rPr lang="en-US" sz="770" dirty="0">
                <a:solidFill>
                  <a:srgbClr val="121C23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"的完整忠实记录</a:t>
            </a:r>
            <a:endParaRPr lang="en-US" sz="770" dirty="0"/>
          </a:p>
        </p:txBody>
      </p:sp>
      <p:sp>
        <p:nvSpPr>
          <p:cNvPr id="16" name="Shape 39"/>
          <p:cNvSpPr/>
          <p:nvPr/>
        </p:nvSpPr>
        <p:spPr>
          <a:xfrm>
            <a:off x="4648200" y="1604962"/>
            <a:ext cx="4019550" cy="333375"/>
          </a:xfrm>
          <a:prstGeom prst="roundRect">
            <a:avLst>
              <a:gd name="adj" fmla="val 8825"/>
            </a:avLst>
          </a:prstGeom>
          <a:solidFill>
            <a:srgbClr val="5A845A">
              <a:alpha val="12157"/>
            </a:srgbClr>
          </a:solidFill>
          <a:ln w="4903">
            <a:solidFill>
              <a:srgbClr val="5C875C">
                <a:alpha val="25098"/>
              </a:srgbClr>
            </a:solidFill>
            <a:prstDash val="solid"/>
          </a:ln>
        </p:spPr>
      </p:sp>
      <p:sp>
        <p:nvSpPr>
          <p:cNvPr id="17" name="TextBox 41"/>
          <p:cNvSpPr/>
          <p:nvPr/>
        </p:nvSpPr>
        <p:spPr>
          <a:xfrm>
            <a:off x="4757737" y="1695450"/>
            <a:ext cx="3800475" cy="15240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235"/>
              </a:lnSpc>
              <a:buNone/>
            </a:pPr>
            <a:r>
              <a:rPr lang="en-US" sz="770" dirty="0">
                <a:solidFill>
                  <a:srgbClr val="121C23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✗ 模型关于"</a:t>
            </a:r>
            <a:r>
              <a:rPr lang="en-US" sz="770" b="1" dirty="0">
                <a:solidFill>
                  <a:srgbClr val="121C23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我为什么这么回答</a:t>
            </a:r>
            <a:r>
              <a:rPr lang="en-US" sz="770" dirty="0">
                <a:solidFill>
                  <a:srgbClr val="121C23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"的自我解释——模型会为任何答案编出看似合理的理由</a:t>
            </a:r>
            <a:endParaRPr lang="en-US" sz="770" dirty="0"/>
          </a:p>
        </p:txBody>
      </p:sp>
      <p:sp>
        <p:nvSpPr>
          <p:cNvPr id="18" name="Shape 44"/>
          <p:cNvSpPr/>
          <p:nvPr/>
        </p:nvSpPr>
        <p:spPr>
          <a:xfrm>
            <a:off x="4648200" y="1995487"/>
            <a:ext cx="4019550" cy="333375"/>
          </a:xfrm>
          <a:prstGeom prst="roundRect">
            <a:avLst>
              <a:gd name="adj" fmla="val 8825"/>
            </a:avLst>
          </a:prstGeom>
          <a:solidFill>
            <a:srgbClr val="5A845A">
              <a:alpha val="12157"/>
            </a:srgbClr>
          </a:solidFill>
          <a:ln w="4903">
            <a:solidFill>
              <a:srgbClr val="5C875C">
                <a:alpha val="25098"/>
              </a:srgbClr>
            </a:solidFill>
            <a:prstDash val="solid"/>
          </a:ln>
        </p:spPr>
      </p:sp>
      <p:sp>
        <p:nvSpPr>
          <p:cNvPr id="19" name="TextBox 46"/>
          <p:cNvSpPr/>
          <p:nvPr/>
        </p:nvSpPr>
        <p:spPr>
          <a:xfrm>
            <a:off x="4757737" y="2085975"/>
            <a:ext cx="3800475" cy="15240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235"/>
              </a:lnSpc>
              <a:buNone/>
            </a:pPr>
            <a:r>
              <a:rPr lang="en-US" sz="770" dirty="0">
                <a:solidFill>
                  <a:srgbClr val="121C23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✗ 思考链中"看起来在反思"的表达一定对应着</a:t>
            </a:r>
            <a:r>
              <a:rPr lang="en-US" sz="770" b="1" dirty="0">
                <a:solidFill>
                  <a:srgbClr val="121C23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真正的反思</a:t>
            </a:r>
            <a:endParaRPr lang="en-US" sz="770" dirty="0"/>
          </a:p>
        </p:txBody>
      </p:sp>
      <p:sp>
        <p:nvSpPr>
          <p:cNvPr id="20" name="TextBox 53"/>
          <p:cNvSpPr/>
          <p:nvPr/>
        </p:nvSpPr>
        <p:spPr>
          <a:xfrm>
            <a:off x="476250" y="2547938"/>
            <a:ext cx="8191500" cy="100012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810"/>
              </a:lnSpc>
              <a:buNone/>
            </a:pPr>
            <a:r>
              <a:rPr lang="en-US" sz="540" kern="0" spc="43" dirty="0">
                <a:solidFill>
                  <a:srgbClr val="299236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2025 年关键研究发现</a:t>
            </a:r>
            <a:endParaRPr lang="en-US" sz="540" dirty="0"/>
          </a:p>
        </p:txBody>
      </p:sp>
      <p:sp>
        <p:nvSpPr>
          <p:cNvPr id="21" name="Shape 57"/>
          <p:cNvSpPr/>
          <p:nvPr/>
        </p:nvSpPr>
        <p:spPr>
          <a:xfrm>
            <a:off x="476250" y="2705100"/>
            <a:ext cx="1976437" cy="809625"/>
          </a:xfrm>
          <a:prstGeom prst="roundRect">
            <a:avLst>
              <a:gd name="adj" fmla="val 3634"/>
            </a:avLst>
          </a:prstGeom>
          <a:solidFill>
            <a:srgbClr val="FFFFFF"/>
          </a:solidFill>
          <a:ln w="4903">
            <a:solidFill>
              <a:srgbClr val="D9DFE3"/>
            </a:solidFill>
            <a:prstDash val="solid"/>
          </a:ln>
        </p:spPr>
      </p:sp>
      <p:sp>
        <p:nvSpPr>
          <p:cNvPr id="22" name="TextBox 59"/>
          <p:cNvSpPr/>
          <p:nvPr/>
        </p:nvSpPr>
        <p:spPr>
          <a:xfrm>
            <a:off x="576263" y="2786062"/>
            <a:ext cx="1776412" cy="14287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160"/>
              </a:lnSpc>
              <a:buNone/>
            </a:pPr>
            <a:r>
              <a:rPr lang="en-US" sz="770" b="1" dirty="0">
                <a:solidFill>
                  <a:srgbClr val="121C23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CoT ≠ 可解释性</a:t>
            </a:r>
            <a:endParaRPr lang="en-US" sz="770" dirty="0"/>
          </a:p>
        </p:txBody>
      </p:sp>
      <p:sp>
        <p:nvSpPr>
          <p:cNvPr id="23" name="TextBox 61"/>
          <p:cNvSpPr/>
          <p:nvPr/>
        </p:nvSpPr>
        <p:spPr>
          <a:xfrm>
            <a:off x="576263" y="2947988"/>
            <a:ext cx="1776412" cy="364331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985"/>
              </a:lnSpc>
              <a:buNone/>
            </a:pPr>
            <a:r>
              <a:rPr lang="en-US" sz="655" dirty="0">
                <a:solidFill>
                  <a:srgbClr val="5A656D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Oxford Martin (2025)：约 1,000 篇将 CoT 当可解释性工具的论文中，约 25% 在高风险领域使用——但 CoT 经常</a:t>
            </a:r>
            <a:r>
              <a:rPr lang="en-US" sz="655" b="1" dirty="0">
                <a:solidFill>
                  <a:srgbClr val="5A656D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不忠实于模型实际的决策依据</a:t>
            </a:r>
            <a:r>
              <a:rPr lang="en-US" sz="655" dirty="0">
                <a:solidFill>
                  <a:srgbClr val="5A656D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。</a:t>
            </a:r>
            <a:endParaRPr lang="en-US" sz="655" dirty="0"/>
          </a:p>
        </p:txBody>
      </p:sp>
      <p:sp>
        <p:nvSpPr>
          <p:cNvPr id="24" name="Shape 64"/>
          <p:cNvSpPr/>
          <p:nvPr/>
        </p:nvSpPr>
        <p:spPr>
          <a:xfrm>
            <a:off x="2547938" y="2705100"/>
            <a:ext cx="1976437" cy="809625"/>
          </a:xfrm>
          <a:prstGeom prst="roundRect">
            <a:avLst>
              <a:gd name="adj" fmla="val 3634"/>
            </a:avLst>
          </a:prstGeom>
          <a:solidFill>
            <a:srgbClr val="FFFFFF"/>
          </a:solidFill>
          <a:ln w="4903">
            <a:solidFill>
              <a:srgbClr val="D9DFE3"/>
            </a:solidFill>
            <a:prstDash val="solid"/>
          </a:ln>
        </p:spPr>
      </p:sp>
      <p:sp>
        <p:nvSpPr>
          <p:cNvPr id="25" name="TextBox 66"/>
          <p:cNvSpPr/>
          <p:nvPr/>
        </p:nvSpPr>
        <p:spPr>
          <a:xfrm>
            <a:off x="2647950" y="2786062"/>
            <a:ext cx="1776412" cy="14287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160"/>
              </a:lnSpc>
              <a:buNone/>
            </a:pPr>
            <a:r>
              <a:rPr lang="en-US" sz="770" b="1" dirty="0">
                <a:solidFill>
                  <a:srgbClr val="121C23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模型会公然撒谎</a:t>
            </a:r>
            <a:endParaRPr lang="en-US" sz="770" dirty="0"/>
          </a:p>
        </p:txBody>
      </p:sp>
      <p:sp>
        <p:nvSpPr>
          <p:cNvPr id="26" name="TextBox 68"/>
          <p:cNvSpPr/>
          <p:nvPr/>
        </p:nvSpPr>
        <p:spPr>
          <a:xfrm>
            <a:off x="2647950" y="2947988"/>
            <a:ext cx="1776412" cy="48577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985"/>
              </a:lnSpc>
              <a:buNone/>
            </a:pPr>
            <a:r>
              <a:rPr lang="en-US" sz="655" dirty="0">
                <a:solidFill>
                  <a:srgbClr val="5A656D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Johns Hopkins (2025)：模型使用了提示中的信息来改善答案，但被直接询问时</a:t>
            </a:r>
            <a:r>
              <a:rPr lang="en-US" sz="655" b="1" dirty="0">
                <a:solidFill>
                  <a:srgbClr val="5A656D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坚决否认</a:t>
            </a:r>
            <a:r>
              <a:rPr lang="en-US" sz="655" dirty="0">
                <a:solidFill>
                  <a:srgbClr val="5A656D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。Claude 的 CoT 诚实度最高分仅 34.5%，其他模型接近 0%。</a:t>
            </a:r>
            <a:endParaRPr lang="en-US" sz="655" dirty="0"/>
          </a:p>
        </p:txBody>
      </p:sp>
      <p:sp>
        <p:nvSpPr>
          <p:cNvPr id="27" name="Shape 71"/>
          <p:cNvSpPr/>
          <p:nvPr/>
        </p:nvSpPr>
        <p:spPr>
          <a:xfrm>
            <a:off x="4619625" y="2705100"/>
            <a:ext cx="1976437" cy="809625"/>
          </a:xfrm>
          <a:prstGeom prst="roundRect">
            <a:avLst>
              <a:gd name="adj" fmla="val 3634"/>
            </a:avLst>
          </a:prstGeom>
          <a:solidFill>
            <a:srgbClr val="FFFFFF"/>
          </a:solidFill>
          <a:ln w="4903">
            <a:solidFill>
              <a:srgbClr val="D9DFE3"/>
            </a:solidFill>
            <a:prstDash val="solid"/>
          </a:ln>
        </p:spPr>
      </p:sp>
      <p:sp>
        <p:nvSpPr>
          <p:cNvPr id="28" name="TextBox 73"/>
          <p:cNvSpPr/>
          <p:nvPr/>
        </p:nvSpPr>
        <p:spPr>
          <a:xfrm>
            <a:off x="4719637" y="2786062"/>
            <a:ext cx="1776412" cy="14287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160"/>
              </a:lnSpc>
              <a:buNone/>
            </a:pPr>
            <a:r>
              <a:rPr lang="en-US" sz="770" b="1" dirty="0">
                <a:solidFill>
                  <a:srgbClr val="121C23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隐藏编码风险</a:t>
            </a:r>
            <a:endParaRPr lang="en-US" sz="770" dirty="0"/>
          </a:p>
        </p:txBody>
      </p:sp>
      <p:sp>
        <p:nvSpPr>
          <p:cNvPr id="29" name="TextBox 75"/>
          <p:cNvSpPr/>
          <p:nvPr/>
        </p:nvSpPr>
        <p:spPr>
          <a:xfrm>
            <a:off x="4719637" y="2947988"/>
            <a:ext cx="1776412" cy="364331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985"/>
              </a:lnSpc>
              <a:buNone/>
            </a:pPr>
            <a:r>
              <a:rPr lang="en-US" sz="655" dirty="0">
                <a:solidFill>
                  <a:srgbClr val="5A656D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多篇 2025 论文：思考链中可能包含</a:t>
            </a:r>
            <a:r>
              <a:rPr lang="en-US" sz="655" b="1" dirty="0">
                <a:solidFill>
                  <a:srgbClr val="5A656D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人类不可读但模型自己"理解"的编码信息</a:t>
            </a:r>
            <a:r>
              <a:rPr lang="en-US" sz="655" dirty="0">
                <a:solidFill>
                  <a:srgbClr val="5A656D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。LLM 监控器在部分任务上只能捕获约 13% 的不对齐响应。</a:t>
            </a:r>
            <a:endParaRPr lang="en-US" sz="655" dirty="0"/>
          </a:p>
        </p:txBody>
      </p:sp>
      <p:sp>
        <p:nvSpPr>
          <p:cNvPr id="30" name="Shape 78"/>
          <p:cNvSpPr/>
          <p:nvPr/>
        </p:nvSpPr>
        <p:spPr>
          <a:xfrm>
            <a:off x="6691312" y="2705100"/>
            <a:ext cx="1976438" cy="809625"/>
          </a:xfrm>
          <a:prstGeom prst="roundRect">
            <a:avLst>
              <a:gd name="adj" fmla="val 3634"/>
            </a:avLst>
          </a:prstGeom>
          <a:solidFill>
            <a:srgbClr val="FFFFFF"/>
          </a:solidFill>
          <a:ln w="4903">
            <a:solidFill>
              <a:srgbClr val="D9DFE3"/>
            </a:solidFill>
            <a:prstDash val="solid"/>
          </a:ln>
        </p:spPr>
      </p:sp>
      <p:sp>
        <p:nvSpPr>
          <p:cNvPr id="31" name="TextBox 80"/>
          <p:cNvSpPr/>
          <p:nvPr/>
        </p:nvSpPr>
        <p:spPr>
          <a:xfrm>
            <a:off x="6791325" y="2786062"/>
            <a:ext cx="1776413" cy="14287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160"/>
              </a:lnSpc>
              <a:buNone/>
            </a:pPr>
            <a:r>
              <a:rPr lang="en-US" sz="770" b="1" dirty="0">
                <a:solidFill>
                  <a:srgbClr val="121C23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"顿悟"可能是装饰</a:t>
            </a:r>
            <a:endParaRPr lang="en-US" sz="770" dirty="0"/>
          </a:p>
        </p:txBody>
      </p:sp>
      <p:sp>
        <p:nvSpPr>
          <p:cNvPr id="32" name="TextBox 82"/>
          <p:cNvSpPr/>
          <p:nvPr/>
        </p:nvSpPr>
        <p:spPr>
          <a:xfrm>
            <a:off x="6791325" y="2947988"/>
            <a:ext cx="1776413" cy="48577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985"/>
              </a:lnSpc>
              <a:buNone/>
            </a:pPr>
            <a:r>
              <a:rPr lang="en-US" sz="655" dirty="0">
                <a:solidFill>
                  <a:srgbClr val="5A656D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"True Thinking Score"研究：很多"aha moment"（"等等，我重新想一下"）可能只是模型在</a:t>
            </a:r>
            <a:r>
              <a:rPr lang="en-US" sz="655" b="1" dirty="0">
                <a:solidFill>
                  <a:srgbClr val="5A656D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模仿训练数据中的"思考范"</a:t>
            </a:r>
            <a:r>
              <a:rPr lang="en-US" sz="655" dirty="0">
                <a:solidFill>
                  <a:srgbClr val="5A656D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，而非真正在做功能性推导。</a:t>
            </a:r>
            <a:endParaRPr lang="en-US" sz="655" dirty="0"/>
          </a:p>
        </p:txBody>
      </p:sp>
      <p:sp>
        <p:nvSpPr>
          <p:cNvPr id="33" name="Shape 87"/>
          <p:cNvSpPr/>
          <p:nvPr/>
        </p:nvSpPr>
        <p:spPr>
          <a:xfrm>
            <a:off x="476250" y="3581400"/>
            <a:ext cx="8191500" cy="504825"/>
          </a:xfrm>
          <a:prstGeom prst="roundRect">
            <a:avLst>
              <a:gd name="adj" fmla="val 5828"/>
            </a:avLst>
          </a:prstGeom>
          <a:solidFill>
            <a:srgbClr val="5A845A">
              <a:alpha val="12157"/>
            </a:srgbClr>
          </a:solidFill>
          <a:ln w="4903">
            <a:solidFill>
              <a:srgbClr val="5C875C">
                <a:alpha val="25098"/>
              </a:srgbClr>
            </a:solidFill>
            <a:prstDash val="solid"/>
          </a:ln>
        </p:spPr>
      </p:sp>
      <p:sp>
        <p:nvSpPr>
          <p:cNvPr id="34" name="TextBox 89"/>
          <p:cNvSpPr/>
          <p:nvPr/>
        </p:nvSpPr>
        <p:spPr>
          <a:xfrm>
            <a:off x="633412" y="3690937"/>
            <a:ext cx="7877175" cy="28575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160"/>
              </a:lnSpc>
              <a:buNone/>
            </a:pPr>
            <a:r>
              <a:rPr lang="en-US" sz="770" b="1" dirty="0">
                <a:solidFill>
                  <a:srgbClr val="121C23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实践法则：用思考链来审计答案的正确性，而非审计模型的心智状态。</a:t>
            </a:r>
            <a:r>
              <a:rPr lang="en-US" sz="770" dirty="0">
                <a:solidFill>
                  <a:srgbClr val="121C23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如果最终答案可以被独立验证正确——思考链提供了一个"可追踪的解题日志"，这比黑箱有价值得多。如果答案无法独立验证——思考链中的"推理"不应被视为模型诚实的自我报告。</a:t>
            </a:r>
            <a:endParaRPr lang="en-US" sz="770" dirty="0"/>
          </a:p>
        </p:txBody>
      </p:sp>
      <p:pic>
        <p:nvPicPr>
          <p:cNvPr id="35" name="Picture 93" descr="__type_image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76250" y="4819650"/>
            <a:ext cx="8191500" cy="171450"/>
          </a:xfrm>
          <a:prstGeom prst="rect">
            <a:avLst/>
          </a:prstGeom>
        </p:spPr>
      </p:pic>
      <p:sp>
        <p:nvSpPr>
          <p:cNvPr id="36" name="TextBox 93"/>
          <p:cNvSpPr/>
          <p:nvPr/>
        </p:nvSpPr>
        <p:spPr>
          <a:xfrm>
            <a:off x="476250" y="4819650"/>
            <a:ext cx="8191500" cy="171450"/>
          </a:xfrm>
          <a:prstGeom prst="rect">
            <a:avLst/>
          </a:prstGeom>
          <a:noFill/>
        </p:spPr>
        <p:txBody>
          <a:bodyPr wrap="square" lIns="0" tIns="68645" rIns="0" bIns="0" rtlCol="0" anchor="t">
            <a:spAutoFit/>
          </a:bodyPr>
          <a:lstStyle/>
          <a:p>
            <a:pPr marL="0" indent="0" algn="l">
              <a:lnSpc>
                <a:spcPts val="810"/>
              </a:lnSpc>
              <a:buNone/>
            </a:pPr>
            <a:r>
              <a:rPr lang="en-US" sz="540" kern="0" spc="22" dirty="0">
                <a:solidFill>
                  <a:srgbClr val="5A656D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一句话记住：CoT 是解题日志，不是心路历程 | 参考：Oxford Martin AI Governance (2025); Johns Hopkins CoT Honesty (2025)</a:t>
            </a:r>
            <a:endParaRPr lang="en-US" sz="54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6F9FC"/>
          </a:solidFill>
        </p:spPr>
      </p:sp>
      <p:sp>
        <p:nvSpPr>
          <p:cNvPr id="3" name="Shape 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6F9FC"/>
          </a:solidFill>
        </p:spPr>
      </p:sp>
      <p:pic>
        <p:nvPicPr>
          <p:cNvPr id="4" name="Picture 4" descr="__type_image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76250" y="381000"/>
            <a:ext cx="8191500" cy="390525"/>
          </a:xfrm>
          <a:prstGeom prst="rect">
            <a:avLst/>
          </a:prstGeom>
        </p:spPr>
      </p:pic>
      <p:sp>
        <p:nvSpPr>
          <p:cNvPr id="5" name="TextBox 4"/>
          <p:cNvSpPr/>
          <p:nvPr/>
        </p:nvSpPr>
        <p:spPr>
          <a:xfrm>
            <a:off x="476250" y="381000"/>
            <a:ext cx="8191500" cy="394335"/>
          </a:xfrm>
          <a:prstGeom prst="rect">
            <a:avLst/>
          </a:prstGeom>
          <a:noFill/>
        </p:spPr>
        <p:txBody>
          <a:bodyPr wrap="square" lIns="0" tIns="0" rIns="0" bIns="98065" rtlCol="0" anchor="t">
            <a:spAutoFit/>
          </a:bodyPr>
          <a:lstStyle/>
          <a:p>
            <a:pPr marL="0" indent="0" algn="l">
              <a:lnSpc>
                <a:spcPts val="2315"/>
              </a:lnSpc>
              <a:buNone/>
            </a:pPr>
            <a:r>
              <a:rPr lang="en-US" sz="1545" b="1" kern="0" spc="-23" dirty="0">
                <a:solidFill>
                  <a:srgbClr val="121C23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1.6全球大模型生态图谱：2026 年格局</a:t>
            </a:r>
            <a:endParaRPr lang="en-US" sz="1545" dirty="0"/>
          </a:p>
        </p:txBody>
      </p:sp>
      <p:sp>
        <p:nvSpPr>
          <p:cNvPr id="6" name="Shape 8"/>
          <p:cNvSpPr/>
          <p:nvPr/>
        </p:nvSpPr>
        <p:spPr>
          <a:xfrm>
            <a:off x="476250" y="1000125"/>
            <a:ext cx="8191500" cy="504825"/>
          </a:xfrm>
          <a:prstGeom prst="roundRect">
            <a:avLst>
              <a:gd name="adj" fmla="val 5828"/>
            </a:avLst>
          </a:prstGeom>
          <a:solidFill>
            <a:srgbClr val="5A845A">
              <a:alpha val="12157"/>
            </a:srgbClr>
          </a:solidFill>
          <a:ln w="4903">
            <a:solidFill>
              <a:srgbClr val="5C875C">
                <a:alpha val="25098"/>
              </a:srgbClr>
            </a:solidFill>
            <a:prstDash val="solid"/>
          </a:ln>
        </p:spPr>
      </p:sp>
      <p:sp>
        <p:nvSpPr>
          <p:cNvPr id="7" name="TextBox 10"/>
          <p:cNvSpPr/>
          <p:nvPr/>
        </p:nvSpPr>
        <p:spPr>
          <a:xfrm>
            <a:off x="633412" y="1109663"/>
            <a:ext cx="7877175" cy="28575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160"/>
              </a:lnSpc>
              <a:buNone/>
            </a:pPr>
            <a:r>
              <a:rPr lang="en-US" sz="770" dirty="0">
                <a:solidFill>
                  <a:srgbClr val="121C23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2026 年，全球大模型市场已形成</a:t>
            </a:r>
            <a:r>
              <a:rPr lang="en-US" sz="770" b="1" dirty="0">
                <a:solidFill>
                  <a:srgbClr val="121C23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"三极 + 多强"</a:t>
            </a:r>
            <a:r>
              <a:rPr lang="en-US" sz="770" dirty="0">
                <a:solidFill>
                  <a:srgbClr val="121C23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格局。海外：OpenAI（生态广度）、Anthropic（企业深度）、Google（分发优势）三足鼎立。国内：DeepSeek / 通义 / 豆包 / Kimi / 智谱五强争霸。LMArena（chatbot arena）作为最具公信力的盲测排行榜，累计超 600 万票，Elo 分差 &lt; 10 分通常视为统计平局。</a:t>
            </a:r>
            <a:endParaRPr lang="en-US" sz="770" dirty="0"/>
          </a:p>
        </p:txBody>
      </p:sp>
      <p:sp>
        <p:nvSpPr>
          <p:cNvPr id="8" name="TextBox 15"/>
          <p:cNvSpPr/>
          <p:nvPr/>
        </p:nvSpPr>
        <p:spPr>
          <a:xfrm>
            <a:off x="476250" y="1581150"/>
            <a:ext cx="8191500" cy="100012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810"/>
              </a:lnSpc>
              <a:buNone/>
            </a:pPr>
            <a:r>
              <a:rPr lang="en-US" sz="540" kern="0" spc="43" dirty="0">
                <a:solidFill>
                  <a:srgbClr val="299236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LMARENA 排行榜 · 2026 年中 TOP 10（综合 ELO 分）</a:t>
            </a:r>
            <a:endParaRPr lang="en-US" sz="540" dirty="0"/>
          </a:p>
        </p:txBody>
      </p:sp>
      <p:graphicFrame>
        <p:nvGraphicFramePr>
          <p:cNvPr id="22" name="Table 17"/>
          <p:cNvGraphicFramePr>
            <a:graphicFrameLocks noGrp="1"/>
          </p:cNvGraphicFramePr>
          <p:nvPr/>
        </p:nvGraphicFramePr>
        <p:xfrm>
          <a:off x="476250" y="1738313"/>
          <a:ext cx="8191500" cy="914400"/>
        </p:xfrm>
        <a:graphic>
          <a:graphicData uri="http://schemas.openxmlformats.org/drawingml/2006/table">
            <a:tbl>
              <a:tblPr/>
              <a:tblGrid>
                <a:gridCol w="675196"/>
                <a:gridCol w="2712095"/>
                <a:gridCol w="1305520"/>
                <a:gridCol w="1095785"/>
                <a:gridCol w="2402904"/>
              </a:tblGrid>
              <a:tr h="0"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925"/>
                        </a:lnSpc>
                        <a:buNone/>
                      </a:pPr>
                      <a:r>
                        <a:rPr lang="en-US" sz="620" b="1" kern="0" spc="37" dirty="0">
                          <a:solidFill>
                            <a:srgbClr val="299236"/>
                          </a:solidFill>
                          <a:latin typeface="Consolas" panose="020B0609020204030204" pitchFamily="34" charset="0"/>
                          <a:ea typeface="Consolas" panose="020B0609020204030204" pitchFamily="34" charset="-122"/>
                          <a:cs typeface="Consolas" panose="020B0609020204030204" pitchFamily="34" charset="-120"/>
                        </a:rPr>
                        <a:t>#</a:t>
                      </a:r>
                      <a:endParaRPr lang="en-US" sz="620" dirty="0">
                        <a:latin typeface="Consolas" panose="020B0609020204030204" pitchFamily="34" charset="0"/>
                        <a:ea typeface="Consolas" panose="020B0609020204030204" pitchFamily="34" charset="0"/>
                        <a:cs typeface="Consolas" panose="020B0609020204030204" pitchFamily="34" charset="0"/>
                      </a:endParaRPr>
                    </a:p>
                  </a:txBody>
                  <a:tcPr marL="122581" marR="122581" marT="83355" marB="8335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806" cap="flat" cmpd="sng" algn="ctr">
                      <a:solidFill>
                        <a:srgbClr val="2992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A845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1275"/>
                        </a:lnSpc>
                        <a:buNone/>
                      </a:pPr>
                      <a:r>
                        <a:rPr lang="en-US" sz="850" b="1" dirty="0">
                          <a:solidFill>
                            <a:srgbClr val="121C23"/>
                          </a:solidFill>
                          <a:latin typeface="Segoe UI" panose="020B0502040204020203" pitchFamily="34" charset="0"/>
                          <a:ea typeface="Segoe UI" panose="020B0502040204020203" pitchFamily="34" charset="-122"/>
                          <a:cs typeface="Segoe UI" panose="020B0502040204020203" pitchFamily="34" charset="-120"/>
                        </a:rPr>
                        <a:t>模型</a:t>
                      </a:r>
                      <a:endParaRPr lang="en-US" sz="850" dirty="0">
                        <a:latin typeface="Segoe UI" panose="020B0502040204020203" pitchFamily="34" charset="0"/>
                        <a:ea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22581" marR="122581" marT="83355" marB="8335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806" cap="flat" cmpd="sng" algn="ctr">
                      <a:solidFill>
                        <a:srgbClr val="2992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A845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1275"/>
                        </a:lnSpc>
                        <a:buNone/>
                      </a:pPr>
                      <a:r>
                        <a:rPr lang="en-US" sz="850" b="1" dirty="0">
                          <a:solidFill>
                            <a:srgbClr val="121C23"/>
                          </a:solidFill>
                          <a:latin typeface="Segoe UI" panose="020B0502040204020203" pitchFamily="34" charset="0"/>
                          <a:ea typeface="Segoe UI" panose="020B0502040204020203" pitchFamily="34" charset="-122"/>
                          <a:cs typeface="Segoe UI" panose="020B0502040204020203" pitchFamily="34" charset="-120"/>
                        </a:rPr>
                        <a:t>开发方</a:t>
                      </a:r>
                      <a:endParaRPr lang="en-US" sz="850" dirty="0">
                        <a:latin typeface="Segoe UI" panose="020B0502040204020203" pitchFamily="34" charset="0"/>
                        <a:ea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22581" marR="122581" marT="83355" marB="8335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806" cap="flat" cmpd="sng" algn="ctr">
                      <a:solidFill>
                        <a:srgbClr val="2992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A845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1275"/>
                        </a:lnSpc>
                        <a:buNone/>
                      </a:pPr>
                      <a:r>
                        <a:rPr lang="en-US" sz="850" b="1" dirty="0">
                          <a:solidFill>
                            <a:srgbClr val="121C23"/>
                          </a:solidFill>
                          <a:latin typeface="Segoe UI" panose="020B0502040204020203" pitchFamily="34" charset="0"/>
                          <a:ea typeface="Segoe UI" panose="020B0502040204020203" pitchFamily="34" charset="-122"/>
                          <a:cs typeface="Segoe UI" panose="020B0502040204020203" pitchFamily="34" charset="-120"/>
                        </a:rPr>
                        <a:t>Elo</a:t>
                      </a:r>
                      <a:endParaRPr lang="en-US" sz="850" dirty="0">
                        <a:latin typeface="Segoe UI" panose="020B0502040204020203" pitchFamily="34" charset="0"/>
                        <a:ea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22581" marR="122581" marT="83355" marB="8335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806" cap="flat" cmpd="sng" algn="ctr">
                      <a:solidFill>
                        <a:srgbClr val="2992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A845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1275"/>
                        </a:lnSpc>
                        <a:buNone/>
                      </a:pPr>
                      <a:r>
                        <a:rPr lang="en-US" sz="850" b="1" dirty="0">
                          <a:solidFill>
                            <a:srgbClr val="121C23"/>
                          </a:solidFill>
                          <a:latin typeface="Segoe UI" panose="020B0502040204020203" pitchFamily="34" charset="0"/>
                          <a:ea typeface="Segoe UI" panose="020B0502040204020203" pitchFamily="34" charset="-122"/>
                          <a:cs typeface="Segoe UI" panose="020B0502040204020203" pitchFamily="34" charset="-120"/>
                        </a:rPr>
                        <a:t>定位</a:t>
                      </a:r>
                      <a:endParaRPr lang="en-US" sz="850" dirty="0">
                        <a:latin typeface="Segoe UI" panose="020B0502040204020203" pitchFamily="34" charset="0"/>
                        <a:ea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22581" marR="122581" marT="83355" marB="8335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806" cap="flat" cmpd="sng" algn="ctr">
                      <a:solidFill>
                        <a:srgbClr val="2992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A845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1040"/>
                        </a:lnSpc>
                        <a:buNone/>
                      </a:pPr>
                      <a:r>
                        <a:rPr lang="en-US" sz="695" b="1" dirty="0">
                          <a:solidFill>
                            <a:srgbClr val="121C23"/>
                          </a:solidFill>
                          <a:latin typeface="Segoe UI" panose="020B0502040204020203" pitchFamily="34" charset="0"/>
                          <a:ea typeface="Segoe UI" panose="020B0502040204020203" pitchFamily="34" charset="-122"/>
                          <a:cs typeface="Segoe UI" panose="020B0502040204020203" pitchFamily="34" charset="-120"/>
                        </a:rPr>
                        <a:t>1</a:t>
                      </a:r>
                      <a:endParaRPr lang="en-US" sz="695" dirty="0">
                        <a:latin typeface="Segoe UI" panose="020B0502040204020203" pitchFamily="34" charset="0"/>
                        <a:ea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22581" marR="122581" marT="73549" marB="73549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4903" cap="flat" cmpd="sng" algn="ctr">
                      <a:solidFill>
                        <a:srgbClr val="D9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1040"/>
                        </a:lnSpc>
                        <a:buNone/>
                      </a:pPr>
                      <a:r>
                        <a:rPr lang="en-US" sz="695" b="1" dirty="0">
                          <a:solidFill>
                            <a:srgbClr val="121C23"/>
                          </a:solidFill>
                          <a:latin typeface="Segoe UI" panose="020B0502040204020203" pitchFamily="34" charset="0"/>
                          <a:ea typeface="Segoe UI" panose="020B0502040204020203" pitchFamily="34" charset="-122"/>
                          <a:cs typeface="Segoe UI" panose="020B0502040204020203" pitchFamily="34" charset="-120"/>
                        </a:rPr>
                        <a:t>Claude Opus 4.6</a:t>
                      </a:r>
                      <a:endParaRPr lang="en-US" sz="695" dirty="0">
                        <a:latin typeface="Segoe UI" panose="020B0502040204020203" pitchFamily="34" charset="0"/>
                        <a:ea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22581" marR="122581" marT="73549" marB="73549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4903" cap="flat" cmpd="sng" algn="ctr">
                      <a:solidFill>
                        <a:srgbClr val="D9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1040"/>
                        </a:lnSpc>
                        <a:buNone/>
                      </a:pPr>
                      <a:r>
                        <a:rPr lang="en-US" sz="695" dirty="0">
                          <a:solidFill>
                            <a:srgbClr val="121C23"/>
                          </a:solidFill>
                          <a:latin typeface="Segoe UI" panose="020B0502040204020203" pitchFamily="34" charset="0"/>
                          <a:ea typeface="Segoe UI" panose="020B0502040204020203" pitchFamily="34" charset="-122"/>
                          <a:cs typeface="Segoe UI" panose="020B0502040204020203" pitchFamily="34" charset="-120"/>
                        </a:rPr>
                        <a:t>Anthropic</a:t>
                      </a:r>
                      <a:endParaRPr lang="en-US" sz="695" dirty="0">
                        <a:latin typeface="Segoe UI" panose="020B0502040204020203" pitchFamily="34" charset="0"/>
                        <a:ea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22581" marR="122581" marT="73549" marB="73549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4903" cap="flat" cmpd="sng" algn="ctr">
                      <a:solidFill>
                        <a:srgbClr val="D9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1040"/>
                        </a:lnSpc>
                        <a:buNone/>
                      </a:pPr>
                      <a:r>
                        <a:rPr lang="en-US" sz="695" dirty="0">
                          <a:solidFill>
                            <a:srgbClr val="121C23"/>
                          </a:solidFill>
                          <a:latin typeface="Segoe UI" panose="020B0502040204020203" pitchFamily="34" charset="0"/>
                          <a:ea typeface="Segoe UI" panose="020B0502040204020203" pitchFamily="34" charset="-122"/>
                          <a:cs typeface="Segoe UI" panose="020B0502040204020203" pitchFamily="34" charset="-120"/>
                        </a:rPr>
                        <a:t>~1504</a:t>
                      </a:r>
                      <a:endParaRPr lang="en-US" sz="695" dirty="0">
                        <a:latin typeface="Segoe UI" panose="020B0502040204020203" pitchFamily="34" charset="0"/>
                        <a:ea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22581" marR="122581" marT="73549" marB="73549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4903" cap="flat" cmpd="sng" algn="ctr">
                      <a:solidFill>
                        <a:srgbClr val="D9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1040"/>
                        </a:lnSpc>
                        <a:buNone/>
                      </a:pPr>
                      <a:r>
                        <a:rPr lang="en-US" sz="695" dirty="0">
                          <a:solidFill>
                            <a:srgbClr val="5A656D"/>
                          </a:solidFill>
                          <a:latin typeface="Segoe UI" panose="020B0502040204020203" pitchFamily="34" charset="0"/>
                          <a:ea typeface="Segoe UI" panose="020B0502040204020203" pitchFamily="34" charset="-122"/>
                          <a:cs typeface="Segoe UI" panose="020B0502040204020203" pitchFamily="34" charset="-120"/>
                        </a:rPr>
                        <a:t>企业级推理 + 编程旗舰</a:t>
                      </a:r>
                      <a:endParaRPr lang="en-US" sz="695" dirty="0">
                        <a:latin typeface="Segoe UI" panose="020B0502040204020203" pitchFamily="34" charset="0"/>
                        <a:ea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22581" marR="122581" marT="73549" marB="73549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4903" cap="flat" cmpd="sng" algn="ctr">
                      <a:solidFill>
                        <a:srgbClr val="D9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1040"/>
                        </a:lnSpc>
                        <a:buNone/>
                      </a:pPr>
                      <a:r>
                        <a:rPr lang="en-US" sz="695" b="1" dirty="0">
                          <a:solidFill>
                            <a:srgbClr val="121C23"/>
                          </a:solidFill>
                          <a:latin typeface="Segoe UI" panose="020B0502040204020203" pitchFamily="34" charset="0"/>
                          <a:ea typeface="Segoe UI" panose="020B0502040204020203" pitchFamily="34" charset="-122"/>
                          <a:cs typeface="Segoe UI" panose="020B0502040204020203" pitchFamily="34" charset="-120"/>
                        </a:rPr>
                        <a:t>2</a:t>
                      </a:r>
                      <a:endParaRPr lang="en-US" sz="695" dirty="0">
                        <a:latin typeface="Segoe UI" panose="020B0502040204020203" pitchFamily="34" charset="0"/>
                        <a:ea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22581" marR="122581" marT="73549" marB="73549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4903" cap="flat" cmpd="sng" algn="ctr">
                      <a:solidFill>
                        <a:srgbClr val="D9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1040"/>
                        </a:lnSpc>
                        <a:buNone/>
                      </a:pPr>
                      <a:r>
                        <a:rPr lang="en-US" sz="695" dirty="0">
                          <a:solidFill>
                            <a:srgbClr val="121C23"/>
                          </a:solidFill>
                          <a:latin typeface="Segoe UI" panose="020B0502040204020203" pitchFamily="34" charset="0"/>
                          <a:ea typeface="Segoe UI" panose="020B0502040204020203" pitchFamily="34" charset="-122"/>
                          <a:cs typeface="Segoe UI" panose="020B0502040204020203" pitchFamily="34" charset="-120"/>
                        </a:rPr>
                        <a:t>Gemini 3.1 Pro Preview</a:t>
                      </a:r>
                      <a:endParaRPr lang="en-US" sz="695" dirty="0">
                        <a:latin typeface="Segoe UI" panose="020B0502040204020203" pitchFamily="34" charset="0"/>
                        <a:ea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22581" marR="122581" marT="73549" marB="73549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4903" cap="flat" cmpd="sng" algn="ctr">
                      <a:solidFill>
                        <a:srgbClr val="D9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1040"/>
                        </a:lnSpc>
                        <a:buNone/>
                      </a:pPr>
                      <a:r>
                        <a:rPr lang="en-US" sz="695" dirty="0">
                          <a:solidFill>
                            <a:srgbClr val="121C23"/>
                          </a:solidFill>
                          <a:latin typeface="Segoe UI" panose="020B0502040204020203" pitchFamily="34" charset="0"/>
                          <a:ea typeface="Segoe UI" panose="020B0502040204020203" pitchFamily="34" charset="-122"/>
                          <a:cs typeface="Segoe UI" panose="020B0502040204020203" pitchFamily="34" charset="-120"/>
                        </a:rPr>
                        <a:t>Google</a:t>
                      </a:r>
                      <a:endParaRPr lang="en-US" sz="695" dirty="0">
                        <a:latin typeface="Segoe UI" panose="020B0502040204020203" pitchFamily="34" charset="0"/>
                        <a:ea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22581" marR="122581" marT="73549" marB="73549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4903" cap="flat" cmpd="sng" algn="ctr">
                      <a:solidFill>
                        <a:srgbClr val="D9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1040"/>
                        </a:lnSpc>
                        <a:buNone/>
                      </a:pPr>
                      <a:r>
                        <a:rPr lang="en-US" sz="695" dirty="0">
                          <a:solidFill>
                            <a:srgbClr val="121C23"/>
                          </a:solidFill>
                          <a:latin typeface="Segoe UI" panose="020B0502040204020203" pitchFamily="34" charset="0"/>
                          <a:ea typeface="Segoe UI" panose="020B0502040204020203" pitchFamily="34" charset="-122"/>
                          <a:cs typeface="Segoe UI" panose="020B0502040204020203" pitchFamily="34" charset="-120"/>
                        </a:rPr>
                        <a:t>~1500</a:t>
                      </a:r>
                      <a:endParaRPr lang="en-US" sz="695" dirty="0">
                        <a:latin typeface="Segoe UI" panose="020B0502040204020203" pitchFamily="34" charset="0"/>
                        <a:ea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22581" marR="122581" marT="73549" marB="73549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4903" cap="flat" cmpd="sng" algn="ctr">
                      <a:solidFill>
                        <a:srgbClr val="D9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1040"/>
                        </a:lnSpc>
                        <a:buNone/>
                      </a:pPr>
                      <a:r>
                        <a:rPr lang="en-US" sz="695" dirty="0">
                          <a:solidFill>
                            <a:srgbClr val="5A656D"/>
                          </a:solidFill>
                          <a:latin typeface="Segoe UI" panose="020B0502040204020203" pitchFamily="34" charset="0"/>
                          <a:ea typeface="Segoe UI" panose="020B0502040204020203" pitchFamily="34" charset="-122"/>
                          <a:cs typeface="Segoe UI" panose="020B0502040204020203" pitchFamily="34" charset="-120"/>
                        </a:rPr>
                        <a:t>多模态 + 超长上下文</a:t>
                      </a:r>
                      <a:endParaRPr lang="en-US" sz="695" dirty="0">
                        <a:latin typeface="Segoe UI" panose="020B0502040204020203" pitchFamily="34" charset="0"/>
                        <a:ea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22581" marR="122581" marT="73549" marB="73549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4903" cap="flat" cmpd="sng" algn="ctr">
                      <a:solidFill>
                        <a:srgbClr val="D9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1040"/>
                        </a:lnSpc>
                        <a:buNone/>
                      </a:pPr>
                      <a:r>
                        <a:rPr lang="en-US" sz="695" b="1" dirty="0">
                          <a:solidFill>
                            <a:srgbClr val="121C23"/>
                          </a:solidFill>
                          <a:latin typeface="Segoe UI" panose="020B0502040204020203" pitchFamily="34" charset="0"/>
                          <a:ea typeface="Segoe UI" panose="020B0502040204020203" pitchFamily="34" charset="-122"/>
                          <a:cs typeface="Segoe UI" panose="020B0502040204020203" pitchFamily="34" charset="-120"/>
                        </a:rPr>
                        <a:t>3</a:t>
                      </a:r>
                      <a:endParaRPr lang="en-US" sz="695" dirty="0">
                        <a:latin typeface="Segoe UI" panose="020B0502040204020203" pitchFamily="34" charset="0"/>
                        <a:ea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22581" marR="122581" marT="73549" marB="73549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4903" cap="flat" cmpd="sng" algn="ctr">
                      <a:solidFill>
                        <a:srgbClr val="D9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1040"/>
                        </a:lnSpc>
                        <a:buNone/>
                      </a:pPr>
                      <a:r>
                        <a:rPr lang="en-US" sz="695" dirty="0">
                          <a:solidFill>
                            <a:srgbClr val="121C23"/>
                          </a:solidFill>
                          <a:latin typeface="Segoe UI" panose="020B0502040204020203" pitchFamily="34" charset="0"/>
                          <a:ea typeface="Segoe UI" panose="020B0502040204020203" pitchFamily="34" charset="-122"/>
                          <a:cs typeface="Segoe UI" panose="020B0502040204020203" pitchFamily="34" charset="-120"/>
                        </a:rPr>
                        <a:t>Claude Opus 4.6 (Thinking)</a:t>
                      </a:r>
                      <a:endParaRPr lang="en-US" sz="695" dirty="0">
                        <a:latin typeface="Segoe UI" panose="020B0502040204020203" pitchFamily="34" charset="0"/>
                        <a:ea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22581" marR="122581" marT="73549" marB="73549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4903" cap="flat" cmpd="sng" algn="ctr">
                      <a:solidFill>
                        <a:srgbClr val="D9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1040"/>
                        </a:lnSpc>
                        <a:buNone/>
                      </a:pPr>
                      <a:r>
                        <a:rPr lang="en-US" sz="695" dirty="0">
                          <a:solidFill>
                            <a:srgbClr val="121C23"/>
                          </a:solidFill>
                          <a:latin typeface="Segoe UI" panose="020B0502040204020203" pitchFamily="34" charset="0"/>
                          <a:ea typeface="Segoe UI" panose="020B0502040204020203" pitchFamily="34" charset="-122"/>
                          <a:cs typeface="Segoe UI" panose="020B0502040204020203" pitchFamily="34" charset="-120"/>
                        </a:rPr>
                        <a:t>Anthropic</a:t>
                      </a:r>
                      <a:endParaRPr lang="en-US" sz="695" dirty="0">
                        <a:latin typeface="Segoe UI" panose="020B0502040204020203" pitchFamily="34" charset="0"/>
                        <a:ea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22581" marR="122581" marT="73549" marB="73549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4903" cap="flat" cmpd="sng" algn="ctr">
                      <a:solidFill>
                        <a:srgbClr val="D9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1040"/>
                        </a:lnSpc>
                        <a:buNone/>
                      </a:pPr>
                      <a:r>
                        <a:rPr lang="en-US" sz="695" dirty="0">
                          <a:solidFill>
                            <a:srgbClr val="121C23"/>
                          </a:solidFill>
                          <a:latin typeface="Segoe UI" panose="020B0502040204020203" pitchFamily="34" charset="0"/>
                          <a:ea typeface="Segoe UI" panose="020B0502040204020203" pitchFamily="34" charset="-122"/>
                          <a:cs typeface="Segoe UI" panose="020B0502040204020203" pitchFamily="34" charset="-120"/>
                        </a:rPr>
                        <a:t>~1500</a:t>
                      </a:r>
                      <a:endParaRPr lang="en-US" sz="695" dirty="0">
                        <a:latin typeface="Segoe UI" panose="020B0502040204020203" pitchFamily="34" charset="0"/>
                        <a:ea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22581" marR="122581" marT="73549" marB="73549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4903" cap="flat" cmpd="sng" algn="ctr">
                      <a:solidFill>
                        <a:srgbClr val="D9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1040"/>
                        </a:lnSpc>
                        <a:buNone/>
                      </a:pPr>
                      <a:r>
                        <a:rPr lang="en-US" sz="695" dirty="0">
                          <a:solidFill>
                            <a:srgbClr val="5A656D"/>
                          </a:solidFill>
                          <a:latin typeface="Segoe UI" panose="020B0502040204020203" pitchFamily="34" charset="0"/>
                          <a:ea typeface="Segoe UI" panose="020B0502040204020203" pitchFamily="34" charset="-122"/>
                          <a:cs typeface="Segoe UI" panose="020B0502040204020203" pitchFamily="34" charset="-120"/>
                        </a:rPr>
                        <a:t>深度推理模式</a:t>
                      </a:r>
                      <a:endParaRPr lang="en-US" sz="695" dirty="0">
                        <a:latin typeface="Segoe UI" panose="020B0502040204020203" pitchFamily="34" charset="0"/>
                        <a:ea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22581" marR="122581" marT="73549" marB="73549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4903" cap="flat" cmpd="sng" algn="ctr">
                      <a:solidFill>
                        <a:srgbClr val="D9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1040"/>
                        </a:lnSpc>
                        <a:buNone/>
                      </a:pPr>
                      <a:r>
                        <a:rPr lang="en-US" sz="695" b="1" dirty="0">
                          <a:solidFill>
                            <a:srgbClr val="121C23"/>
                          </a:solidFill>
                          <a:latin typeface="Segoe UI" panose="020B0502040204020203" pitchFamily="34" charset="0"/>
                          <a:ea typeface="Segoe UI" panose="020B0502040204020203" pitchFamily="34" charset="-122"/>
                          <a:cs typeface="Segoe UI" panose="020B0502040204020203" pitchFamily="34" charset="-120"/>
                        </a:rPr>
                        <a:t>4</a:t>
                      </a:r>
                      <a:endParaRPr lang="en-US" sz="695" dirty="0">
                        <a:latin typeface="Segoe UI" panose="020B0502040204020203" pitchFamily="34" charset="0"/>
                        <a:ea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22581" marR="122581" marT="73549" marB="73549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4903" cap="flat" cmpd="sng" algn="ctr">
                      <a:solidFill>
                        <a:srgbClr val="D9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1040"/>
                        </a:lnSpc>
                        <a:buNone/>
                      </a:pPr>
                      <a:r>
                        <a:rPr lang="en-US" sz="695" dirty="0">
                          <a:solidFill>
                            <a:srgbClr val="121C23"/>
                          </a:solidFill>
                          <a:latin typeface="Segoe UI" panose="020B0502040204020203" pitchFamily="34" charset="0"/>
                          <a:ea typeface="Segoe UI" panose="020B0502040204020203" pitchFamily="34" charset="-122"/>
                          <a:cs typeface="Segoe UI" panose="020B0502040204020203" pitchFamily="34" charset="-120"/>
                        </a:rPr>
                        <a:t>Grok 4.20 Beta</a:t>
                      </a:r>
                      <a:endParaRPr lang="en-US" sz="695" dirty="0">
                        <a:latin typeface="Segoe UI" panose="020B0502040204020203" pitchFamily="34" charset="0"/>
                        <a:ea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22581" marR="122581" marT="73549" marB="73549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4903" cap="flat" cmpd="sng" algn="ctr">
                      <a:solidFill>
                        <a:srgbClr val="D9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1040"/>
                        </a:lnSpc>
                        <a:buNone/>
                      </a:pPr>
                      <a:r>
                        <a:rPr lang="en-US" sz="695" dirty="0">
                          <a:solidFill>
                            <a:srgbClr val="121C23"/>
                          </a:solidFill>
                          <a:latin typeface="Segoe UI" panose="020B0502040204020203" pitchFamily="34" charset="0"/>
                          <a:ea typeface="Segoe UI" panose="020B0502040204020203" pitchFamily="34" charset="-122"/>
                          <a:cs typeface="Segoe UI" panose="020B0502040204020203" pitchFamily="34" charset="-120"/>
                        </a:rPr>
                        <a:t>xAI</a:t>
                      </a:r>
                      <a:endParaRPr lang="en-US" sz="695" dirty="0">
                        <a:latin typeface="Segoe UI" panose="020B0502040204020203" pitchFamily="34" charset="0"/>
                        <a:ea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22581" marR="122581" marT="73549" marB="73549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4903" cap="flat" cmpd="sng" algn="ctr">
                      <a:solidFill>
                        <a:srgbClr val="D9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1040"/>
                        </a:lnSpc>
                        <a:buNone/>
                      </a:pPr>
                      <a:r>
                        <a:rPr lang="en-US" sz="695" dirty="0">
                          <a:solidFill>
                            <a:srgbClr val="121C23"/>
                          </a:solidFill>
                          <a:latin typeface="Segoe UI" panose="020B0502040204020203" pitchFamily="34" charset="0"/>
                          <a:ea typeface="Segoe UI" panose="020B0502040204020203" pitchFamily="34" charset="-122"/>
                          <a:cs typeface="Segoe UI" panose="020B0502040204020203" pitchFamily="34" charset="-120"/>
                        </a:rPr>
                        <a:t>~1493</a:t>
                      </a:r>
                      <a:endParaRPr lang="en-US" sz="695" dirty="0">
                        <a:latin typeface="Segoe UI" panose="020B0502040204020203" pitchFamily="34" charset="0"/>
                        <a:ea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22581" marR="122581" marT="73549" marB="73549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4903" cap="flat" cmpd="sng" algn="ctr">
                      <a:solidFill>
                        <a:srgbClr val="D9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1040"/>
                        </a:lnSpc>
                        <a:buNone/>
                      </a:pPr>
                      <a:r>
                        <a:rPr lang="en-US" sz="695" dirty="0">
                          <a:solidFill>
                            <a:srgbClr val="5A656D"/>
                          </a:solidFill>
                          <a:latin typeface="Segoe UI" panose="020B0502040204020203" pitchFamily="34" charset="0"/>
                          <a:ea typeface="Segoe UI" panose="020B0502040204020203" pitchFamily="34" charset="-122"/>
                          <a:cs typeface="Segoe UI" panose="020B0502040204020203" pitchFamily="34" charset="-120"/>
                        </a:rPr>
                        <a:t>实时信息 + 长上下文</a:t>
                      </a:r>
                      <a:endParaRPr lang="en-US" sz="695" dirty="0">
                        <a:latin typeface="Segoe UI" panose="020B0502040204020203" pitchFamily="34" charset="0"/>
                        <a:ea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22581" marR="122581" marT="73549" marB="73549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4903" cap="flat" cmpd="sng" algn="ctr">
                      <a:solidFill>
                        <a:srgbClr val="D9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1040"/>
                        </a:lnSpc>
                        <a:buNone/>
                      </a:pPr>
                      <a:r>
                        <a:rPr lang="en-US" sz="695" b="1" dirty="0">
                          <a:solidFill>
                            <a:srgbClr val="121C23"/>
                          </a:solidFill>
                          <a:latin typeface="Segoe UI" panose="020B0502040204020203" pitchFamily="34" charset="0"/>
                          <a:ea typeface="Segoe UI" panose="020B0502040204020203" pitchFamily="34" charset="-122"/>
                          <a:cs typeface="Segoe UI" panose="020B0502040204020203" pitchFamily="34" charset="-120"/>
                        </a:rPr>
                        <a:t>5</a:t>
                      </a:r>
                      <a:endParaRPr lang="en-US" sz="695" dirty="0">
                        <a:latin typeface="Segoe UI" panose="020B0502040204020203" pitchFamily="34" charset="0"/>
                        <a:ea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22581" marR="122581" marT="73549" marB="73549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4903" cap="flat" cmpd="sng" algn="ctr">
                      <a:solidFill>
                        <a:srgbClr val="D9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1040"/>
                        </a:lnSpc>
                        <a:buNone/>
                      </a:pPr>
                      <a:r>
                        <a:rPr lang="en-US" sz="695" dirty="0">
                          <a:solidFill>
                            <a:srgbClr val="121C23"/>
                          </a:solidFill>
                          <a:latin typeface="Segoe UI" panose="020B0502040204020203" pitchFamily="34" charset="0"/>
                          <a:ea typeface="Segoe UI" panose="020B0502040204020203" pitchFamily="34" charset="-122"/>
                          <a:cs typeface="Segoe UI" panose="020B0502040204020203" pitchFamily="34" charset="-120"/>
                        </a:rPr>
                        <a:t>GPT-5</a:t>
                      </a:r>
                      <a:endParaRPr lang="en-US" sz="695" dirty="0">
                        <a:latin typeface="Segoe UI" panose="020B0502040204020203" pitchFamily="34" charset="0"/>
                        <a:ea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22581" marR="122581" marT="73549" marB="73549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4903" cap="flat" cmpd="sng" algn="ctr">
                      <a:solidFill>
                        <a:srgbClr val="D9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1040"/>
                        </a:lnSpc>
                        <a:buNone/>
                      </a:pPr>
                      <a:r>
                        <a:rPr lang="en-US" sz="695" dirty="0">
                          <a:solidFill>
                            <a:srgbClr val="121C23"/>
                          </a:solidFill>
                          <a:latin typeface="Segoe UI" panose="020B0502040204020203" pitchFamily="34" charset="0"/>
                          <a:ea typeface="Segoe UI" panose="020B0502040204020203" pitchFamily="34" charset="-122"/>
                          <a:cs typeface="Segoe UI" panose="020B0502040204020203" pitchFamily="34" charset="-120"/>
                        </a:rPr>
                        <a:t>OpenAI</a:t>
                      </a:r>
                      <a:endParaRPr lang="en-US" sz="695" dirty="0">
                        <a:latin typeface="Segoe UI" panose="020B0502040204020203" pitchFamily="34" charset="0"/>
                        <a:ea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22581" marR="122581" marT="73549" marB="73549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4903" cap="flat" cmpd="sng" algn="ctr">
                      <a:solidFill>
                        <a:srgbClr val="D9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1040"/>
                        </a:lnSpc>
                        <a:buNone/>
                      </a:pPr>
                      <a:r>
                        <a:rPr lang="en-US" sz="695" dirty="0">
                          <a:solidFill>
                            <a:srgbClr val="121C23"/>
                          </a:solidFill>
                          <a:latin typeface="Segoe UI" panose="020B0502040204020203" pitchFamily="34" charset="0"/>
                          <a:ea typeface="Segoe UI" panose="020B0502040204020203" pitchFamily="34" charset="-122"/>
                          <a:cs typeface="Segoe UI" panose="020B0502040204020203" pitchFamily="34" charset="-120"/>
                        </a:rPr>
                        <a:t>~1490</a:t>
                      </a:r>
                      <a:endParaRPr lang="en-US" sz="695" dirty="0">
                        <a:latin typeface="Segoe UI" panose="020B0502040204020203" pitchFamily="34" charset="0"/>
                        <a:ea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22581" marR="122581" marT="73549" marB="73549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4903" cap="flat" cmpd="sng" algn="ctr">
                      <a:solidFill>
                        <a:srgbClr val="D9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1040"/>
                        </a:lnSpc>
                        <a:buNone/>
                      </a:pPr>
                      <a:r>
                        <a:rPr lang="en-US" sz="695" dirty="0">
                          <a:solidFill>
                            <a:srgbClr val="5A656D"/>
                          </a:solidFill>
                          <a:latin typeface="Segoe UI" panose="020B0502040204020203" pitchFamily="34" charset="0"/>
                          <a:ea typeface="Segoe UI" panose="020B0502040204020203" pitchFamily="34" charset="-122"/>
                          <a:cs typeface="Segoe UI" panose="020B0502040204020203" pitchFamily="34" charset="-120"/>
                        </a:rPr>
                        <a:t>通用旗舰 + 生态广度</a:t>
                      </a:r>
                      <a:endParaRPr lang="en-US" sz="695" dirty="0">
                        <a:latin typeface="Segoe UI" panose="020B0502040204020203" pitchFamily="34" charset="0"/>
                        <a:ea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22581" marR="122581" marT="73549" marB="73549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4903" cap="flat" cmpd="sng" algn="ctr">
                      <a:solidFill>
                        <a:srgbClr val="D9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1040"/>
                        </a:lnSpc>
                        <a:buNone/>
                      </a:pPr>
                      <a:r>
                        <a:rPr lang="en-US" sz="695" b="1" dirty="0">
                          <a:solidFill>
                            <a:srgbClr val="121C23"/>
                          </a:solidFill>
                          <a:latin typeface="Segoe UI" panose="020B0502040204020203" pitchFamily="34" charset="0"/>
                          <a:ea typeface="Segoe UI" panose="020B0502040204020203" pitchFamily="34" charset="-122"/>
                          <a:cs typeface="Segoe UI" panose="020B0502040204020203" pitchFamily="34" charset="-120"/>
                        </a:rPr>
                        <a:t>6</a:t>
                      </a:r>
                      <a:endParaRPr lang="en-US" sz="695" dirty="0">
                        <a:latin typeface="Segoe UI" panose="020B0502040204020203" pitchFamily="34" charset="0"/>
                        <a:ea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22581" marR="122581" marT="73549" marB="73549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4903" cap="flat" cmpd="sng" algn="ctr">
                      <a:solidFill>
                        <a:srgbClr val="D9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1040"/>
                        </a:lnSpc>
                        <a:buNone/>
                      </a:pPr>
                      <a:r>
                        <a:rPr lang="en-US" sz="695" dirty="0">
                          <a:solidFill>
                            <a:srgbClr val="121C23"/>
                          </a:solidFill>
                          <a:latin typeface="Segoe UI" panose="020B0502040204020203" pitchFamily="34" charset="0"/>
                          <a:ea typeface="Segoe UI" panose="020B0502040204020203" pitchFamily="34" charset="-122"/>
                          <a:cs typeface="Segoe UI" panose="020B0502040204020203" pitchFamily="34" charset="-120"/>
                        </a:rPr>
                        <a:t>GPT-5.6 Sol</a:t>
                      </a:r>
                      <a:endParaRPr lang="en-US" sz="695" dirty="0">
                        <a:latin typeface="Segoe UI" panose="020B0502040204020203" pitchFamily="34" charset="0"/>
                        <a:ea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22581" marR="122581" marT="73549" marB="73549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4903" cap="flat" cmpd="sng" algn="ctr">
                      <a:solidFill>
                        <a:srgbClr val="D9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1040"/>
                        </a:lnSpc>
                        <a:buNone/>
                      </a:pPr>
                      <a:r>
                        <a:rPr lang="en-US" sz="695" dirty="0">
                          <a:solidFill>
                            <a:srgbClr val="121C23"/>
                          </a:solidFill>
                          <a:latin typeface="Segoe UI" panose="020B0502040204020203" pitchFamily="34" charset="0"/>
                          <a:ea typeface="Segoe UI" panose="020B0502040204020203" pitchFamily="34" charset="-122"/>
                          <a:cs typeface="Segoe UI" panose="020B0502040204020203" pitchFamily="34" charset="-120"/>
                        </a:rPr>
                        <a:t>OpenAI</a:t>
                      </a:r>
                      <a:endParaRPr lang="en-US" sz="695" dirty="0">
                        <a:latin typeface="Segoe UI" panose="020B0502040204020203" pitchFamily="34" charset="0"/>
                        <a:ea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22581" marR="122581" marT="73549" marB="73549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4903" cap="flat" cmpd="sng" algn="ctr">
                      <a:solidFill>
                        <a:srgbClr val="D9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1040"/>
                        </a:lnSpc>
                        <a:buNone/>
                      </a:pPr>
                      <a:r>
                        <a:rPr lang="en-US" sz="695" dirty="0">
                          <a:solidFill>
                            <a:srgbClr val="121C23"/>
                          </a:solidFill>
                          <a:latin typeface="Segoe UI" panose="020B0502040204020203" pitchFamily="34" charset="0"/>
                          <a:ea typeface="Segoe UI" panose="020B0502040204020203" pitchFamily="34" charset="-122"/>
                          <a:cs typeface="Segoe UI" panose="020B0502040204020203" pitchFamily="34" charset="-120"/>
                        </a:rPr>
                        <a:t>~1505†</a:t>
                      </a:r>
                      <a:endParaRPr lang="en-US" sz="695" dirty="0">
                        <a:latin typeface="Segoe UI" panose="020B0502040204020203" pitchFamily="34" charset="0"/>
                        <a:ea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22581" marR="122581" marT="73549" marB="73549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4903" cap="flat" cmpd="sng" algn="ctr">
                      <a:solidFill>
                        <a:srgbClr val="D9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1040"/>
                        </a:lnSpc>
                        <a:buNone/>
                      </a:pPr>
                      <a:r>
                        <a:rPr lang="en-US" sz="695" dirty="0">
                          <a:solidFill>
                            <a:srgbClr val="5A656D"/>
                          </a:solidFill>
                          <a:latin typeface="Segoe UI" panose="020B0502040204020203" pitchFamily="34" charset="0"/>
                          <a:ea typeface="Segoe UI" panose="020B0502040204020203" pitchFamily="34" charset="-122"/>
                          <a:cs typeface="Segoe UI" panose="020B0502040204020203" pitchFamily="34" charset="-120"/>
                        </a:rPr>
                        <a:t>多 Agent 编排（预览）</a:t>
                      </a:r>
                      <a:endParaRPr lang="en-US" sz="695" dirty="0">
                        <a:latin typeface="Segoe UI" panose="020B0502040204020203" pitchFamily="34" charset="0"/>
                        <a:ea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22581" marR="122581" marT="73549" marB="73549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4903" cap="flat" cmpd="sng" algn="ctr">
                      <a:solidFill>
                        <a:srgbClr val="D9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1040"/>
                        </a:lnSpc>
                        <a:buNone/>
                      </a:pPr>
                      <a:r>
                        <a:rPr lang="en-US" sz="695" b="1" dirty="0">
                          <a:solidFill>
                            <a:srgbClr val="121C23"/>
                          </a:solidFill>
                          <a:latin typeface="Segoe UI" panose="020B0502040204020203" pitchFamily="34" charset="0"/>
                          <a:ea typeface="Segoe UI" panose="020B0502040204020203" pitchFamily="34" charset="-122"/>
                          <a:cs typeface="Segoe UI" panose="020B0502040204020203" pitchFamily="34" charset="-120"/>
                        </a:rPr>
                        <a:t>7</a:t>
                      </a:r>
                      <a:endParaRPr lang="en-US" sz="695" dirty="0">
                        <a:latin typeface="Segoe UI" panose="020B0502040204020203" pitchFamily="34" charset="0"/>
                        <a:ea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22581" marR="122581" marT="73549" marB="73549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4903" cap="flat" cmpd="sng" algn="ctr">
                      <a:solidFill>
                        <a:srgbClr val="D9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1040"/>
                        </a:lnSpc>
                        <a:buNone/>
                      </a:pPr>
                      <a:r>
                        <a:rPr lang="en-US" sz="695" dirty="0">
                          <a:solidFill>
                            <a:srgbClr val="121C23"/>
                          </a:solidFill>
                          <a:latin typeface="Segoe UI" panose="020B0502040204020203" pitchFamily="34" charset="0"/>
                          <a:ea typeface="Segoe UI" panose="020B0502040204020203" pitchFamily="34" charset="-122"/>
                          <a:cs typeface="Segoe UI" panose="020B0502040204020203" pitchFamily="34" charset="-120"/>
                        </a:rPr>
                        <a:t>DeepSeek-V4 Pro</a:t>
                      </a:r>
                      <a:endParaRPr lang="en-US" sz="695" dirty="0">
                        <a:latin typeface="Segoe UI" panose="020B0502040204020203" pitchFamily="34" charset="0"/>
                        <a:ea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22581" marR="122581" marT="73549" marB="73549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4903" cap="flat" cmpd="sng" algn="ctr">
                      <a:solidFill>
                        <a:srgbClr val="D9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1040"/>
                        </a:lnSpc>
                        <a:buNone/>
                      </a:pPr>
                      <a:r>
                        <a:rPr lang="en-US" sz="695" dirty="0">
                          <a:solidFill>
                            <a:srgbClr val="121C23"/>
                          </a:solidFill>
                          <a:latin typeface="Segoe UI" panose="020B0502040204020203" pitchFamily="34" charset="0"/>
                          <a:ea typeface="Segoe UI" panose="020B0502040204020203" pitchFamily="34" charset="-122"/>
                          <a:cs typeface="Segoe UI" panose="020B0502040204020203" pitchFamily="34" charset="-120"/>
                        </a:rPr>
                        <a:t>深度求索</a:t>
                      </a:r>
                      <a:endParaRPr lang="en-US" sz="695" dirty="0">
                        <a:latin typeface="Segoe UI" panose="020B0502040204020203" pitchFamily="34" charset="0"/>
                        <a:ea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22581" marR="122581" marT="73549" marB="73549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4903" cap="flat" cmpd="sng" algn="ctr">
                      <a:solidFill>
                        <a:srgbClr val="D9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1040"/>
                        </a:lnSpc>
                        <a:buNone/>
                      </a:pPr>
                      <a:r>
                        <a:rPr lang="en-US" sz="695" dirty="0">
                          <a:solidFill>
                            <a:srgbClr val="121C23"/>
                          </a:solidFill>
                          <a:latin typeface="Segoe UI" panose="020B0502040204020203" pitchFamily="34" charset="0"/>
                          <a:ea typeface="Segoe UI" panose="020B0502040204020203" pitchFamily="34" charset="-122"/>
                          <a:cs typeface="Segoe UI" panose="020B0502040204020203" pitchFamily="34" charset="-120"/>
                        </a:rPr>
                        <a:t>~1450</a:t>
                      </a:r>
                      <a:endParaRPr lang="en-US" sz="695" dirty="0">
                        <a:latin typeface="Segoe UI" panose="020B0502040204020203" pitchFamily="34" charset="0"/>
                        <a:ea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22581" marR="122581" marT="73549" marB="73549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4903" cap="flat" cmpd="sng" algn="ctr">
                      <a:solidFill>
                        <a:srgbClr val="D9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1040"/>
                        </a:lnSpc>
                        <a:buNone/>
                      </a:pPr>
                      <a:r>
                        <a:rPr lang="en-US" sz="695" dirty="0">
                          <a:solidFill>
                            <a:srgbClr val="5A656D"/>
                          </a:solidFill>
                          <a:latin typeface="Segoe UI" panose="020B0502040204020203" pitchFamily="34" charset="0"/>
                          <a:ea typeface="Segoe UI" panose="020B0502040204020203" pitchFamily="34" charset="-122"/>
                          <a:cs typeface="Segoe UI" panose="020B0502040204020203" pitchFamily="34" charset="-120"/>
                        </a:rPr>
                        <a:t>开源推理 + 代码</a:t>
                      </a:r>
                      <a:endParaRPr lang="en-US" sz="695" dirty="0">
                        <a:latin typeface="Segoe UI" panose="020B0502040204020203" pitchFamily="34" charset="0"/>
                        <a:ea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22581" marR="122581" marT="73549" marB="73549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4903" cap="flat" cmpd="sng" algn="ctr">
                      <a:solidFill>
                        <a:srgbClr val="D9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1040"/>
                        </a:lnSpc>
                        <a:buNone/>
                      </a:pPr>
                      <a:r>
                        <a:rPr lang="en-US" sz="695" b="1" dirty="0">
                          <a:solidFill>
                            <a:srgbClr val="121C23"/>
                          </a:solidFill>
                          <a:latin typeface="Segoe UI" panose="020B0502040204020203" pitchFamily="34" charset="0"/>
                          <a:ea typeface="Segoe UI" panose="020B0502040204020203" pitchFamily="34" charset="-122"/>
                          <a:cs typeface="Segoe UI" panose="020B0502040204020203" pitchFamily="34" charset="-120"/>
                        </a:rPr>
                        <a:t>8</a:t>
                      </a:r>
                      <a:endParaRPr lang="en-US" sz="695" dirty="0">
                        <a:latin typeface="Segoe UI" panose="020B0502040204020203" pitchFamily="34" charset="0"/>
                        <a:ea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22581" marR="122581" marT="73549" marB="73549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4903" cap="flat" cmpd="sng" algn="ctr">
                      <a:solidFill>
                        <a:srgbClr val="D9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1040"/>
                        </a:lnSpc>
                        <a:buNone/>
                      </a:pPr>
                      <a:r>
                        <a:rPr lang="en-US" sz="695" dirty="0">
                          <a:solidFill>
                            <a:srgbClr val="121C23"/>
                          </a:solidFill>
                          <a:latin typeface="Segoe UI" panose="020B0502040204020203" pitchFamily="34" charset="0"/>
                          <a:ea typeface="Segoe UI" panose="020B0502040204020203" pitchFamily="34" charset="-122"/>
                          <a:cs typeface="Segoe UI" panose="020B0502040204020203" pitchFamily="34" charset="-120"/>
                        </a:rPr>
                        <a:t>Claude Sonnet 5</a:t>
                      </a:r>
                      <a:endParaRPr lang="en-US" sz="695" dirty="0">
                        <a:latin typeface="Segoe UI" panose="020B0502040204020203" pitchFamily="34" charset="0"/>
                        <a:ea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22581" marR="122581" marT="73549" marB="73549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4903" cap="flat" cmpd="sng" algn="ctr">
                      <a:solidFill>
                        <a:srgbClr val="D9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1040"/>
                        </a:lnSpc>
                        <a:buNone/>
                      </a:pPr>
                      <a:r>
                        <a:rPr lang="en-US" sz="695" dirty="0">
                          <a:solidFill>
                            <a:srgbClr val="121C23"/>
                          </a:solidFill>
                          <a:latin typeface="Segoe UI" panose="020B0502040204020203" pitchFamily="34" charset="0"/>
                          <a:ea typeface="Segoe UI" panose="020B0502040204020203" pitchFamily="34" charset="-122"/>
                          <a:cs typeface="Segoe UI" panose="020B0502040204020203" pitchFamily="34" charset="-120"/>
                        </a:rPr>
                        <a:t>Anthropic</a:t>
                      </a:r>
                      <a:endParaRPr lang="en-US" sz="695" dirty="0">
                        <a:latin typeface="Segoe UI" panose="020B0502040204020203" pitchFamily="34" charset="0"/>
                        <a:ea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22581" marR="122581" marT="73549" marB="73549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4903" cap="flat" cmpd="sng" algn="ctr">
                      <a:solidFill>
                        <a:srgbClr val="D9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1040"/>
                        </a:lnSpc>
                        <a:buNone/>
                      </a:pPr>
                      <a:r>
                        <a:rPr lang="en-US" sz="695" dirty="0">
                          <a:solidFill>
                            <a:srgbClr val="121C23"/>
                          </a:solidFill>
                          <a:latin typeface="Segoe UI" panose="020B0502040204020203" pitchFamily="34" charset="0"/>
                          <a:ea typeface="Segoe UI" panose="020B0502040204020203" pitchFamily="34" charset="-122"/>
                          <a:cs typeface="Segoe UI" panose="020B0502040204020203" pitchFamily="34" charset="-120"/>
                        </a:rPr>
                        <a:t>~1445</a:t>
                      </a:r>
                      <a:endParaRPr lang="en-US" sz="695" dirty="0">
                        <a:latin typeface="Segoe UI" panose="020B0502040204020203" pitchFamily="34" charset="0"/>
                        <a:ea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22581" marR="122581" marT="73549" marB="73549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4903" cap="flat" cmpd="sng" algn="ctr">
                      <a:solidFill>
                        <a:srgbClr val="D9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1040"/>
                        </a:lnSpc>
                        <a:buNone/>
                      </a:pPr>
                      <a:r>
                        <a:rPr lang="en-US" sz="695" dirty="0">
                          <a:solidFill>
                            <a:srgbClr val="5A656D"/>
                          </a:solidFill>
                          <a:latin typeface="Segoe UI" panose="020B0502040204020203" pitchFamily="34" charset="0"/>
                          <a:ea typeface="Segoe UI" panose="020B0502040204020203" pitchFamily="34" charset="-122"/>
                          <a:cs typeface="Segoe UI" panose="020B0502040204020203" pitchFamily="34" charset="-120"/>
                        </a:rPr>
                        <a:t>性价比编程旗舰</a:t>
                      </a:r>
                      <a:endParaRPr lang="en-US" sz="695" dirty="0">
                        <a:latin typeface="Segoe UI" panose="020B0502040204020203" pitchFamily="34" charset="0"/>
                        <a:ea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22581" marR="122581" marT="73549" marB="73549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4903" cap="flat" cmpd="sng" algn="ctr">
                      <a:solidFill>
                        <a:srgbClr val="D9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1040"/>
                        </a:lnSpc>
                        <a:buNone/>
                      </a:pPr>
                      <a:r>
                        <a:rPr lang="en-US" sz="695" b="1" dirty="0">
                          <a:solidFill>
                            <a:srgbClr val="121C23"/>
                          </a:solidFill>
                          <a:latin typeface="Segoe UI" panose="020B0502040204020203" pitchFamily="34" charset="0"/>
                          <a:ea typeface="Segoe UI" panose="020B0502040204020203" pitchFamily="34" charset="-122"/>
                          <a:cs typeface="Segoe UI" panose="020B0502040204020203" pitchFamily="34" charset="-120"/>
                        </a:rPr>
                        <a:t>9</a:t>
                      </a:r>
                      <a:endParaRPr lang="en-US" sz="695" dirty="0">
                        <a:latin typeface="Segoe UI" panose="020B0502040204020203" pitchFamily="34" charset="0"/>
                        <a:ea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22581" marR="122581" marT="73549" marB="73549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4903" cap="flat" cmpd="sng" algn="ctr">
                      <a:solidFill>
                        <a:srgbClr val="D9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1040"/>
                        </a:lnSpc>
                        <a:buNone/>
                      </a:pPr>
                      <a:r>
                        <a:rPr lang="en-US" sz="695" dirty="0">
                          <a:solidFill>
                            <a:srgbClr val="121C23"/>
                          </a:solidFill>
                          <a:latin typeface="Segoe UI" panose="020B0502040204020203" pitchFamily="34" charset="0"/>
                          <a:ea typeface="Segoe UI" panose="020B0502040204020203" pitchFamily="34" charset="-122"/>
                          <a:cs typeface="Segoe UI" panose="020B0502040204020203" pitchFamily="34" charset="-120"/>
                        </a:rPr>
                        <a:t>Gemini 3.5 Flash</a:t>
                      </a:r>
                      <a:endParaRPr lang="en-US" sz="695" dirty="0">
                        <a:latin typeface="Segoe UI" panose="020B0502040204020203" pitchFamily="34" charset="0"/>
                        <a:ea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22581" marR="122581" marT="73549" marB="73549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4903" cap="flat" cmpd="sng" algn="ctr">
                      <a:solidFill>
                        <a:srgbClr val="D9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1040"/>
                        </a:lnSpc>
                        <a:buNone/>
                      </a:pPr>
                      <a:r>
                        <a:rPr lang="en-US" sz="695" dirty="0">
                          <a:solidFill>
                            <a:srgbClr val="121C23"/>
                          </a:solidFill>
                          <a:latin typeface="Segoe UI" panose="020B0502040204020203" pitchFamily="34" charset="0"/>
                          <a:ea typeface="Segoe UI" panose="020B0502040204020203" pitchFamily="34" charset="-122"/>
                          <a:cs typeface="Segoe UI" panose="020B0502040204020203" pitchFamily="34" charset="-120"/>
                        </a:rPr>
                        <a:t>Google</a:t>
                      </a:r>
                      <a:endParaRPr lang="en-US" sz="695" dirty="0">
                        <a:latin typeface="Segoe UI" panose="020B0502040204020203" pitchFamily="34" charset="0"/>
                        <a:ea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22581" marR="122581" marT="73549" marB="73549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4903" cap="flat" cmpd="sng" algn="ctr">
                      <a:solidFill>
                        <a:srgbClr val="D9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1040"/>
                        </a:lnSpc>
                        <a:buNone/>
                      </a:pPr>
                      <a:r>
                        <a:rPr lang="en-US" sz="695" dirty="0">
                          <a:solidFill>
                            <a:srgbClr val="121C23"/>
                          </a:solidFill>
                          <a:latin typeface="Segoe UI" panose="020B0502040204020203" pitchFamily="34" charset="0"/>
                          <a:ea typeface="Segoe UI" panose="020B0502040204020203" pitchFamily="34" charset="-122"/>
                          <a:cs typeface="Segoe UI" panose="020B0502040204020203" pitchFamily="34" charset="-120"/>
                        </a:rPr>
                        <a:t>~1440</a:t>
                      </a:r>
                      <a:endParaRPr lang="en-US" sz="695" dirty="0">
                        <a:latin typeface="Segoe UI" panose="020B0502040204020203" pitchFamily="34" charset="0"/>
                        <a:ea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22581" marR="122581" marT="73549" marB="73549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4903" cap="flat" cmpd="sng" algn="ctr">
                      <a:solidFill>
                        <a:srgbClr val="D9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1040"/>
                        </a:lnSpc>
                        <a:buNone/>
                      </a:pPr>
                      <a:r>
                        <a:rPr lang="en-US" sz="695" dirty="0">
                          <a:solidFill>
                            <a:srgbClr val="5A656D"/>
                          </a:solidFill>
                          <a:latin typeface="Segoe UI" panose="020B0502040204020203" pitchFamily="34" charset="0"/>
                          <a:ea typeface="Segoe UI" panose="020B0502040204020203" pitchFamily="34" charset="-122"/>
                          <a:cs typeface="Segoe UI" panose="020B0502040204020203" pitchFamily="34" charset="-120"/>
                        </a:rPr>
                        <a:t>极致性价比轻量</a:t>
                      </a:r>
                      <a:endParaRPr lang="en-US" sz="695" dirty="0">
                        <a:latin typeface="Segoe UI" panose="020B0502040204020203" pitchFamily="34" charset="0"/>
                        <a:ea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22581" marR="122581" marT="73549" marB="73549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4903" cap="flat" cmpd="sng" algn="ctr">
                      <a:solidFill>
                        <a:srgbClr val="D9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1040"/>
                        </a:lnSpc>
                        <a:buNone/>
                      </a:pPr>
                      <a:r>
                        <a:rPr lang="en-US" sz="695" b="1" dirty="0">
                          <a:solidFill>
                            <a:srgbClr val="121C23"/>
                          </a:solidFill>
                          <a:latin typeface="Segoe UI" panose="020B0502040204020203" pitchFamily="34" charset="0"/>
                          <a:ea typeface="Segoe UI" panose="020B0502040204020203" pitchFamily="34" charset="-122"/>
                          <a:cs typeface="Segoe UI" panose="020B0502040204020203" pitchFamily="34" charset="-120"/>
                        </a:rPr>
                        <a:t>10</a:t>
                      </a:r>
                      <a:endParaRPr lang="en-US" sz="695" dirty="0">
                        <a:latin typeface="Segoe UI" panose="020B0502040204020203" pitchFamily="34" charset="0"/>
                        <a:ea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22581" marR="122581" marT="73549" marB="73549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4903" cap="flat" cmpd="sng" algn="ctr">
                      <a:solidFill>
                        <a:srgbClr val="D9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1040"/>
                        </a:lnSpc>
                        <a:buNone/>
                      </a:pPr>
                      <a:r>
                        <a:rPr lang="en-US" sz="695" dirty="0">
                          <a:solidFill>
                            <a:srgbClr val="121C23"/>
                          </a:solidFill>
                          <a:latin typeface="Segoe UI" panose="020B0502040204020203" pitchFamily="34" charset="0"/>
                          <a:ea typeface="Segoe UI" panose="020B0502040204020203" pitchFamily="34" charset="-122"/>
                          <a:cs typeface="Segoe UI" panose="020B0502040204020203" pitchFamily="34" charset="-120"/>
                        </a:rPr>
                        <a:t>通义 Qwen3.7-Max</a:t>
                      </a:r>
                      <a:endParaRPr lang="en-US" sz="695" dirty="0">
                        <a:latin typeface="Segoe UI" panose="020B0502040204020203" pitchFamily="34" charset="0"/>
                        <a:ea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22581" marR="122581" marT="73549" marB="73549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4903" cap="flat" cmpd="sng" algn="ctr">
                      <a:solidFill>
                        <a:srgbClr val="D9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1040"/>
                        </a:lnSpc>
                        <a:buNone/>
                      </a:pPr>
                      <a:r>
                        <a:rPr lang="en-US" sz="695" dirty="0">
                          <a:solidFill>
                            <a:srgbClr val="121C23"/>
                          </a:solidFill>
                          <a:latin typeface="Segoe UI" panose="020B0502040204020203" pitchFamily="34" charset="0"/>
                          <a:ea typeface="Segoe UI" panose="020B0502040204020203" pitchFamily="34" charset="-122"/>
                          <a:cs typeface="Segoe UI" panose="020B0502040204020203" pitchFamily="34" charset="-120"/>
                        </a:rPr>
                        <a:t>阿里巴巴</a:t>
                      </a:r>
                      <a:endParaRPr lang="en-US" sz="695" dirty="0">
                        <a:latin typeface="Segoe UI" panose="020B0502040204020203" pitchFamily="34" charset="0"/>
                        <a:ea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22581" marR="122581" marT="73549" marB="73549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4903" cap="flat" cmpd="sng" algn="ctr">
                      <a:solidFill>
                        <a:srgbClr val="D9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1040"/>
                        </a:lnSpc>
                        <a:buNone/>
                      </a:pPr>
                      <a:r>
                        <a:rPr lang="en-US" sz="695" dirty="0">
                          <a:solidFill>
                            <a:srgbClr val="121C23"/>
                          </a:solidFill>
                          <a:latin typeface="Segoe UI" panose="020B0502040204020203" pitchFamily="34" charset="0"/>
                          <a:ea typeface="Segoe UI" panose="020B0502040204020203" pitchFamily="34" charset="-122"/>
                          <a:cs typeface="Segoe UI" panose="020B0502040204020203" pitchFamily="34" charset="-120"/>
                        </a:rPr>
                        <a:t>~1420</a:t>
                      </a:r>
                      <a:endParaRPr lang="en-US" sz="695" dirty="0">
                        <a:latin typeface="Segoe UI" panose="020B0502040204020203" pitchFamily="34" charset="0"/>
                        <a:ea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22581" marR="122581" marT="73549" marB="73549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4903" cap="flat" cmpd="sng" algn="ctr">
                      <a:solidFill>
                        <a:srgbClr val="D9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1040"/>
                        </a:lnSpc>
                        <a:buNone/>
                      </a:pPr>
                      <a:r>
                        <a:rPr lang="en-US" sz="695" dirty="0">
                          <a:solidFill>
                            <a:srgbClr val="5A656D"/>
                          </a:solidFill>
                          <a:latin typeface="Segoe UI" panose="020B0502040204020203" pitchFamily="34" charset="0"/>
                          <a:ea typeface="Segoe UI" panose="020B0502040204020203" pitchFamily="34" charset="-122"/>
                          <a:cs typeface="Segoe UI" panose="020B0502040204020203" pitchFamily="34" charset="-120"/>
                        </a:rPr>
                        <a:t>中文最强全能</a:t>
                      </a:r>
                      <a:endParaRPr lang="en-US" sz="695" dirty="0">
                        <a:latin typeface="Segoe UI" panose="020B0502040204020203" pitchFamily="34" charset="0"/>
                        <a:ea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22581" marR="122581" marT="73549" marB="73549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4903" cap="flat" cmpd="sng" algn="ctr">
                      <a:solidFill>
                        <a:srgbClr val="D9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id="10" name="TextBox 19"/>
          <p:cNvSpPr/>
          <p:nvPr/>
        </p:nvSpPr>
        <p:spPr>
          <a:xfrm>
            <a:off x="476250" y="4762500"/>
            <a:ext cx="8191500" cy="121444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985"/>
              </a:lnSpc>
              <a:buNone/>
            </a:pPr>
            <a:r>
              <a:rPr lang="en-US" sz="655" dirty="0">
                <a:solidFill>
                  <a:srgbClr val="5A656D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† GPT-5.6 Sol 为受限预览版。Top 5 之间分差极小（&lt; 20 分），实际使用体感差异不大——</a:t>
            </a:r>
            <a:r>
              <a:rPr lang="en-US" sz="655" b="1" dirty="0">
                <a:solidFill>
                  <a:srgbClr val="5A656D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选模型更应关注场景匹配而非绝对排名</a:t>
            </a:r>
            <a:r>
              <a:rPr lang="en-US" sz="655" dirty="0">
                <a:solidFill>
                  <a:srgbClr val="5A656D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。</a:t>
            </a:r>
            <a:endParaRPr lang="en-US" sz="655" dirty="0"/>
          </a:p>
        </p:txBody>
      </p:sp>
      <p:pic>
        <p:nvPicPr>
          <p:cNvPr id="11" name="Picture 23" descr="__type_image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76250" y="4819650"/>
            <a:ext cx="8191500" cy="171450"/>
          </a:xfrm>
          <a:prstGeom prst="rect">
            <a:avLst/>
          </a:prstGeom>
        </p:spPr>
      </p:pic>
      <p:sp>
        <p:nvSpPr>
          <p:cNvPr id="12" name="TextBox 23"/>
          <p:cNvSpPr/>
          <p:nvPr/>
        </p:nvSpPr>
        <p:spPr>
          <a:xfrm>
            <a:off x="476250" y="4819650"/>
            <a:ext cx="8191500" cy="171450"/>
          </a:xfrm>
          <a:prstGeom prst="rect">
            <a:avLst/>
          </a:prstGeom>
          <a:noFill/>
        </p:spPr>
        <p:txBody>
          <a:bodyPr wrap="square" lIns="0" tIns="68645" rIns="0" bIns="0" rtlCol="0" anchor="t">
            <a:spAutoFit/>
          </a:bodyPr>
          <a:lstStyle/>
          <a:p>
            <a:pPr marL="0" indent="0" algn="l">
              <a:lnSpc>
                <a:spcPts val="810"/>
              </a:lnSpc>
              <a:buNone/>
            </a:pPr>
            <a:r>
              <a:rPr lang="en-US" sz="540" kern="0" spc="22" dirty="0">
                <a:solidFill>
                  <a:srgbClr val="5A656D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数据来源：LMArena (arena.ai) 2026 年 6-7 月 | 国内模型 Elo 为综合估算</a:t>
            </a:r>
            <a:endParaRPr lang="en-US" sz="54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6F9FC"/>
          </a:solidFill>
        </p:spPr>
      </p:sp>
      <p:sp>
        <p:nvSpPr>
          <p:cNvPr id="3" name="Shape 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6F9FC"/>
          </a:solidFill>
        </p:spPr>
      </p:sp>
      <p:pic>
        <p:nvPicPr>
          <p:cNvPr id="4" name="Picture 4" descr="__type_image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76250" y="381000"/>
            <a:ext cx="8191500" cy="390525"/>
          </a:xfrm>
          <a:prstGeom prst="rect">
            <a:avLst/>
          </a:prstGeom>
        </p:spPr>
      </p:pic>
      <p:sp>
        <p:nvSpPr>
          <p:cNvPr id="5" name="TextBox 4"/>
          <p:cNvSpPr/>
          <p:nvPr/>
        </p:nvSpPr>
        <p:spPr>
          <a:xfrm>
            <a:off x="476250" y="381000"/>
            <a:ext cx="8191500" cy="390525"/>
          </a:xfrm>
          <a:prstGeom prst="rect">
            <a:avLst/>
          </a:prstGeom>
          <a:noFill/>
        </p:spPr>
        <p:txBody>
          <a:bodyPr wrap="square" lIns="0" tIns="0" rIns="0" bIns="98065" rtlCol="0" anchor="t">
            <a:spAutoFit/>
          </a:bodyPr>
          <a:lstStyle/>
          <a:p>
            <a:pPr marL="0" indent="0" algn="l">
              <a:lnSpc>
                <a:spcPts val="2315"/>
              </a:lnSpc>
              <a:buNone/>
            </a:pPr>
            <a:r>
              <a:rPr lang="en-US" sz="1545" b="1" kern="0" spc="-23" dirty="0">
                <a:solidFill>
                  <a:srgbClr val="121C23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海外三巨头多维对比：一张表看懂怎么选</a:t>
            </a:r>
            <a:endParaRPr lang="en-US" sz="1545" dirty="0"/>
          </a:p>
        </p:txBody>
      </p:sp>
      <p:graphicFrame>
        <p:nvGraphicFramePr>
          <p:cNvPr id="23" name="Table 8"/>
          <p:cNvGraphicFramePr>
            <a:graphicFrameLocks noGrp="1"/>
          </p:cNvGraphicFramePr>
          <p:nvPr/>
        </p:nvGraphicFramePr>
        <p:xfrm>
          <a:off x="476250" y="1000125"/>
          <a:ext cx="8191500" cy="914400"/>
        </p:xfrm>
        <a:graphic>
          <a:graphicData uri="http://schemas.openxmlformats.org/drawingml/2006/table">
            <a:tbl>
              <a:tblPr/>
              <a:tblGrid>
                <a:gridCol w="916037"/>
                <a:gridCol w="2387166"/>
                <a:gridCol w="2464780"/>
                <a:gridCol w="2423517"/>
              </a:tblGrid>
              <a:tr h="0"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835"/>
                        </a:lnSpc>
                        <a:buNone/>
                      </a:pPr>
                      <a:r>
                        <a:rPr lang="en-US" sz="620" b="1" kern="0" spc="37" dirty="0">
                          <a:solidFill>
                            <a:srgbClr val="299236"/>
                          </a:solidFill>
                          <a:latin typeface="Consolas" panose="020B0609020204030204" pitchFamily="34" charset="0"/>
                          <a:ea typeface="Consolas" panose="020B0609020204030204" pitchFamily="34" charset="-122"/>
                          <a:cs typeface="Consolas" panose="020B0609020204030204" pitchFamily="34" charset="-120"/>
                        </a:rPr>
                        <a:t>维度</a:t>
                      </a:r>
                      <a:endParaRPr lang="en-US" sz="620" dirty="0">
                        <a:latin typeface="Consolas" panose="020B0609020204030204" pitchFamily="34" charset="0"/>
                        <a:ea typeface="Consolas" panose="020B0609020204030204" pitchFamily="34" charset="0"/>
                        <a:cs typeface="Consolas" panose="020B0609020204030204" pitchFamily="34" charset="0"/>
                      </a:endParaRPr>
                    </a:p>
                  </a:txBody>
                  <a:tcPr marL="122581" marR="122581" marT="83355" marB="8335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806" cap="flat" cmpd="sng" algn="ctr">
                      <a:solidFill>
                        <a:srgbClr val="2992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A845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1145"/>
                        </a:lnSpc>
                        <a:buNone/>
                      </a:pPr>
                      <a:r>
                        <a:rPr lang="en-US" sz="850" b="1" dirty="0">
                          <a:solidFill>
                            <a:srgbClr val="121C23"/>
                          </a:solidFill>
                          <a:latin typeface="Segoe UI" panose="020B0502040204020203" pitchFamily="34" charset="0"/>
                          <a:ea typeface="Segoe UI" panose="020B0502040204020203" pitchFamily="34" charset="-122"/>
                          <a:cs typeface="Segoe UI" panose="020B0502040204020203" pitchFamily="34" charset="-120"/>
                        </a:rPr>
                        <a:t>OpenAI</a:t>
                      </a:r>
                      <a:endParaRPr lang="en-US" sz="850" dirty="0">
                        <a:latin typeface="Segoe UI" panose="020B0502040204020203" pitchFamily="34" charset="0"/>
                        <a:ea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22581" marR="122581" marT="83355" marB="8335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806" cap="flat" cmpd="sng" algn="ctr">
                      <a:solidFill>
                        <a:srgbClr val="2992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A845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1145"/>
                        </a:lnSpc>
                        <a:buNone/>
                      </a:pPr>
                      <a:r>
                        <a:rPr lang="en-US" sz="850" b="1" dirty="0">
                          <a:solidFill>
                            <a:srgbClr val="121C23"/>
                          </a:solidFill>
                          <a:latin typeface="Segoe UI" panose="020B0502040204020203" pitchFamily="34" charset="0"/>
                          <a:ea typeface="Segoe UI" panose="020B0502040204020203" pitchFamily="34" charset="-122"/>
                          <a:cs typeface="Segoe UI" panose="020B0502040204020203" pitchFamily="34" charset="-120"/>
                        </a:rPr>
                        <a:t>Anthropic</a:t>
                      </a:r>
                      <a:endParaRPr lang="en-US" sz="850" dirty="0">
                        <a:latin typeface="Segoe UI" panose="020B0502040204020203" pitchFamily="34" charset="0"/>
                        <a:ea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22581" marR="122581" marT="83355" marB="8335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806" cap="flat" cmpd="sng" algn="ctr">
                      <a:solidFill>
                        <a:srgbClr val="2992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A845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1145"/>
                        </a:lnSpc>
                        <a:buNone/>
                      </a:pPr>
                      <a:r>
                        <a:rPr lang="en-US" sz="850" b="1" dirty="0">
                          <a:solidFill>
                            <a:srgbClr val="121C23"/>
                          </a:solidFill>
                          <a:latin typeface="Segoe UI" panose="020B0502040204020203" pitchFamily="34" charset="0"/>
                          <a:ea typeface="Segoe UI" panose="020B0502040204020203" pitchFamily="34" charset="-122"/>
                          <a:cs typeface="Segoe UI" panose="020B0502040204020203" pitchFamily="34" charset="-120"/>
                        </a:rPr>
                        <a:t>Google</a:t>
                      </a:r>
                      <a:endParaRPr lang="en-US" sz="850" dirty="0">
                        <a:latin typeface="Segoe UI" panose="020B0502040204020203" pitchFamily="34" charset="0"/>
                        <a:ea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22581" marR="122581" marT="83355" marB="8335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806" cap="flat" cmpd="sng" algn="ctr">
                      <a:solidFill>
                        <a:srgbClr val="2992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A845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730"/>
                        </a:lnSpc>
                        <a:buNone/>
                      </a:pPr>
                      <a:r>
                        <a:rPr lang="en-US" sz="540" b="1" dirty="0">
                          <a:solidFill>
                            <a:srgbClr val="121C23"/>
                          </a:solidFill>
                          <a:latin typeface="Segoe UI" panose="020B0502040204020203" pitchFamily="34" charset="0"/>
                          <a:ea typeface="Segoe UI" panose="020B0502040204020203" pitchFamily="34" charset="-122"/>
                          <a:cs typeface="Segoe UI" panose="020B0502040204020203" pitchFamily="34" charset="-120"/>
                        </a:rPr>
                        <a:t>定位</a:t>
                      </a:r>
                      <a:endParaRPr lang="en-US" sz="540" dirty="0">
                        <a:latin typeface="Segoe UI" panose="020B0502040204020203" pitchFamily="34" charset="0"/>
                        <a:ea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22581" marR="122581" marT="73549" marB="73549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4903" cap="flat" cmpd="sng" algn="ctr">
                      <a:solidFill>
                        <a:srgbClr val="D9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730"/>
                        </a:lnSpc>
                        <a:buNone/>
                      </a:pPr>
                      <a:r>
                        <a:rPr lang="en-US" sz="540" b="1" dirty="0">
                          <a:solidFill>
                            <a:srgbClr val="121C23"/>
                          </a:solidFill>
                          <a:latin typeface="Segoe UI" panose="020B0502040204020203" pitchFamily="34" charset="0"/>
                          <a:ea typeface="Segoe UI" panose="020B0502040204020203" pitchFamily="34" charset="-122"/>
                          <a:cs typeface="Segoe UI" panose="020B0502040204020203" pitchFamily="34" charset="-120"/>
                        </a:rPr>
                        <a:t>生态广度之王</a:t>
                      </a:r>
                      <a:r>
                        <a:rPr lang="en-US" sz="540" dirty="0">
                          <a:solidFill>
                            <a:srgbClr val="121C23"/>
                          </a:solidFill>
                          <a:latin typeface="Segoe UI" panose="020B0502040204020203" pitchFamily="34" charset="0"/>
                          <a:ea typeface="Segoe UI" panose="020B0502040204020203" pitchFamily="34" charset="-122"/>
                          <a:cs typeface="Segoe UI" panose="020B0502040204020203" pitchFamily="34" charset="-120"/>
                        </a:rPr>
                        <a:t> — "什么都有"</a:t>
                      </a:r>
                      <a:endParaRPr lang="en-US" sz="540" dirty="0">
                        <a:latin typeface="Segoe UI" panose="020B0502040204020203" pitchFamily="34" charset="0"/>
                        <a:ea typeface="Segoe UI" panose="020B0502040204020203" pitchFamily="34" charset="0"/>
                        <a:cs typeface="Segoe UI" panose="020B0502040204020203" pitchFamily="34" charset="0"/>
                      </a:endParaRPr>
                    </a:p>
                    <a:p>
                      <a:pPr marL="0" indent="0" algn="l">
                        <a:lnSpc>
                          <a:spcPts val="730"/>
                        </a:lnSpc>
                        <a:buNone/>
                      </a:pPr>
                      <a:r>
                        <a:rPr lang="en-US" sz="540" dirty="0">
                          <a:solidFill>
                            <a:srgbClr val="121C23"/>
                          </a:solidFill>
                          <a:latin typeface="Segoe UI" panose="020B0502040204020203" pitchFamily="34" charset="0"/>
                          <a:ea typeface="Segoe UI" panose="020B0502040204020203" pitchFamily="34" charset="-122"/>
                          <a:cs typeface="Segoe UI" panose="020B0502040204020203" pitchFamily="34" charset="-120"/>
                        </a:rPr>
                        <a:t>消费者入口 + 最全产品矩阵</a:t>
                      </a:r>
                      <a:endParaRPr lang="en-US" sz="540" dirty="0">
                        <a:latin typeface="Segoe UI" panose="020B0502040204020203" pitchFamily="34" charset="0"/>
                        <a:ea typeface="Segoe UI" panose="020B0502040204020203" pitchFamily="34" charset="0"/>
                        <a:cs typeface="Segoe UI" panose="020B0502040204020203" pitchFamily="34" charset="0"/>
                      </a:endParaRPr>
                    </a:p>
                    <a:p>
                      <a:pPr marL="0" indent="0" algn="l">
                        <a:lnSpc>
                          <a:spcPts val="730"/>
                        </a:lnSpc>
                        <a:buNone/>
                      </a:pPr>
                      <a:r>
                        <a:rPr lang="en-US" sz="540" dirty="0">
                          <a:solidFill>
                            <a:srgbClr val="121C23"/>
                          </a:solidFill>
                          <a:latin typeface="Segoe UI" panose="020B0502040204020203" pitchFamily="34" charset="0"/>
                          <a:ea typeface="Segoe UI" panose="020B0502040204020203" pitchFamily="34" charset="-122"/>
                          <a:cs typeface="Segoe UI" panose="020B0502040204020203" pitchFamily="34" charset="-120"/>
                        </a:rPr>
                        <a:t>ChatGPT 10 亿 MAU</a:t>
                      </a:r>
                      <a:endParaRPr lang="en-US" sz="540" dirty="0">
                        <a:latin typeface="Segoe UI" panose="020B0502040204020203" pitchFamily="34" charset="0"/>
                        <a:ea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22581" marR="122581" marT="73549" marB="73549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4903" cap="flat" cmpd="sng" algn="ctr">
                      <a:solidFill>
                        <a:srgbClr val="D9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730"/>
                        </a:lnSpc>
                        <a:buNone/>
                      </a:pPr>
                      <a:r>
                        <a:rPr lang="en-US" sz="540" b="1" dirty="0">
                          <a:solidFill>
                            <a:srgbClr val="121C23"/>
                          </a:solidFill>
                          <a:latin typeface="Segoe UI" panose="020B0502040204020203" pitchFamily="34" charset="0"/>
                          <a:ea typeface="Segoe UI" panose="020B0502040204020203" pitchFamily="34" charset="-122"/>
                          <a:cs typeface="Segoe UI" panose="020B0502040204020203" pitchFamily="34" charset="-120"/>
                        </a:rPr>
                        <a:t>企业深度标杆</a:t>
                      </a:r>
                      <a:r>
                        <a:rPr lang="en-US" sz="540" dirty="0">
                          <a:solidFill>
                            <a:srgbClr val="121C23"/>
                          </a:solidFill>
                          <a:latin typeface="Segoe UI" panose="020B0502040204020203" pitchFamily="34" charset="0"/>
                          <a:ea typeface="Segoe UI" panose="020B0502040204020203" pitchFamily="34" charset="-122"/>
                          <a:cs typeface="Segoe UI" panose="020B0502040204020203" pitchFamily="34" charset="-120"/>
                        </a:rPr>
                        <a:t> — "贵但强"</a:t>
                      </a:r>
                      <a:endParaRPr lang="en-US" sz="540" dirty="0">
                        <a:latin typeface="Segoe UI" panose="020B0502040204020203" pitchFamily="34" charset="0"/>
                        <a:ea typeface="Segoe UI" panose="020B0502040204020203" pitchFamily="34" charset="0"/>
                        <a:cs typeface="Segoe UI" panose="020B0502040204020203" pitchFamily="34" charset="0"/>
                      </a:endParaRPr>
                    </a:p>
                    <a:p>
                      <a:pPr marL="0" indent="0" algn="l">
                        <a:lnSpc>
                          <a:spcPts val="730"/>
                        </a:lnSpc>
                        <a:buNone/>
                      </a:pPr>
                      <a:r>
                        <a:rPr lang="en-US" sz="540" dirty="0">
                          <a:solidFill>
                            <a:srgbClr val="121C23"/>
                          </a:solidFill>
                          <a:latin typeface="Segoe UI" panose="020B0502040204020203" pitchFamily="34" charset="0"/>
                          <a:ea typeface="Segoe UI" panose="020B0502040204020203" pitchFamily="34" charset="-122"/>
                          <a:cs typeface="Segoe UI" panose="020B0502040204020203" pitchFamily="34" charset="-120"/>
                        </a:rPr>
                        <a:t>编程 Agent 54% 市占 / 首个盈利</a:t>
                      </a:r>
                      <a:endParaRPr lang="en-US" sz="540" dirty="0">
                        <a:latin typeface="Segoe UI" panose="020B0502040204020203" pitchFamily="34" charset="0"/>
                        <a:ea typeface="Segoe UI" panose="020B0502040204020203" pitchFamily="34" charset="0"/>
                        <a:cs typeface="Segoe UI" panose="020B0502040204020203" pitchFamily="34" charset="0"/>
                      </a:endParaRPr>
                    </a:p>
                    <a:p>
                      <a:pPr marL="0" indent="0" algn="l">
                        <a:lnSpc>
                          <a:spcPts val="730"/>
                        </a:lnSpc>
                        <a:buNone/>
                      </a:pPr>
                      <a:r>
                        <a:rPr lang="en-US" sz="540" dirty="0">
                          <a:solidFill>
                            <a:srgbClr val="121C23"/>
                          </a:solidFill>
                          <a:latin typeface="Segoe UI" panose="020B0502040204020203" pitchFamily="34" charset="0"/>
                          <a:ea typeface="Segoe UI" panose="020B0502040204020203" pitchFamily="34" charset="-122"/>
                          <a:cs typeface="Segoe UI" panose="020B0502040204020203" pitchFamily="34" charset="-120"/>
                        </a:rPr>
                        <a:t>企业收入 &gt; 80%</a:t>
                      </a:r>
                      <a:endParaRPr lang="en-US" sz="540" dirty="0">
                        <a:latin typeface="Segoe UI" panose="020B0502040204020203" pitchFamily="34" charset="0"/>
                        <a:ea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22581" marR="122581" marT="73549" marB="73549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4903" cap="flat" cmpd="sng" algn="ctr">
                      <a:solidFill>
                        <a:srgbClr val="D9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730"/>
                        </a:lnSpc>
                        <a:buNone/>
                      </a:pPr>
                      <a:r>
                        <a:rPr lang="en-US" sz="540" b="1" dirty="0">
                          <a:solidFill>
                            <a:srgbClr val="5A656D"/>
                          </a:solidFill>
                          <a:latin typeface="Segoe UI" panose="020B0502040204020203" pitchFamily="34" charset="0"/>
                          <a:ea typeface="Segoe UI" panose="020B0502040204020203" pitchFamily="34" charset="-122"/>
                          <a:cs typeface="Segoe UI" panose="020B0502040204020203" pitchFamily="34" charset="-120"/>
                        </a:rPr>
                        <a:t>性价比分发之王</a:t>
                      </a:r>
                      <a:r>
                        <a:rPr lang="en-US" sz="540" dirty="0">
                          <a:solidFill>
                            <a:srgbClr val="5A656D"/>
                          </a:solidFill>
                          <a:latin typeface="Segoe UI" panose="020B0502040204020203" pitchFamily="34" charset="0"/>
                          <a:ea typeface="Segoe UI" panose="020B0502040204020203" pitchFamily="34" charset="-122"/>
                          <a:cs typeface="Segoe UI" panose="020B0502040204020203" pitchFamily="34" charset="-120"/>
                        </a:rPr>
                        <a:t> — "便宜量又足"</a:t>
                      </a:r>
                      <a:endParaRPr lang="en-US" sz="540" dirty="0">
                        <a:latin typeface="Segoe UI" panose="020B0502040204020203" pitchFamily="34" charset="0"/>
                        <a:ea typeface="Segoe UI" panose="020B0502040204020203" pitchFamily="34" charset="0"/>
                        <a:cs typeface="Segoe UI" panose="020B0502040204020203" pitchFamily="34" charset="0"/>
                      </a:endParaRPr>
                    </a:p>
                    <a:p>
                      <a:pPr marL="0" indent="0" algn="l">
                        <a:lnSpc>
                          <a:spcPts val="730"/>
                        </a:lnSpc>
                        <a:buNone/>
                      </a:pPr>
                      <a:r>
                        <a:rPr lang="en-US" sz="540" dirty="0">
                          <a:solidFill>
                            <a:srgbClr val="5A656D"/>
                          </a:solidFill>
                          <a:latin typeface="Segoe UI" panose="020B0502040204020203" pitchFamily="34" charset="0"/>
                          <a:ea typeface="Segoe UI" panose="020B0502040204020203" pitchFamily="34" charset="-122"/>
                          <a:cs typeface="Segoe UI" panose="020B0502040204020203" pitchFamily="34" charset="-120"/>
                        </a:rPr>
                        <a:t>30 亿 Android / 13 个 10 亿+ 产品</a:t>
                      </a:r>
                      <a:endParaRPr lang="en-US" sz="540" dirty="0">
                        <a:latin typeface="Segoe UI" panose="020B0502040204020203" pitchFamily="34" charset="0"/>
                        <a:ea typeface="Segoe UI" panose="020B0502040204020203" pitchFamily="34" charset="0"/>
                        <a:cs typeface="Segoe UI" panose="020B0502040204020203" pitchFamily="34" charset="0"/>
                      </a:endParaRPr>
                    </a:p>
                    <a:p>
                      <a:pPr marL="0" indent="0" algn="l">
                        <a:lnSpc>
                          <a:spcPts val="730"/>
                        </a:lnSpc>
                        <a:buNone/>
                      </a:pPr>
                      <a:r>
                        <a:rPr lang="en-US" sz="540" dirty="0">
                          <a:solidFill>
                            <a:srgbClr val="5A656D"/>
                          </a:solidFill>
                          <a:latin typeface="Segoe UI" panose="020B0502040204020203" pitchFamily="34" charset="0"/>
                          <a:ea typeface="Segoe UI" panose="020B0502040204020203" pitchFamily="34" charset="-122"/>
                          <a:cs typeface="Segoe UI" panose="020B0502040204020203" pitchFamily="34" charset="-120"/>
                        </a:rPr>
                        <a:t>Flash $1.50 定义价格底线</a:t>
                      </a:r>
                      <a:endParaRPr lang="en-US" sz="540" dirty="0">
                        <a:latin typeface="Segoe UI" panose="020B0502040204020203" pitchFamily="34" charset="0"/>
                        <a:ea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22581" marR="122581" marT="73549" marB="73549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4903" cap="flat" cmpd="sng" algn="ctr">
                      <a:solidFill>
                        <a:srgbClr val="D9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730"/>
                        </a:lnSpc>
                        <a:buNone/>
                      </a:pPr>
                      <a:r>
                        <a:rPr lang="en-US" sz="540" b="1" dirty="0">
                          <a:solidFill>
                            <a:srgbClr val="121C23"/>
                          </a:solidFill>
                          <a:latin typeface="Segoe UI" panose="020B0502040204020203" pitchFamily="34" charset="0"/>
                          <a:ea typeface="Segoe UI" panose="020B0502040204020203" pitchFamily="34" charset="-122"/>
                          <a:cs typeface="Segoe UI" panose="020B0502040204020203" pitchFamily="34" charset="-120"/>
                        </a:rPr>
                        <a:t>收入</a:t>
                      </a:r>
                      <a:endParaRPr lang="en-US" sz="540" dirty="0">
                        <a:latin typeface="Segoe UI" panose="020B0502040204020203" pitchFamily="34" charset="0"/>
                        <a:ea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22581" marR="122581" marT="73549" marB="73549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4903" cap="flat" cmpd="sng" algn="ctr">
                      <a:solidFill>
                        <a:srgbClr val="D9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730"/>
                        </a:lnSpc>
                        <a:buNone/>
                      </a:pPr>
                      <a:r>
                        <a:rPr lang="en-US" sz="540" dirty="0">
                          <a:solidFill>
                            <a:srgbClr val="121C23"/>
                          </a:solidFill>
                          <a:latin typeface="Segoe UI" panose="020B0502040204020203" pitchFamily="34" charset="0"/>
                          <a:ea typeface="Segoe UI" panose="020B0502040204020203" pitchFamily="34" charset="-122"/>
                          <a:cs typeface="Segoe UI" panose="020B0502040204020203" pitchFamily="34" charset="-120"/>
                        </a:rPr>
                        <a:t>~$300B 年化 · </a:t>
                      </a:r>
                      <a:r>
                        <a:rPr lang="en-US" sz="540" b="1" dirty="0">
                          <a:solidFill>
                            <a:srgbClr val="121C23"/>
                          </a:solidFill>
                          <a:latin typeface="Segoe UI" panose="020B0502040204020203" pitchFamily="34" charset="0"/>
                          <a:ea typeface="Segoe UI" panose="020B0502040204020203" pitchFamily="34" charset="-122"/>
                          <a:cs typeface="Segoe UI" panose="020B0502040204020203" pitchFamily="34" charset="-120"/>
                        </a:rPr>
                        <a:t>未盈利</a:t>
                      </a:r>
                      <a:endParaRPr lang="en-US" sz="540" dirty="0">
                        <a:latin typeface="Segoe UI" panose="020B0502040204020203" pitchFamily="34" charset="0"/>
                        <a:ea typeface="Segoe UI" panose="020B0502040204020203" pitchFamily="34" charset="0"/>
                        <a:cs typeface="Segoe UI" panose="020B0502040204020203" pitchFamily="34" charset="0"/>
                      </a:endParaRPr>
                    </a:p>
                    <a:p>
                      <a:pPr marL="0" indent="0" algn="l">
                        <a:lnSpc>
                          <a:spcPts val="730"/>
                        </a:lnSpc>
                        <a:buNone/>
                      </a:pPr>
                      <a:r>
                        <a:rPr lang="en-US" sz="540" dirty="0">
                          <a:solidFill>
                            <a:srgbClr val="121C23"/>
                          </a:solidFill>
                          <a:latin typeface="Segoe UI" panose="020B0502040204020203" pitchFamily="34" charset="0"/>
                          <a:ea typeface="Segoe UI" panose="020B0502040204020203" pitchFamily="34" charset="-122"/>
                          <a:cs typeface="Segoe UI" panose="020B0502040204020203" pitchFamily="34" charset="-120"/>
                        </a:rPr>
                        <a:t>毛利率 40%→33%（推理成本暴涨）</a:t>
                      </a:r>
                      <a:endParaRPr lang="en-US" sz="540" dirty="0">
                        <a:latin typeface="Segoe UI" panose="020B0502040204020203" pitchFamily="34" charset="0"/>
                        <a:ea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22581" marR="122581" marT="73549" marB="73549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4903" cap="flat" cmpd="sng" algn="ctr">
                      <a:solidFill>
                        <a:srgbClr val="D9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730"/>
                        </a:lnSpc>
                        <a:buNone/>
                      </a:pPr>
                      <a:r>
                        <a:rPr lang="en-US" sz="540" dirty="0">
                          <a:solidFill>
                            <a:srgbClr val="121C23"/>
                          </a:solidFill>
                          <a:latin typeface="Segoe UI" panose="020B0502040204020203" pitchFamily="34" charset="0"/>
                          <a:ea typeface="Segoe UI" panose="020B0502040204020203" pitchFamily="34" charset="-122"/>
                          <a:cs typeface="Segoe UI" panose="020B0502040204020203" pitchFamily="34" charset="-120"/>
                        </a:rPr>
                        <a:t>~$470B 年化 · </a:t>
                      </a:r>
                      <a:r>
                        <a:rPr lang="en-US" sz="540" b="1" dirty="0">
                          <a:solidFill>
                            <a:srgbClr val="121C23"/>
                          </a:solidFill>
                          <a:latin typeface="Segoe UI" panose="020B0502040204020203" pitchFamily="34" charset="0"/>
                          <a:ea typeface="Segoe UI" panose="020B0502040204020203" pitchFamily="34" charset="-122"/>
                          <a:cs typeface="Segoe UI" panose="020B0502040204020203" pitchFamily="34" charset="-120"/>
                        </a:rPr>
                        <a:t>首个盈利</a:t>
                      </a:r>
                      <a:endParaRPr lang="en-US" sz="540" dirty="0">
                        <a:latin typeface="Segoe UI" panose="020B0502040204020203" pitchFamily="34" charset="0"/>
                        <a:ea typeface="Segoe UI" panose="020B0502040204020203" pitchFamily="34" charset="0"/>
                        <a:cs typeface="Segoe UI" panose="020B0502040204020203" pitchFamily="34" charset="0"/>
                      </a:endParaRPr>
                    </a:p>
                    <a:p>
                      <a:pPr marL="0" indent="0" algn="l">
                        <a:lnSpc>
                          <a:spcPts val="730"/>
                        </a:lnSpc>
                        <a:buNone/>
                      </a:pPr>
                      <a:r>
                        <a:rPr lang="en-US" sz="540" dirty="0">
                          <a:solidFill>
                            <a:srgbClr val="121C23"/>
                          </a:solidFill>
                          <a:latin typeface="Segoe UI" panose="020B0502040204020203" pitchFamily="34" charset="0"/>
                          <a:ea typeface="Segoe UI" panose="020B0502040204020203" pitchFamily="34" charset="-122"/>
                          <a:cs typeface="Segoe UI" panose="020B0502040204020203" pitchFamily="34" charset="-120"/>
                        </a:rPr>
                        <a:t>Q2 运营利润 $5.59B</a:t>
                      </a:r>
                      <a:endParaRPr lang="en-US" sz="540" dirty="0">
                        <a:latin typeface="Segoe UI" panose="020B0502040204020203" pitchFamily="34" charset="0"/>
                        <a:ea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22581" marR="122581" marT="73549" marB="73549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4903" cap="flat" cmpd="sng" algn="ctr">
                      <a:solidFill>
                        <a:srgbClr val="D9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730"/>
                        </a:lnSpc>
                        <a:buNone/>
                      </a:pPr>
                      <a:r>
                        <a:rPr lang="en-US" sz="540" dirty="0">
                          <a:solidFill>
                            <a:srgbClr val="5A656D"/>
                          </a:solidFill>
                          <a:latin typeface="Segoe UI" panose="020B0502040204020203" pitchFamily="34" charset="0"/>
                          <a:ea typeface="Segoe UI" panose="020B0502040204020203" pitchFamily="34" charset="-122"/>
                          <a:cs typeface="Segoe UI" panose="020B0502040204020203" pitchFamily="34" charset="-120"/>
                        </a:rPr>
                        <a:t>云+广告捆绑（不单独披露 AI 利润）</a:t>
                      </a:r>
                      <a:endParaRPr lang="en-US" sz="540" dirty="0">
                        <a:latin typeface="Segoe UI" panose="020B0502040204020203" pitchFamily="34" charset="0"/>
                        <a:ea typeface="Segoe UI" panose="020B0502040204020203" pitchFamily="34" charset="0"/>
                        <a:cs typeface="Segoe UI" panose="020B0502040204020203" pitchFamily="34" charset="0"/>
                      </a:endParaRPr>
                    </a:p>
                    <a:p>
                      <a:pPr marL="0" indent="0" algn="l">
                        <a:lnSpc>
                          <a:spcPts val="730"/>
                        </a:lnSpc>
                        <a:buNone/>
                      </a:pPr>
                      <a:r>
                        <a:rPr lang="en-US" sz="540" dirty="0">
                          <a:solidFill>
                            <a:srgbClr val="5A656D"/>
                          </a:solidFill>
                          <a:latin typeface="Segoe UI" panose="020B0502040204020203" pitchFamily="34" charset="0"/>
                          <a:ea typeface="Segoe UI" panose="020B0502040204020203" pitchFamily="34" charset="-122"/>
                          <a:cs typeface="Segoe UI" panose="020B0502040204020203" pitchFamily="34" charset="-120"/>
                        </a:rPr>
                        <a:t>3.2 万亿 token 处理量/月</a:t>
                      </a:r>
                      <a:endParaRPr lang="en-US" sz="540" dirty="0">
                        <a:latin typeface="Segoe UI" panose="020B0502040204020203" pitchFamily="34" charset="0"/>
                        <a:ea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22581" marR="122581" marT="73549" marB="73549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4903" cap="flat" cmpd="sng" algn="ctr">
                      <a:solidFill>
                        <a:srgbClr val="D9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730"/>
                        </a:lnSpc>
                        <a:buNone/>
                      </a:pPr>
                      <a:r>
                        <a:rPr lang="en-US" sz="540" b="1" dirty="0">
                          <a:solidFill>
                            <a:srgbClr val="121C23"/>
                          </a:solidFill>
                          <a:latin typeface="Segoe UI" panose="020B0502040204020203" pitchFamily="34" charset="0"/>
                          <a:ea typeface="Segoe UI" panose="020B0502040204020203" pitchFamily="34" charset="-122"/>
                          <a:cs typeface="Segoe UI" panose="020B0502040204020203" pitchFamily="34" charset="-120"/>
                        </a:rPr>
                        <a:t>旗舰</a:t>
                      </a:r>
                      <a:endParaRPr lang="en-US" sz="540" dirty="0">
                        <a:latin typeface="Segoe UI" panose="020B0502040204020203" pitchFamily="34" charset="0"/>
                        <a:ea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22581" marR="122581" marT="73549" marB="73549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4903" cap="flat" cmpd="sng" algn="ctr">
                      <a:solidFill>
                        <a:srgbClr val="D9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730"/>
                        </a:lnSpc>
                        <a:buNone/>
                      </a:pPr>
                      <a:r>
                        <a:rPr lang="en-US" sz="540" dirty="0">
                          <a:solidFill>
                            <a:srgbClr val="121C23"/>
                          </a:solidFill>
                          <a:latin typeface="Segoe UI" panose="020B0502040204020203" pitchFamily="34" charset="0"/>
                          <a:ea typeface="Segoe UI" panose="020B0502040204020203" pitchFamily="34" charset="-122"/>
                          <a:cs typeface="Segoe UI" panose="020B0502040204020203" pitchFamily="34" charset="-120"/>
                        </a:rPr>
                        <a:t>GPT-5.6 Sol（受限预览）</a:t>
                      </a:r>
                      <a:endParaRPr lang="en-US" sz="540" dirty="0">
                        <a:latin typeface="Segoe UI" panose="020B0502040204020203" pitchFamily="34" charset="0"/>
                        <a:ea typeface="Segoe UI" panose="020B0502040204020203" pitchFamily="34" charset="0"/>
                        <a:cs typeface="Segoe UI" panose="020B0502040204020203" pitchFamily="34" charset="0"/>
                      </a:endParaRPr>
                    </a:p>
                    <a:p>
                      <a:pPr marL="0" indent="0" algn="l">
                        <a:lnSpc>
                          <a:spcPts val="730"/>
                        </a:lnSpc>
                        <a:buNone/>
                      </a:pPr>
                      <a:r>
                        <a:rPr lang="en-US" sz="540" dirty="0">
                          <a:solidFill>
                            <a:srgbClr val="121C23"/>
                          </a:solidFill>
                          <a:latin typeface="Segoe UI" panose="020B0502040204020203" pitchFamily="34" charset="0"/>
                          <a:ea typeface="Segoe UI" panose="020B0502040204020203" pitchFamily="34" charset="-122"/>
                          <a:cs typeface="Segoe UI" panose="020B0502040204020203" pitchFamily="34" charset="-120"/>
                        </a:rPr>
                        <a:t>SWE-bench ~70.4% · $5/$30/M tok</a:t>
                      </a:r>
                      <a:endParaRPr lang="en-US" sz="540" dirty="0">
                        <a:latin typeface="Segoe UI" panose="020B0502040204020203" pitchFamily="34" charset="0"/>
                        <a:ea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22581" marR="122581" marT="73549" marB="73549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4903" cap="flat" cmpd="sng" algn="ctr">
                      <a:solidFill>
                        <a:srgbClr val="D9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730"/>
                        </a:lnSpc>
                        <a:buNone/>
                      </a:pPr>
                      <a:r>
                        <a:rPr lang="en-US" sz="540" dirty="0">
                          <a:solidFill>
                            <a:srgbClr val="121C23"/>
                          </a:solidFill>
                          <a:latin typeface="Segoe UI" panose="020B0502040204020203" pitchFamily="34" charset="0"/>
                          <a:ea typeface="Segoe UI" panose="020B0502040204020203" pitchFamily="34" charset="-122"/>
                          <a:cs typeface="Segoe UI" panose="020B0502040204020203" pitchFamily="34" charset="-120"/>
                        </a:rPr>
                        <a:t>Claude Opus 4.8（最强公开）</a:t>
                      </a:r>
                      <a:endParaRPr lang="en-US" sz="540" dirty="0">
                        <a:latin typeface="Segoe UI" panose="020B0502040204020203" pitchFamily="34" charset="0"/>
                        <a:ea typeface="Segoe UI" panose="020B0502040204020203" pitchFamily="34" charset="0"/>
                        <a:cs typeface="Segoe UI" panose="020B0502040204020203" pitchFamily="34" charset="0"/>
                      </a:endParaRPr>
                    </a:p>
                    <a:p>
                      <a:pPr marL="0" indent="0" algn="l">
                        <a:lnSpc>
                          <a:spcPts val="730"/>
                        </a:lnSpc>
                        <a:buNone/>
                      </a:pPr>
                      <a:r>
                        <a:rPr lang="en-US" sz="540" dirty="0">
                          <a:solidFill>
                            <a:srgbClr val="121C23"/>
                          </a:solidFill>
                          <a:latin typeface="Segoe UI" panose="020B0502040204020203" pitchFamily="34" charset="0"/>
                          <a:ea typeface="Segoe UI" panose="020B0502040204020203" pitchFamily="34" charset="-122"/>
                          <a:cs typeface="Segoe UI" panose="020B0502040204020203" pitchFamily="34" charset="-120"/>
                        </a:rPr>
                        <a:t>Elo ~1504 · SWE ~88.6% · 可读思考链</a:t>
                      </a:r>
                      <a:endParaRPr lang="en-US" sz="540" dirty="0">
                        <a:latin typeface="Segoe UI" panose="020B0502040204020203" pitchFamily="34" charset="0"/>
                        <a:ea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22581" marR="122581" marT="73549" marB="73549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4903" cap="flat" cmpd="sng" algn="ctr">
                      <a:solidFill>
                        <a:srgbClr val="D9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730"/>
                        </a:lnSpc>
                        <a:buNone/>
                      </a:pPr>
                      <a:r>
                        <a:rPr lang="en-US" sz="540" dirty="0">
                          <a:solidFill>
                            <a:srgbClr val="5A656D"/>
                          </a:solidFill>
                          <a:latin typeface="Segoe UI" panose="020B0502040204020203" pitchFamily="34" charset="0"/>
                          <a:ea typeface="Segoe UI" panose="020B0502040204020203" pitchFamily="34" charset="-122"/>
                          <a:cs typeface="Segoe UI" panose="020B0502040204020203" pitchFamily="34" charset="-120"/>
                        </a:rPr>
                        <a:t>Gemini 3.5 Flash（性价比之王）</a:t>
                      </a:r>
                      <a:endParaRPr lang="en-US" sz="540" dirty="0">
                        <a:latin typeface="Segoe UI" panose="020B0502040204020203" pitchFamily="34" charset="0"/>
                        <a:ea typeface="Segoe UI" panose="020B0502040204020203" pitchFamily="34" charset="0"/>
                        <a:cs typeface="Segoe UI" panose="020B0502040204020203" pitchFamily="34" charset="0"/>
                      </a:endParaRPr>
                    </a:p>
                    <a:p>
                      <a:pPr marL="0" indent="0" algn="l">
                        <a:lnSpc>
                          <a:spcPts val="730"/>
                        </a:lnSpc>
                        <a:buNone/>
                      </a:pPr>
                      <a:r>
                        <a:rPr lang="en-US" sz="540" dirty="0">
                          <a:solidFill>
                            <a:srgbClr val="5A656D"/>
                          </a:solidFill>
                          <a:latin typeface="Segoe UI" panose="020B0502040204020203" pitchFamily="34" charset="0"/>
                          <a:ea typeface="Segoe UI" panose="020B0502040204020203" pitchFamily="34" charset="-122"/>
                          <a:cs typeface="Segoe UI" panose="020B0502040204020203" pitchFamily="34" charset="-120"/>
                        </a:rPr>
                        <a:t>$1.50/$9/M tok · 快 4× · 原生多模态</a:t>
                      </a:r>
                      <a:endParaRPr lang="en-US" sz="540" dirty="0">
                        <a:latin typeface="Segoe UI" panose="020B0502040204020203" pitchFamily="34" charset="0"/>
                        <a:ea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22581" marR="122581" marT="73549" marB="73549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4903" cap="flat" cmpd="sng" algn="ctr">
                      <a:solidFill>
                        <a:srgbClr val="D9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730"/>
                        </a:lnSpc>
                        <a:buNone/>
                      </a:pPr>
                      <a:r>
                        <a:rPr lang="en-US" sz="540" b="1" dirty="0">
                          <a:solidFill>
                            <a:srgbClr val="121C23"/>
                          </a:solidFill>
                          <a:latin typeface="Segoe UI" panose="020B0502040204020203" pitchFamily="34" charset="0"/>
                          <a:ea typeface="Segoe UI" panose="020B0502040204020203" pitchFamily="34" charset="-122"/>
                          <a:cs typeface="Segoe UI" panose="020B0502040204020203" pitchFamily="34" charset="-120"/>
                        </a:rPr>
                        <a:t>中端</a:t>
                      </a:r>
                      <a:endParaRPr lang="en-US" sz="540" dirty="0">
                        <a:latin typeface="Segoe UI" panose="020B0502040204020203" pitchFamily="34" charset="0"/>
                        <a:ea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22581" marR="122581" marT="73549" marB="73549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4903" cap="flat" cmpd="sng" algn="ctr">
                      <a:solidFill>
                        <a:srgbClr val="D9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730"/>
                        </a:lnSpc>
                        <a:buNone/>
                      </a:pPr>
                      <a:r>
                        <a:rPr lang="en-US" sz="540" dirty="0">
                          <a:solidFill>
                            <a:srgbClr val="121C23"/>
                          </a:solidFill>
                          <a:latin typeface="Segoe UI" panose="020B0502040204020203" pitchFamily="34" charset="0"/>
                          <a:ea typeface="Segoe UI" panose="020B0502040204020203" pitchFamily="34" charset="-122"/>
                          <a:cs typeface="Segoe UI" panose="020B0502040204020203" pitchFamily="34" charset="-120"/>
                        </a:rPr>
                        <a:t>GPT-5.5（ChatGPT 默认）</a:t>
                      </a:r>
                      <a:endParaRPr lang="en-US" sz="540" dirty="0">
                        <a:latin typeface="Segoe UI" panose="020B0502040204020203" pitchFamily="34" charset="0"/>
                        <a:ea typeface="Segoe UI" panose="020B0502040204020203" pitchFamily="34" charset="0"/>
                        <a:cs typeface="Segoe UI" panose="020B0502040204020203" pitchFamily="34" charset="0"/>
                      </a:endParaRPr>
                    </a:p>
                    <a:p>
                      <a:pPr marL="0" indent="0" algn="l">
                        <a:lnSpc>
                          <a:spcPts val="730"/>
                        </a:lnSpc>
                        <a:buNone/>
                      </a:pPr>
                      <a:r>
                        <a:rPr lang="en-US" sz="540" dirty="0">
                          <a:solidFill>
                            <a:srgbClr val="121C23"/>
                          </a:solidFill>
                          <a:latin typeface="Segoe UI" panose="020B0502040204020203" pitchFamily="34" charset="0"/>
                          <a:ea typeface="Segoe UI" panose="020B0502040204020203" pitchFamily="34" charset="-122"/>
                          <a:cs typeface="Segoe UI" panose="020B0502040204020203" pitchFamily="34" charset="-120"/>
                        </a:rPr>
                        <a:t>Luna 预算版 $1/$6</a:t>
                      </a:r>
                      <a:endParaRPr lang="en-US" sz="540" dirty="0">
                        <a:latin typeface="Segoe UI" panose="020B0502040204020203" pitchFamily="34" charset="0"/>
                        <a:ea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22581" marR="122581" marT="73549" marB="73549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4903" cap="flat" cmpd="sng" algn="ctr">
                      <a:solidFill>
                        <a:srgbClr val="D9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730"/>
                        </a:lnSpc>
                        <a:buNone/>
                      </a:pPr>
                      <a:r>
                        <a:rPr lang="en-US" sz="540" dirty="0">
                          <a:solidFill>
                            <a:srgbClr val="121C23"/>
                          </a:solidFill>
                          <a:latin typeface="Segoe UI" panose="020B0502040204020203" pitchFamily="34" charset="0"/>
                          <a:ea typeface="Segoe UI" panose="020B0502040204020203" pitchFamily="34" charset="-122"/>
                          <a:cs typeface="Segoe UI" panose="020B0502040204020203" pitchFamily="34" charset="-120"/>
                        </a:rPr>
                        <a:t>Sonnet 5 — 近 Opus 性能</a:t>
                      </a:r>
                      <a:endParaRPr lang="en-US" sz="540" dirty="0">
                        <a:latin typeface="Segoe UI" panose="020B0502040204020203" pitchFamily="34" charset="0"/>
                        <a:ea typeface="Segoe UI" panose="020B0502040204020203" pitchFamily="34" charset="0"/>
                        <a:cs typeface="Segoe UI" panose="020B0502040204020203" pitchFamily="34" charset="0"/>
                      </a:endParaRPr>
                    </a:p>
                    <a:p>
                      <a:pPr marL="0" indent="0" algn="l">
                        <a:lnSpc>
                          <a:spcPts val="730"/>
                        </a:lnSpc>
                        <a:buNone/>
                      </a:pPr>
                      <a:r>
                        <a:rPr lang="en-US" sz="540" dirty="0">
                          <a:solidFill>
                            <a:srgbClr val="121C23"/>
                          </a:solidFill>
                          <a:latin typeface="Segoe UI" panose="020B0502040204020203" pitchFamily="34" charset="0"/>
                          <a:ea typeface="Segoe UI" panose="020B0502040204020203" pitchFamily="34" charset="-122"/>
                          <a:cs typeface="Segoe UI" panose="020B0502040204020203" pitchFamily="34" charset="-120"/>
                        </a:rPr>
                        <a:t>Sonnet 价格 · ~63% Agent 编码</a:t>
                      </a:r>
                      <a:endParaRPr lang="en-US" sz="540" dirty="0">
                        <a:latin typeface="Segoe UI" panose="020B0502040204020203" pitchFamily="34" charset="0"/>
                        <a:ea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22581" marR="122581" marT="73549" marB="73549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4903" cap="flat" cmpd="sng" algn="ctr">
                      <a:solidFill>
                        <a:srgbClr val="D9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730"/>
                        </a:lnSpc>
                        <a:buNone/>
                      </a:pPr>
                      <a:r>
                        <a:rPr lang="en-US" sz="540" dirty="0">
                          <a:solidFill>
                            <a:srgbClr val="5A656D"/>
                          </a:solidFill>
                          <a:latin typeface="Segoe UI" panose="020B0502040204020203" pitchFamily="34" charset="0"/>
                          <a:ea typeface="Segoe UI" panose="020B0502040204020203" pitchFamily="34" charset="-122"/>
                          <a:cs typeface="Segoe UI" panose="020B0502040204020203" pitchFamily="34" charset="-120"/>
                        </a:rPr>
                        <a:t>Gemini 3.5 Pro（2M 上下文）</a:t>
                      </a:r>
                      <a:endParaRPr lang="en-US" sz="540" dirty="0">
                        <a:latin typeface="Segoe UI" panose="020B0502040204020203" pitchFamily="34" charset="0"/>
                        <a:ea typeface="Segoe UI" panose="020B0502040204020203" pitchFamily="34" charset="0"/>
                        <a:cs typeface="Segoe UI" panose="020B0502040204020203" pitchFamily="34" charset="0"/>
                      </a:endParaRPr>
                    </a:p>
                    <a:p>
                      <a:pPr marL="0" indent="0" algn="l">
                        <a:lnSpc>
                          <a:spcPts val="730"/>
                        </a:lnSpc>
                        <a:buNone/>
                      </a:pPr>
                      <a:r>
                        <a:rPr lang="en-US" sz="540" dirty="0">
                          <a:solidFill>
                            <a:srgbClr val="5A656D"/>
                          </a:solidFill>
                          <a:latin typeface="Segoe UI" panose="020B0502040204020203" pitchFamily="34" charset="0"/>
                          <a:ea typeface="Segoe UI" panose="020B0502040204020203" pitchFamily="34" charset="-122"/>
                          <a:cs typeface="Segoe UI" panose="020B0502040204020203" pitchFamily="34" charset="-120"/>
                        </a:rPr>
                        <a:t>Gemini 3.1 Pro（强多模态）</a:t>
                      </a:r>
                      <a:endParaRPr lang="en-US" sz="540" dirty="0">
                        <a:latin typeface="Segoe UI" panose="020B0502040204020203" pitchFamily="34" charset="0"/>
                        <a:ea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22581" marR="122581" marT="73549" marB="73549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4903" cap="flat" cmpd="sng" algn="ctr">
                      <a:solidFill>
                        <a:srgbClr val="D9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730"/>
                        </a:lnSpc>
                        <a:buNone/>
                      </a:pPr>
                      <a:r>
                        <a:rPr lang="en-US" sz="540" b="1" dirty="0">
                          <a:solidFill>
                            <a:srgbClr val="121C23"/>
                          </a:solidFill>
                          <a:latin typeface="Segoe UI" panose="020B0502040204020203" pitchFamily="34" charset="0"/>
                          <a:ea typeface="Segoe UI" panose="020B0502040204020203" pitchFamily="34" charset="-122"/>
                          <a:cs typeface="Segoe UI" panose="020B0502040204020203" pitchFamily="34" charset="-120"/>
                        </a:rPr>
                        <a:t>优势</a:t>
                      </a:r>
                      <a:endParaRPr lang="en-US" sz="540" dirty="0">
                        <a:latin typeface="Segoe UI" panose="020B0502040204020203" pitchFamily="34" charset="0"/>
                        <a:ea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22581" marR="122581" marT="73549" marB="73549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4903" cap="flat" cmpd="sng" algn="ctr">
                      <a:solidFill>
                        <a:srgbClr val="D9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730"/>
                        </a:lnSpc>
                        <a:buNone/>
                      </a:pPr>
                      <a:r>
                        <a:rPr lang="en-US" sz="540" dirty="0">
                          <a:solidFill>
                            <a:srgbClr val="121C23"/>
                          </a:solidFill>
                          <a:latin typeface="Segoe UI" panose="020B0502040204020203" pitchFamily="34" charset="0"/>
                          <a:ea typeface="Segoe UI" panose="020B0502040204020203" pitchFamily="34" charset="-122"/>
                          <a:cs typeface="Segoe UI" panose="020B0502040204020203" pitchFamily="34" charset="-120"/>
                        </a:rPr>
                        <a:t>最广第三方生态(Store/API/Plugins)</a:t>
                      </a:r>
                      <a:endParaRPr lang="en-US" sz="540" dirty="0">
                        <a:latin typeface="Segoe UI" panose="020B0502040204020203" pitchFamily="34" charset="0"/>
                        <a:ea typeface="Segoe UI" panose="020B0502040204020203" pitchFamily="34" charset="0"/>
                        <a:cs typeface="Segoe UI" panose="020B0502040204020203" pitchFamily="34" charset="0"/>
                      </a:endParaRPr>
                    </a:p>
                    <a:p>
                      <a:pPr marL="0" indent="0" algn="l">
                        <a:lnSpc>
                          <a:spcPts val="730"/>
                        </a:lnSpc>
                        <a:buNone/>
                      </a:pPr>
                      <a:r>
                        <a:rPr lang="en-US" sz="540" dirty="0">
                          <a:solidFill>
                            <a:srgbClr val="121C23"/>
                          </a:solidFill>
                          <a:latin typeface="Segoe UI" panose="020B0502040204020203" pitchFamily="34" charset="0"/>
                          <a:ea typeface="Segoe UI" panose="020B0502040204020203" pitchFamily="34" charset="-122"/>
                          <a:cs typeface="Segoe UI" panose="020B0502040204020203" pitchFamily="34" charset="-120"/>
                        </a:rPr>
                        <a:t>消费者认知 = AI 代名词</a:t>
                      </a:r>
                      <a:endParaRPr lang="en-US" sz="540" dirty="0">
                        <a:latin typeface="Segoe UI" panose="020B0502040204020203" pitchFamily="34" charset="0"/>
                        <a:ea typeface="Segoe UI" panose="020B0502040204020203" pitchFamily="34" charset="0"/>
                        <a:cs typeface="Segoe UI" panose="020B0502040204020203" pitchFamily="34" charset="0"/>
                      </a:endParaRPr>
                    </a:p>
                    <a:p>
                      <a:pPr marL="0" indent="0" algn="l">
                        <a:lnSpc>
                          <a:spcPts val="730"/>
                        </a:lnSpc>
                        <a:buNone/>
                      </a:pPr>
                      <a:r>
                        <a:rPr lang="en-US" sz="540" dirty="0">
                          <a:solidFill>
                            <a:srgbClr val="121C23"/>
                          </a:solidFill>
                          <a:latin typeface="Segoe UI" panose="020B0502040204020203" pitchFamily="34" charset="0"/>
                          <a:ea typeface="Segoe UI" panose="020B0502040204020203" pitchFamily="34" charset="-122"/>
                          <a:cs typeface="Segoe UI" panose="020B0502040204020203" pitchFamily="34" charset="-120"/>
                        </a:rPr>
                        <a:t>快速原型验证最快</a:t>
                      </a:r>
                      <a:endParaRPr lang="en-US" sz="540" dirty="0">
                        <a:latin typeface="Segoe UI" panose="020B0502040204020203" pitchFamily="34" charset="0"/>
                        <a:ea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22581" marR="122581" marT="73549" marB="73549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4903" cap="flat" cmpd="sng" algn="ctr">
                      <a:solidFill>
                        <a:srgbClr val="D9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730"/>
                        </a:lnSpc>
                        <a:buNone/>
                      </a:pPr>
                      <a:r>
                        <a:rPr lang="en-US" sz="540" dirty="0">
                          <a:solidFill>
                            <a:srgbClr val="121C23"/>
                          </a:solidFill>
                          <a:latin typeface="Segoe UI" panose="020B0502040204020203" pitchFamily="34" charset="0"/>
                          <a:ea typeface="Segoe UI" panose="020B0502040204020203" pitchFamily="34" charset="-122"/>
                          <a:cs typeface="Segoe UI" panose="020B0502040204020203" pitchFamily="34" charset="-120"/>
                        </a:rPr>
                        <a:t>编程 Agent 行业最强</a:t>
                      </a:r>
                      <a:endParaRPr lang="en-US" sz="540" dirty="0">
                        <a:latin typeface="Segoe UI" panose="020B0502040204020203" pitchFamily="34" charset="0"/>
                        <a:ea typeface="Segoe UI" panose="020B0502040204020203" pitchFamily="34" charset="0"/>
                        <a:cs typeface="Segoe UI" panose="020B0502040204020203" pitchFamily="34" charset="0"/>
                      </a:endParaRPr>
                    </a:p>
                    <a:p>
                      <a:pPr marL="0" indent="0" algn="l">
                        <a:lnSpc>
                          <a:spcPts val="730"/>
                        </a:lnSpc>
                        <a:buNone/>
                      </a:pPr>
                      <a:r>
                        <a:rPr lang="en-US" sz="540" dirty="0">
                          <a:solidFill>
                            <a:srgbClr val="121C23"/>
                          </a:solidFill>
                          <a:latin typeface="Segoe UI" panose="020B0502040204020203" pitchFamily="34" charset="0"/>
                          <a:ea typeface="Segoe UI" panose="020B0502040204020203" pitchFamily="34" charset="-122"/>
                          <a:cs typeface="Segoe UI" panose="020B0502040204020203" pitchFamily="34" charset="-120"/>
                        </a:rPr>
                        <a:t>Claude Code 嵌入企业研发流程</a:t>
                      </a:r>
                      <a:endParaRPr lang="en-US" sz="540" dirty="0">
                        <a:latin typeface="Segoe UI" panose="020B0502040204020203" pitchFamily="34" charset="0"/>
                        <a:ea typeface="Segoe UI" panose="020B0502040204020203" pitchFamily="34" charset="0"/>
                        <a:cs typeface="Segoe UI" panose="020B0502040204020203" pitchFamily="34" charset="0"/>
                      </a:endParaRPr>
                    </a:p>
                    <a:p>
                      <a:pPr marL="0" indent="0" algn="l">
                        <a:lnSpc>
                          <a:spcPts val="730"/>
                        </a:lnSpc>
                        <a:buNone/>
                      </a:pPr>
                      <a:r>
                        <a:rPr lang="en-US" sz="540" dirty="0">
                          <a:solidFill>
                            <a:srgbClr val="121C23"/>
                          </a:solidFill>
                          <a:latin typeface="Segoe UI" panose="020B0502040204020203" pitchFamily="34" charset="0"/>
                          <a:ea typeface="Segoe UI" panose="020B0502040204020203" pitchFamily="34" charset="-122"/>
                          <a:cs typeface="Segoe UI" panose="020B0502040204020203" pitchFamily="34" charset="-120"/>
                        </a:rPr>
                        <a:t>分级安全获政府信任 · 思考链可读</a:t>
                      </a:r>
                      <a:endParaRPr lang="en-US" sz="540" dirty="0">
                        <a:latin typeface="Segoe UI" panose="020B0502040204020203" pitchFamily="34" charset="0"/>
                        <a:ea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22581" marR="122581" marT="73549" marB="73549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4903" cap="flat" cmpd="sng" algn="ctr">
                      <a:solidFill>
                        <a:srgbClr val="D9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730"/>
                        </a:lnSpc>
                        <a:buNone/>
                      </a:pPr>
                      <a:r>
                        <a:rPr lang="en-US" sz="540" dirty="0">
                          <a:solidFill>
                            <a:srgbClr val="5A656D"/>
                          </a:solidFill>
                          <a:latin typeface="Segoe UI" panose="020B0502040204020203" pitchFamily="34" charset="0"/>
                          <a:ea typeface="Segoe UI" panose="020B0502040204020203" pitchFamily="34" charset="-122"/>
                          <a:cs typeface="Segoe UI" panose="020B0502040204020203" pitchFamily="34" charset="-120"/>
                        </a:rPr>
                        <a:t>性价比最高 · 多模态原生融合</a:t>
                      </a:r>
                      <a:endParaRPr lang="en-US" sz="540" dirty="0">
                        <a:latin typeface="Segoe UI" panose="020B0502040204020203" pitchFamily="34" charset="0"/>
                        <a:ea typeface="Segoe UI" panose="020B0502040204020203" pitchFamily="34" charset="0"/>
                        <a:cs typeface="Segoe UI" panose="020B0502040204020203" pitchFamily="34" charset="0"/>
                      </a:endParaRPr>
                    </a:p>
                    <a:p>
                      <a:pPr marL="0" indent="0" algn="l">
                        <a:lnSpc>
                          <a:spcPts val="730"/>
                        </a:lnSpc>
                        <a:buNone/>
                      </a:pPr>
                      <a:r>
                        <a:rPr lang="en-US" sz="540" dirty="0">
                          <a:solidFill>
                            <a:srgbClr val="5A656D"/>
                          </a:solidFill>
                          <a:latin typeface="Segoe UI" panose="020B0502040204020203" pitchFamily="34" charset="0"/>
                          <a:ea typeface="Segoe UI" panose="020B0502040204020203" pitchFamily="34" charset="-122"/>
                          <a:cs typeface="Segoe UI" panose="020B0502040204020203" pitchFamily="34" charset="-120"/>
                        </a:rPr>
                        <a:t>分发无可匹敌(Search/Workspace)</a:t>
                      </a:r>
                      <a:endParaRPr lang="en-US" sz="540" dirty="0">
                        <a:latin typeface="Segoe UI" panose="020B0502040204020203" pitchFamily="34" charset="0"/>
                        <a:ea typeface="Segoe UI" panose="020B0502040204020203" pitchFamily="34" charset="0"/>
                        <a:cs typeface="Segoe UI" panose="020B0502040204020203" pitchFamily="34" charset="0"/>
                      </a:endParaRPr>
                    </a:p>
                    <a:p>
                      <a:pPr marL="0" indent="0" algn="l">
                        <a:lnSpc>
                          <a:spcPts val="730"/>
                        </a:lnSpc>
                        <a:buNone/>
                      </a:pPr>
                      <a:r>
                        <a:rPr lang="en-US" sz="540" dirty="0">
                          <a:solidFill>
                            <a:srgbClr val="5A656D"/>
                          </a:solidFill>
                          <a:latin typeface="Segoe UI" panose="020B0502040204020203" pitchFamily="34" charset="0"/>
                          <a:ea typeface="Segoe UI" panose="020B0502040204020203" pitchFamily="34" charset="-122"/>
                          <a:cs typeface="Segoe UI" panose="020B0502040204020203" pitchFamily="34" charset="-120"/>
                        </a:rPr>
                        <a:t>唯一全系</a:t>
                      </a:r>
                      <a:r>
                        <a:rPr lang="en-US" sz="540" b="1" dirty="0">
                          <a:solidFill>
                            <a:srgbClr val="5A656D"/>
                          </a:solidFill>
                          <a:latin typeface="Segoe UI" panose="020B0502040204020203" pitchFamily="34" charset="0"/>
                          <a:ea typeface="Segoe UI" panose="020B0502040204020203" pitchFamily="34" charset="-122"/>
                          <a:cs typeface="Segoe UI" panose="020B0502040204020203" pitchFamily="34" charset="-120"/>
                        </a:rPr>
                        <a:t>不受政府发布限制</a:t>
                      </a:r>
                      <a:endParaRPr lang="en-US" sz="540" dirty="0">
                        <a:latin typeface="Segoe UI" panose="020B0502040204020203" pitchFamily="34" charset="0"/>
                        <a:ea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22581" marR="122581" marT="73549" marB="73549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4903" cap="flat" cmpd="sng" algn="ctr">
                      <a:solidFill>
                        <a:srgbClr val="D9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730"/>
                        </a:lnSpc>
                        <a:buNone/>
                      </a:pPr>
                      <a:r>
                        <a:rPr lang="en-US" sz="540" b="1" dirty="0">
                          <a:solidFill>
                            <a:srgbClr val="121C23"/>
                          </a:solidFill>
                          <a:latin typeface="Segoe UI" panose="020B0502040204020203" pitchFamily="34" charset="0"/>
                          <a:ea typeface="Segoe UI" panose="020B0502040204020203" pitchFamily="34" charset="-122"/>
                          <a:cs typeface="Segoe UI" panose="020B0502040204020203" pitchFamily="34" charset="-120"/>
                        </a:rPr>
                        <a:t>短板</a:t>
                      </a:r>
                      <a:endParaRPr lang="en-US" sz="540" dirty="0">
                        <a:latin typeface="Segoe UI" panose="020B0502040204020203" pitchFamily="34" charset="0"/>
                        <a:ea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22581" marR="122581" marT="73549" marB="73549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4903" cap="flat" cmpd="sng" algn="ctr">
                      <a:solidFill>
                        <a:srgbClr val="D9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730"/>
                        </a:lnSpc>
                        <a:buNone/>
                      </a:pPr>
                      <a:r>
                        <a:rPr lang="en-US" sz="540" dirty="0">
                          <a:solidFill>
                            <a:srgbClr val="121C23"/>
                          </a:solidFill>
                          <a:latin typeface="Segoe UI" panose="020B0502040204020203" pitchFamily="34" charset="0"/>
                          <a:ea typeface="Segoe UI" panose="020B0502040204020203" pitchFamily="34" charset="-122"/>
                          <a:cs typeface="Segoe UI" panose="020B0502040204020203" pitchFamily="34" charset="-120"/>
                        </a:rPr>
                        <a:t>全系政府限发 · IPO 推迟至 2027</a:t>
                      </a:r>
                      <a:endParaRPr lang="en-US" sz="540" dirty="0">
                        <a:latin typeface="Segoe UI" panose="020B0502040204020203" pitchFamily="34" charset="0"/>
                        <a:ea typeface="Segoe UI" panose="020B0502040204020203" pitchFamily="34" charset="0"/>
                        <a:cs typeface="Segoe UI" panose="020B0502040204020203" pitchFamily="34" charset="0"/>
                      </a:endParaRPr>
                    </a:p>
                    <a:p>
                      <a:pPr marL="0" indent="0" algn="l">
                        <a:lnSpc>
                          <a:spcPts val="730"/>
                        </a:lnSpc>
                        <a:buNone/>
                      </a:pPr>
                      <a:r>
                        <a:rPr lang="en-US" sz="540" dirty="0">
                          <a:solidFill>
                            <a:srgbClr val="121C23"/>
                          </a:solidFill>
                          <a:latin typeface="Segoe UI" panose="020B0502040204020203" pitchFamily="34" charset="0"/>
                          <a:ea typeface="Segoe UI" panose="020B0502040204020203" pitchFamily="34" charset="-122"/>
                          <a:cs typeface="Segoe UI" panose="020B0502040204020203" pitchFamily="34" charset="-120"/>
                        </a:rPr>
                        <a:t>开源价格优势挤压 · 不开放权重</a:t>
                      </a:r>
                      <a:endParaRPr lang="en-US" sz="540" dirty="0">
                        <a:latin typeface="Segoe UI" panose="020B0502040204020203" pitchFamily="34" charset="0"/>
                        <a:ea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22581" marR="122581" marT="73549" marB="73549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4903" cap="flat" cmpd="sng" algn="ctr">
                      <a:solidFill>
                        <a:srgbClr val="D9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730"/>
                        </a:lnSpc>
                        <a:buNone/>
                      </a:pPr>
                      <a:r>
                        <a:rPr lang="en-US" sz="540" dirty="0">
                          <a:solidFill>
                            <a:srgbClr val="121C23"/>
                          </a:solidFill>
                          <a:latin typeface="Segoe UI" panose="020B0502040204020203" pitchFamily="34" charset="0"/>
                          <a:ea typeface="Segoe UI" panose="020B0502040204020203" pitchFamily="34" charset="-122"/>
                          <a:cs typeface="Segoe UI" panose="020B0502040204020203" pitchFamily="34" charset="-120"/>
                        </a:rPr>
                        <a:t>协商制发布 · C 端弱</a:t>
                      </a:r>
                      <a:endParaRPr lang="en-US" sz="540" dirty="0">
                        <a:latin typeface="Segoe UI" panose="020B0502040204020203" pitchFamily="34" charset="0"/>
                        <a:ea typeface="Segoe UI" panose="020B0502040204020203" pitchFamily="34" charset="0"/>
                        <a:cs typeface="Segoe UI" panose="020B0502040204020203" pitchFamily="34" charset="0"/>
                      </a:endParaRPr>
                    </a:p>
                    <a:p>
                      <a:pPr marL="0" indent="0" algn="l">
                        <a:lnSpc>
                          <a:spcPts val="730"/>
                        </a:lnSpc>
                        <a:buNone/>
                      </a:pPr>
                      <a:r>
                        <a:rPr lang="en-US" sz="540" dirty="0">
                          <a:solidFill>
                            <a:srgbClr val="121C23"/>
                          </a:solidFill>
                          <a:latin typeface="Segoe UI" panose="020B0502040204020203" pitchFamily="34" charset="0"/>
                          <a:ea typeface="Segoe UI" panose="020B0502040204020203" pitchFamily="34" charset="-122"/>
                          <a:cs typeface="Segoe UI" panose="020B0502040204020203" pitchFamily="34" charset="-120"/>
                        </a:rPr>
                        <a:t>Fable 5 禁令伤害可访问性信任</a:t>
                      </a:r>
                      <a:endParaRPr lang="en-US" sz="540" dirty="0">
                        <a:latin typeface="Segoe UI" panose="020B0502040204020203" pitchFamily="34" charset="0"/>
                        <a:ea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22581" marR="122581" marT="73549" marB="73549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4903" cap="flat" cmpd="sng" algn="ctr">
                      <a:solidFill>
                        <a:srgbClr val="D9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730"/>
                        </a:lnSpc>
                        <a:buNone/>
                      </a:pPr>
                      <a:r>
                        <a:rPr lang="en-US" sz="540" dirty="0">
                          <a:solidFill>
                            <a:srgbClr val="5A656D"/>
                          </a:solidFill>
                          <a:latin typeface="Segoe UI" panose="020B0502040204020203" pitchFamily="34" charset="0"/>
                          <a:ea typeface="Segoe UI" panose="020B0502040204020203" pitchFamily="34" charset="-122"/>
                          <a:cs typeface="Segoe UI" panose="020B0502040204020203" pitchFamily="34" charset="-120"/>
                        </a:rPr>
                        <a:t>执行可靠性存疑(多次延期)</a:t>
                      </a:r>
                      <a:endParaRPr lang="en-US" sz="540" dirty="0">
                        <a:latin typeface="Segoe UI" panose="020B0502040204020203" pitchFamily="34" charset="0"/>
                        <a:ea typeface="Segoe UI" panose="020B0502040204020203" pitchFamily="34" charset="0"/>
                        <a:cs typeface="Segoe UI" panose="020B0502040204020203" pitchFamily="34" charset="0"/>
                      </a:endParaRPr>
                    </a:p>
                    <a:p>
                      <a:pPr marL="0" indent="0" algn="l">
                        <a:lnSpc>
                          <a:spcPts val="730"/>
                        </a:lnSpc>
                        <a:buNone/>
                      </a:pPr>
                      <a:r>
                        <a:rPr lang="en-US" sz="540" dirty="0">
                          <a:solidFill>
                            <a:srgbClr val="5A656D"/>
                          </a:solidFill>
                          <a:latin typeface="Segoe UI" panose="020B0502040204020203" pitchFamily="34" charset="0"/>
                          <a:ea typeface="Segoe UI" panose="020B0502040204020203" pitchFamily="34" charset="-122"/>
                          <a:cs typeface="Segoe UI" panose="020B0502040204020203" pitchFamily="34" charset="-120"/>
                        </a:rPr>
                        <a:t>前沿推理略逊 · 广告与 AI 中立性冲突</a:t>
                      </a:r>
                      <a:endParaRPr lang="en-US" sz="540" dirty="0">
                        <a:latin typeface="Segoe UI" panose="020B0502040204020203" pitchFamily="34" charset="0"/>
                        <a:ea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22581" marR="122581" marT="73549" marB="73549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4903" cap="flat" cmpd="sng" algn="ctr">
                      <a:solidFill>
                        <a:srgbClr val="D9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730"/>
                        </a:lnSpc>
                        <a:buNone/>
                      </a:pPr>
                      <a:r>
                        <a:rPr lang="en-US" sz="540" b="1" dirty="0">
                          <a:solidFill>
                            <a:srgbClr val="121C23"/>
                          </a:solidFill>
                          <a:latin typeface="Segoe UI" panose="020B0502040204020203" pitchFamily="34" charset="0"/>
                          <a:ea typeface="Segoe UI" panose="020B0502040204020203" pitchFamily="34" charset="-122"/>
                          <a:cs typeface="Segoe UI" panose="020B0502040204020203" pitchFamily="34" charset="-120"/>
                        </a:rPr>
                        <a:t>政府管制</a:t>
                      </a:r>
                      <a:endParaRPr lang="en-US" sz="540" dirty="0">
                        <a:latin typeface="Segoe UI" panose="020B0502040204020203" pitchFamily="34" charset="0"/>
                        <a:ea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22581" marR="122581" marT="73549" marB="73549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4903" cap="flat" cmpd="sng" algn="ctr">
                      <a:solidFill>
                        <a:srgbClr val="D9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730"/>
                        </a:lnSpc>
                        <a:buNone/>
                      </a:pPr>
                      <a:r>
                        <a:rPr lang="en-US" sz="540" dirty="0">
                          <a:solidFill>
                            <a:srgbClr val="121C23"/>
                          </a:solidFill>
                          <a:latin typeface="Segoe UI" panose="020B0502040204020203" pitchFamily="34" charset="0"/>
                          <a:ea typeface="Segoe UI" panose="020B0502040204020203" pitchFamily="34" charset="-122"/>
                          <a:cs typeface="Segoe UI" panose="020B0502040204020203" pitchFamily="34" charset="-120"/>
                        </a:rPr>
                        <a:t>全系"High"风险标签</a:t>
                      </a:r>
                      <a:endParaRPr lang="en-US" sz="540" dirty="0">
                        <a:latin typeface="Segoe UI" panose="020B0502040204020203" pitchFamily="34" charset="0"/>
                        <a:ea typeface="Segoe UI" panose="020B0502040204020203" pitchFamily="34" charset="0"/>
                        <a:cs typeface="Segoe UI" panose="020B0502040204020203" pitchFamily="34" charset="0"/>
                      </a:endParaRPr>
                    </a:p>
                    <a:p>
                      <a:pPr marL="0" indent="0" algn="l">
                        <a:lnSpc>
                          <a:spcPts val="730"/>
                        </a:lnSpc>
                        <a:buNone/>
                      </a:pPr>
                      <a:r>
                        <a:rPr lang="en-US" sz="540" dirty="0">
                          <a:solidFill>
                            <a:srgbClr val="121C23"/>
                          </a:solidFill>
                          <a:latin typeface="Segoe UI" panose="020B0502040204020203" pitchFamily="34" charset="0"/>
                          <a:ea typeface="Segoe UI" panose="020B0502040204020203" pitchFamily="34" charset="-122"/>
                          <a:cs typeface="Segoe UI" panose="020B0502040204020203" pitchFamily="34" charset="-120"/>
                        </a:rPr>
                        <a:t>仅向 ~20 家政府机构开放</a:t>
                      </a:r>
                      <a:endParaRPr lang="en-US" sz="540" dirty="0">
                        <a:latin typeface="Segoe UI" panose="020B0502040204020203" pitchFamily="34" charset="0"/>
                        <a:ea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22581" marR="122581" marT="73549" marB="73549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4903" cap="flat" cmpd="sng" algn="ctr">
                      <a:solidFill>
                        <a:srgbClr val="D9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730"/>
                        </a:lnSpc>
                        <a:buNone/>
                      </a:pPr>
                      <a:r>
                        <a:rPr lang="en-US" sz="540" dirty="0">
                          <a:solidFill>
                            <a:srgbClr val="121C23"/>
                          </a:solidFill>
                          <a:latin typeface="Segoe UI" panose="020B0502040204020203" pitchFamily="34" charset="0"/>
                          <a:ea typeface="Segoe UI" panose="020B0502040204020203" pitchFamily="34" charset="-122"/>
                          <a:cs typeface="Segoe UI" panose="020B0502040204020203" pitchFamily="34" charset="-120"/>
                        </a:rPr>
                        <a:t>协商制发布</a:t>
                      </a:r>
                      <a:endParaRPr lang="en-US" sz="540" dirty="0">
                        <a:latin typeface="Segoe UI" panose="020B0502040204020203" pitchFamily="34" charset="0"/>
                        <a:ea typeface="Segoe UI" panose="020B0502040204020203" pitchFamily="34" charset="0"/>
                        <a:cs typeface="Segoe UI" panose="020B0502040204020203" pitchFamily="34" charset="0"/>
                      </a:endParaRPr>
                    </a:p>
                    <a:p>
                      <a:pPr marL="0" indent="0" algn="l">
                        <a:lnSpc>
                          <a:spcPts val="730"/>
                        </a:lnSpc>
                        <a:buNone/>
                      </a:pPr>
                      <a:r>
                        <a:rPr lang="en-US" sz="540" dirty="0">
                          <a:solidFill>
                            <a:srgbClr val="121C23"/>
                          </a:solidFill>
                          <a:latin typeface="Segoe UI" panose="020B0502040204020203" pitchFamily="34" charset="0"/>
                          <a:ea typeface="Segoe UI" panose="020B0502040204020203" pitchFamily="34" charset="-122"/>
                          <a:cs typeface="Segoe UI" panose="020B0502040204020203" pitchFamily="34" charset="-120"/>
                        </a:rPr>
                        <a:t>Mythos 5 仅限 ~100 家合作方</a:t>
                      </a:r>
                      <a:endParaRPr lang="en-US" sz="540" dirty="0">
                        <a:latin typeface="Segoe UI" panose="020B0502040204020203" pitchFamily="34" charset="0"/>
                        <a:ea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22581" marR="122581" marT="73549" marB="73549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4903" cap="flat" cmpd="sng" algn="ctr">
                      <a:solidFill>
                        <a:srgbClr val="D9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730"/>
                        </a:lnSpc>
                        <a:buNone/>
                      </a:pPr>
                      <a:r>
                        <a:rPr lang="en-US" sz="540" b="1" dirty="0">
                          <a:solidFill>
                            <a:srgbClr val="5A656D"/>
                          </a:solidFill>
                          <a:latin typeface="Segoe UI" panose="020B0502040204020203" pitchFamily="34" charset="0"/>
                          <a:ea typeface="Segoe UI" panose="020B0502040204020203" pitchFamily="34" charset="-122"/>
                          <a:cs typeface="Segoe UI" panose="020B0502040204020203" pitchFamily="34" charset="-120"/>
                        </a:rPr>
                        <a:t>不受限</a:t>
                      </a:r>
                      <a:endParaRPr lang="en-US" sz="540" dirty="0">
                        <a:latin typeface="Segoe UI" panose="020B0502040204020203" pitchFamily="34" charset="0"/>
                        <a:ea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22581" marR="122581" marT="73549" marB="73549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4903" cap="flat" cmpd="sng" algn="ctr">
                      <a:solidFill>
                        <a:srgbClr val="D9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730"/>
                        </a:lnSpc>
                        <a:buNone/>
                      </a:pPr>
                      <a:r>
                        <a:rPr lang="en-US" sz="540" b="1" dirty="0">
                          <a:solidFill>
                            <a:srgbClr val="121C23"/>
                          </a:solidFill>
                          <a:latin typeface="Segoe UI" panose="020B0502040204020203" pitchFamily="34" charset="0"/>
                          <a:ea typeface="Segoe UI" panose="020B0502040204020203" pitchFamily="34" charset="-122"/>
                          <a:cs typeface="Segoe UI" panose="020B0502040204020203" pitchFamily="34" charset="-120"/>
                        </a:rPr>
                        <a:t>学术</a:t>
                      </a:r>
                      <a:endParaRPr lang="en-US" sz="540" dirty="0">
                        <a:latin typeface="Segoe UI" panose="020B0502040204020203" pitchFamily="34" charset="0"/>
                        <a:ea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22581" marR="122581" marT="73549" marB="73549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4903" cap="flat" cmpd="sng" algn="ctr">
                      <a:solidFill>
                        <a:srgbClr val="D9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730"/>
                        </a:lnSpc>
                        <a:buNone/>
                      </a:pPr>
                      <a:r>
                        <a:rPr lang="en-US" sz="540" dirty="0">
                          <a:solidFill>
                            <a:srgbClr val="121C23"/>
                          </a:solidFill>
                          <a:latin typeface="Segoe UI" panose="020B0502040204020203" pitchFamily="34" charset="0"/>
                          <a:ea typeface="Segoe UI" panose="020B0502040204020203" pitchFamily="34" charset="-122"/>
                          <a:cs typeface="Segoe UI" panose="020B0502040204020203" pitchFamily="34" charset="-120"/>
                        </a:rPr>
                        <a:t>中等：API 贵 · 不开放权重</a:t>
                      </a:r>
                      <a:endParaRPr lang="en-US" sz="540" dirty="0">
                        <a:latin typeface="Segoe UI" panose="020B0502040204020203" pitchFamily="34" charset="0"/>
                        <a:ea typeface="Segoe UI" panose="020B0502040204020203" pitchFamily="34" charset="0"/>
                        <a:cs typeface="Segoe UI" panose="020B0502040204020203" pitchFamily="34" charset="0"/>
                      </a:endParaRPr>
                    </a:p>
                    <a:p>
                      <a:pPr marL="0" indent="0" algn="l">
                        <a:lnSpc>
                          <a:spcPts val="730"/>
                        </a:lnSpc>
                        <a:buNone/>
                      </a:pPr>
                      <a:r>
                        <a:rPr lang="en-US" sz="540" dirty="0">
                          <a:solidFill>
                            <a:srgbClr val="121C23"/>
                          </a:solidFill>
                          <a:latin typeface="Segoe UI" panose="020B0502040204020203" pitchFamily="34" charset="0"/>
                          <a:ea typeface="Segoe UI" panose="020B0502040204020203" pitchFamily="34" charset="-122"/>
                          <a:cs typeface="Segoe UI" panose="020B0502040204020203" pitchFamily="34" charset="-120"/>
                        </a:rPr>
                        <a:t>原型开发最快</a:t>
                      </a:r>
                      <a:endParaRPr lang="en-US" sz="540" dirty="0">
                        <a:latin typeface="Segoe UI" panose="020B0502040204020203" pitchFamily="34" charset="0"/>
                        <a:ea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22581" marR="122581" marT="73549" marB="73549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4903" cap="flat" cmpd="sng" algn="ctr">
                      <a:solidFill>
                        <a:srgbClr val="D9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730"/>
                        </a:lnSpc>
                        <a:buNone/>
                      </a:pPr>
                      <a:r>
                        <a:rPr lang="en-US" sz="540" dirty="0">
                          <a:solidFill>
                            <a:srgbClr val="121C23"/>
                          </a:solidFill>
                          <a:latin typeface="Segoe UI" panose="020B0502040204020203" pitchFamily="34" charset="0"/>
                          <a:ea typeface="Segoe UI" panose="020B0502040204020203" pitchFamily="34" charset="-122"/>
                          <a:cs typeface="Segoe UI" panose="020B0502040204020203" pitchFamily="34" charset="-120"/>
                        </a:rPr>
                        <a:t>中高：思考链可读 · 闭源</a:t>
                      </a:r>
                      <a:endParaRPr lang="en-US" sz="540" dirty="0">
                        <a:latin typeface="Segoe UI" panose="020B0502040204020203" pitchFamily="34" charset="0"/>
                        <a:ea typeface="Segoe UI" panose="020B0502040204020203" pitchFamily="34" charset="0"/>
                        <a:cs typeface="Segoe UI" panose="020B0502040204020203" pitchFamily="34" charset="0"/>
                      </a:endParaRPr>
                    </a:p>
                    <a:p>
                      <a:pPr marL="0" indent="0" algn="l">
                        <a:lnSpc>
                          <a:spcPts val="730"/>
                        </a:lnSpc>
                        <a:buNone/>
                      </a:pPr>
                      <a:r>
                        <a:rPr lang="en-US" sz="540" dirty="0">
                          <a:solidFill>
                            <a:srgbClr val="121C23"/>
                          </a:solidFill>
                          <a:latin typeface="Segoe UI" panose="020B0502040204020203" pitchFamily="34" charset="0"/>
                          <a:ea typeface="Segoe UI" panose="020B0502040204020203" pitchFamily="34" charset="-122"/>
                          <a:cs typeface="Segoe UI" panose="020B0502040204020203" pitchFamily="34" charset="-120"/>
                        </a:rPr>
                        <a:t>编程+长文档最佳</a:t>
                      </a:r>
                      <a:endParaRPr lang="en-US" sz="540" dirty="0">
                        <a:latin typeface="Segoe UI" panose="020B0502040204020203" pitchFamily="34" charset="0"/>
                        <a:ea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22581" marR="122581" marT="73549" marB="73549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4903" cap="flat" cmpd="sng" algn="ctr">
                      <a:solidFill>
                        <a:srgbClr val="D9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730"/>
                        </a:lnSpc>
                        <a:buNone/>
                      </a:pPr>
                      <a:r>
                        <a:rPr lang="en-US" sz="540" b="1" dirty="0">
                          <a:solidFill>
                            <a:srgbClr val="5A656D"/>
                          </a:solidFill>
                          <a:latin typeface="Segoe UI" panose="020B0502040204020203" pitchFamily="34" charset="0"/>
                          <a:ea typeface="Segoe UI" panose="020B0502040204020203" pitchFamily="34" charset="-122"/>
                          <a:cs typeface="Segoe UI" panose="020B0502040204020203" pitchFamily="34" charset="-120"/>
                        </a:rPr>
                        <a:t>最高</a:t>
                      </a:r>
                      <a:r>
                        <a:rPr lang="en-US" sz="540" dirty="0">
                          <a:solidFill>
                            <a:srgbClr val="5A656D"/>
                          </a:solidFill>
                          <a:latin typeface="Segoe UI" panose="020B0502040204020203" pitchFamily="34" charset="0"/>
                          <a:ea typeface="Segoe UI" panose="020B0502040204020203" pitchFamily="34" charset="-122"/>
                          <a:cs typeface="Segoe UI" panose="020B0502040204020203" pitchFamily="34" charset="-120"/>
                        </a:rPr>
                        <a:t>：Flash 便宜+免费额度</a:t>
                      </a:r>
                      <a:endParaRPr lang="en-US" sz="540" dirty="0">
                        <a:latin typeface="Segoe UI" panose="020B0502040204020203" pitchFamily="34" charset="0"/>
                        <a:ea typeface="Segoe UI" panose="020B0502040204020203" pitchFamily="34" charset="0"/>
                        <a:cs typeface="Segoe UI" panose="020B0502040204020203" pitchFamily="34" charset="0"/>
                      </a:endParaRPr>
                    </a:p>
                    <a:p>
                      <a:pPr marL="0" indent="0" algn="l">
                        <a:lnSpc>
                          <a:spcPts val="730"/>
                        </a:lnSpc>
                        <a:buNone/>
                      </a:pPr>
                      <a:r>
                        <a:rPr lang="en-US" sz="540" dirty="0">
                          <a:solidFill>
                            <a:srgbClr val="5A656D"/>
                          </a:solidFill>
                          <a:latin typeface="Segoe UI" panose="020B0502040204020203" pitchFamily="34" charset="0"/>
                          <a:ea typeface="Segoe UI" panose="020B0502040204020203" pitchFamily="34" charset="-122"/>
                          <a:cs typeface="Segoe UI" panose="020B0502040204020203" pitchFamily="34" charset="-120"/>
                        </a:rPr>
                        <a:t>日常研究首选</a:t>
                      </a:r>
                      <a:endParaRPr lang="en-US" sz="540" dirty="0">
                        <a:latin typeface="Segoe UI" panose="020B0502040204020203" pitchFamily="34" charset="0"/>
                        <a:ea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22581" marR="122581" marT="73549" marB="73549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4903" cap="flat" cmpd="sng" algn="ctr">
                      <a:solidFill>
                        <a:srgbClr val="D9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730"/>
                        </a:lnSpc>
                        <a:buNone/>
                      </a:pPr>
                      <a:r>
                        <a:rPr lang="en-US" sz="540" b="1" dirty="0">
                          <a:solidFill>
                            <a:srgbClr val="121C23"/>
                          </a:solidFill>
                          <a:latin typeface="Segoe UI" panose="020B0502040204020203" pitchFamily="34" charset="0"/>
                          <a:ea typeface="Segoe UI" panose="020B0502040204020203" pitchFamily="34" charset="-122"/>
                          <a:cs typeface="Segoe UI" panose="020B0502040204020203" pitchFamily="34" charset="-120"/>
                        </a:rPr>
                        <a:t>场景</a:t>
                      </a:r>
                      <a:endParaRPr lang="en-US" sz="540" dirty="0">
                        <a:latin typeface="Segoe UI" panose="020B0502040204020203" pitchFamily="34" charset="0"/>
                        <a:ea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22581" marR="122581" marT="73549" marB="73549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4903" cap="flat" cmpd="sng" algn="ctr">
                      <a:solidFill>
                        <a:srgbClr val="D9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730"/>
                        </a:lnSpc>
                        <a:buNone/>
                      </a:pPr>
                      <a:r>
                        <a:rPr lang="en-US" sz="540" dirty="0">
                          <a:solidFill>
                            <a:srgbClr val="121C23"/>
                          </a:solidFill>
                          <a:latin typeface="Segoe UI" panose="020B0502040204020203" pitchFamily="34" charset="0"/>
                          <a:ea typeface="Segoe UI" panose="020B0502040204020203" pitchFamily="34" charset="-122"/>
                          <a:cs typeface="Segoe UI" panose="020B0502040204020203" pitchFamily="34" charset="-120"/>
                        </a:rPr>
                        <a:t>通用对话 · 生态整合</a:t>
                      </a:r>
                      <a:endParaRPr lang="en-US" sz="540" dirty="0">
                        <a:latin typeface="Segoe UI" panose="020B0502040204020203" pitchFamily="34" charset="0"/>
                        <a:ea typeface="Segoe UI" panose="020B0502040204020203" pitchFamily="34" charset="0"/>
                        <a:cs typeface="Segoe UI" panose="020B0502040204020203" pitchFamily="34" charset="0"/>
                      </a:endParaRPr>
                    </a:p>
                    <a:p>
                      <a:pPr marL="0" indent="0" algn="l">
                        <a:lnSpc>
                          <a:spcPts val="730"/>
                        </a:lnSpc>
                        <a:buNone/>
                      </a:pPr>
                      <a:r>
                        <a:rPr lang="en-US" sz="540" dirty="0">
                          <a:solidFill>
                            <a:srgbClr val="121C23"/>
                          </a:solidFill>
                          <a:latin typeface="Segoe UI" panose="020B0502040204020203" pitchFamily="34" charset="0"/>
                          <a:ea typeface="Segoe UI" panose="020B0502040204020203" pitchFamily="34" charset="-122"/>
                          <a:cs typeface="Segoe UI" panose="020B0502040204020203" pitchFamily="34" charset="-120"/>
                        </a:rPr>
                        <a:t>快速原型验证</a:t>
                      </a:r>
                      <a:endParaRPr lang="en-US" sz="540" dirty="0">
                        <a:latin typeface="Segoe UI" panose="020B0502040204020203" pitchFamily="34" charset="0"/>
                        <a:ea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22581" marR="122581" marT="73549" marB="73549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4903" cap="flat" cmpd="sng" algn="ctr">
                      <a:solidFill>
                        <a:srgbClr val="D9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730"/>
                        </a:lnSpc>
                        <a:buNone/>
                      </a:pPr>
                      <a:r>
                        <a:rPr lang="en-US" sz="540" dirty="0">
                          <a:solidFill>
                            <a:srgbClr val="121C23"/>
                          </a:solidFill>
                          <a:latin typeface="Segoe UI" panose="020B0502040204020203" pitchFamily="34" charset="0"/>
                          <a:ea typeface="Segoe UI" panose="020B0502040204020203" pitchFamily="34" charset="-122"/>
                          <a:cs typeface="Segoe UI" panose="020B0502040204020203" pitchFamily="34" charset="-120"/>
                        </a:rPr>
                        <a:t>编程 Agent · 长文档分析</a:t>
                      </a:r>
                      <a:endParaRPr lang="en-US" sz="540" dirty="0">
                        <a:latin typeface="Segoe UI" panose="020B0502040204020203" pitchFamily="34" charset="0"/>
                        <a:ea typeface="Segoe UI" panose="020B0502040204020203" pitchFamily="34" charset="0"/>
                        <a:cs typeface="Segoe UI" panose="020B0502040204020203" pitchFamily="34" charset="0"/>
                      </a:endParaRPr>
                    </a:p>
                    <a:p>
                      <a:pPr marL="0" indent="0" algn="l">
                        <a:lnSpc>
                          <a:spcPts val="730"/>
                        </a:lnSpc>
                        <a:buNone/>
                      </a:pPr>
                      <a:r>
                        <a:rPr lang="en-US" sz="540" dirty="0">
                          <a:solidFill>
                            <a:srgbClr val="121C23"/>
                          </a:solidFill>
                          <a:latin typeface="Segoe UI" panose="020B0502040204020203" pitchFamily="34" charset="0"/>
                          <a:ea typeface="Segoe UI" panose="020B0502040204020203" pitchFamily="34" charset="-122"/>
                          <a:cs typeface="Segoe UI" panose="020B0502040204020203" pitchFamily="34" charset="-120"/>
                        </a:rPr>
                        <a:t>企业研发流程</a:t>
                      </a:r>
                      <a:endParaRPr lang="en-US" sz="540" dirty="0">
                        <a:latin typeface="Segoe UI" panose="020B0502040204020203" pitchFamily="34" charset="0"/>
                        <a:ea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22581" marR="122581" marT="73549" marB="73549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4903" cap="flat" cmpd="sng" algn="ctr">
                      <a:solidFill>
                        <a:srgbClr val="D9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730"/>
                        </a:lnSpc>
                        <a:buNone/>
                      </a:pPr>
                      <a:r>
                        <a:rPr lang="en-US" sz="540" dirty="0">
                          <a:solidFill>
                            <a:srgbClr val="5A656D"/>
                          </a:solidFill>
                          <a:latin typeface="Segoe UI" panose="020B0502040204020203" pitchFamily="34" charset="0"/>
                          <a:ea typeface="Segoe UI" panose="020B0502040204020203" pitchFamily="34" charset="-122"/>
                          <a:cs typeface="Segoe UI" panose="020B0502040204020203" pitchFamily="34" charset="-120"/>
                        </a:rPr>
                        <a:t>多模态 · 高并发/吞吐</a:t>
                      </a:r>
                      <a:endParaRPr lang="en-US" sz="540" dirty="0">
                        <a:latin typeface="Segoe UI" panose="020B0502040204020203" pitchFamily="34" charset="0"/>
                        <a:ea typeface="Segoe UI" panose="020B0502040204020203" pitchFamily="34" charset="0"/>
                        <a:cs typeface="Segoe UI" panose="020B0502040204020203" pitchFamily="34" charset="0"/>
                      </a:endParaRPr>
                    </a:p>
                    <a:p>
                      <a:pPr marL="0" indent="0" algn="l">
                        <a:lnSpc>
                          <a:spcPts val="730"/>
                        </a:lnSpc>
                        <a:buNone/>
                      </a:pPr>
                      <a:r>
                        <a:rPr lang="en-US" sz="540" dirty="0">
                          <a:solidFill>
                            <a:srgbClr val="5A656D"/>
                          </a:solidFill>
                          <a:latin typeface="Segoe UI" panose="020B0502040204020203" pitchFamily="34" charset="0"/>
                          <a:ea typeface="Segoe UI" panose="020B0502040204020203" pitchFamily="34" charset="-122"/>
                          <a:cs typeface="Segoe UI" panose="020B0502040204020203" pitchFamily="34" charset="-120"/>
                        </a:rPr>
                        <a:t>多语种/全球化</a:t>
                      </a:r>
                      <a:endParaRPr lang="en-US" sz="540" dirty="0">
                        <a:latin typeface="Segoe UI" panose="020B0502040204020203" pitchFamily="34" charset="0"/>
                        <a:ea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22581" marR="122581" marT="73549" marB="73549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4903" cap="flat" cmpd="sng" algn="ctr">
                      <a:solidFill>
                        <a:srgbClr val="D9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id="7" name="Shape 10"/>
          <p:cNvSpPr/>
          <p:nvPr/>
        </p:nvSpPr>
        <p:spPr>
          <a:xfrm>
            <a:off x="476250" y="4384663"/>
            <a:ext cx="8191500" cy="366712"/>
          </a:xfrm>
          <a:prstGeom prst="roundRect">
            <a:avLst>
              <a:gd name="adj" fmla="val 8022"/>
            </a:avLst>
          </a:prstGeom>
          <a:solidFill>
            <a:srgbClr val="5A845A">
              <a:alpha val="12157"/>
            </a:srgbClr>
          </a:solidFill>
          <a:ln w="4903">
            <a:solidFill>
              <a:srgbClr val="5C875C">
                <a:alpha val="25098"/>
              </a:srgbClr>
            </a:solidFill>
            <a:prstDash val="solid"/>
          </a:ln>
        </p:spPr>
      </p:sp>
      <p:sp>
        <p:nvSpPr>
          <p:cNvPr id="8" name="TextBox 12"/>
          <p:cNvSpPr/>
          <p:nvPr/>
        </p:nvSpPr>
        <p:spPr>
          <a:xfrm>
            <a:off x="595312" y="4446575"/>
            <a:ext cx="7953376" cy="25209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985"/>
              </a:lnSpc>
              <a:buNone/>
            </a:pPr>
            <a:r>
              <a:rPr lang="en-US" sz="655" b="1" dirty="0">
                <a:solidFill>
                  <a:srgbClr val="121C23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学术选型：</a:t>
            </a:r>
            <a:r>
              <a:rPr lang="en-US" sz="655" dirty="0">
                <a:solidFill>
                  <a:srgbClr val="121C23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日常研究 → Gemini Flash（最低价+免费额度）| 编程/长文 → Anthropic Sonnet（性价比最好的编程）| 原型验证 → OpenAI（生态最广）。三家顶层 Elo 分差 &lt; 20，体感差异不大——</a:t>
            </a:r>
            <a:r>
              <a:rPr lang="en-US" sz="655" b="1" dirty="0">
                <a:solidFill>
                  <a:srgbClr val="121C23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选模型的关键是场景匹配而非绝对排名。</a:t>
            </a:r>
            <a:endParaRPr lang="en-US" sz="655" dirty="0"/>
          </a:p>
        </p:txBody>
      </p:sp>
      <p:pic>
        <p:nvPicPr>
          <p:cNvPr id="9" name="Picture 16" descr="__type_image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76250" y="4819650"/>
            <a:ext cx="8191500" cy="171450"/>
          </a:xfrm>
          <a:prstGeom prst="rect">
            <a:avLst/>
          </a:prstGeom>
        </p:spPr>
      </p:pic>
      <p:sp>
        <p:nvSpPr>
          <p:cNvPr id="10" name="TextBox 16"/>
          <p:cNvSpPr/>
          <p:nvPr/>
        </p:nvSpPr>
        <p:spPr>
          <a:xfrm>
            <a:off x="476250" y="4819650"/>
            <a:ext cx="8191500" cy="171450"/>
          </a:xfrm>
          <a:prstGeom prst="rect">
            <a:avLst/>
          </a:prstGeom>
          <a:noFill/>
        </p:spPr>
        <p:txBody>
          <a:bodyPr wrap="square" lIns="0" tIns="68645" rIns="0" bIns="0" rtlCol="0" anchor="t">
            <a:spAutoFit/>
          </a:bodyPr>
          <a:lstStyle/>
          <a:p>
            <a:pPr marL="0" indent="0" algn="l">
              <a:lnSpc>
                <a:spcPts val="810"/>
              </a:lnSpc>
              <a:buNone/>
            </a:pPr>
            <a:r>
              <a:rPr lang="en-US" sz="540" kern="0" spc="22" dirty="0">
                <a:solidFill>
                  <a:srgbClr val="5A656D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海外三巨头 = 三种完全不同的战略。OpenAI(生态广度) · Anthropic(企业深度) · Google(分发碾压) | 没有谁碾压谁，只有谁更适合你的任务</a:t>
            </a:r>
            <a:endParaRPr lang="en-US" sz="54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6F9FC"/>
          </a:solidFill>
        </p:spPr>
      </p:sp>
      <p:sp>
        <p:nvSpPr>
          <p:cNvPr id="3" name="Shape 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6F9FC"/>
          </a:solidFill>
        </p:spPr>
      </p:sp>
      <p:pic>
        <p:nvPicPr>
          <p:cNvPr id="4" name="Picture 4" descr="__type_image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76250" y="381000"/>
            <a:ext cx="8191500" cy="390525"/>
          </a:xfrm>
          <a:prstGeom prst="rect">
            <a:avLst/>
          </a:prstGeom>
        </p:spPr>
      </p:pic>
      <p:sp>
        <p:nvSpPr>
          <p:cNvPr id="5" name="TextBox 4"/>
          <p:cNvSpPr/>
          <p:nvPr/>
        </p:nvSpPr>
        <p:spPr>
          <a:xfrm>
            <a:off x="476250" y="381000"/>
            <a:ext cx="8191500" cy="390525"/>
          </a:xfrm>
          <a:prstGeom prst="rect">
            <a:avLst/>
          </a:prstGeom>
          <a:noFill/>
        </p:spPr>
        <p:txBody>
          <a:bodyPr wrap="square" lIns="0" tIns="0" rIns="0" bIns="98065" rtlCol="0" anchor="t">
            <a:spAutoFit/>
          </a:bodyPr>
          <a:lstStyle/>
          <a:p>
            <a:pPr marL="0" indent="0" algn="l">
              <a:lnSpc>
                <a:spcPts val="2315"/>
              </a:lnSpc>
              <a:buNone/>
            </a:pPr>
            <a:r>
              <a:rPr lang="en-US" sz="1545" b="1" kern="0" spc="-23" dirty="0">
                <a:solidFill>
                  <a:srgbClr val="121C23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中国大模型市场：五强争霸格局</a:t>
            </a:r>
            <a:endParaRPr lang="en-US" sz="1545" dirty="0"/>
          </a:p>
        </p:txBody>
      </p:sp>
      <p:sp>
        <p:nvSpPr>
          <p:cNvPr id="6" name="Shape 8"/>
          <p:cNvSpPr/>
          <p:nvPr/>
        </p:nvSpPr>
        <p:spPr>
          <a:xfrm>
            <a:off x="476250" y="1000125"/>
            <a:ext cx="8191500" cy="457200"/>
          </a:xfrm>
          <a:prstGeom prst="roundRect">
            <a:avLst>
              <a:gd name="adj" fmla="val 6435"/>
            </a:avLst>
          </a:prstGeom>
          <a:solidFill>
            <a:srgbClr val="FFFFFF"/>
          </a:solidFill>
        </p:spPr>
      </p:sp>
      <p:pic>
        <p:nvPicPr>
          <p:cNvPr id="7" name="Picture 8" descr="__type_image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76250" y="1000125"/>
            <a:ext cx="8191500" cy="457200"/>
          </a:xfrm>
          <a:prstGeom prst="rect">
            <a:avLst/>
          </a:prstGeom>
        </p:spPr>
      </p:pic>
      <p:sp>
        <p:nvSpPr>
          <p:cNvPr id="8" name="TextBox 10"/>
          <p:cNvSpPr/>
          <p:nvPr/>
        </p:nvSpPr>
        <p:spPr>
          <a:xfrm>
            <a:off x="628650" y="1081088"/>
            <a:ext cx="7900987" cy="29527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195"/>
              </a:lnSpc>
              <a:buNone/>
            </a:pPr>
            <a:r>
              <a:rPr lang="en-US" sz="770" dirty="0">
                <a:solidFill>
                  <a:srgbClr val="121C23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2026 年 5 月第一周，国产大模型周调用量达到 </a:t>
            </a:r>
            <a:r>
              <a:rPr lang="en-US" sz="770" b="1" dirty="0">
                <a:solidFill>
                  <a:srgbClr val="121C23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7.942 万亿 Token</a:t>
            </a:r>
            <a:r>
              <a:rPr lang="en-US" sz="770" dirty="0">
                <a:solidFill>
                  <a:srgbClr val="121C23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，首次超过美国。五大厂商（字节豆包 / 深度求索 DeepSeek / 阿里通义千问 / 月之暗面 Kimi / 智谱 GLM）形成稳定的第一梯队。行业正从拼价格转向拼</a:t>
            </a:r>
            <a:r>
              <a:rPr lang="en-US" sz="770" b="1" dirty="0">
                <a:solidFill>
                  <a:srgbClr val="121C23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技术深度、场景渗透、商业化落地</a:t>
            </a:r>
            <a:r>
              <a:rPr lang="en-US" sz="770" dirty="0">
                <a:solidFill>
                  <a:srgbClr val="121C23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。</a:t>
            </a:r>
            <a:endParaRPr lang="en-US" sz="770" dirty="0"/>
          </a:p>
        </p:txBody>
      </p:sp>
      <p:graphicFrame>
        <p:nvGraphicFramePr>
          <p:cNvPr id="27" name="Table 13"/>
          <p:cNvGraphicFramePr>
            <a:graphicFrameLocks noGrp="1"/>
          </p:cNvGraphicFramePr>
          <p:nvPr/>
        </p:nvGraphicFramePr>
        <p:xfrm>
          <a:off x="476250" y="1524000"/>
          <a:ext cx="8191500" cy="914400"/>
        </p:xfrm>
        <a:graphic>
          <a:graphicData uri="http://schemas.openxmlformats.org/drawingml/2006/table">
            <a:tbl>
              <a:tblPr/>
              <a:tblGrid>
                <a:gridCol w="1704194"/>
                <a:gridCol w="2065213"/>
                <a:gridCol w="2128689"/>
                <a:gridCol w="2293404"/>
              </a:tblGrid>
              <a:tr h="0"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925"/>
                        </a:lnSpc>
                        <a:buNone/>
                      </a:pPr>
                      <a:r>
                        <a:rPr lang="en-US" sz="620" b="1" kern="0" spc="37" dirty="0">
                          <a:solidFill>
                            <a:srgbClr val="299236"/>
                          </a:solidFill>
                          <a:latin typeface="Consolas" panose="020B0609020204030204" pitchFamily="34" charset="0"/>
                          <a:ea typeface="Consolas" panose="020B0609020204030204" pitchFamily="34" charset="-122"/>
                          <a:cs typeface="Consolas" panose="020B0609020204030204" pitchFamily="34" charset="-120"/>
                        </a:rPr>
                        <a:t>厂商</a:t>
                      </a:r>
                      <a:endParaRPr lang="en-US" sz="620" dirty="0">
                        <a:latin typeface="Consolas" panose="020B0609020204030204" pitchFamily="34" charset="0"/>
                        <a:ea typeface="Consolas" panose="020B0609020204030204" pitchFamily="34" charset="0"/>
                        <a:cs typeface="Consolas" panose="020B0609020204030204" pitchFamily="34" charset="0"/>
                      </a:endParaRPr>
                    </a:p>
                  </a:txBody>
                  <a:tcPr marL="122581" marR="122581" marT="83355" marB="8335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806" cap="flat" cmpd="sng" algn="ctr">
                      <a:solidFill>
                        <a:srgbClr val="2992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A845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1275"/>
                        </a:lnSpc>
                        <a:buNone/>
                      </a:pPr>
                      <a:r>
                        <a:rPr lang="en-US" sz="850" b="1" dirty="0">
                          <a:solidFill>
                            <a:srgbClr val="121C23"/>
                          </a:solidFill>
                          <a:latin typeface="Segoe UI" panose="020B0502040204020203" pitchFamily="34" charset="0"/>
                          <a:ea typeface="Segoe UI" panose="020B0502040204020203" pitchFamily="34" charset="-122"/>
                          <a:cs typeface="Segoe UI" panose="020B0502040204020203" pitchFamily="34" charset="-120"/>
                        </a:rPr>
                        <a:t>一句话定位</a:t>
                      </a:r>
                      <a:endParaRPr lang="en-US" sz="850" dirty="0">
                        <a:latin typeface="Segoe UI" panose="020B0502040204020203" pitchFamily="34" charset="0"/>
                        <a:ea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22581" marR="122581" marT="83355" marB="8335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806" cap="flat" cmpd="sng" algn="ctr">
                      <a:solidFill>
                        <a:srgbClr val="2992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A845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1275"/>
                        </a:lnSpc>
                        <a:buNone/>
                      </a:pPr>
                      <a:r>
                        <a:rPr lang="en-US" sz="850" b="1" dirty="0">
                          <a:solidFill>
                            <a:srgbClr val="121C23"/>
                          </a:solidFill>
                          <a:latin typeface="Segoe UI" panose="020B0502040204020203" pitchFamily="34" charset="0"/>
                          <a:ea typeface="Segoe UI" panose="020B0502040204020203" pitchFamily="34" charset="-122"/>
                          <a:cs typeface="Segoe UI" panose="020B0502040204020203" pitchFamily="34" charset="-120"/>
                        </a:rPr>
                        <a:t>最强势场景</a:t>
                      </a:r>
                      <a:endParaRPr lang="en-US" sz="850" dirty="0">
                        <a:latin typeface="Segoe UI" panose="020B0502040204020203" pitchFamily="34" charset="0"/>
                        <a:ea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22581" marR="122581" marT="83355" marB="8335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806" cap="flat" cmpd="sng" algn="ctr">
                      <a:solidFill>
                        <a:srgbClr val="2992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A845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1275"/>
                        </a:lnSpc>
                        <a:buNone/>
                      </a:pPr>
                      <a:r>
                        <a:rPr lang="en-US" sz="850" b="1" dirty="0">
                          <a:solidFill>
                            <a:srgbClr val="121C23"/>
                          </a:solidFill>
                          <a:latin typeface="Segoe UI" panose="020B0502040204020203" pitchFamily="34" charset="0"/>
                          <a:ea typeface="Segoe UI" panose="020B0502040204020203" pitchFamily="34" charset="-122"/>
                          <a:cs typeface="Segoe UI" panose="020B0502040204020203" pitchFamily="34" charset="-120"/>
                        </a:rPr>
                        <a:t>核心用户群</a:t>
                      </a:r>
                      <a:endParaRPr lang="en-US" sz="850" dirty="0">
                        <a:latin typeface="Segoe UI" panose="020B0502040204020203" pitchFamily="34" charset="0"/>
                        <a:ea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22581" marR="122581" marT="83355" marB="8335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806" cap="flat" cmpd="sng" algn="ctr">
                      <a:solidFill>
                        <a:srgbClr val="2992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A845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1040"/>
                        </a:lnSpc>
                        <a:buNone/>
                      </a:pPr>
                      <a:r>
                        <a:rPr lang="en-US" sz="695" b="1" dirty="0">
                          <a:solidFill>
                            <a:srgbClr val="121C23"/>
                          </a:solidFill>
                          <a:latin typeface="Segoe UI" panose="020B0502040204020203" pitchFamily="34" charset="0"/>
                          <a:ea typeface="Segoe UI" panose="020B0502040204020203" pitchFamily="34" charset="-122"/>
                          <a:cs typeface="Segoe UI" panose="020B0502040204020203" pitchFamily="34" charset="-120"/>
                        </a:rPr>
                        <a:t>DeepSeek</a:t>
                      </a:r>
                      <a:endParaRPr lang="en-US" sz="695" dirty="0">
                        <a:latin typeface="Segoe UI" panose="020B0502040204020203" pitchFamily="34" charset="0"/>
                        <a:ea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22581" marR="122581" marT="73549" marB="73549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4903" cap="flat" cmpd="sng" algn="ctr">
                      <a:solidFill>
                        <a:srgbClr val="D9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1040"/>
                        </a:lnSpc>
                        <a:buNone/>
                      </a:pPr>
                      <a:r>
                        <a:rPr lang="en-US" sz="695" dirty="0">
                          <a:solidFill>
                            <a:srgbClr val="121C23"/>
                          </a:solidFill>
                          <a:latin typeface="Segoe UI" panose="020B0502040204020203" pitchFamily="34" charset="0"/>
                          <a:ea typeface="Segoe UI" panose="020B0502040204020203" pitchFamily="34" charset="-122"/>
                          <a:cs typeface="Segoe UI" panose="020B0502040204020203" pitchFamily="34" charset="-120"/>
                        </a:rPr>
                        <a:t>性价比</a:t>
                      </a:r>
                      <a:r>
                        <a:rPr lang="zh-CN" altLang="en-US" sz="695" dirty="0">
                          <a:solidFill>
                            <a:srgbClr val="121C23"/>
                          </a:solidFill>
                          <a:latin typeface="Segoe UI" panose="020B0502040204020203" pitchFamily="34" charset="0"/>
                          <a:ea typeface="宋体" panose="02010600030101010101" pitchFamily="2" charset="-122"/>
                          <a:cs typeface="Segoe UI" panose="020B0502040204020203" pitchFamily="34" charset="-120"/>
                        </a:rPr>
                        <a:t>高</a:t>
                      </a:r>
                      <a:r>
                        <a:rPr lang="en-US" altLang="zh-CN" sz="695" dirty="0">
                          <a:solidFill>
                            <a:srgbClr val="121C23"/>
                          </a:solidFill>
                          <a:latin typeface="Segoe UI" panose="020B0502040204020203" pitchFamily="34" charset="0"/>
                          <a:ea typeface="宋体" panose="02010600030101010101" pitchFamily="2" charset="-122"/>
                          <a:cs typeface="Segoe UI" panose="020B0502040204020203" pitchFamily="34" charset="-120"/>
                        </a:rPr>
                        <a:t>+</a:t>
                      </a:r>
                      <a:r>
                        <a:rPr lang="zh-CN" altLang="en-US" sz="695" dirty="0">
                          <a:solidFill>
                            <a:srgbClr val="121C23"/>
                          </a:solidFill>
                          <a:latin typeface="Segoe UI" panose="020B0502040204020203" pitchFamily="34" charset="0"/>
                          <a:ea typeface="宋体" panose="02010600030101010101" pitchFamily="2" charset="-122"/>
                          <a:cs typeface="Segoe UI" panose="020B0502040204020203" pitchFamily="34" charset="-120"/>
                        </a:rPr>
                        <a:t>理工类突出</a:t>
                      </a:r>
                      <a:endParaRPr lang="zh-CN" altLang="en-US" sz="695" dirty="0">
                        <a:solidFill>
                          <a:srgbClr val="121C23"/>
                        </a:solidFill>
                        <a:latin typeface="Segoe UI" panose="020B0502040204020203" pitchFamily="34" charset="0"/>
                        <a:ea typeface="宋体" panose="02010600030101010101" pitchFamily="2" charset="-122"/>
                        <a:cs typeface="Segoe UI" panose="020B0502040204020203" pitchFamily="34" charset="-120"/>
                      </a:endParaRPr>
                    </a:p>
                  </a:txBody>
                  <a:tcPr marL="122581" marR="122581" marT="73549" marB="73549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4903" cap="flat" cmpd="sng" algn="ctr">
                      <a:solidFill>
                        <a:srgbClr val="D9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1040"/>
                        </a:lnSpc>
                        <a:buNone/>
                      </a:pPr>
                      <a:r>
                        <a:rPr lang="en-US" sz="695" dirty="0">
                          <a:solidFill>
                            <a:srgbClr val="121C23"/>
                          </a:solidFill>
                          <a:latin typeface="Segoe UI" panose="020B0502040204020203" pitchFamily="34" charset="0"/>
                          <a:ea typeface="Segoe UI" panose="020B0502040204020203" pitchFamily="34" charset="-122"/>
                          <a:cs typeface="Segoe UI" panose="020B0502040204020203" pitchFamily="34" charset="-120"/>
                        </a:rPr>
                        <a:t>编程 / 数学 / 推理</a:t>
                      </a:r>
                      <a:endParaRPr lang="en-US" sz="695" dirty="0">
                        <a:latin typeface="Segoe UI" panose="020B0502040204020203" pitchFamily="34" charset="0"/>
                        <a:ea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22581" marR="122581" marT="73549" marB="73549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4903" cap="flat" cmpd="sng" algn="ctr">
                      <a:solidFill>
                        <a:srgbClr val="D9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1040"/>
                        </a:lnSpc>
                        <a:buNone/>
                      </a:pPr>
                      <a:r>
                        <a:rPr lang="en-US" sz="695" dirty="0">
                          <a:solidFill>
                            <a:srgbClr val="5A656D"/>
                          </a:solidFill>
                          <a:latin typeface="Segoe UI" panose="020B0502040204020203" pitchFamily="34" charset="0"/>
                          <a:ea typeface="Segoe UI" panose="020B0502040204020203" pitchFamily="34" charset="-122"/>
                          <a:cs typeface="Segoe UI" panose="020B0502040204020203" pitchFamily="34" charset="-120"/>
                        </a:rPr>
                        <a:t>开发者、科研人员、中小企业</a:t>
                      </a:r>
                      <a:endParaRPr lang="en-US" sz="695" dirty="0">
                        <a:latin typeface="Segoe UI" panose="020B0502040204020203" pitchFamily="34" charset="0"/>
                        <a:ea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22581" marR="122581" marT="73549" marB="73549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4903" cap="flat" cmpd="sng" algn="ctr">
                      <a:solidFill>
                        <a:srgbClr val="D9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1040"/>
                        </a:lnSpc>
                        <a:buNone/>
                      </a:pPr>
                      <a:r>
                        <a:rPr lang="en-US" sz="695" b="1" dirty="0">
                          <a:solidFill>
                            <a:srgbClr val="121C23"/>
                          </a:solidFill>
                          <a:latin typeface="Segoe UI" panose="020B0502040204020203" pitchFamily="34" charset="0"/>
                          <a:ea typeface="Segoe UI" panose="020B0502040204020203" pitchFamily="34" charset="-122"/>
                          <a:cs typeface="Segoe UI" panose="020B0502040204020203" pitchFamily="34" charset="-120"/>
                        </a:rPr>
                        <a:t>通义千问 (Qwen)</a:t>
                      </a:r>
                      <a:endParaRPr lang="en-US" sz="695" dirty="0">
                        <a:latin typeface="Segoe UI" panose="020B0502040204020203" pitchFamily="34" charset="0"/>
                        <a:ea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22581" marR="122581" marT="73549" marB="73549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4903" cap="flat" cmpd="sng" algn="ctr">
                      <a:solidFill>
                        <a:srgbClr val="D9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1040"/>
                        </a:lnSpc>
                        <a:buNone/>
                      </a:pPr>
                      <a:r>
                        <a:rPr lang="en-US" sz="695" dirty="0">
                          <a:solidFill>
                            <a:srgbClr val="121C23"/>
                          </a:solidFill>
                          <a:latin typeface="Segoe UI" panose="020B0502040204020203" pitchFamily="34" charset="0"/>
                          <a:ea typeface="Segoe UI" panose="020B0502040204020203" pitchFamily="34" charset="-122"/>
                          <a:cs typeface="Segoe UI" panose="020B0502040204020203" pitchFamily="34" charset="-120"/>
                        </a:rPr>
                        <a:t> 企业 AI 底座</a:t>
                      </a:r>
                      <a:endParaRPr lang="en-US" sz="695" dirty="0">
                        <a:latin typeface="Segoe UI" panose="020B0502040204020203" pitchFamily="34" charset="0"/>
                        <a:ea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22581" marR="122581" marT="73549" marB="73549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4903" cap="flat" cmpd="sng" algn="ctr">
                      <a:solidFill>
                        <a:srgbClr val="D9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1040"/>
                        </a:lnSpc>
                        <a:buNone/>
                      </a:pPr>
                      <a:r>
                        <a:rPr lang="en-US" sz="695" dirty="0">
                          <a:solidFill>
                            <a:srgbClr val="121C23"/>
                          </a:solidFill>
                          <a:latin typeface="Segoe UI" panose="020B0502040204020203" pitchFamily="34" charset="0"/>
                          <a:ea typeface="Segoe UI" panose="020B0502040204020203" pitchFamily="34" charset="-122"/>
                          <a:cs typeface="Segoe UI" panose="020B0502040204020203" pitchFamily="34" charset="-120"/>
                        </a:rPr>
                        <a:t>中文创作 / 电商 / 通用</a:t>
                      </a:r>
                      <a:endParaRPr lang="en-US" sz="695" dirty="0">
                        <a:latin typeface="Segoe UI" panose="020B0502040204020203" pitchFamily="34" charset="0"/>
                        <a:ea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22581" marR="122581" marT="73549" marB="73549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4903" cap="flat" cmpd="sng" algn="ctr">
                      <a:solidFill>
                        <a:srgbClr val="D9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1040"/>
                        </a:lnSpc>
                        <a:buNone/>
                      </a:pPr>
                      <a:r>
                        <a:rPr lang="en-US" sz="695" dirty="0">
                          <a:solidFill>
                            <a:srgbClr val="5A656D"/>
                          </a:solidFill>
                          <a:latin typeface="Segoe UI" panose="020B0502040204020203" pitchFamily="34" charset="0"/>
                          <a:ea typeface="Segoe UI" panose="020B0502040204020203" pitchFamily="34" charset="-122"/>
                          <a:cs typeface="Segoe UI" panose="020B0502040204020203" pitchFamily="34" charset="-120"/>
                        </a:rPr>
                        <a:t>企业用户、电商、多场景需求</a:t>
                      </a:r>
                      <a:endParaRPr lang="en-US" sz="695" dirty="0">
                        <a:latin typeface="Segoe UI" panose="020B0502040204020203" pitchFamily="34" charset="0"/>
                        <a:ea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22581" marR="122581" marT="73549" marB="73549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4903" cap="flat" cmpd="sng" algn="ctr">
                      <a:solidFill>
                        <a:srgbClr val="D9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1040"/>
                        </a:lnSpc>
                        <a:buNone/>
                      </a:pPr>
                      <a:r>
                        <a:rPr lang="en-US" sz="695" b="1" dirty="0">
                          <a:solidFill>
                            <a:srgbClr val="121C23"/>
                          </a:solidFill>
                          <a:latin typeface="Segoe UI" panose="020B0502040204020203" pitchFamily="34" charset="0"/>
                          <a:ea typeface="Segoe UI" panose="020B0502040204020203" pitchFamily="34" charset="-122"/>
                          <a:cs typeface="Segoe UI" panose="020B0502040204020203" pitchFamily="34" charset="-120"/>
                        </a:rPr>
                        <a:t>字节豆包 (Doubao)</a:t>
                      </a:r>
                      <a:endParaRPr lang="en-US" sz="695" dirty="0">
                        <a:latin typeface="Segoe UI" panose="020B0502040204020203" pitchFamily="34" charset="0"/>
                        <a:ea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22581" marR="122581" marT="73549" marB="73549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4903" cap="flat" cmpd="sng" algn="ctr">
                      <a:solidFill>
                        <a:srgbClr val="D9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1040"/>
                        </a:lnSpc>
                        <a:buNone/>
                      </a:pPr>
                      <a:r>
                        <a:rPr lang="zh-CN" altLang="en-US" sz="695" dirty="0">
                          <a:latin typeface="Segoe UI" panose="020B0502040204020203" pitchFamily="34" charset="0"/>
                          <a:ea typeface="宋体" panose="02010600030101010101" pitchFamily="2" charset="-122"/>
                          <a:cs typeface="Segoe UI" panose="020B0502040204020203" pitchFamily="34" charset="0"/>
                        </a:rPr>
                        <a:t>日常通用</a:t>
                      </a:r>
                      <a:endParaRPr lang="zh-CN" altLang="en-US" sz="695" dirty="0">
                        <a:latin typeface="Segoe UI" panose="020B0502040204020203" pitchFamily="34" charset="0"/>
                        <a:ea typeface="宋体" panose="02010600030101010101" pitchFamily="2" charset="-122"/>
                        <a:cs typeface="Segoe UI" panose="020B0502040204020203" pitchFamily="34" charset="0"/>
                      </a:endParaRPr>
                    </a:p>
                  </a:txBody>
                  <a:tcPr marL="122581" marR="122581" marT="73549" marB="73549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4903" cap="flat" cmpd="sng" algn="ctr">
                      <a:solidFill>
                        <a:srgbClr val="D9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1040"/>
                        </a:lnSpc>
                        <a:buNone/>
                      </a:pPr>
                      <a:r>
                        <a:rPr lang="en-US" sz="695" dirty="0">
                          <a:solidFill>
                            <a:srgbClr val="121C23"/>
                          </a:solidFill>
                          <a:latin typeface="Segoe UI" panose="020B0502040204020203" pitchFamily="34" charset="0"/>
                          <a:ea typeface="Segoe UI" panose="020B0502040204020203" pitchFamily="34" charset="-122"/>
                          <a:cs typeface="Segoe UI" panose="020B0502040204020203" pitchFamily="34" charset="-120"/>
                        </a:rPr>
                        <a:t>日常对话 / 内容创作 / 语音</a:t>
                      </a:r>
                      <a:endParaRPr lang="en-US" sz="695" dirty="0">
                        <a:latin typeface="Segoe UI" panose="020B0502040204020203" pitchFamily="34" charset="0"/>
                        <a:ea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22581" marR="122581" marT="73549" marB="73549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4903" cap="flat" cmpd="sng" algn="ctr">
                      <a:solidFill>
                        <a:srgbClr val="D9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1040"/>
                        </a:lnSpc>
                        <a:buNone/>
                      </a:pPr>
                      <a:r>
                        <a:rPr lang="en-US" sz="695" dirty="0">
                          <a:solidFill>
                            <a:srgbClr val="5A656D"/>
                          </a:solidFill>
                          <a:latin typeface="Segoe UI" panose="020B0502040204020203" pitchFamily="34" charset="0"/>
                          <a:ea typeface="Segoe UI" panose="020B0502040204020203" pitchFamily="34" charset="-122"/>
                          <a:cs typeface="Segoe UI" panose="020B0502040204020203" pitchFamily="34" charset="-120"/>
                        </a:rPr>
                        <a:t>普通用户、内容创作者</a:t>
                      </a:r>
                      <a:endParaRPr lang="en-US" sz="695" dirty="0">
                        <a:latin typeface="Segoe UI" panose="020B0502040204020203" pitchFamily="34" charset="0"/>
                        <a:ea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22581" marR="122581" marT="73549" marB="73549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4903" cap="flat" cmpd="sng" algn="ctr">
                      <a:solidFill>
                        <a:srgbClr val="D9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268605"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1040"/>
                        </a:lnSpc>
                        <a:buNone/>
                      </a:pPr>
                      <a:r>
                        <a:rPr lang="en-US" sz="695" b="1" dirty="0">
                          <a:solidFill>
                            <a:srgbClr val="121C23"/>
                          </a:solidFill>
                          <a:latin typeface="Segoe UI" panose="020B0502040204020203" pitchFamily="34" charset="0"/>
                          <a:ea typeface="Segoe UI" panose="020B0502040204020203" pitchFamily="34" charset="-122"/>
                          <a:cs typeface="Segoe UI" panose="020B0502040204020203" pitchFamily="34" charset="-120"/>
                        </a:rPr>
                        <a:t>Kimi (月之暗面)</a:t>
                      </a:r>
                      <a:endParaRPr lang="en-US" sz="695" dirty="0">
                        <a:latin typeface="Segoe UI" panose="020B0502040204020203" pitchFamily="34" charset="0"/>
                        <a:ea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22581" marR="122581" marT="73549" marB="73549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4903" cap="flat" cmpd="sng" algn="ctr">
                      <a:solidFill>
                        <a:srgbClr val="D9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1040"/>
                        </a:lnSpc>
                        <a:buNone/>
                      </a:pPr>
                      <a:r>
                        <a:rPr lang="en-US" sz="695" dirty="0">
                          <a:solidFill>
                            <a:srgbClr val="121C23"/>
                          </a:solidFill>
                          <a:latin typeface="Segoe UI" panose="020B0502040204020203" pitchFamily="34" charset="0"/>
                          <a:ea typeface="Segoe UI" panose="020B0502040204020203" pitchFamily="34" charset="-122"/>
                          <a:cs typeface="Segoe UI" panose="020B0502040204020203" pitchFamily="34" charset="-120"/>
                        </a:rPr>
                        <a:t>长文档 + Agent 集群</a:t>
                      </a:r>
                      <a:endParaRPr lang="en-US" sz="695" dirty="0">
                        <a:latin typeface="Segoe UI" panose="020B0502040204020203" pitchFamily="34" charset="0"/>
                        <a:ea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22581" marR="122581" marT="73549" marB="73549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4903" cap="flat" cmpd="sng" algn="ctr">
                      <a:solidFill>
                        <a:srgbClr val="D9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1040"/>
                        </a:lnSpc>
                        <a:buNone/>
                      </a:pPr>
                      <a:r>
                        <a:rPr lang="en-US" sz="695" dirty="0">
                          <a:solidFill>
                            <a:srgbClr val="121C23"/>
                          </a:solidFill>
                          <a:latin typeface="Segoe UI" panose="020B0502040204020203" pitchFamily="34" charset="0"/>
                          <a:ea typeface="Segoe UI" panose="020B0502040204020203" pitchFamily="34" charset="-122"/>
                          <a:cs typeface="Segoe UI" panose="020B0502040204020203" pitchFamily="34" charset="-120"/>
                        </a:rPr>
                        <a:t>超长文档 / 学术 / Agent</a:t>
                      </a:r>
                      <a:endParaRPr lang="en-US" sz="695" dirty="0">
                        <a:latin typeface="Segoe UI" panose="020B0502040204020203" pitchFamily="34" charset="0"/>
                        <a:ea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22581" marR="122581" marT="73549" marB="73549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4903" cap="flat" cmpd="sng" algn="ctr">
                      <a:solidFill>
                        <a:srgbClr val="D9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1040"/>
                        </a:lnSpc>
                        <a:buNone/>
                      </a:pPr>
                      <a:r>
                        <a:rPr lang="en-US" sz="695" dirty="0">
                          <a:solidFill>
                            <a:srgbClr val="5A656D"/>
                          </a:solidFill>
                          <a:latin typeface="Segoe UI" panose="020B0502040204020203" pitchFamily="34" charset="0"/>
                          <a:ea typeface="Segoe UI" panose="020B0502040204020203" pitchFamily="34" charset="-122"/>
                          <a:cs typeface="Segoe UI" panose="020B0502040204020203" pitchFamily="34" charset="-120"/>
                        </a:rPr>
                        <a:t>律师、研究员、长文档处理者</a:t>
                      </a:r>
                      <a:endParaRPr lang="en-US" sz="695" dirty="0">
                        <a:latin typeface="Segoe UI" panose="020B0502040204020203" pitchFamily="34" charset="0"/>
                        <a:ea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22581" marR="122581" marT="73549" marB="73549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4903" cap="flat" cmpd="sng" algn="ctr">
                      <a:solidFill>
                        <a:srgbClr val="D9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1040"/>
                        </a:lnSpc>
                        <a:buNone/>
                      </a:pPr>
                      <a:r>
                        <a:rPr lang="en-US" sz="695" b="1" dirty="0">
                          <a:solidFill>
                            <a:srgbClr val="121C23"/>
                          </a:solidFill>
                          <a:latin typeface="Segoe UI" panose="020B0502040204020203" pitchFamily="34" charset="0"/>
                          <a:ea typeface="Segoe UI" panose="020B0502040204020203" pitchFamily="34" charset="-122"/>
                          <a:cs typeface="Segoe UI" panose="020B0502040204020203" pitchFamily="34" charset="-120"/>
                        </a:rPr>
                        <a:t>智谱 GLM</a:t>
                      </a:r>
                      <a:endParaRPr lang="en-US" sz="695" dirty="0">
                        <a:latin typeface="Segoe UI" panose="020B0502040204020203" pitchFamily="34" charset="0"/>
                        <a:ea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22581" marR="122581" marT="73549" marB="73549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4903" cap="flat" cmpd="sng" algn="ctr">
                      <a:solidFill>
                        <a:srgbClr val="D9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1040"/>
                        </a:lnSpc>
                        <a:buNone/>
                      </a:pPr>
                      <a:r>
                        <a:rPr lang="en-US" sz="695" dirty="0">
                          <a:solidFill>
                            <a:srgbClr val="121C23"/>
                          </a:solidFill>
                          <a:latin typeface="Segoe UI" panose="020B0502040204020203" pitchFamily="34" charset="0"/>
                          <a:ea typeface="Segoe UI" panose="020B0502040204020203" pitchFamily="34" charset="-122"/>
                          <a:cs typeface="Segoe UI" panose="020B0502040204020203" pitchFamily="34" charset="-120"/>
                        </a:rPr>
                        <a:t>学院派 + 企业 Agent 专家</a:t>
                      </a:r>
                      <a:endParaRPr lang="en-US" sz="695" dirty="0">
                        <a:latin typeface="Segoe UI" panose="020B0502040204020203" pitchFamily="34" charset="0"/>
                        <a:ea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22581" marR="122581" marT="73549" marB="73549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4903" cap="flat" cmpd="sng" algn="ctr">
                      <a:solidFill>
                        <a:srgbClr val="D9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1040"/>
                        </a:lnSpc>
                        <a:buNone/>
                      </a:pPr>
                      <a:r>
                        <a:rPr lang="en-US" sz="695" dirty="0">
                          <a:solidFill>
                            <a:srgbClr val="121C23"/>
                          </a:solidFill>
                          <a:latin typeface="Segoe UI" panose="020B0502040204020203" pitchFamily="34" charset="0"/>
                          <a:ea typeface="Segoe UI" panose="020B0502040204020203" pitchFamily="34" charset="-122"/>
                          <a:cs typeface="Segoe UI" panose="020B0502040204020203" pitchFamily="34" charset="-120"/>
                        </a:rPr>
                        <a:t>企业 Agent / 工具调用</a:t>
                      </a:r>
                      <a:endParaRPr lang="en-US" sz="695" dirty="0">
                        <a:latin typeface="Segoe UI" panose="020B0502040204020203" pitchFamily="34" charset="0"/>
                        <a:ea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22581" marR="122581" marT="73549" marB="73549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4903" cap="flat" cmpd="sng" algn="ctr">
                      <a:solidFill>
                        <a:srgbClr val="D9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1040"/>
                        </a:lnSpc>
                        <a:buNone/>
                      </a:pPr>
                      <a:r>
                        <a:rPr lang="en-US" sz="695" dirty="0">
                          <a:solidFill>
                            <a:srgbClr val="5A656D"/>
                          </a:solidFill>
                          <a:latin typeface="Segoe UI" panose="020B0502040204020203" pitchFamily="34" charset="0"/>
                          <a:ea typeface="Segoe UI" panose="020B0502040204020203" pitchFamily="34" charset="-122"/>
                          <a:cs typeface="Segoe UI" panose="020B0502040204020203" pitchFamily="34" charset="-120"/>
                        </a:rPr>
                        <a:t>B 端企业、开发者、专业人士</a:t>
                      </a:r>
                      <a:endParaRPr lang="en-US" sz="695" dirty="0">
                        <a:latin typeface="Segoe UI" panose="020B0502040204020203" pitchFamily="34" charset="0"/>
                        <a:ea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22581" marR="122581" marT="73549" marB="73549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4903" cap="flat" cmpd="sng" algn="ctr">
                      <a:solidFill>
                        <a:srgbClr val="D9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id="10" name="Shape 15"/>
          <p:cNvSpPr/>
          <p:nvPr/>
        </p:nvSpPr>
        <p:spPr>
          <a:xfrm>
            <a:off x="476250" y="3243262"/>
            <a:ext cx="8191500" cy="490538"/>
          </a:xfrm>
          <a:prstGeom prst="roundRect">
            <a:avLst>
              <a:gd name="adj" fmla="val 5997"/>
            </a:avLst>
          </a:prstGeom>
          <a:solidFill>
            <a:srgbClr val="5A845A">
              <a:alpha val="12157"/>
            </a:srgbClr>
          </a:solidFill>
          <a:ln w="4903">
            <a:solidFill>
              <a:srgbClr val="5C875C">
                <a:alpha val="25098"/>
              </a:srgbClr>
            </a:solidFill>
            <a:prstDash val="solid"/>
          </a:ln>
        </p:spPr>
      </p:sp>
      <p:sp>
        <p:nvSpPr>
          <p:cNvPr id="11" name="TextBox 17"/>
          <p:cNvSpPr/>
          <p:nvPr/>
        </p:nvSpPr>
        <p:spPr>
          <a:xfrm>
            <a:off x="633412" y="3352800"/>
            <a:ext cx="7877175" cy="14097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735" b="1" dirty="0">
                <a:solidFill>
                  <a:srgbClr val="121C23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2026 年关键趋势：</a:t>
            </a:r>
            <a:r>
              <a:rPr lang="en-US" sz="735" dirty="0">
                <a:solidFill>
                  <a:srgbClr val="121C23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Coding Plan 订阅制兴起——月费 ¥39-¥699，AI 编程成最大增量场景； 多模型组合成最佳实践——用不同模型覆盖不同场景可将成本降低 40-67%。</a:t>
            </a:r>
            <a:endParaRPr lang="en-US" sz="735" dirty="0"/>
          </a:p>
        </p:txBody>
      </p:sp>
      <p:pic>
        <p:nvPicPr>
          <p:cNvPr id="12" name="Picture 21" descr="__type_image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76250" y="4819650"/>
            <a:ext cx="8191500" cy="171450"/>
          </a:xfrm>
          <a:prstGeom prst="rect">
            <a:avLst/>
          </a:prstGeom>
        </p:spPr>
      </p:pic>
      <p:sp>
        <p:nvSpPr>
          <p:cNvPr id="13" name="TextBox 21"/>
          <p:cNvSpPr/>
          <p:nvPr/>
        </p:nvSpPr>
        <p:spPr>
          <a:xfrm>
            <a:off x="476250" y="4819650"/>
            <a:ext cx="8191500" cy="171450"/>
          </a:xfrm>
          <a:prstGeom prst="rect">
            <a:avLst/>
          </a:prstGeom>
          <a:noFill/>
        </p:spPr>
        <p:txBody>
          <a:bodyPr wrap="square" lIns="0" tIns="68645" rIns="0" bIns="0" rtlCol="0" anchor="t">
            <a:spAutoFit/>
          </a:bodyPr>
          <a:lstStyle/>
          <a:p>
            <a:pPr marL="0" indent="0" algn="l">
              <a:lnSpc>
                <a:spcPts val="810"/>
              </a:lnSpc>
              <a:buNone/>
            </a:pPr>
            <a:r>
              <a:rPr lang="en-US" sz="540" kern="0" spc="22" dirty="0">
                <a:solidFill>
                  <a:srgbClr val="5A656D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中国 AI 市场的独特优势：中文理解深度 + 政策合规确定性 + 更低的 API 价格</a:t>
            </a:r>
            <a:endParaRPr lang="en-US" sz="54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6F9FC"/>
          </a:solidFill>
        </p:spPr>
      </p:sp>
      <p:sp>
        <p:nvSpPr>
          <p:cNvPr id="3" name="Shape 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6F9FC"/>
          </a:solidFill>
        </p:spPr>
      </p:sp>
      <p:pic>
        <p:nvPicPr>
          <p:cNvPr id="4" name="Picture 4" descr="__type_image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76250" y="381000"/>
            <a:ext cx="8191500" cy="390525"/>
          </a:xfrm>
          <a:prstGeom prst="rect">
            <a:avLst/>
          </a:prstGeom>
        </p:spPr>
      </p:pic>
      <p:sp>
        <p:nvSpPr>
          <p:cNvPr id="5" name="TextBox 4"/>
          <p:cNvSpPr/>
          <p:nvPr/>
        </p:nvSpPr>
        <p:spPr>
          <a:xfrm>
            <a:off x="476250" y="381000"/>
            <a:ext cx="8191500" cy="390525"/>
          </a:xfrm>
          <a:prstGeom prst="rect">
            <a:avLst/>
          </a:prstGeom>
          <a:noFill/>
        </p:spPr>
        <p:txBody>
          <a:bodyPr wrap="square" lIns="0" tIns="0" rIns="0" bIns="98065" rtlCol="0" anchor="t">
            <a:spAutoFit/>
          </a:bodyPr>
          <a:lstStyle/>
          <a:p>
            <a:pPr marL="0" indent="0" algn="l">
              <a:lnSpc>
                <a:spcPts val="2315"/>
              </a:lnSpc>
              <a:buNone/>
            </a:pPr>
            <a:r>
              <a:rPr lang="en-US" sz="1545" b="1" kern="0" spc="-23" dirty="0">
                <a:solidFill>
                  <a:srgbClr val="121C23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国内五强多维对比：一张表看懂怎么选</a:t>
            </a:r>
            <a:endParaRPr lang="en-US" sz="1545" dirty="0"/>
          </a:p>
        </p:txBody>
      </p:sp>
      <p:graphicFrame>
        <p:nvGraphicFramePr>
          <p:cNvPr id="25" name="Table 8"/>
          <p:cNvGraphicFramePr>
            <a:graphicFrameLocks noGrp="1"/>
          </p:cNvGraphicFramePr>
          <p:nvPr/>
        </p:nvGraphicFramePr>
        <p:xfrm>
          <a:off x="476250" y="1000125"/>
          <a:ext cx="8191500" cy="914400"/>
        </p:xfrm>
        <a:graphic>
          <a:graphicData uri="http://schemas.openxmlformats.org/drawingml/2006/table">
            <a:tbl>
              <a:tblPr/>
              <a:tblGrid>
                <a:gridCol w="848506"/>
                <a:gridCol w="1496020"/>
                <a:gridCol w="1491109"/>
                <a:gridCol w="1487017"/>
                <a:gridCol w="1509489"/>
                <a:gridCol w="1359359"/>
              </a:tblGrid>
              <a:tr h="0"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865"/>
                        </a:lnSpc>
                        <a:buNone/>
                      </a:pPr>
                      <a:r>
                        <a:rPr lang="en-US" sz="620" b="1" kern="0" spc="37" dirty="0">
                          <a:solidFill>
                            <a:srgbClr val="299236"/>
                          </a:solidFill>
                          <a:latin typeface="Consolas" panose="020B0609020204030204" pitchFamily="34" charset="0"/>
                          <a:ea typeface="Consolas" panose="020B0609020204030204" pitchFamily="34" charset="-122"/>
                          <a:cs typeface="Consolas" panose="020B0609020204030204" pitchFamily="34" charset="-120"/>
                        </a:rPr>
                        <a:t>维度</a:t>
                      </a:r>
                      <a:endParaRPr lang="en-US" sz="620" dirty="0">
                        <a:latin typeface="Consolas" panose="020B0609020204030204" pitchFamily="34" charset="0"/>
                        <a:ea typeface="Consolas" panose="020B0609020204030204" pitchFamily="34" charset="0"/>
                        <a:cs typeface="Consolas" panose="020B0609020204030204" pitchFamily="34" charset="0"/>
                      </a:endParaRPr>
                    </a:p>
                  </a:txBody>
                  <a:tcPr marL="122581" marR="122581" marT="83355" marB="8335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806" cap="flat" cmpd="sng" algn="ctr">
                      <a:solidFill>
                        <a:srgbClr val="2992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A845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1190"/>
                        </a:lnSpc>
                        <a:buNone/>
                      </a:pPr>
                      <a:r>
                        <a:rPr lang="en-US" sz="850" b="1" dirty="0">
                          <a:solidFill>
                            <a:srgbClr val="121C23"/>
                          </a:solidFill>
                          <a:latin typeface="Segoe UI" panose="020B0502040204020203" pitchFamily="34" charset="0"/>
                          <a:ea typeface="Segoe UI" panose="020B0502040204020203" pitchFamily="34" charset="-122"/>
                          <a:cs typeface="Segoe UI" panose="020B0502040204020203" pitchFamily="34" charset="-120"/>
                        </a:rPr>
                        <a:t>DeepSeek</a:t>
                      </a:r>
                      <a:endParaRPr lang="en-US" sz="850" dirty="0">
                        <a:latin typeface="Segoe UI" panose="020B0502040204020203" pitchFamily="34" charset="0"/>
                        <a:ea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22581" marR="122581" marT="83355" marB="8335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806" cap="flat" cmpd="sng" algn="ctr">
                      <a:solidFill>
                        <a:srgbClr val="2992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A845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1190"/>
                        </a:lnSpc>
                        <a:buNone/>
                      </a:pPr>
                      <a:r>
                        <a:rPr lang="en-US" sz="850" b="1" dirty="0">
                          <a:solidFill>
                            <a:srgbClr val="121C23"/>
                          </a:solidFill>
                          <a:latin typeface="Segoe UI" panose="020B0502040204020203" pitchFamily="34" charset="0"/>
                          <a:ea typeface="Segoe UI" panose="020B0502040204020203" pitchFamily="34" charset="-122"/>
                          <a:cs typeface="Segoe UI" panose="020B0502040204020203" pitchFamily="34" charset="-120"/>
                        </a:rPr>
                        <a:t>通义千问 Qwen</a:t>
                      </a:r>
                      <a:endParaRPr lang="en-US" sz="850" dirty="0">
                        <a:latin typeface="Segoe UI" panose="020B0502040204020203" pitchFamily="34" charset="0"/>
                        <a:ea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22581" marR="122581" marT="83355" marB="8335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806" cap="flat" cmpd="sng" algn="ctr">
                      <a:solidFill>
                        <a:srgbClr val="2992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A845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1190"/>
                        </a:lnSpc>
                        <a:buNone/>
                      </a:pPr>
                      <a:r>
                        <a:rPr lang="en-US" sz="850" b="1" dirty="0">
                          <a:solidFill>
                            <a:srgbClr val="121C23"/>
                          </a:solidFill>
                          <a:latin typeface="Segoe UI" panose="020B0502040204020203" pitchFamily="34" charset="0"/>
                          <a:ea typeface="Segoe UI" panose="020B0502040204020203" pitchFamily="34" charset="-122"/>
                          <a:cs typeface="Segoe UI" panose="020B0502040204020203" pitchFamily="34" charset="-120"/>
                        </a:rPr>
                        <a:t>字节豆包</a:t>
                      </a:r>
                      <a:endParaRPr lang="en-US" sz="850" dirty="0">
                        <a:latin typeface="Segoe UI" panose="020B0502040204020203" pitchFamily="34" charset="0"/>
                        <a:ea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22581" marR="122581" marT="83355" marB="8335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806" cap="flat" cmpd="sng" algn="ctr">
                      <a:solidFill>
                        <a:srgbClr val="2992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A845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1190"/>
                        </a:lnSpc>
                        <a:buNone/>
                      </a:pPr>
                      <a:r>
                        <a:rPr lang="en-US" sz="850" b="1" dirty="0">
                          <a:solidFill>
                            <a:srgbClr val="121C23"/>
                          </a:solidFill>
                          <a:latin typeface="Segoe UI" panose="020B0502040204020203" pitchFamily="34" charset="0"/>
                          <a:ea typeface="Segoe UI" panose="020B0502040204020203" pitchFamily="34" charset="-122"/>
                          <a:cs typeface="Segoe UI" panose="020B0502040204020203" pitchFamily="34" charset="-120"/>
                        </a:rPr>
                        <a:t>月之暗面 Kimi</a:t>
                      </a:r>
                      <a:endParaRPr lang="en-US" sz="850" dirty="0">
                        <a:latin typeface="Segoe UI" panose="020B0502040204020203" pitchFamily="34" charset="0"/>
                        <a:ea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22581" marR="122581" marT="83355" marB="8335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806" cap="flat" cmpd="sng" algn="ctr">
                      <a:solidFill>
                        <a:srgbClr val="2992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A845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1190"/>
                        </a:lnSpc>
                        <a:buNone/>
                      </a:pPr>
                      <a:r>
                        <a:rPr lang="en-US" sz="850" b="1" dirty="0">
                          <a:solidFill>
                            <a:srgbClr val="121C23"/>
                          </a:solidFill>
                          <a:latin typeface="Segoe UI" panose="020B0502040204020203" pitchFamily="34" charset="0"/>
                          <a:ea typeface="Segoe UI" panose="020B0502040204020203" pitchFamily="34" charset="-122"/>
                          <a:cs typeface="Segoe UI" panose="020B0502040204020203" pitchFamily="34" charset="-120"/>
                        </a:rPr>
                        <a:t>智谱 GLM</a:t>
                      </a:r>
                      <a:endParaRPr lang="en-US" sz="850" dirty="0">
                        <a:latin typeface="Segoe UI" panose="020B0502040204020203" pitchFamily="34" charset="0"/>
                        <a:ea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22581" marR="122581" marT="83355" marB="8335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806" cap="flat" cmpd="sng" algn="ctr">
                      <a:solidFill>
                        <a:srgbClr val="2992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A845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810"/>
                        </a:lnSpc>
                        <a:buNone/>
                      </a:pPr>
                      <a:r>
                        <a:rPr lang="en-US" sz="580" b="1" dirty="0">
                          <a:solidFill>
                            <a:srgbClr val="121C23"/>
                          </a:solidFill>
                          <a:latin typeface="Segoe UI" panose="020B0502040204020203" pitchFamily="34" charset="0"/>
                          <a:ea typeface="Segoe UI" panose="020B0502040204020203" pitchFamily="34" charset="-122"/>
                          <a:cs typeface="Segoe UI" panose="020B0502040204020203" pitchFamily="34" charset="-120"/>
                        </a:rPr>
                        <a:t>一句话定位</a:t>
                      </a:r>
                      <a:endParaRPr lang="en-US" sz="580" dirty="0">
                        <a:latin typeface="Segoe UI" panose="020B0502040204020203" pitchFamily="34" charset="0"/>
                        <a:ea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22581" marR="122581" marT="73549" marB="73549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4903" cap="flat" cmpd="sng" algn="ctr">
                      <a:solidFill>
                        <a:srgbClr val="D9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810"/>
                        </a:lnSpc>
                        <a:buNone/>
                      </a:pPr>
                      <a:r>
                        <a:rPr lang="en-US" sz="580" dirty="0">
                          <a:solidFill>
                            <a:srgbClr val="121C23"/>
                          </a:solidFill>
                          <a:latin typeface="Segoe UI" panose="020B0502040204020203" pitchFamily="34" charset="0"/>
                          <a:ea typeface="Segoe UI" panose="020B0502040204020203" pitchFamily="34" charset="-122"/>
                          <a:cs typeface="Segoe UI" panose="020B0502040204020203" pitchFamily="34" charset="-120"/>
                        </a:rPr>
                        <a:t>性价比之王</a:t>
                      </a:r>
                      <a:endParaRPr lang="en-US" sz="580" dirty="0">
                        <a:latin typeface="Segoe UI" panose="020B0502040204020203" pitchFamily="34" charset="0"/>
                        <a:ea typeface="Segoe UI" panose="020B0502040204020203" pitchFamily="34" charset="0"/>
                        <a:cs typeface="Segoe UI" panose="020B0502040204020203" pitchFamily="34" charset="0"/>
                      </a:endParaRPr>
                    </a:p>
                    <a:p>
                      <a:pPr marL="0" indent="0" algn="l">
                        <a:lnSpc>
                          <a:spcPts val="810"/>
                        </a:lnSpc>
                        <a:buNone/>
                      </a:pPr>
                      <a:r>
                        <a:rPr lang="zh-CN" altLang="en-US" sz="580" dirty="0">
                          <a:latin typeface="Segoe UI" panose="020B0502040204020203" pitchFamily="34" charset="0"/>
                          <a:ea typeface="宋体" panose="02010600030101010101" pitchFamily="2" charset="-122"/>
                          <a:cs typeface="Segoe UI" panose="020B0502040204020203" pitchFamily="34" charset="0"/>
                        </a:rPr>
                        <a:t>逻辑推理强</a:t>
                      </a:r>
                      <a:endParaRPr lang="zh-CN" altLang="en-US" sz="580" dirty="0">
                        <a:latin typeface="Segoe UI" panose="020B0502040204020203" pitchFamily="34" charset="0"/>
                        <a:ea typeface="宋体" panose="02010600030101010101" pitchFamily="2" charset="-122"/>
                        <a:cs typeface="Segoe UI" panose="020B0502040204020203" pitchFamily="34" charset="0"/>
                      </a:endParaRPr>
                    </a:p>
                  </a:txBody>
                  <a:tcPr marL="122581" marR="122581" marT="73549" marB="73549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4903" cap="flat" cmpd="sng" algn="ctr">
                      <a:solidFill>
                        <a:srgbClr val="D9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810"/>
                        </a:lnSpc>
                        <a:buNone/>
                      </a:pPr>
                      <a:r>
                        <a:rPr lang="en-US" sz="580" dirty="0">
                          <a:solidFill>
                            <a:srgbClr val="121C23"/>
                          </a:solidFill>
                          <a:latin typeface="Segoe UI" panose="020B0502040204020203" pitchFamily="34" charset="0"/>
                          <a:ea typeface="Segoe UI" panose="020B0502040204020203" pitchFamily="34" charset="-122"/>
                          <a:cs typeface="Segoe UI" panose="020B0502040204020203" pitchFamily="34" charset="-120"/>
                        </a:rPr>
                        <a:t>全科</a:t>
                      </a:r>
                      <a:r>
                        <a:rPr lang="zh-CN" altLang="en-US" sz="580" dirty="0">
                          <a:solidFill>
                            <a:srgbClr val="121C23"/>
                          </a:solidFill>
                          <a:latin typeface="Segoe UI" panose="020B0502040204020203" pitchFamily="34" charset="0"/>
                          <a:ea typeface="宋体" panose="02010600030101010101" pitchFamily="2" charset="-122"/>
                          <a:cs typeface="Segoe UI" panose="020B0502040204020203" pitchFamily="34" charset="-120"/>
                        </a:rPr>
                        <a:t>均衡</a:t>
                      </a:r>
                      <a:endParaRPr lang="en-US" sz="580" dirty="0">
                        <a:latin typeface="Segoe UI" panose="020B0502040204020203" pitchFamily="34" charset="0"/>
                        <a:ea typeface="Segoe UI" panose="020B0502040204020203" pitchFamily="34" charset="0"/>
                        <a:cs typeface="Segoe UI" panose="020B0502040204020203" pitchFamily="34" charset="0"/>
                      </a:endParaRPr>
                    </a:p>
                    <a:p>
                      <a:pPr marL="0" indent="0" algn="l">
                        <a:lnSpc>
                          <a:spcPts val="810"/>
                        </a:lnSpc>
                        <a:buNone/>
                      </a:pPr>
                      <a:r>
                        <a:rPr lang="en-US" sz="580" dirty="0">
                          <a:solidFill>
                            <a:srgbClr val="121C23"/>
                          </a:solidFill>
                          <a:latin typeface="Segoe UI" panose="020B0502040204020203" pitchFamily="34" charset="0"/>
                          <a:ea typeface="Segoe UI" panose="020B0502040204020203" pitchFamily="34" charset="-122"/>
                          <a:cs typeface="Segoe UI" panose="020B0502040204020203" pitchFamily="34" charset="-120"/>
                        </a:rPr>
                        <a:t>企业 AI 底座</a:t>
                      </a:r>
                      <a:endParaRPr lang="en-US" sz="580" dirty="0">
                        <a:latin typeface="Segoe UI" panose="020B0502040204020203" pitchFamily="34" charset="0"/>
                        <a:ea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22581" marR="122581" marT="73549" marB="73549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4903" cap="flat" cmpd="sng" algn="ctr">
                      <a:solidFill>
                        <a:srgbClr val="D9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810"/>
                        </a:lnSpc>
                        <a:buNone/>
                      </a:pPr>
                      <a:r>
                        <a:rPr lang="zh-CN" altLang="en-US" sz="580" dirty="0">
                          <a:latin typeface="Segoe UI" panose="020B0502040204020203" pitchFamily="34" charset="0"/>
                          <a:ea typeface="宋体" panose="02010600030101010101" pitchFamily="2" charset="-122"/>
                          <a:cs typeface="Segoe UI" panose="020B0502040204020203" pitchFamily="34" charset="0"/>
                        </a:rPr>
                        <a:t>日常对话</a:t>
                      </a:r>
                      <a:endParaRPr lang="en-US" sz="580" dirty="0">
                        <a:latin typeface="Segoe UI" panose="020B0502040204020203" pitchFamily="34" charset="0"/>
                        <a:ea typeface="Segoe UI" panose="020B0502040204020203" pitchFamily="34" charset="0"/>
                        <a:cs typeface="Segoe UI" panose="020B0502040204020203" pitchFamily="34" charset="0"/>
                      </a:endParaRPr>
                    </a:p>
                    <a:p>
                      <a:pPr marL="0" indent="0" algn="l">
                        <a:lnSpc>
                          <a:spcPts val="810"/>
                        </a:lnSpc>
                        <a:buNone/>
                      </a:pPr>
                      <a:r>
                        <a:rPr lang="en-US" sz="580" dirty="0">
                          <a:solidFill>
                            <a:srgbClr val="121C23"/>
                          </a:solidFill>
                          <a:latin typeface="Segoe UI" panose="020B0502040204020203" pitchFamily="34" charset="0"/>
                          <a:ea typeface="Segoe UI" panose="020B0502040204020203" pitchFamily="34" charset="-122"/>
                          <a:cs typeface="Segoe UI" panose="020B0502040204020203" pitchFamily="34" charset="-120"/>
                        </a:rPr>
                        <a:t>消费级首选</a:t>
                      </a:r>
                      <a:endParaRPr lang="en-US" sz="580" dirty="0">
                        <a:latin typeface="Segoe UI" panose="020B0502040204020203" pitchFamily="34" charset="0"/>
                        <a:ea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22581" marR="122581" marT="73549" marB="73549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4903" cap="flat" cmpd="sng" algn="ctr">
                      <a:solidFill>
                        <a:srgbClr val="D9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810"/>
                        </a:lnSpc>
                        <a:buNone/>
                      </a:pPr>
                      <a:r>
                        <a:rPr lang="en-US" sz="580" dirty="0">
                          <a:solidFill>
                            <a:srgbClr val="121C23"/>
                          </a:solidFill>
                          <a:latin typeface="Segoe UI" panose="020B0502040204020203" pitchFamily="34" charset="0"/>
                          <a:ea typeface="Segoe UI" panose="020B0502040204020203" pitchFamily="34" charset="-122"/>
                          <a:cs typeface="Segoe UI" panose="020B0502040204020203" pitchFamily="34" charset="-120"/>
                        </a:rPr>
                        <a:t>长文档</a:t>
                      </a:r>
                      <a:endParaRPr lang="en-US" sz="580" dirty="0">
                        <a:latin typeface="Segoe UI" panose="020B0502040204020203" pitchFamily="34" charset="0"/>
                        <a:ea typeface="Segoe UI" panose="020B0502040204020203" pitchFamily="34" charset="0"/>
                        <a:cs typeface="Segoe UI" panose="020B0502040204020203" pitchFamily="34" charset="0"/>
                      </a:endParaRPr>
                    </a:p>
                    <a:p>
                      <a:pPr marL="0" indent="0" algn="l">
                        <a:lnSpc>
                          <a:spcPts val="810"/>
                        </a:lnSpc>
                        <a:buNone/>
                      </a:pPr>
                      <a:r>
                        <a:rPr lang="en-US" sz="580" dirty="0">
                          <a:solidFill>
                            <a:srgbClr val="121C23"/>
                          </a:solidFill>
                          <a:latin typeface="Segoe UI" panose="020B0502040204020203" pitchFamily="34" charset="0"/>
                          <a:ea typeface="Segoe UI" panose="020B0502040204020203" pitchFamily="34" charset="-122"/>
                          <a:cs typeface="Segoe UI" panose="020B0502040204020203" pitchFamily="34" charset="-120"/>
                        </a:rPr>
                        <a:t>Agent 集群</a:t>
                      </a:r>
                      <a:endParaRPr lang="en-US" sz="580" dirty="0">
                        <a:latin typeface="Segoe UI" panose="020B0502040204020203" pitchFamily="34" charset="0"/>
                        <a:ea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22581" marR="122581" marT="73549" marB="73549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4903" cap="flat" cmpd="sng" algn="ctr">
                      <a:solidFill>
                        <a:srgbClr val="D9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810"/>
                        </a:lnSpc>
                        <a:buNone/>
                      </a:pPr>
                      <a:r>
                        <a:rPr lang="en-US" sz="580" dirty="0">
                          <a:solidFill>
                            <a:srgbClr val="5A656D"/>
                          </a:solidFill>
                          <a:latin typeface="Segoe UI" panose="020B0502040204020203" pitchFamily="34" charset="0"/>
                          <a:ea typeface="Segoe UI" panose="020B0502040204020203" pitchFamily="34" charset="-122"/>
                          <a:cs typeface="Segoe UI" panose="020B0502040204020203" pitchFamily="34" charset="-120"/>
                        </a:rPr>
                        <a:t>学院派</a:t>
                      </a:r>
                      <a:endParaRPr lang="en-US" sz="580" dirty="0">
                        <a:latin typeface="Segoe UI" panose="020B0502040204020203" pitchFamily="34" charset="0"/>
                        <a:ea typeface="Segoe UI" panose="020B0502040204020203" pitchFamily="34" charset="0"/>
                        <a:cs typeface="Segoe UI" panose="020B0502040204020203" pitchFamily="34" charset="0"/>
                      </a:endParaRPr>
                    </a:p>
                    <a:p>
                      <a:pPr marL="0" indent="0" algn="l">
                        <a:lnSpc>
                          <a:spcPts val="810"/>
                        </a:lnSpc>
                        <a:buNone/>
                      </a:pPr>
                      <a:r>
                        <a:rPr lang="en-US" sz="580" dirty="0">
                          <a:solidFill>
                            <a:srgbClr val="5A656D"/>
                          </a:solidFill>
                          <a:latin typeface="Segoe UI" panose="020B0502040204020203" pitchFamily="34" charset="0"/>
                          <a:ea typeface="Segoe UI" panose="020B0502040204020203" pitchFamily="34" charset="-122"/>
                          <a:cs typeface="Segoe UI" panose="020B0502040204020203" pitchFamily="34" charset="-120"/>
                        </a:rPr>
                        <a:t>企业 Agent 专家</a:t>
                      </a:r>
                      <a:endParaRPr lang="en-US" sz="580" dirty="0">
                        <a:latin typeface="Segoe UI" panose="020B0502040204020203" pitchFamily="34" charset="0"/>
                        <a:ea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22581" marR="122581" marT="73549" marB="73549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4903" cap="flat" cmpd="sng" algn="ctr">
                      <a:solidFill>
                        <a:srgbClr val="D9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810"/>
                        </a:lnSpc>
                        <a:buNone/>
                      </a:pPr>
                      <a:r>
                        <a:rPr lang="en-US" sz="580" b="1" dirty="0">
                          <a:solidFill>
                            <a:srgbClr val="121C23"/>
                          </a:solidFill>
                          <a:latin typeface="Segoe UI" panose="020B0502040204020203" pitchFamily="34" charset="0"/>
                          <a:ea typeface="Segoe UI" panose="020B0502040204020203" pitchFamily="34" charset="-122"/>
                          <a:cs typeface="Segoe UI" panose="020B0502040204020203" pitchFamily="34" charset="-120"/>
                        </a:rPr>
                        <a:t>最新旗舰</a:t>
                      </a:r>
                      <a:endParaRPr lang="en-US" sz="580" dirty="0">
                        <a:latin typeface="Segoe UI" panose="020B0502040204020203" pitchFamily="34" charset="0"/>
                        <a:ea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22581" marR="122581" marT="73549" marB="73549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4903" cap="flat" cmpd="sng" algn="ctr">
                      <a:solidFill>
                        <a:srgbClr val="D9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810"/>
                        </a:lnSpc>
                        <a:buNone/>
                      </a:pPr>
                      <a:r>
                        <a:rPr lang="en-US" sz="580" dirty="0">
                          <a:solidFill>
                            <a:srgbClr val="121C23"/>
                          </a:solidFill>
                          <a:latin typeface="Segoe UI" panose="020B0502040204020203" pitchFamily="34" charset="0"/>
                          <a:ea typeface="Segoe UI" panose="020B0502040204020203" pitchFamily="34" charset="-122"/>
                          <a:cs typeface="Segoe UI" panose="020B0502040204020203" pitchFamily="34" charset="-120"/>
                        </a:rPr>
                        <a:t>V4 Pro (2026.4)</a:t>
                      </a:r>
                      <a:endParaRPr lang="en-US" sz="580" dirty="0">
                        <a:latin typeface="Segoe UI" panose="020B0502040204020203" pitchFamily="34" charset="0"/>
                        <a:ea typeface="Segoe UI" panose="020B0502040204020203" pitchFamily="34" charset="0"/>
                        <a:cs typeface="Segoe UI" panose="020B0502040204020203" pitchFamily="34" charset="0"/>
                      </a:endParaRPr>
                    </a:p>
                    <a:p>
                      <a:pPr marL="0" indent="0" algn="l">
                        <a:lnSpc>
                          <a:spcPts val="810"/>
                        </a:lnSpc>
                        <a:buNone/>
                      </a:pPr>
                      <a:r>
                        <a:rPr lang="en-US" sz="580" dirty="0">
                          <a:solidFill>
                            <a:srgbClr val="121C23"/>
                          </a:solidFill>
                          <a:latin typeface="Segoe UI" panose="020B0502040204020203" pitchFamily="34" charset="0"/>
                          <a:ea typeface="Segoe UI" panose="020B0502040204020203" pitchFamily="34" charset="-122"/>
                          <a:cs typeface="Segoe UI" panose="020B0502040204020203" pitchFamily="34" charset="-120"/>
                        </a:rPr>
                        <a:t>1M 上下文</a:t>
                      </a:r>
                      <a:endParaRPr lang="en-US" sz="580" dirty="0">
                        <a:latin typeface="Segoe UI" panose="020B0502040204020203" pitchFamily="34" charset="0"/>
                        <a:ea typeface="Segoe UI" panose="020B0502040204020203" pitchFamily="34" charset="0"/>
                        <a:cs typeface="Segoe UI" panose="020B0502040204020203" pitchFamily="34" charset="0"/>
                      </a:endParaRPr>
                    </a:p>
                    <a:p>
                      <a:pPr marL="0" indent="0" algn="l">
                        <a:lnSpc>
                          <a:spcPts val="810"/>
                        </a:lnSpc>
                        <a:buNone/>
                      </a:pPr>
                      <a:r>
                        <a:rPr lang="en-US" sz="580" dirty="0">
                          <a:solidFill>
                            <a:srgbClr val="121C23"/>
                          </a:solidFill>
                          <a:latin typeface="Segoe UI" panose="020B0502040204020203" pitchFamily="34" charset="0"/>
                          <a:ea typeface="Segoe UI" panose="020B0502040204020203" pitchFamily="34" charset="-122"/>
                          <a:cs typeface="Segoe UI" panose="020B0502040204020203" pitchFamily="34" charset="-120"/>
                        </a:rPr>
                        <a:t>1.6T MoE(激活 49B)</a:t>
                      </a:r>
                      <a:endParaRPr lang="en-US" sz="580" dirty="0">
                        <a:latin typeface="Segoe UI" panose="020B0502040204020203" pitchFamily="34" charset="0"/>
                        <a:ea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22581" marR="122581" marT="73549" marB="73549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4903" cap="flat" cmpd="sng" algn="ctr">
                      <a:solidFill>
                        <a:srgbClr val="D9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810"/>
                        </a:lnSpc>
                        <a:buNone/>
                      </a:pPr>
                      <a:r>
                        <a:rPr lang="en-US" sz="580" dirty="0">
                          <a:solidFill>
                            <a:srgbClr val="121C23"/>
                          </a:solidFill>
                          <a:latin typeface="Segoe UI" panose="020B0502040204020203" pitchFamily="34" charset="0"/>
                          <a:ea typeface="Segoe UI" panose="020B0502040204020203" pitchFamily="34" charset="-122"/>
                          <a:cs typeface="Segoe UI" panose="020B0502040204020203" pitchFamily="34" charset="-120"/>
                        </a:rPr>
                        <a:t>Qwen3.7-Max (2026)</a:t>
                      </a:r>
                      <a:endParaRPr lang="en-US" sz="580" dirty="0">
                        <a:latin typeface="Segoe UI" panose="020B0502040204020203" pitchFamily="34" charset="0"/>
                        <a:ea typeface="Segoe UI" panose="020B0502040204020203" pitchFamily="34" charset="0"/>
                        <a:cs typeface="Segoe UI" panose="020B0502040204020203" pitchFamily="34" charset="0"/>
                      </a:endParaRPr>
                    </a:p>
                    <a:p>
                      <a:pPr marL="0" indent="0" algn="l">
                        <a:lnSpc>
                          <a:spcPts val="810"/>
                        </a:lnSpc>
                        <a:buNone/>
                      </a:pPr>
                      <a:r>
                        <a:rPr lang="en-US" sz="580" dirty="0">
                          <a:solidFill>
                            <a:srgbClr val="121C23"/>
                          </a:solidFill>
                          <a:latin typeface="Segoe UI" panose="020B0502040204020203" pitchFamily="34" charset="0"/>
                          <a:ea typeface="Segoe UI" panose="020B0502040204020203" pitchFamily="34" charset="-122"/>
                          <a:cs typeface="Segoe UI" panose="020B0502040204020203" pitchFamily="34" charset="-120"/>
                        </a:rPr>
                        <a:t>252K~1M 上下文</a:t>
                      </a:r>
                      <a:endParaRPr lang="en-US" sz="580" dirty="0">
                        <a:latin typeface="Segoe UI" panose="020B0502040204020203" pitchFamily="34" charset="0"/>
                        <a:ea typeface="Segoe UI" panose="020B0502040204020203" pitchFamily="34" charset="0"/>
                        <a:cs typeface="Segoe UI" panose="020B0502040204020203" pitchFamily="34" charset="0"/>
                      </a:endParaRPr>
                    </a:p>
                    <a:p>
                      <a:pPr marL="0" indent="0" algn="l">
                        <a:lnSpc>
                          <a:spcPts val="810"/>
                        </a:lnSpc>
                        <a:buNone/>
                      </a:pPr>
                      <a:r>
                        <a:rPr lang="en-US" sz="580" dirty="0">
                          <a:solidFill>
                            <a:srgbClr val="121C23"/>
                          </a:solidFill>
                          <a:latin typeface="Segoe UI" panose="020B0502040204020203" pitchFamily="34" charset="0"/>
                          <a:ea typeface="Segoe UI" panose="020B0502040204020203" pitchFamily="34" charset="-122"/>
                          <a:cs typeface="Segoe UI" panose="020B0502040204020203" pitchFamily="34" charset="-120"/>
                        </a:rPr>
                        <a:t>多尺寸全覆盖</a:t>
                      </a:r>
                      <a:endParaRPr lang="en-US" sz="580" dirty="0">
                        <a:latin typeface="Segoe UI" panose="020B0502040204020203" pitchFamily="34" charset="0"/>
                        <a:ea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22581" marR="122581" marT="73549" marB="73549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4903" cap="flat" cmpd="sng" algn="ctr">
                      <a:solidFill>
                        <a:srgbClr val="D9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810"/>
                        </a:lnSpc>
                        <a:buNone/>
                      </a:pPr>
                      <a:r>
                        <a:rPr lang="en-US" sz="580" dirty="0">
                          <a:solidFill>
                            <a:srgbClr val="121C23"/>
                          </a:solidFill>
                          <a:latin typeface="Segoe UI" panose="020B0502040204020203" pitchFamily="34" charset="0"/>
                          <a:ea typeface="Segoe UI" panose="020B0502040204020203" pitchFamily="34" charset="-122"/>
                          <a:cs typeface="Segoe UI" panose="020B0502040204020203" pitchFamily="34" charset="-120"/>
                        </a:rPr>
                        <a:t>Seed-2.1-Pro (2026)</a:t>
                      </a:r>
                      <a:endParaRPr lang="en-US" sz="580" dirty="0">
                        <a:latin typeface="Segoe UI" panose="020B0502040204020203" pitchFamily="34" charset="0"/>
                        <a:ea typeface="Segoe UI" panose="020B0502040204020203" pitchFamily="34" charset="0"/>
                        <a:cs typeface="Segoe UI" panose="020B0502040204020203" pitchFamily="34" charset="0"/>
                      </a:endParaRPr>
                    </a:p>
                    <a:p>
                      <a:pPr marL="0" indent="0" algn="l">
                        <a:lnSpc>
                          <a:spcPts val="810"/>
                        </a:lnSpc>
                        <a:buNone/>
                      </a:pPr>
                      <a:r>
                        <a:rPr lang="en-US" sz="580" dirty="0">
                          <a:solidFill>
                            <a:srgbClr val="121C23"/>
                          </a:solidFill>
                          <a:latin typeface="Segoe UI" panose="020B0502040204020203" pitchFamily="34" charset="0"/>
                          <a:ea typeface="Segoe UI" panose="020B0502040204020203" pitchFamily="34" charset="-122"/>
                          <a:cs typeface="Segoe UI" panose="020B0502040204020203" pitchFamily="34" charset="-120"/>
                        </a:rPr>
                        <a:t>128K 上下文</a:t>
                      </a:r>
                      <a:endParaRPr lang="en-US" sz="580" dirty="0">
                        <a:latin typeface="Segoe UI" panose="020B0502040204020203" pitchFamily="34" charset="0"/>
                        <a:ea typeface="Segoe UI" panose="020B0502040204020203" pitchFamily="34" charset="0"/>
                        <a:cs typeface="Segoe UI" panose="020B0502040204020203" pitchFamily="34" charset="0"/>
                      </a:endParaRPr>
                    </a:p>
                    <a:p>
                      <a:pPr marL="0" indent="0" algn="l">
                        <a:lnSpc>
                          <a:spcPts val="810"/>
                        </a:lnSpc>
                        <a:buNone/>
                      </a:pPr>
                      <a:r>
                        <a:rPr lang="en-US" sz="580" dirty="0">
                          <a:solidFill>
                            <a:srgbClr val="121C23"/>
                          </a:solidFill>
                          <a:latin typeface="Segoe UI" panose="020B0502040204020203" pitchFamily="34" charset="0"/>
                          <a:ea typeface="Segoe UI" panose="020B0502040204020203" pitchFamily="34" charset="-122"/>
                          <a:cs typeface="Segoe UI" panose="020B0502040204020203" pitchFamily="34" charset="-120"/>
                        </a:rPr>
                        <a:t>国产综合第一</a:t>
                      </a:r>
                      <a:endParaRPr lang="en-US" sz="580" dirty="0">
                        <a:latin typeface="Segoe UI" panose="020B0502040204020203" pitchFamily="34" charset="0"/>
                        <a:ea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22581" marR="122581" marT="73549" marB="73549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4903" cap="flat" cmpd="sng" algn="ctr">
                      <a:solidFill>
                        <a:srgbClr val="D9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810"/>
                        </a:lnSpc>
                        <a:buNone/>
                      </a:pPr>
                      <a:r>
                        <a:rPr lang="en-US" sz="580" dirty="0">
                          <a:solidFill>
                            <a:srgbClr val="121C23"/>
                          </a:solidFill>
                          <a:latin typeface="Segoe UI" panose="020B0502040204020203" pitchFamily="34" charset="0"/>
                          <a:ea typeface="Segoe UI" panose="020B0502040204020203" pitchFamily="34" charset="-122"/>
                          <a:cs typeface="Segoe UI" panose="020B0502040204020203" pitchFamily="34" charset="-120"/>
                        </a:rPr>
                        <a:t>K2.7-Code (2026)</a:t>
                      </a:r>
                      <a:endParaRPr lang="en-US" sz="580" dirty="0">
                        <a:latin typeface="Segoe UI" panose="020B0502040204020203" pitchFamily="34" charset="0"/>
                        <a:ea typeface="Segoe UI" panose="020B0502040204020203" pitchFamily="34" charset="0"/>
                        <a:cs typeface="Segoe UI" panose="020B0502040204020203" pitchFamily="34" charset="0"/>
                      </a:endParaRPr>
                    </a:p>
                    <a:p>
                      <a:pPr marL="0" indent="0" algn="l">
                        <a:lnSpc>
                          <a:spcPts val="810"/>
                        </a:lnSpc>
                        <a:buNone/>
                      </a:pPr>
                      <a:r>
                        <a:rPr lang="en-US" sz="580" dirty="0">
                          <a:solidFill>
                            <a:srgbClr val="121C23"/>
                          </a:solidFill>
                          <a:latin typeface="Segoe UI" panose="020B0502040204020203" pitchFamily="34" charset="0"/>
                          <a:ea typeface="Segoe UI" panose="020B0502040204020203" pitchFamily="34" charset="-122"/>
                          <a:cs typeface="Segoe UI" panose="020B0502040204020203" pitchFamily="34" charset="-120"/>
                        </a:rPr>
                        <a:t>262K 上下文</a:t>
                      </a:r>
                      <a:endParaRPr lang="en-US" sz="580" dirty="0">
                        <a:latin typeface="Segoe UI" panose="020B0502040204020203" pitchFamily="34" charset="0"/>
                        <a:ea typeface="Segoe UI" panose="020B0502040204020203" pitchFamily="34" charset="0"/>
                        <a:cs typeface="Segoe UI" panose="020B0502040204020203" pitchFamily="34" charset="0"/>
                      </a:endParaRPr>
                    </a:p>
                    <a:p>
                      <a:pPr marL="0" indent="0" algn="l">
                        <a:lnSpc>
                          <a:spcPts val="810"/>
                        </a:lnSpc>
                        <a:buNone/>
                      </a:pPr>
                      <a:r>
                        <a:rPr lang="en-US" sz="580" dirty="0">
                          <a:solidFill>
                            <a:srgbClr val="121C23"/>
                          </a:solidFill>
                          <a:latin typeface="Segoe UI" panose="020B0502040204020203" pitchFamily="34" charset="0"/>
                          <a:ea typeface="Segoe UI" panose="020B0502040204020203" pitchFamily="34" charset="-122"/>
                          <a:cs typeface="Segoe UI" panose="020B0502040204020203" pitchFamily="34" charset="-120"/>
                        </a:rPr>
                        <a:t>Agent Swarm(100 子代理)</a:t>
                      </a:r>
                      <a:endParaRPr lang="en-US" sz="580" dirty="0">
                        <a:latin typeface="Segoe UI" panose="020B0502040204020203" pitchFamily="34" charset="0"/>
                        <a:ea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22581" marR="122581" marT="73549" marB="73549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4903" cap="flat" cmpd="sng" algn="ctr">
                      <a:solidFill>
                        <a:srgbClr val="D9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810"/>
                        </a:lnSpc>
                        <a:buNone/>
                      </a:pPr>
                      <a:r>
                        <a:rPr lang="en-US" sz="580" dirty="0">
                          <a:solidFill>
                            <a:srgbClr val="5A656D"/>
                          </a:solidFill>
                          <a:latin typeface="Segoe UI" panose="020B0502040204020203" pitchFamily="34" charset="0"/>
                          <a:ea typeface="Segoe UI" panose="020B0502040204020203" pitchFamily="34" charset="-122"/>
                          <a:cs typeface="Segoe UI" panose="020B0502040204020203" pitchFamily="34" charset="-120"/>
                        </a:rPr>
                        <a:t>GLM-5.2 (2026.7)</a:t>
                      </a:r>
                      <a:endParaRPr lang="en-US" sz="580" dirty="0">
                        <a:latin typeface="Segoe UI" panose="020B0502040204020203" pitchFamily="34" charset="0"/>
                        <a:ea typeface="Segoe UI" panose="020B0502040204020203" pitchFamily="34" charset="0"/>
                        <a:cs typeface="Segoe UI" panose="020B0502040204020203" pitchFamily="34" charset="0"/>
                      </a:endParaRPr>
                    </a:p>
                    <a:p>
                      <a:pPr marL="0" indent="0" algn="l">
                        <a:lnSpc>
                          <a:spcPts val="810"/>
                        </a:lnSpc>
                        <a:buNone/>
                      </a:pPr>
                      <a:r>
                        <a:rPr lang="en-US" sz="580" dirty="0">
                          <a:solidFill>
                            <a:srgbClr val="5A656D"/>
                          </a:solidFill>
                          <a:latin typeface="Segoe UI" panose="020B0502040204020203" pitchFamily="34" charset="0"/>
                          <a:ea typeface="Segoe UI" panose="020B0502040204020203" pitchFamily="34" charset="-122"/>
                          <a:cs typeface="Segoe UI" panose="020B0502040204020203" pitchFamily="34" charset="-120"/>
                        </a:rPr>
                        <a:t>128K 上下文</a:t>
                      </a:r>
                      <a:endParaRPr lang="en-US" sz="580" dirty="0">
                        <a:latin typeface="Segoe UI" panose="020B0502040204020203" pitchFamily="34" charset="0"/>
                        <a:ea typeface="Segoe UI" panose="020B0502040204020203" pitchFamily="34" charset="0"/>
                        <a:cs typeface="Segoe UI" panose="020B0502040204020203" pitchFamily="34" charset="0"/>
                      </a:endParaRPr>
                    </a:p>
                    <a:p>
                      <a:pPr marL="0" indent="0" algn="l">
                        <a:lnSpc>
                          <a:spcPts val="810"/>
                        </a:lnSpc>
                        <a:buNone/>
                      </a:pPr>
                      <a:r>
                        <a:rPr lang="en-US" sz="580" dirty="0">
                          <a:solidFill>
                            <a:srgbClr val="5A656D"/>
                          </a:solidFill>
                          <a:latin typeface="Segoe UI" panose="020B0502040204020203" pitchFamily="34" charset="0"/>
                          <a:ea typeface="Segoe UI" panose="020B0502040204020203" pitchFamily="34" charset="-122"/>
                          <a:cs typeface="Segoe UI" panose="020B0502040204020203" pitchFamily="34" charset="-120"/>
                        </a:rPr>
                        <a:t>SWE-bench 77.8%</a:t>
                      </a:r>
                      <a:endParaRPr lang="en-US" sz="580" dirty="0">
                        <a:latin typeface="Segoe UI" panose="020B0502040204020203" pitchFamily="34" charset="0"/>
                        <a:ea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22581" marR="122581" marT="73549" marB="73549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4903" cap="flat" cmpd="sng" algn="ctr">
                      <a:solidFill>
                        <a:srgbClr val="D9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810"/>
                        </a:lnSpc>
                        <a:buNone/>
                      </a:pPr>
                      <a:r>
                        <a:rPr lang="en-US" sz="580" b="1" dirty="0">
                          <a:solidFill>
                            <a:srgbClr val="121C23"/>
                          </a:solidFill>
                          <a:latin typeface="Segoe UI" panose="020B0502040204020203" pitchFamily="34" charset="0"/>
                          <a:ea typeface="Segoe UI" panose="020B0502040204020203" pitchFamily="34" charset="-122"/>
                          <a:cs typeface="Segoe UI" panose="020B0502040204020203" pitchFamily="34" charset="-120"/>
                        </a:rPr>
                        <a:t>核心竞争力</a:t>
                      </a:r>
                      <a:endParaRPr lang="en-US" sz="580" dirty="0">
                        <a:latin typeface="Segoe UI" panose="020B0502040204020203" pitchFamily="34" charset="0"/>
                        <a:ea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22581" marR="122581" marT="73549" marB="73549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4903" cap="flat" cmpd="sng" algn="ctr">
                      <a:solidFill>
                        <a:srgbClr val="D9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810"/>
                        </a:lnSpc>
                        <a:buNone/>
                      </a:pPr>
                      <a:r>
                        <a:rPr lang="en-US" sz="580" dirty="0">
                          <a:solidFill>
                            <a:srgbClr val="121C23"/>
                          </a:solidFill>
                          <a:latin typeface="Segoe UI" panose="020B0502040204020203" pitchFamily="34" charset="0"/>
                          <a:ea typeface="Segoe UI" panose="020B0502040204020203" pitchFamily="34" charset="-122"/>
                          <a:cs typeface="Segoe UI" panose="020B0502040204020203" pitchFamily="34" charset="-120"/>
                        </a:rPr>
                        <a:t>代码+数学推理国产第一</a:t>
                      </a:r>
                      <a:endParaRPr lang="en-US" sz="580" dirty="0">
                        <a:latin typeface="Segoe UI" panose="020B0502040204020203" pitchFamily="34" charset="0"/>
                        <a:ea typeface="Segoe UI" panose="020B0502040204020203" pitchFamily="34" charset="0"/>
                        <a:cs typeface="Segoe UI" panose="020B0502040204020203" pitchFamily="34" charset="0"/>
                      </a:endParaRPr>
                    </a:p>
                    <a:p>
                      <a:pPr marL="0" indent="0" algn="l">
                        <a:lnSpc>
                          <a:spcPts val="810"/>
                        </a:lnSpc>
                        <a:buNone/>
                      </a:pPr>
                      <a:r>
                        <a:rPr lang="en-US" sz="580" dirty="0">
                          <a:solidFill>
                            <a:srgbClr val="121C23"/>
                          </a:solidFill>
                          <a:latin typeface="Segoe UI" panose="020B0502040204020203" pitchFamily="34" charset="0"/>
                          <a:ea typeface="Segoe UI" panose="020B0502040204020203" pitchFamily="34" charset="-122"/>
                          <a:cs typeface="Segoe UI" panose="020B0502040204020203" pitchFamily="34" charset="-120"/>
                        </a:rPr>
                        <a:t>API ¥1/百万 token</a:t>
                      </a:r>
                      <a:endParaRPr lang="en-US" sz="580" dirty="0">
                        <a:latin typeface="Segoe UI" panose="020B0502040204020203" pitchFamily="34" charset="0"/>
                        <a:ea typeface="Segoe UI" panose="020B0502040204020203" pitchFamily="34" charset="0"/>
                        <a:cs typeface="Segoe UI" panose="020B0502040204020203" pitchFamily="34" charset="0"/>
                      </a:endParaRPr>
                    </a:p>
                    <a:p>
                      <a:pPr marL="0" indent="0" algn="l">
                        <a:lnSpc>
                          <a:spcPts val="810"/>
                        </a:lnSpc>
                        <a:buNone/>
                      </a:pPr>
                      <a:r>
                        <a:rPr lang="en-US" sz="580" dirty="0">
                          <a:solidFill>
                            <a:srgbClr val="121C23"/>
                          </a:solidFill>
                          <a:latin typeface="Segoe UI" panose="020B0502040204020203" pitchFamily="34" charset="0"/>
                          <a:ea typeface="Segoe UI" panose="020B0502040204020203" pitchFamily="34" charset="-122"/>
                          <a:cs typeface="Segoe UI" panose="020B0502040204020203" pitchFamily="34" charset="-120"/>
                        </a:rPr>
                        <a:t>Apache 2.0 开源</a:t>
                      </a:r>
                      <a:endParaRPr lang="en-US" sz="580" dirty="0">
                        <a:latin typeface="Segoe UI" panose="020B0502040204020203" pitchFamily="34" charset="0"/>
                        <a:ea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22581" marR="122581" marT="73549" marB="73549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4903" cap="flat" cmpd="sng" algn="ctr">
                      <a:solidFill>
                        <a:srgbClr val="D9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810"/>
                        </a:lnSpc>
                        <a:buNone/>
                      </a:pPr>
                      <a:r>
                        <a:rPr lang="en-US" sz="580" dirty="0">
                          <a:solidFill>
                            <a:srgbClr val="121C23"/>
                          </a:solidFill>
                          <a:latin typeface="Segoe UI" panose="020B0502040204020203" pitchFamily="34" charset="0"/>
                          <a:ea typeface="Segoe UI" panose="020B0502040204020203" pitchFamily="34" charset="-122"/>
                          <a:cs typeface="Segoe UI" panose="020B0502040204020203" pitchFamily="34" charset="-120"/>
                        </a:rPr>
                        <a:t>中文创作最优</a:t>
                      </a:r>
                      <a:endParaRPr lang="en-US" sz="580" dirty="0">
                        <a:latin typeface="Segoe UI" panose="020B0502040204020203" pitchFamily="34" charset="0"/>
                        <a:ea typeface="Segoe UI" panose="020B0502040204020203" pitchFamily="34" charset="0"/>
                        <a:cs typeface="Segoe UI" panose="020B0502040204020203" pitchFamily="34" charset="0"/>
                      </a:endParaRPr>
                    </a:p>
                    <a:p>
                      <a:pPr marL="0" indent="0" algn="l">
                        <a:lnSpc>
                          <a:spcPts val="810"/>
                        </a:lnSpc>
                        <a:buNone/>
                      </a:pPr>
                      <a:r>
                        <a:rPr lang="en-US" sz="580" dirty="0">
                          <a:solidFill>
                            <a:srgbClr val="121C23"/>
                          </a:solidFill>
                          <a:latin typeface="Segoe UI" panose="020B0502040204020203" pitchFamily="34" charset="0"/>
                          <a:ea typeface="Segoe UI" panose="020B0502040204020203" pitchFamily="34" charset="-122"/>
                          <a:cs typeface="Segoe UI" panose="020B0502040204020203" pitchFamily="34" charset="-120"/>
                        </a:rPr>
                        <a:t>开源生态最活跃</a:t>
                      </a:r>
                      <a:endParaRPr lang="en-US" sz="580" dirty="0">
                        <a:latin typeface="Segoe UI" panose="020B0502040204020203" pitchFamily="34" charset="0"/>
                        <a:ea typeface="Segoe UI" panose="020B0502040204020203" pitchFamily="34" charset="0"/>
                        <a:cs typeface="Segoe UI" panose="020B0502040204020203" pitchFamily="34" charset="0"/>
                      </a:endParaRPr>
                    </a:p>
                    <a:p>
                      <a:pPr marL="0" indent="0" algn="l">
                        <a:lnSpc>
                          <a:spcPts val="810"/>
                        </a:lnSpc>
                        <a:buNone/>
                      </a:pPr>
                      <a:r>
                        <a:rPr lang="en-US" sz="580" dirty="0">
                          <a:solidFill>
                            <a:srgbClr val="121C23"/>
                          </a:solidFill>
                          <a:latin typeface="Segoe UI" panose="020B0502040204020203" pitchFamily="34" charset="0"/>
                          <a:ea typeface="Segoe UI" panose="020B0502040204020203" pitchFamily="34" charset="-122"/>
                          <a:cs typeface="Segoe UI" panose="020B0502040204020203" pitchFamily="34" charset="-120"/>
                        </a:rPr>
                        <a:t>阿里云 35.8% 市占</a:t>
                      </a:r>
                      <a:endParaRPr lang="en-US" sz="580" dirty="0">
                        <a:latin typeface="Segoe UI" panose="020B0502040204020203" pitchFamily="34" charset="0"/>
                        <a:ea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22581" marR="122581" marT="73549" marB="73549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4903" cap="flat" cmpd="sng" algn="ctr">
                      <a:solidFill>
                        <a:srgbClr val="D9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810"/>
                        </a:lnSpc>
                        <a:buNone/>
                      </a:pPr>
                      <a:r>
                        <a:rPr lang="en-US" sz="580" dirty="0">
                          <a:solidFill>
                            <a:srgbClr val="121C23"/>
                          </a:solidFill>
                          <a:latin typeface="Segoe UI" panose="020B0502040204020203" pitchFamily="34" charset="0"/>
                          <a:ea typeface="Segoe UI" panose="020B0502040204020203" pitchFamily="34" charset="-122"/>
                          <a:cs typeface="Segoe UI" panose="020B0502040204020203" pitchFamily="34" charset="-120"/>
                        </a:rPr>
                        <a:t>日活超 1 亿</a:t>
                      </a:r>
                      <a:endParaRPr lang="en-US" sz="580" dirty="0">
                        <a:latin typeface="Segoe UI" panose="020B0502040204020203" pitchFamily="34" charset="0"/>
                        <a:ea typeface="Segoe UI" panose="020B0502040204020203" pitchFamily="34" charset="0"/>
                        <a:cs typeface="Segoe UI" panose="020B0502040204020203" pitchFamily="34" charset="0"/>
                      </a:endParaRPr>
                    </a:p>
                    <a:p>
                      <a:pPr marL="0" indent="0" algn="l">
                        <a:lnSpc>
                          <a:spcPts val="810"/>
                        </a:lnSpc>
                        <a:buNone/>
                      </a:pPr>
                      <a:r>
                        <a:rPr lang="en-US" sz="580" dirty="0">
                          <a:solidFill>
                            <a:srgbClr val="121C23"/>
                          </a:solidFill>
                          <a:latin typeface="Segoe UI" panose="020B0502040204020203" pitchFamily="34" charset="0"/>
                          <a:ea typeface="Segoe UI" panose="020B0502040204020203" pitchFamily="34" charset="-122"/>
                          <a:cs typeface="Segoe UI" panose="020B0502040204020203" pitchFamily="34" charset="-120"/>
                        </a:rPr>
                        <a:t>中文理解最佳</a:t>
                      </a:r>
                      <a:endParaRPr lang="en-US" sz="580" dirty="0">
                        <a:latin typeface="Segoe UI" panose="020B0502040204020203" pitchFamily="34" charset="0"/>
                        <a:ea typeface="Segoe UI" panose="020B0502040204020203" pitchFamily="34" charset="0"/>
                        <a:cs typeface="Segoe UI" panose="020B0502040204020203" pitchFamily="34" charset="0"/>
                      </a:endParaRPr>
                    </a:p>
                    <a:p>
                      <a:pPr marL="0" indent="0" algn="l">
                        <a:lnSpc>
                          <a:spcPts val="810"/>
                        </a:lnSpc>
                        <a:buNone/>
                      </a:pPr>
                      <a:r>
                        <a:rPr lang="en-US" sz="580" dirty="0">
                          <a:solidFill>
                            <a:srgbClr val="121C23"/>
                          </a:solidFill>
                          <a:latin typeface="Segoe UI" panose="020B0502040204020203" pitchFamily="34" charset="0"/>
                          <a:ea typeface="Segoe UI" panose="020B0502040204020203" pitchFamily="34" charset="-122"/>
                          <a:cs typeface="Segoe UI" panose="020B0502040204020203" pitchFamily="34" charset="-120"/>
                        </a:rPr>
                        <a:t>多模态+语音交互</a:t>
                      </a:r>
                      <a:endParaRPr lang="en-US" sz="580" dirty="0">
                        <a:latin typeface="Segoe UI" panose="020B0502040204020203" pitchFamily="34" charset="0"/>
                        <a:ea typeface="Segoe UI" panose="020B0502040204020203" pitchFamily="34" charset="0"/>
                        <a:cs typeface="Segoe UI" panose="020B0502040204020203" pitchFamily="34" charset="0"/>
                      </a:endParaRPr>
                    </a:p>
                    <a:p>
                      <a:pPr marL="0" indent="0" algn="l">
                        <a:lnSpc>
                          <a:spcPts val="810"/>
                        </a:lnSpc>
                        <a:buNone/>
                      </a:pPr>
                      <a:r>
                        <a:rPr lang="en-US" sz="580" dirty="0">
                          <a:solidFill>
                            <a:srgbClr val="121C23"/>
                          </a:solidFill>
                          <a:latin typeface="Segoe UI" panose="020B0502040204020203" pitchFamily="34" charset="0"/>
                          <a:ea typeface="Segoe UI" panose="020B0502040204020203" pitchFamily="34" charset="-122"/>
                          <a:cs typeface="Segoe UI" panose="020B0502040204020203" pitchFamily="34" charset="-120"/>
                        </a:rPr>
                        <a:t>高并发 10K QPS</a:t>
                      </a:r>
                      <a:endParaRPr lang="en-US" sz="580" dirty="0">
                        <a:latin typeface="Segoe UI" panose="020B0502040204020203" pitchFamily="34" charset="0"/>
                        <a:ea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22581" marR="122581" marT="73549" marB="73549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4903" cap="flat" cmpd="sng" algn="ctr">
                      <a:solidFill>
                        <a:srgbClr val="D9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810"/>
                        </a:lnSpc>
                        <a:buNone/>
                      </a:pPr>
                      <a:r>
                        <a:rPr lang="en-US" sz="580" dirty="0">
                          <a:solidFill>
                            <a:srgbClr val="121C23"/>
                          </a:solidFill>
                          <a:latin typeface="Segoe UI" panose="020B0502040204020203" pitchFamily="34" charset="0"/>
                          <a:ea typeface="Segoe UI" panose="020B0502040204020203" pitchFamily="34" charset="-122"/>
                          <a:cs typeface="Segoe UI" panose="020B0502040204020203" pitchFamily="34" charset="-120"/>
                        </a:rPr>
                        <a:t>200 万字文档全球独一档</a:t>
                      </a:r>
                      <a:endParaRPr lang="en-US" sz="580" dirty="0">
                        <a:latin typeface="Segoe UI" panose="020B0502040204020203" pitchFamily="34" charset="0"/>
                        <a:ea typeface="Segoe UI" panose="020B0502040204020203" pitchFamily="34" charset="0"/>
                        <a:cs typeface="Segoe UI" panose="020B0502040204020203" pitchFamily="34" charset="0"/>
                      </a:endParaRPr>
                    </a:p>
                    <a:p>
                      <a:pPr marL="0" indent="0" algn="l">
                        <a:lnSpc>
                          <a:spcPts val="810"/>
                        </a:lnSpc>
                        <a:buNone/>
                      </a:pPr>
                      <a:r>
                        <a:rPr lang="en-US" sz="580" dirty="0">
                          <a:solidFill>
                            <a:srgbClr val="121C23"/>
                          </a:solidFill>
                          <a:latin typeface="Segoe UI" panose="020B0502040204020203" pitchFamily="34" charset="0"/>
                          <a:ea typeface="Segoe UI" panose="020B0502040204020203" pitchFamily="34" charset="-122"/>
                          <a:cs typeface="Segoe UI" panose="020B0502040204020203" pitchFamily="34" charset="-120"/>
                        </a:rPr>
                        <a:t>MATH-500 达 98%</a:t>
                      </a:r>
                      <a:endParaRPr lang="en-US" sz="580" dirty="0">
                        <a:latin typeface="Segoe UI" panose="020B0502040204020203" pitchFamily="34" charset="0"/>
                        <a:ea typeface="Segoe UI" panose="020B0502040204020203" pitchFamily="34" charset="0"/>
                        <a:cs typeface="Segoe UI" panose="020B0502040204020203" pitchFamily="34" charset="0"/>
                      </a:endParaRPr>
                    </a:p>
                    <a:p>
                      <a:pPr marL="0" indent="0" algn="l">
                        <a:lnSpc>
                          <a:spcPts val="810"/>
                        </a:lnSpc>
                        <a:buNone/>
                      </a:pPr>
                      <a:r>
                        <a:rPr lang="en-US" sz="580" dirty="0">
                          <a:solidFill>
                            <a:srgbClr val="121C23"/>
                          </a:solidFill>
                          <a:latin typeface="Segoe UI" panose="020B0502040204020203" pitchFamily="34" charset="0"/>
                          <a:ea typeface="Segoe UI" panose="020B0502040204020203" pitchFamily="34" charset="-122"/>
                          <a:cs typeface="Segoe UI" panose="020B0502040204020203" pitchFamily="34" charset="-120"/>
                        </a:rPr>
                        <a:t>缓存命中 ¥1.1/M tok</a:t>
                      </a:r>
                      <a:endParaRPr lang="en-US" sz="580" dirty="0">
                        <a:latin typeface="Segoe UI" panose="020B0502040204020203" pitchFamily="34" charset="0"/>
                        <a:ea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22581" marR="122581" marT="73549" marB="73549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4903" cap="flat" cmpd="sng" algn="ctr">
                      <a:solidFill>
                        <a:srgbClr val="D9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810"/>
                        </a:lnSpc>
                        <a:buNone/>
                      </a:pPr>
                      <a:r>
                        <a:rPr lang="en-US" sz="580" dirty="0">
                          <a:solidFill>
                            <a:srgbClr val="5A656D"/>
                          </a:solidFill>
                          <a:latin typeface="Segoe UI" panose="020B0502040204020203" pitchFamily="34" charset="0"/>
                          <a:ea typeface="Segoe UI" panose="020B0502040204020203" pitchFamily="34" charset="-122"/>
                          <a:cs typeface="Segoe UI" panose="020B0502040204020203" pitchFamily="34" charset="-120"/>
                        </a:rPr>
                        <a:t>Agent 工具调用最稳定</a:t>
                      </a:r>
                      <a:endParaRPr lang="en-US" sz="580" dirty="0">
                        <a:latin typeface="Segoe UI" panose="020B0502040204020203" pitchFamily="34" charset="0"/>
                        <a:ea typeface="Segoe UI" panose="020B0502040204020203" pitchFamily="34" charset="0"/>
                        <a:cs typeface="Segoe UI" panose="020B0502040204020203" pitchFamily="34" charset="0"/>
                      </a:endParaRPr>
                    </a:p>
                    <a:p>
                      <a:pPr marL="0" indent="0" algn="l">
                        <a:lnSpc>
                          <a:spcPts val="810"/>
                        </a:lnSpc>
                        <a:buNone/>
                      </a:pPr>
                      <a:r>
                        <a:rPr lang="en-US" sz="580" dirty="0">
                          <a:solidFill>
                            <a:srgbClr val="5A656D"/>
                          </a:solidFill>
                          <a:latin typeface="Segoe UI" panose="020B0502040204020203" pitchFamily="34" charset="0"/>
                          <a:ea typeface="Segoe UI" panose="020B0502040204020203" pitchFamily="34" charset="-122"/>
                          <a:cs typeface="Segoe UI" panose="020B0502040204020203" pitchFamily="34" charset="-120"/>
                        </a:rPr>
                        <a:t>幻觉率仅 ~1.3%</a:t>
                      </a:r>
                      <a:endParaRPr lang="en-US" sz="580" dirty="0">
                        <a:latin typeface="Segoe UI" panose="020B0502040204020203" pitchFamily="34" charset="0"/>
                        <a:ea typeface="Segoe UI" panose="020B0502040204020203" pitchFamily="34" charset="0"/>
                        <a:cs typeface="Segoe UI" panose="020B0502040204020203" pitchFamily="34" charset="0"/>
                      </a:endParaRPr>
                    </a:p>
                    <a:p>
                      <a:pPr marL="0" indent="0" algn="l">
                        <a:lnSpc>
                          <a:spcPts val="810"/>
                        </a:lnSpc>
                        <a:buNone/>
                      </a:pPr>
                      <a:r>
                        <a:rPr lang="en-US" sz="580" dirty="0">
                          <a:solidFill>
                            <a:srgbClr val="5A656D"/>
                          </a:solidFill>
                          <a:latin typeface="Segoe UI" panose="020B0502040204020203" pitchFamily="34" charset="0"/>
                          <a:ea typeface="Segoe UI" panose="020B0502040204020203" pitchFamily="34" charset="-122"/>
                          <a:cs typeface="Segoe UI" panose="020B0502040204020203" pitchFamily="34" charset="-120"/>
                        </a:rPr>
                        <a:t>永久免费 GLM-4-Flash</a:t>
                      </a:r>
                      <a:endParaRPr lang="en-US" sz="580" dirty="0">
                        <a:latin typeface="Segoe UI" panose="020B0502040204020203" pitchFamily="34" charset="0"/>
                        <a:ea typeface="Segoe UI" panose="020B0502040204020203" pitchFamily="34" charset="0"/>
                        <a:cs typeface="Segoe UI" panose="020B0502040204020203" pitchFamily="34" charset="0"/>
                      </a:endParaRPr>
                    </a:p>
                    <a:p>
                      <a:pPr marL="0" indent="0" algn="l">
                        <a:lnSpc>
                          <a:spcPts val="810"/>
                        </a:lnSpc>
                        <a:buNone/>
                      </a:pPr>
                      <a:r>
                        <a:rPr lang="en-US" sz="580" dirty="0">
                          <a:solidFill>
                            <a:srgbClr val="5A656D"/>
                          </a:solidFill>
                          <a:latin typeface="Segoe UI" panose="020B0502040204020203" pitchFamily="34" charset="0"/>
                          <a:ea typeface="Segoe UI" panose="020B0502040204020203" pitchFamily="34" charset="-122"/>
                          <a:cs typeface="Segoe UI" panose="020B0502040204020203" pitchFamily="34" charset="-120"/>
                        </a:rPr>
                        <a:t>清华学术根基</a:t>
                      </a:r>
                      <a:endParaRPr lang="en-US" sz="580" dirty="0">
                        <a:latin typeface="Segoe UI" panose="020B0502040204020203" pitchFamily="34" charset="0"/>
                        <a:ea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22581" marR="122581" marT="73549" marB="73549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4903" cap="flat" cmpd="sng" algn="ctr">
                      <a:solidFill>
                        <a:srgbClr val="D9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810"/>
                        </a:lnSpc>
                        <a:buNone/>
                      </a:pPr>
                      <a:r>
                        <a:rPr lang="en-US" sz="580" b="1" dirty="0">
                          <a:solidFill>
                            <a:srgbClr val="121C23"/>
                          </a:solidFill>
                          <a:latin typeface="Segoe UI" panose="020B0502040204020203" pitchFamily="34" charset="0"/>
                          <a:ea typeface="Segoe UI" panose="020B0502040204020203" pitchFamily="34" charset="-122"/>
                          <a:cs typeface="Segoe UI" panose="020B0502040204020203" pitchFamily="34" charset="-120"/>
                        </a:rPr>
                        <a:t>主要短板</a:t>
                      </a:r>
                      <a:endParaRPr lang="en-US" sz="580" dirty="0">
                        <a:latin typeface="Segoe UI" panose="020B0502040204020203" pitchFamily="34" charset="0"/>
                        <a:ea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22581" marR="122581" marT="73549" marB="73549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4903" cap="flat" cmpd="sng" algn="ctr">
                      <a:solidFill>
                        <a:srgbClr val="D9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810"/>
                        </a:lnSpc>
                        <a:buNone/>
                      </a:pPr>
                      <a:r>
                        <a:rPr lang="en-US" sz="580" dirty="0">
                          <a:solidFill>
                            <a:srgbClr val="121C23"/>
                          </a:solidFill>
                          <a:latin typeface="Segoe UI" panose="020B0502040204020203" pitchFamily="34" charset="0"/>
                          <a:ea typeface="Segoe UI" panose="020B0502040204020203" pitchFamily="34" charset="-122"/>
                          <a:cs typeface="Segoe UI" panose="020B0502040204020203" pitchFamily="34" charset="-120"/>
                        </a:rPr>
                        <a:t>多模态较弱</a:t>
                      </a:r>
                      <a:endParaRPr lang="en-US" sz="580" dirty="0">
                        <a:latin typeface="Segoe UI" panose="020B0502040204020203" pitchFamily="34" charset="0"/>
                        <a:ea typeface="Segoe UI" panose="020B0502040204020203" pitchFamily="34" charset="0"/>
                        <a:cs typeface="Segoe UI" panose="020B0502040204020203" pitchFamily="34" charset="0"/>
                      </a:endParaRPr>
                    </a:p>
                    <a:p>
                      <a:pPr marL="0" indent="0" algn="l">
                        <a:lnSpc>
                          <a:spcPts val="810"/>
                        </a:lnSpc>
                        <a:buNone/>
                      </a:pPr>
                      <a:r>
                        <a:rPr lang="en-US" sz="580" dirty="0">
                          <a:solidFill>
                            <a:srgbClr val="121C23"/>
                          </a:solidFill>
                          <a:latin typeface="Segoe UI" panose="020B0502040204020203" pitchFamily="34" charset="0"/>
                          <a:ea typeface="Segoe UI" panose="020B0502040204020203" pitchFamily="34" charset="-122"/>
                          <a:cs typeface="Segoe UI" panose="020B0502040204020203" pitchFamily="34" charset="-120"/>
                        </a:rPr>
                        <a:t>对话偏学术化</a:t>
                      </a:r>
                      <a:endParaRPr lang="en-US" sz="580" dirty="0">
                        <a:latin typeface="Segoe UI" panose="020B0502040204020203" pitchFamily="34" charset="0"/>
                        <a:ea typeface="Segoe UI" panose="020B0502040204020203" pitchFamily="34" charset="0"/>
                        <a:cs typeface="Segoe UI" panose="020B0502040204020203" pitchFamily="34" charset="0"/>
                      </a:endParaRPr>
                    </a:p>
                    <a:p>
                      <a:pPr marL="0" indent="0" algn="l">
                        <a:lnSpc>
                          <a:spcPts val="810"/>
                        </a:lnSpc>
                        <a:buNone/>
                      </a:pPr>
                      <a:r>
                        <a:rPr lang="en-US" sz="580" dirty="0">
                          <a:solidFill>
                            <a:srgbClr val="121C23"/>
                          </a:solidFill>
                          <a:latin typeface="Segoe UI" panose="020B0502040204020203" pitchFamily="34" charset="0"/>
                          <a:ea typeface="Segoe UI" panose="020B0502040204020203" pitchFamily="34" charset="-122"/>
                          <a:cs typeface="Segoe UI" panose="020B0502040204020203" pitchFamily="34" charset="-120"/>
                        </a:rPr>
                        <a:t>高峰响应慢</a:t>
                      </a:r>
                      <a:endParaRPr lang="en-US" sz="580" dirty="0">
                        <a:latin typeface="Segoe UI" panose="020B0502040204020203" pitchFamily="34" charset="0"/>
                        <a:ea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22581" marR="122581" marT="73549" marB="73549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4903" cap="flat" cmpd="sng" algn="ctr">
                      <a:solidFill>
                        <a:srgbClr val="D9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810"/>
                        </a:lnSpc>
                        <a:buNone/>
                      </a:pPr>
                      <a:r>
                        <a:rPr lang="en-US" sz="580" dirty="0">
                          <a:solidFill>
                            <a:srgbClr val="121C23"/>
                          </a:solidFill>
                          <a:latin typeface="Segoe UI" panose="020B0502040204020203" pitchFamily="34" charset="0"/>
                          <a:ea typeface="Segoe UI" panose="020B0502040204020203" pitchFamily="34" charset="-122"/>
                          <a:cs typeface="Segoe UI" panose="020B0502040204020203" pitchFamily="34" charset="-120"/>
                        </a:rPr>
                        <a:t>复杂 Agent 不如国际旗舰</a:t>
                      </a:r>
                      <a:endParaRPr lang="en-US" sz="580" dirty="0">
                        <a:latin typeface="Segoe UI" panose="020B0502040204020203" pitchFamily="34" charset="0"/>
                        <a:ea typeface="Segoe UI" panose="020B0502040204020203" pitchFamily="34" charset="0"/>
                        <a:cs typeface="Segoe UI" panose="020B0502040204020203" pitchFamily="34" charset="0"/>
                      </a:endParaRPr>
                    </a:p>
                    <a:p>
                      <a:pPr marL="0" indent="0" algn="l">
                        <a:lnSpc>
                          <a:spcPts val="810"/>
                        </a:lnSpc>
                        <a:buNone/>
                      </a:pPr>
                      <a:r>
                        <a:rPr lang="en-US" sz="580" dirty="0">
                          <a:solidFill>
                            <a:srgbClr val="121C23"/>
                          </a:solidFill>
                          <a:latin typeface="Segoe UI" panose="020B0502040204020203" pitchFamily="34" charset="0"/>
                          <a:ea typeface="Segoe UI" panose="020B0502040204020203" pitchFamily="34" charset="-122"/>
                          <a:cs typeface="Segoe UI" panose="020B0502040204020203" pitchFamily="34" charset="-120"/>
                        </a:rPr>
                        <a:t>旗舰输入阶梯加价</a:t>
                      </a:r>
                      <a:endParaRPr lang="en-US" sz="580" dirty="0">
                        <a:latin typeface="Segoe UI" panose="020B0502040204020203" pitchFamily="34" charset="0"/>
                        <a:ea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22581" marR="122581" marT="73549" marB="73549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4903" cap="flat" cmpd="sng" algn="ctr">
                      <a:solidFill>
                        <a:srgbClr val="D9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810"/>
                        </a:lnSpc>
                        <a:buNone/>
                      </a:pPr>
                      <a:r>
                        <a:rPr lang="en-US" sz="580" dirty="0">
                          <a:solidFill>
                            <a:srgbClr val="121C23"/>
                          </a:solidFill>
                          <a:latin typeface="Segoe UI" panose="020B0502040204020203" pitchFamily="34" charset="0"/>
                          <a:ea typeface="Segoe UI" panose="020B0502040204020203" pitchFamily="34" charset="-122"/>
                          <a:cs typeface="Segoe UI" panose="020B0502040204020203" pitchFamily="34" charset="-120"/>
                        </a:rPr>
                        <a:t>逻辑推理较弱</a:t>
                      </a:r>
                      <a:endParaRPr lang="en-US" sz="580" dirty="0">
                        <a:latin typeface="Segoe UI" panose="020B0502040204020203" pitchFamily="34" charset="0"/>
                        <a:ea typeface="Segoe UI" panose="020B0502040204020203" pitchFamily="34" charset="0"/>
                        <a:cs typeface="Segoe UI" panose="020B0502040204020203" pitchFamily="34" charset="0"/>
                      </a:endParaRPr>
                    </a:p>
                    <a:p>
                      <a:pPr marL="0" indent="0" algn="l">
                        <a:lnSpc>
                          <a:spcPts val="810"/>
                        </a:lnSpc>
                        <a:buNone/>
                      </a:pPr>
                      <a:r>
                        <a:rPr lang="en-US" sz="580" dirty="0">
                          <a:solidFill>
                            <a:srgbClr val="121C23"/>
                          </a:solidFill>
                          <a:latin typeface="Segoe UI" panose="020B0502040204020203" pitchFamily="34" charset="0"/>
                          <a:ea typeface="Segoe UI" panose="020B0502040204020203" pitchFamily="34" charset="-122"/>
                          <a:cs typeface="Segoe UI" panose="020B0502040204020203" pitchFamily="34" charset="-120"/>
                        </a:rPr>
                        <a:t>企业方案待完善</a:t>
                      </a:r>
                      <a:endParaRPr lang="en-US" sz="580" dirty="0">
                        <a:latin typeface="Segoe UI" panose="020B0502040204020203" pitchFamily="34" charset="0"/>
                        <a:ea typeface="Segoe UI" panose="020B0502040204020203" pitchFamily="34" charset="0"/>
                        <a:cs typeface="Segoe UI" panose="020B0502040204020203" pitchFamily="34" charset="0"/>
                      </a:endParaRPr>
                    </a:p>
                    <a:p>
                      <a:pPr marL="0" indent="0" algn="l">
                        <a:lnSpc>
                          <a:spcPts val="810"/>
                        </a:lnSpc>
                        <a:buNone/>
                      </a:pPr>
                      <a:r>
                        <a:rPr lang="en-US" sz="580" dirty="0">
                          <a:solidFill>
                            <a:srgbClr val="121C23"/>
                          </a:solidFill>
                          <a:latin typeface="Segoe UI" panose="020B0502040204020203" pitchFamily="34" charset="0"/>
                          <a:ea typeface="Segoe UI" panose="020B0502040204020203" pitchFamily="34" charset="-122"/>
                          <a:cs typeface="Segoe UI" panose="020B0502040204020203" pitchFamily="34" charset="-120"/>
                        </a:rPr>
                        <a:t>API 接入复杂</a:t>
                      </a:r>
                      <a:endParaRPr lang="en-US" sz="580" dirty="0">
                        <a:latin typeface="Segoe UI" panose="020B0502040204020203" pitchFamily="34" charset="0"/>
                        <a:ea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22581" marR="122581" marT="73549" marB="73549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4903" cap="flat" cmpd="sng" algn="ctr">
                      <a:solidFill>
                        <a:srgbClr val="D9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810"/>
                        </a:lnSpc>
                        <a:buNone/>
                      </a:pPr>
                      <a:r>
                        <a:rPr lang="en-US" sz="580" dirty="0">
                          <a:solidFill>
                            <a:srgbClr val="121C23"/>
                          </a:solidFill>
                          <a:latin typeface="Segoe UI" panose="020B0502040204020203" pitchFamily="34" charset="0"/>
                          <a:ea typeface="Segoe UI" panose="020B0502040204020203" pitchFamily="34" charset="-122"/>
                          <a:cs typeface="Segoe UI" panose="020B0502040204020203" pitchFamily="34" charset="-120"/>
                        </a:rPr>
                        <a:t>多模态弱</a:t>
                      </a:r>
                      <a:endParaRPr lang="en-US" sz="580" dirty="0">
                        <a:latin typeface="Segoe UI" panose="020B0502040204020203" pitchFamily="34" charset="0"/>
                        <a:ea typeface="Segoe UI" panose="020B0502040204020203" pitchFamily="34" charset="0"/>
                        <a:cs typeface="Segoe UI" panose="020B0502040204020203" pitchFamily="34" charset="0"/>
                      </a:endParaRPr>
                    </a:p>
                    <a:p>
                      <a:pPr marL="0" indent="0" algn="l">
                        <a:lnSpc>
                          <a:spcPts val="810"/>
                        </a:lnSpc>
                        <a:buNone/>
                      </a:pPr>
                      <a:r>
                        <a:rPr lang="en-US" sz="580" dirty="0">
                          <a:solidFill>
                            <a:srgbClr val="121C23"/>
                          </a:solidFill>
                          <a:latin typeface="Segoe UI" panose="020B0502040204020203" pitchFamily="34" charset="0"/>
                          <a:ea typeface="Segoe UI" panose="020B0502040204020203" pitchFamily="34" charset="-122"/>
                          <a:cs typeface="Segoe UI" panose="020B0502040204020203" pitchFamily="34" charset="-120"/>
                        </a:rPr>
                        <a:t>输出最贵(¥27/M tok)</a:t>
                      </a:r>
                      <a:endParaRPr lang="en-US" sz="580" dirty="0">
                        <a:latin typeface="Segoe UI" panose="020B0502040204020203" pitchFamily="34" charset="0"/>
                        <a:ea typeface="Segoe UI" panose="020B0502040204020203" pitchFamily="34" charset="0"/>
                        <a:cs typeface="Segoe UI" panose="020B0502040204020203" pitchFamily="34" charset="0"/>
                      </a:endParaRPr>
                    </a:p>
                    <a:p>
                      <a:pPr marL="0" indent="0" algn="l">
                        <a:lnSpc>
                          <a:spcPts val="810"/>
                        </a:lnSpc>
                        <a:buNone/>
                      </a:pPr>
                      <a:r>
                        <a:rPr lang="en-US" sz="580" dirty="0">
                          <a:solidFill>
                            <a:srgbClr val="121C23"/>
                          </a:solidFill>
                          <a:latin typeface="Segoe UI" panose="020B0502040204020203" pitchFamily="34" charset="0"/>
                          <a:ea typeface="Segoe UI" panose="020B0502040204020203" pitchFamily="34" charset="-122"/>
                          <a:cs typeface="Segoe UI" panose="020B0502040204020203" pitchFamily="34" charset="-120"/>
                        </a:rPr>
                        <a:t>高峰响应慢</a:t>
                      </a:r>
                      <a:endParaRPr lang="en-US" sz="580" dirty="0">
                        <a:latin typeface="Segoe UI" panose="020B0502040204020203" pitchFamily="34" charset="0"/>
                        <a:ea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22581" marR="122581" marT="73549" marB="73549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4903" cap="flat" cmpd="sng" algn="ctr">
                      <a:solidFill>
                        <a:srgbClr val="D9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810"/>
                        </a:lnSpc>
                        <a:buNone/>
                      </a:pPr>
                      <a:r>
                        <a:rPr lang="en-US" sz="580" dirty="0">
                          <a:solidFill>
                            <a:srgbClr val="5A656D"/>
                          </a:solidFill>
                          <a:latin typeface="Segoe UI" panose="020B0502040204020203" pitchFamily="34" charset="0"/>
                          <a:ea typeface="Segoe UI" panose="020B0502040204020203" pitchFamily="34" charset="-122"/>
                          <a:cs typeface="Segoe UI" panose="020B0502040204020203" pitchFamily="34" charset="-120"/>
                        </a:rPr>
                        <a:t>C 端体验一般</a:t>
                      </a:r>
                      <a:endParaRPr lang="en-US" sz="580" dirty="0">
                        <a:latin typeface="Segoe UI" panose="020B0502040204020203" pitchFamily="34" charset="0"/>
                        <a:ea typeface="Segoe UI" panose="020B0502040204020203" pitchFamily="34" charset="0"/>
                        <a:cs typeface="Segoe UI" panose="020B0502040204020203" pitchFamily="34" charset="0"/>
                      </a:endParaRPr>
                    </a:p>
                    <a:p>
                      <a:pPr marL="0" indent="0" algn="l">
                        <a:lnSpc>
                          <a:spcPts val="810"/>
                        </a:lnSpc>
                        <a:buNone/>
                      </a:pPr>
                      <a:r>
                        <a:rPr lang="en-US" sz="580" dirty="0">
                          <a:solidFill>
                            <a:srgbClr val="5A656D"/>
                          </a:solidFill>
                          <a:latin typeface="Segoe UI" panose="020B0502040204020203" pitchFamily="34" charset="0"/>
                          <a:ea typeface="Segoe UI" panose="020B0502040204020203" pitchFamily="34" charset="-122"/>
                          <a:cs typeface="Segoe UI" panose="020B0502040204020203" pitchFamily="34" charset="-120"/>
                        </a:rPr>
                        <a:t>创意写作不如竞品</a:t>
                      </a:r>
                      <a:endParaRPr lang="en-US" sz="580" dirty="0">
                        <a:latin typeface="Segoe UI" panose="020B0502040204020203" pitchFamily="34" charset="0"/>
                        <a:ea typeface="Segoe UI" panose="020B0502040204020203" pitchFamily="34" charset="0"/>
                        <a:cs typeface="Segoe UI" panose="020B0502040204020203" pitchFamily="34" charset="0"/>
                      </a:endParaRPr>
                    </a:p>
                    <a:p>
                      <a:pPr marL="0" indent="0" algn="l">
                        <a:lnSpc>
                          <a:spcPts val="810"/>
                        </a:lnSpc>
                        <a:buNone/>
                      </a:pPr>
                      <a:r>
                        <a:rPr lang="en-US" sz="580" dirty="0">
                          <a:solidFill>
                            <a:srgbClr val="5A656D"/>
                          </a:solidFill>
                          <a:latin typeface="Segoe UI" panose="020B0502040204020203" pitchFamily="34" charset="0"/>
                          <a:ea typeface="Segoe UI" panose="020B0502040204020203" pitchFamily="34" charset="-122"/>
                          <a:cs typeface="Segoe UI" panose="020B0502040204020203" pitchFamily="34" charset="-120"/>
                        </a:rPr>
                        <a:t>部分功能需企业认证</a:t>
                      </a:r>
                      <a:endParaRPr lang="en-US" sz="580" dirty="0">
                        <a:latin typeface="Segoe UI" panose="020B0502040204020203" pitchFamily="34" charset="0"/>
                        <a:ea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22581" marR="122581" marT="73549" marB="73549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4903" cap="flat" cmpd="sng" algn="ctr">
                      <a:solidFill>
                        <a:srgbClr val="D9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810"/>
                        </a:lnSpc>
                        <a:buNone/>
                      </a:pPr>
                      <a:r>
                        <a:rPr lang="en-US" sz="580" b="1" dirty="0">
                          <a:solidFill>
                            <a:srgbClr val="121C23"/>
                          </a:solidFill>
                          <a:latin typeface="Segoe UI" panose="020B0502040204020203" pitchFamily="34" charset="0"/>
                          <a:ea typeface="Segoe UI" panose="020B0502040204020203" pitchFamily="34" charset="-122"/>
                          <a:cs typeface="Segoe UI" panose="020B0502040204020203" pitchFamily="34" charset="-120"/>
                        </a:rPr>
                        <a:t>开源许可</a:t>
                      </a:r>
                      <a:endParaRPr lang="en-US" sz="580" dirty="0">
                        <a:latin typeface="Segoe UI" panose="020B0502040204020203" pitchFamily="34" charset="0"/>
                        <a:ea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22581" marR="122581" marT="73549" marB="73549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4903" cap="flat" cmpd="sng" algn="ctr">
                      <a:solidFill>
                        <a:srgbClr val="D9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810"/>
                        </a:lnSpc>
                        <a:buNone/>
                      </a:pPr>
                      <a:r>
                        <a:rPr lang="en-US" sz="580" dirty="0">
                          <a:solidFill>
                            <a:srgbClr val="121C23"/>
                          </a:solidFill>
                          <a:latin typeface="Segoe UI" panose="020B0502040204020203" pitchFamily="34" charset="0"/>
                          <a:ea typeface="Segoe UI" panose="020B0502040204020203" pitchFamily="34" charset="-122"/>
                          <a:cs typeface="Segoe UI" panose="020B0502040204020203" pitchFamily="34" charset="-120"/>
                        </a:rPr>
                        <a:t>MIT / Apache 2.0</a:t>
                      </a:r>
                      <a:endParaRPr lang="en-US" sz="580" dirty="0">
                        <a:latin typeface="Segoe UI" panose="020B0502040204020203" pitchFamily="34" charset="0"/>
                        <a:ea typeface="Segoe UI" panose="020B0502040204020203" pitchFamily="34" charset="0"/>
                        <a:cs typeface="Segoe UI" panose="020B0502040204020203" pitchFamily="34" charset="0"/>
                      </a:endParaRPr>
                    </a:p>
                    <a:p>
                      <a:pPr marL="0" indent="0" algn="l">
                        <a:lnSpc>
                          <a:spcPts val="810"/>
                        </a:lnSpc>
                        <a:buNone/>
                      </a:pPr>
                      <a:r>
                        <a:rPr lang="en-US" sz="580" dirty="0">
                          <a:solidFill>
                            <a:srgbClr val="121C23"/>
                          </a:solidFill>
                          <a:latin typeface="Segoe UI" panose="020B0502040204020203" pitchFamily="34" charset="0"/>
                          <a:ea typeface="Segoe UI" panose="020B0502040204020203" pitchFamily="34" charset="-122"/>
                          <a:cs typeface="Segoe UI" panose="020B0502040204020203" pitchFamily="34" charset="-120"/>
                        </a:rPr>
                        <a:t>含 6 个蒸馏版(1.5B-70B)</a:t>
                      </a:r>
                      <a:endParaRPr lang="en-US" sz="580" dirty="0">
                        <a:latin typeface="Segoe UI" panose="020B0502040204020203" pitchFamily="34" charset="0"/>
                        <a:ea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22581" marR="122581" marT="73549" marB="73549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4903" cap="flat" cmpd="sng" algn="ctr">
                      <a:solidFill>
                        <a:srgbClr val="D9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810"/>
                        </a:lnSpc>
                        <a:buNone/>
                      </a:pPr>
                      <a:r>
                        <a:rPr lang="en-US" sz="580" dirty="0">
                          <a:solidFill>
                            <a:srgbClr val="121C23"/>
                          </a:solidFill>
                          <a:latin typeface="Segoe UI" panose="020B0502040204020203" pitchFamily="34" charset="0"/>
                          <a:ea typeface="Segoe UI" panose="020B0502040204020203" pitchFamily="34" charset="-122"/>
                          <a:cs typeface="Segoe UI" panose="020B0502040204020203" pitchFamily="34" charset="-120"/>
                        </a:rPr>
                        <a:t>Apache 2.0 全系</a:t>
                      </a:r>
                      <a:endParaRPr lang="en-US" sz="580" dirty="0">
                        <a:latin typeface="Segoe UI" panose="020B0502040204020203" pitchFamily="34" charset="0"/>
                        <a:ea typeface="Segoe UI" panose="020B0502040204020203" pitchFamily="34" charset="0"/>
                        <a:cs typeface="Segoe UI" panose="020B0502040204020203" pitchFamily="34" charset="0"/>
                      </a:endParaRPr>
                    </a:p>
                    <a:p>
                      <a:pPr marL="0" indent="0" algn="l">
                        <a:lnSpc>
                          <a:spcPts val="810"/>
                        </a:lnSpc>
                        <a:buNone/>
                      </a:pPr>
                      <a:r>
                        <a:rPr lang="en-US" sz="580" dirty="0">
                          <a:solidFill>
                            <a:srgbClr val="121C23"/>
                          </a:solidFill>
                          <a:latin typeface="Segoe UI" panose="020B0502040204020203" pitchFamily="34" charset="0"/>
                          <a:ea typeface="Segoe UI" panose="020B0502040204020203" pitchFamily="34" charset="-122"/>
                          <a:cs typeface="Segoe UI" panose="020B0502040204020203" pitchFamily="34" charset="-120"/>
                        </a:rPr>
                        <a:t>0.5B~235B 全覆盖</a:t>
                      </a:r>
                      <a:endParaRPr lang="en-US" sz="580" dirty="0">
                        <a:latin typeface="Segoe UI" panose="020B0502040204020203" pitchFamily="34" charset="0"/>
                        <a:ea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22581" marR="122581" marT="73549" marB="73549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4903" cap="flat" cmpd="sng" algn="ctr">
                      <a:solidFill>
                        <a:srgbClr val="D9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810"/>
                        </a:lnSpc>
                        <a:buNone/>
                      </a:pPr>
                      <a:r>
                        <a:rPr lang="en-US" sz="580" dirty="0">
                          <a:solidFill>
                            <a:srgbClr val="121C23"/>
                          </a:solidFill>
                          <a:latin typeface="Segoe UI" panose="020B0502040204020203" pitchFamily="34" charset="0"/>
                          <a:ea typeface="Segoe UI" panose="020B0502040204020203" pitchFamily="34" charset="-122"/>
                          <a:cs typeface="Segoe UI" panose="020B0502040204020203" pitchFamily="34" charset="-120"/>
                        </a:rPr>
                        <a:t>闭源</a:t>
                      </a:r>
                      <a:endParaRPr lang="en-US" sz="580" dirty="0">
                        <a:latin typeface="Segoe UI" panose="020B0502040204020203" pitchFamily="34" charset="0"/>
                        <a:ea typeface="Segoe UI" panose="020B0502040204020203" pitchFamily="34" charset="0"/>
                        <a:cs typeface="Segoe UI" panose="020B0502040204020203" pitchFamily="34" charset="0"/>
                      </a:endParaRPr>
                    </a:p>
                    <a:p>
                      <a:pPr marL="0" indent="0" algn="l">
                        <a:lnSpc>
                          <a:spcPts val="810"/>
                        </a:lnSpc>
                        <a:buNone/>
                      </a:pPr>
                      <a:r>
                        <a:rPr lang="en-US" sz="580" dirty="0">
                          <a:solidFill>
                            <a:srgbClr val="121C23"/>
                          </a:solidFill>
                          <a:latin typeface="Segoe UI" panose="020B0502040204020203" pitchFamily="34" charset="0"/>
                          <a:ea typeface="Segoe UI" panose="020B0502040204020203" pitchFamily="34" charset="-122"/>
                          <a:cs typeface="Segoe UI" panose="020B0502040204020203" pitchFamily="34" charset="-120"/>
                        </a:rPr>
                        <a:t>火山引擎 API</a:t>
                      </a:r>
                      <a:endParaRPr lang="en-US" sz="580" dirty="0">
                        <a:latin typeface="Segoe UI" panose="020B0502040204020203" pitchFamily="34" charset="0"/>
                        <a:ea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22581" marR="122581" marT="73549" marB="73549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4903" cap="flat" cmpd="sng" algn="ctr">
                      <a:solidFill>
                        <a:srgbClr val="D9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810"/>
                        </a:lnSpc>
                        <a:buNone/>
                      </a:pPr>
                      <a:r>
                        <a:rPr lang="en-US" sz="580" dirty="0">
                          <a:solidFill>
                            <a:srgbClr val="121C23"/>
                          </a:solidFill>
                          <a:latin typeface="Segoe UI" panose="020B0502040204020203" pitchFamily="34" charset="0"/>
                          <a:ea typeface="Segoe UI" panose="020B0502040204020203" pitchFamily="34" charset="-122"/>
                          <a:cs typeface="Segoe UI" panose="020B0502040204020203" pitchFamily="34" charset="-120"/>
                        </a:rPr>
                        <a:t>部分开源 (MIT)</a:t>
                      </a:r>
                      <a:endParaRPr lang="en-US" sz="580" dirty="0">
                        <a:latin typeface="Segoe UI" panose="020B0502040204020203" pitchFamily="34" charset="0"/>
                        <a:ea typeface="Segoe UI" panose="020B0502040204020203" pitchFamily="34" charset="0"/>
                        <a:cs typeface="Segoe UI" panose="020B0502040204020203" pitchFamily="34" charset="0"/>
                      </a:endParaRPr>
                    </a:p>
                    <a:p>
                      <a:pPr marL="0" indent="0" algn="l">
                        <a:lnSpc>
                          <a:spcPts val="810"/>
                        </a:lnSpc>
                        <a:buNone/>
                      </a:pPr>
                      <a:r>
                        <a:rPr lang="en-US" sz="580" dirty="0">
                          <a:solidFill>
                            <a:srgbClr val="121C23"/>
                          </a:solidFill>
                          <a:latin typeface="Segoe UI" panose="020B0502040204020203" pitchFamily="34" charset="0"/>
                          <a:ea typeface="Segoe UI" panose="020B0502040204020203" pitchFamily="34" charset="-122"/>
                          <a:cs typeface="Segoe UI" panose="020B0502040204020203" pitchFamily="34" charset="-120"/>
                        </a:rPr>
                        <a:t>K2.5 系列</a:t>
                      </a:r>
                      <a:endParaRPr lang="en-US" sz="580" dirty="0">
                        <a:latin typeface="Segoe UI" panose="020B0502040204020203" pitchFamily="34" charset="0"/>
                        <a:ea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22581" marR="122581" marT="73549" marB="73549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4903" cap="flat" cmpd="sng" algn="ctr">
                      <a:solidFill>
                        <a:srgbClr val="D9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810"/>
                        </a:lnSpc>
                        <a:buNone/>
                      </a:pPr>
                      <a:r>
                        <a:rPr lang="en-US" sz="580" dirty="0">
                          <a:solidFill>
                            <a:srgbClr val="5A656D"/>
                          </a:solidFill>
                          <a:latin typeface="Segoe UI" panose="020B0502040204020203" pitchFamily="34" charset="0"/>
                          <a:ea typeface="Segoe UI" panose="020B0502040204020203" pitchFamily="34" charset="-122"/>
                          <a:cs typeface="Segoe UI" panose="020B0502040204020203" pitchFamily="34" charset="-120"/>
                        </a:rPr>
                        <a:t>部分开源 (MIT)</a:t>
                      </a:r>
                      <a:endParaRPr lang="en-US" sz="580" dirty="0">
                        <a:latin typeface="Segoe UI" panose="020B0502040204020203" pitchFamily="34" charset="0"/>
                        <a:ea typeface="Segoe UI" panose="020B0502040204020203" pitchFamily="34" charset="0"/>
                        <a:cs typeface="Segoe UI" panose="020B0502040204020203" pitchFamily="34" charset="0"/>
                      </a:endParaRPr>
                    </a:p>
                    <a:p>
                      <a:pPr marL="0" indent="0" algn="l">
                        <a:lnSpc>
                          <a:spcPts val="810"/>
                        </a:lnSpc>
                        <a:buNone/>
                      </a:pPr>
                      <a:r>
                        <a:rPr lang="en-US" sz="580" dirty="0">
                          <a:solidFill>
                            <a:srgbClr val="5A656D"/>
                          </a:solidFill>
                          <a:latin typeface="Segoe UI" panose="020B0502040204020203" pitchFamily="34" charset="0"/>
                          <a:ea typeface="Segoe UI" panose="020B0502040204020203" pitchFamily="34" charset="-122"/>
                          <a:cs typeface="Segoe UI" panose="020B0502040204020203" pitchFamily="34" charset="-120"/>
                        </a:rPr>
                        <a:t>GLM-4/5 系列</a:t>
                      </a:r>
                      <a:endParaRPr lang="en-US" sz="580" dirty="0">
                        <a:latin typeface="Segoe UI" panose="020B0502040204020203" pitchFamily="34" charset="0"/>
                        <a:ea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22581" marR="122581" marT="73549" marB="73549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4903" cap="flat" cmpd="sng" algn="ctr">
                      <a:solidFill>
                        <a:srgbClr val="D9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810"/>
                        </a:lnSpc>
                        <a:buNone/>
                      </a:pPr>
                      <a:r>
                        <a:rPr lang="en-US" sz="580" b="1" dirty="0">
                          <a:solidFill>
                            <a:srgbClr val="121C23"/>
                          </a:solidFill>
                          <a:latin typeface="Segoe UI" panose="020B0502040204020203" pitchFamily="34" charset="0"/>
                          <a:ea typeface="Segoe UI" panose="020B0502040204020203" pitchFamily="34" charset="-122"/>
                          <a:cs typeface="Segoe UI" panose="020B0502040204020203" pitchFamily="34" charset="-120"/>
                        </a:rPr>
                        <a:t>最佳场景</a:t>
                      </a:r>
                      <a:endParaRPr lang="en-US" sz="580" dirty="0">
                        <a:latin typeface="Segoe UI" panose="020B0502040204020203" pitchFamily="34" charset="0"/>
                        <a:ea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22581" marR="122581" marT="73549" marB="73549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4903" cap="flat" cmpd="sng" algn="ctr">
                      <a:solidFill>
                        <a:srgbClr val="D9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810"/>
                        </a:lnSpc>
                        <a:buNone/>
                      </a:pPr>
                      <a:r>
                        <a:rPr lang="en-US" sz="580" dirty="0">
                          <a:solidFill>
                            <a:srgbClr val="121C23"/>
                          </a:solidFill>
                          <a:latin typeface="Segoe UI" panose="020B0502040204020203" pitchFamily="34" charset="0"/>
                          <a:ea typeface="Segoe UI" panose="020B0502040204020203" pitchFamily="34" charset="-122"/>
                          <a:cs typeface="Segoe UI" panose="020B0502040204020203" pitchFamily="34" charset="-120"/>
                        </a:rPr>
                        <a:t>编程开发、数学建模</a:t>
                      </a:r>
                      <a:endParaRPr lang="en-US" sz="580" dirty="0">
                        <a:latin typeface="Segoe UI" panose="020B0502040204020203" pitchFamily="34" charset="0"/>
                        <a:ea typeface="Segoe UI" panose="020B0502040204020203" pitchFamily="34" charset="0"/>
                        <a:cs typeface="Segoe UI" panose="020B0502040204020203" pitchFamily="34" charset="0"/>
                      </a:endParaRPr>
                    </a:p>
                    <a:p>
                      <a:pPr marL="0" indent="0" algn="l">
                        <a:lnSpc>
                          <a:spcPts val="810"/>
                        </a:lnSpc>
                        <a:buNone/>
                      </a:pPr>
                      <a:r>
                        <a:rPr lang="en-US" sz="580" dirty="0">
                          <a:solidFill>
                            <a:srgbClr val="121C23"/>
                          </a:solidFill>
                          <a:latin typeface="Segoe UI" panose="020B0502040204020203" pitchFamily="34" charset="0"/>
                          <a:ea typeface="Segoe UI" panose="020B0502040204020203" pitchFamily="34" charset="-122"/>
                          <a:cs typeface="Segoe UI" panose="020B0502040204020203" pitchFamily="34" charset="-120"/>
                        </a:rPr>
                        <a:t>长文档分析、科研推理</a:t>
                      </a:r>
                      <a:endParaRPr lang="en-US" sz="580" dirty="0">
                        <a:latin typeface="Segoe UI" panose="020B0502040204020203" pitchFamily="34" charset="0"/>
                        <a:ea typeface="Segoe UI" panose="020B0502040204020203" pitchFamily="34" charset="0"/>
                        <a:cs typeface="Segoe UI" panose="020B0502040204020203" pitchFamily="34" charset="0"/>
                      </a:endParaRPr>
                    </a:p>
                    <a:p>
                      <a:pPr marL="0" indent="0" algn="l">
                        <a:lnSpc>
                          <a:spcPts val="810"/>
                        </a:lnSpc>
                        <a:buNone/>
                      </a:pPr>
                      <a:r>
                        <a:rPr lang="en-US" sz="580" dirty="0">
                          <a:solidFill>
                            <a:srgbClr val="121C23"/>
                          </a:solidFill>
                          <a:latin typeface="Segoe UI" panose="020B0502040204020203" pitchFamily="34" charset="0"/>
                          <a:ea typeface="Segoe UI" panose="020B0502040204020203" pitchFamily="34" charset="-122"/>
                          <a:cs typeface="Segoe UI" panose="020B0502040204020203" pitchFamily="34" charset="-120"/>
                        </a:rPr>
                        <a:t>企业微调/二次开发</a:t>
                      </a:r>
                      <a:endParaRPr lang="en-US" sz="580" dirty="0">
                        <a:latin typeface="Segoe UI" panose="020B0502040204020203" pitchFamily="34" charset="0"/>
                        <a:ea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22581" marR="122581" marT="73549" marB="73549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4903" cap="flat" cmpd="sng" algn="ctr">
                      <a:solidFill>
                        <a:srgbClr val="D9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810"/>
                        </a:lnSpc>
                        <a:buNone/>
                      </a:pPr>
                      <a:r>
                        <a:rPr lang="en-US" sz="580" dirty="0">
                          <a:solidFill>
                            <a:srgbClr val="121C23"/>
                          </a:solidFill>
                          <a:latin typeface="Segoe UI" panose="020B0502040204020203" pitchFamily="34" charset="0"/>
                          <a:ea typeface="Segoe UI" panose="020B0502040204020203" pitchFamily="34" charset="-122"/>
                          <a:cs typeface="Segoe UI" panose="020B0502040204020203" pitchFamily="34" charset="-120"/>
                        </a:rPr>
                        <a:t>通用对话、电商优化</a:t>
                      </a:r>
                      <a:endParaRPr lang="en-US" sz="580" dirty="0">
                        <a:latin typeface="Segoe UI" panose="020B0502040204020203" pitchFamily="34" charset="0"/>
                        <a:ea typeface="Segoe UI" panose="020B0502040204020203" pitchFamily="34" charset="0"/>
                        <a:cs typeface="Segoe UI" panose="020B0502040204020203" pitchFamily="34" charset="0"/>
                      </a:endParaRPr>
                    </a:p>
                    <a:p>
                      <a:pPr marL="0" indent="0" algn="l">
                        <a:lnSpc>
                          <a:spcPts val="810"/>
                        </a:lnSpc>
                        <a:buNone/>
                      </a:pPr>
                      <a:r>
                        <a:rPr lang="en-US" sz="580" dirty="0">
                          <a:solidFill>
                            <a:srgbClr val="121C23"/>
                          </a:solidFill>
                          <a:latin typeface="Segoe UI" panose="020B0502040204020203" pitchFamily="34" charset="0"/>
                          <a:ea typeface="Segoe UI" panose="020B0502040204020203" pitchFamily="34" charset="-122"/>
                          <a:cs typeface="Segoe UI" panose="020B0502040204020203" pitchFamily="34" charset="-120"/>
                        </a:rPr>
                        <a:t>中文营销文案</a:t>
                      </a:r>
                      <a:endParaRPr lang="en-US" sz="580" dirty="0">
                        <a:latin typeface="Segoe UI" panose="020B0502040204020203" pitchFamily="34" charset="0"/>
                        <a:ea typeface="Segoe UI" panose="020B0502040204020203" pitchFamily="34" charset="0"/>
                        <a:cs typeface="Segoe UI" panose="020B0502040204020203" pitchFamily="34" charset="0"/>
                      </a:endParaRPr>
                    </a:p>
                    <a:p>
                      <a:pPr marL="0" indent="0" algn="l">
                        <a:lnSpc>
                          <a:spcPts val="810"/>
                        </a:lnSpc>
                        <a:buNone/>
                      </a:pPr>
                      <a:r>
                        <a:rPr lang="en-US" sz="580" dirty="0">
                          <a:solidFill>
                            <a:srgbClr val="121C23"/>
                          </a:solidFill>
                          <a:latin typeface="Segoe UI" panose="020B0502040204020203" pitchFamily="34" charset="0"/>
                          <a:ea typeface="Segoe UI" panose="020B0502040204020203" pitchFamily="34" charset="-122"/>
                          <a:cs typeface="Segoe UI" panose="020B0502040204020203" pitchFamily="34" charset="-120"/>
                        </a:rPr>
                        <a:t>中文 NLP 研究基线</a:t>
                      </a:r>
                      <a:endParaRPr lang="en-US" sz="580" dirty="0">
                        <a:latin typeface="Segoe UI" panose="020B0502040204020203" pitchFamily="34" charset="0"/>
                        <a:ea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22581" marR="122581" marT="73549" marB="73549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4903" cap="flat" cmpd="sng" algn="ctr">
                      <a:solidFill>
                        <a:srgbClr val="D9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810"/>
                        </a:lnSpc>
                        <a:buNone/>
                      </a:pPr>
                      <a:r>
                        <a:rPr lang="en-US" sz="580" dirty="0">
                          <a:solidFill>
                            <a:srgbClr val="121C23"/>
                          </a:solidFill>
                          <a:latin typeface="Segoe UI" panose="020B0502040204020203" pitchFamily="34" charset="0"/>
                          <a:ea typeface="Segoe UI" panose="020B0502040204020203" pitchFamily="34" charset="-122"/>
                          <a:cs typeface="Segoe UI" panose="020B0502040204020203" pitchFamily="34" charset="-120"/>
                        </a:rPr>
                        <a:t>日常对话、内容创作</a:t>
                      </a:r>
                      <a:endParaRPr lang="en-US" sz="580" dirty="0">
                        <a:latin typeface="Segoe UI" panose="020B0502040204020203" pitchFamily="34" charset="0"/>
                        <a:ea typeface="Segoe UI" panose="020B0502040204020203" pitchFamily="34" charset="0"/>
                        <a:cs typeface="Segoe UI" panose="020B0502040204020203" pitchFamily="34" charset="0"/>
                      </a:endParaRPr>
                    </a:p>
                    <a:p>
                      <a:pPr marL="0" indent="0" algn="l">
                        <a:lnSpc>
                          <a:spcPts val="810"/>
                        </a:lnSpc>
                        <a:buNone/>
                      </a:pPr>
                      <a:r>
                        <a:rPr lang="en-US" sz="580" dirty="0">
                          <a:solidFill>
                            <a:srgbClr val="121C23"/>
                          </a:solidFill>
                          <a:latin typeface="Segoe UI" panose="020B0502040204020203" pitchFamily="34" charset="0"/>
                          <a:ea typeface="Segoe UI" panose="020B0502040204020203" pitchFamily="34" charset="-122"/>
                          <a:cs typeface="Segoe UI" panose="020B0502040204020203" pitchFamily="34" charset="-120"/>
                        </a:rPr>
                        <a:t>短视频制作、轻办公</a:t>
                      </a:r>
                      <a:endParaRPr lang="en-US" sz="580" dirty="0">
                        <a:latin typeface="Segoe UI" panose="020B0502040204020203" pitchFamily="34" charset="0"/>
                        <a:ea typeface="Segoe UI" panose="020B0502040204020203" pitchFamily="34" charset="0"/>
                        <a:cs typeface="Segoe UI" panose="020B0502040204020203" pitchFamily="34" charset="0"/>
                      </a:endParaRPr>
                    </a:p>
                    <a:p>
                      <a:pPr marL="0" indent="0" algn="l">
                        <a:lnSpc>
                          <a:spcPts val="810"/>
                        </a:lnSpc>
                        <a:buNone/>
                      </a:pPr>
                      <a:r>
                        <a:rPr lang="en-US" sz="580" dirty="0">
                          <a:solidFill>
                            <a:srgbClr val="121C23"/>
                          </a:solidFill>
                          <a:latin typeface="Segoe UI" panose="020B0502040204020203" pitchFamily="34" charset="0"/>
                          <a:ea typeface="Segoe UI" panose="020B0502040204020203" pitchFamily="34" charset="-122"/>
                          <a:cs typeface="Segoe UI" panose="020B0502040204020203" pitchFamily="34" charset="-120"/>
                        </a:rPr>
                        <a:t>语音交互</a:t>
                      </a:r>
                      <a:endParaRPr lang="en-US" sz="580" dirty="0">
                        <a:latin typeface="Segoe UI" panose="020B0502040204020203" pitchFamily="34" charset="0"/>
                        <a:ea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22581" marR="122581" marT="73549" marB="73549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4903" cap="flat" cmpd="sng" algn="ctr">
                      <a:solidFill>
                        <a:srgbClr val="D9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810"/>
                        </a:lnSpc>
                        <a:buNone/>
                      </a:pPr>
                      <a:r>
                        <a:rPr lang="en-US" sz="580" dirty="0">
                          <a:solidFill>
                            <a:srgbClr val="121C23"/>
                          </a:solidFill>
                          <a:latin typeface="Segoe UI" panose="020B0502040204020203" pitchFamily="34" charset="0"/>
                          <a:ea typeface="Segoe UI" panose="020B0502040204020203" pitchFamily="34" charset="-122"/>
                          <a:cs typeface="Segoe UI" panose="020B0502040204020203" pitchFamily="34" charset="-120"/>
                        </a:rPr>
                        <a:t>长篇论文/财报/合同</a:t>
                      </a:r>
                      <a:endParaRPr lang="en-US" sz="580" dirty="0">
                        <a:latin typeface="Segoe UI" panose="020B0502040204020203" pitchFamily="34" charset="0"/>
                        <a:ea typeface="Segoe UI" panose="020B0502040204020203" pitchFamily="34" charset="0"/>
                        <a:cs typeface="Segoe UI" panose="020B0502040204020203" pitchFamily="34" charset="0"/>
                      </a:endParaRPr>
                    </a:p>
                    <a:p>
                      <a:pPr marL="0" indent="0" algn="l">
                        <a:lnSpc>
                          <a:spcPts val="810"/>
                        </a:lnSpc>
                        <a:buNone/>
                      </a:pPr>
                      <a:r>
                        <a:rPr lang="en-US" sz="580" dirty="0">
                          <a:solidFill>
                            <a:srgbClr val="121C23"/>
                          </a:solidFill>
                          <a:latin typeface="Segoe UI" panose="020B0502040204020203" pitchFamily="34" charset="0"/>
                          <a:ea typeface="Segoe UI" panose="020B0502040204020203" pitchFamily="34" charset="-122"/>
                          <a:cs typeface="Segoe UI" panose="020B0502040204020203" pitchFamily="34" charset="-120"/>
                        </a:rPr>
                        <a:t>一次性分析、法律审阅</a:t>
                      </a:r>
                      <a:endParaRPr lang="en-US" sz="580" dirty="0">
                        <a:latin typeface="Segoe UI" panose="020B0502040204020203" pitchFamily="34" charset="0"/>
                        <a:ea typeface="Segoe UI" panose="020B0502040204020203" pitchFamily="34" charset="0"/>
                        <a:cs typeface="Segoe UI" panose="020B0502040204020203" pitchFamily="34" charset="0"/>
                      </a:endParaRPr>
                    </a:p>
                    <a:p>
                      <a:pPr marL="0" indent="0" algn="l">
                        <a:lnSpc>
                          <a:spcPts val="810"/>
                        </a:lnSpc>
                        <a:buNone/>
                      </a:pPr>
                      <a:r>
                        <a:rPr lang="en-US" sz="580" dirty="0">
                          <a:solidFill>
                            <a:srgbClr val="121C23"/>
                          </a:solidFill>
                          <a:latin typeface="Segoe UI" panose="020B0502040204020203" pitchFamily="34" charset="0"/>
                          <a:ea typeface="Segoe UI" panose="020B0502040204020203" pitchFamily="34" charset="-122"/>
                          <a:cs typeface="Segoe UI" panose="020B0502040204020203" pitchFamily="34" charset="-120"/>
                        </a:rPr>
                        <a:t>学术文献梳理</a:t>
                      </a:r>
                      <a:endParaRPr lang="en-US" sz="580" dirty="0">
                        <a:latin typeface="Segoe UI" panose="020B0502040204020203" pitchFamily="34" charset="0"/>
                        <a:ea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22581" marR="122581" marT="73549" marB="73549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4903" cap="flat" cmpd="sng" algn="ctr">
                      <a:solidFill>
                        <a:srgbClr val="D9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810"/>
                        </a:lnSpc>
                        <a:buNone/>
                      </a:pPr>
                      <a:r>
                        <a:rPr lang="en-US" sz="580" dirty="0">
                          <a:solidFill>
                            <a:srgbClr val="5A656D"/>
                          </a:solidFill>
                          <a:latin typeface="Segoe UI" panose="020B0502040204020203" pitchFamily="34" charset="0"/>
                          <a:ea typeface="Segoe UI" panose="020B0502040204020203" pitchFamily="34" charset="-122"/>
                          <a:cs typeface="Segoe UI" panose="020B0502040204020203" pitchFamily="34" charset="-120"/>
                        </a:rPr>
                        <a:t>企业 Agent 部署</a:t>
                      </a:r>
                      <a:endParaRPr lang="en-US" sz="580" dirty="0">
                        <a:latin typeface="Segoe UI" panose="020B0502040204020203" pitchFamily="34" charset="0"/>
                        <a:ea typeface="Segoe UI" panose="020B0502040204020203" pitchFamily="34" charset="0"/>
                        <a:cs typeface="Segoe UI" panose="020B0502040204020203" pitchFamily="34" charset="0"/>
                      </a:endParaRPr>
                    </a:p>
                    <a:p>
                      <a:pPr marL="0" indent="0" algn="l">
                        <a:lnSpc>
                          <a:spcPts val="810"/>
                        </a:lnSpc>
                        <a:buNone/>
                      </a:pPr>
                      <a:r>
                        <a:rPr lang="en-US" sz="580" dirty="0">
                          <a:solidFill>
                            <a:srgbClr val="5A656D"/>
                          </a:solidFill>
                          <a:latin typeface="Segoe UI" panose="020B0502040204020203" pitchFamily="34" charset="0"/>
                          <a:ea typeface="Segoe UI" panose="020B0502040204020203" pitchFamily="34" charset="-122"/>
                          <a:cs typeface="Segoe UI" panose="020B0502040204020203" pitchFamily="34" charset="-120"/>
                        </a:rPr>
                        <a:t>多轮智能对话</a:t>
                      </a:r>
                      <a:endParaRPr lang="en-US" sz="580" dirty="0">
                        <a:latin typeface="Segoe UI" panose="020B0502040204020203" pitchFamily="34" charset="0"/>
                        <a:ea typeface="Segoe UI" panose="020B0502040204020203" pitchFamily="34" charset="0"/>
                        <a:cs typeface="Segoe UI" panose="020B0502040204020203" pitchFamily="34" charset="0"/>
                      </a:endParaRPr>
                    </a:p>
                    <a:p>
                      <a:pPr marL="0" indent="0" algn="l">
                        <a:lnSpc>
                          <a:spcPts val="810"/>
                        </a:lnSpc>
                        <a:buNone/>
                      </a:pPr>
                      <a:r>
                        <a:rPr lang="en-US" sz="580" dirty="0">
                          <a:solidFill>
                            <a:srgbClr val="5A656D"/>
                          </a:solidFill>
                          <a:latin typeface="Segoe UI" panose="020B0502040204020203" pitchFamily="34" charset="0"/>
                          <a:ea typeface="Segoe UI" panose="020B0502040204020203" pitchFamily="34" charset="-122"/>
                          <a:cs typeface="Segoe UI" panose="020B0502040204020203" pitchFamily="34" charset="-120"/>
                        </a:rPr>
                        <a:t>法律文档自动化</a:t>
                      </a:r>
                      <a:endParaRPr lang="en-US" sz="580" dirty="0">
                        <a:latin typeface="Segoe UI" panose="020B0502040204020203" pitchFamily="34" charset="0"/>
                        <a:ea typeface="Segoe UI" panose="020B0502040204020203" pitchFamily="34" charset="0"/>
                        <a:cs typeface="Segoe UI" panose="020B0502040204020203" pitchFamily="34" charset="0"/>
                      </a:endParaRPr>
                    </a:p>
                    <a:p>
                      <a:pPr marL="0" indent="0" algn="l">
                        <a:lnSpc>
                          <a:spcPts val="810"/>
                        </a:lnSpc>
                        <a:buNone/>
                      </a:pPr>
                      <a:r>
                        <a:rPr lang="en-US" sz="580" dirty="0">
                          <a:solidFill>
                            <a:srgbClr val="5A656D"/>
                          </a:solidFill>
                          <a:latin typeface="Segoe UI" panose="020B0502040204020203" pitchFamily="34" charset="0"/>
                          <a:ea typeface="Segoe UI" panose="020B0502040204020203" pitchFamily="34" charset="-122"/>
                          <a:cs typeface="Segoe UI" panose="020B0502040204020203" pitchFamily="34" charset="-120"/>
                        </a:rPr>
                        <a:t>教育应用</a:t>
                      </a:r>
                      <a:endParaRPr lang="en-US" sz="580" dirty="0">
                        <a:latin typeface="Segoe UI" panose="020B0502040204020203" pitchFamily="34" charset="0"/>
                        <a:ea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22581" marR="122581" marT="73549" marB="73549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4903" cap="flat" cmpd="sng" algn="ctr">
                      <a:solidFill>
                        <a:srgbClr val="D9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810"/>
                        </a:lnSpc>
                        <a:buNone/>
                      </a:pPr>
                      <a:r>
                        <a:rPr lang="en-US" sz="580" b="1" dirty="0">
                          <a:solidFill>
                            <a:srgbClr val="121C23"/>
                          </a:solidFill>
                          <a:latin typeface="Segoe UI" panose="020B0502040204020203" pitchFamily="34" charset="0"/>
                          <a:ea typeface="Segoe UI" panose="020B0502040204020203" pitchFamily="34" charset="-122"/>
                          <a:cs typeface="Segoe UI" panose="020B0502040204020203" pitchFamily="34" charset="-120"/>
                        </a:rPr>
                        <a:t>学术价值</a:t>
                      </a:r>
                      <a:endParaRPr lang="en-US" sz="580" dirty="0">
                        <a:latin typeface="Segoe UI" panose="020B0502040204020203" pitchFamily="34" charset="0"/>
                        <a:ea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22581" marR="122581" marT="73549" marB="73549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4903" cap="flat" cmpd="sng" algn="ctr">
                      <a:solidFill>
                        <a:srgbClr val="D9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810"/>
                        </a:lnSpc>
                        <a:buNone/>
                      </a:pPr>
                      <a:r>
                        <a:rPr lang="en-US" sz="580" dirty="0">
                          <a:solidFill>
                            <a:srgbClr val="121C23"/>
                          </a:solidFill>
                          <a:latin typeface="Segoe UI" panose="020B0502040204020203" pitchFamily="34" charset="0"/>
                          <a:ea typeface="Segoe UI" panose="020B0502040204020203" pitchFamily="34" charset="-122"/>
                          <a:cs typeface="Segoe UI" panose="020B0502040204020203" pitchFamily="34" charset="-120"/>
                        </a:rPr>
                        <a:t>低成本获取 GPT-5 级推理</a:t>
                      </a:r>
                      <a:endParaRPr lang="en-US" sz="580" dirty="0">
                        <a:latin typeface="Segoe UI" panose="020B0502040204020203" pitchFamily="34" charset="0"/>
                        <a:ea typeface="Segoe UI" panose="020B0502040204020203" pitchFamily="34" charset="0"/>
                        <a:cs typeface="Segoe UI" panose="020B0502040204020203" pitchFamily="34" charset="0"/>
                      </a:endParaRPr>
                    </a:p>
                    <a:p>
                      <a:pPr marL="0" indent="0" algn="l">
                        <a:lnSpc>
                          <a:spcPts val="810"/>
                        </a:lnSpc>
                        <a:buNone/>
                      </a:pPr>
                      <a:r>
                        <a:rPr lang="en-US" sz="580" dirty="0">
                          <a:solidFill>
                            <a:srgbClr val="121C23"/>
                          </a:solidFill>
                          <a:latin typeface="Segoe UI" panose="020B0502040204020203" pitchFamily="34" charset="0"/>
                          <a:ea typeface="Segoe UI" panose="020B0502040204020203" pitchFamily="34" charset="-122"/>
                          <a:cs typeface="Segoe UI" panose="020B0502040204020203" pitchFamily="34" charset="-120"/>
                        </a:rPr>
                        <a:t>论文复现/微调首选基线</a:t>
                      </a:r>
                      <a:endParaRPr lang="en-US" sz="580" dirty="0">
                        <a:latin typeface="Segoe UI" panose="020B0502040204020203" pitchFamily="34" charset="0"/>
                        <a:ea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22581" marR="122581" marT="73549" marB="73549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4903" cap="flat" cmpd="sng" algn="ctr">
                      <a:solidFill>
                        <a:srgbClr val="D9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810"/>
                        </a:lnSpc>
                        <a:buNone/>
                      </a:pPr>
                      <a:r>
                        <a:rPr lang="en-US" sz="580" dirty="0">
                          <a:solidFill>
                            <a:srgbClr val="121C23"/>
                          </a:solidFill>
                          <a:latin typeface="Segoe UI" panose="020B0502040204020203" pitchFamily="34" charset="0"/>
                          <a:ea typeface="Segoe UI" panose="020B0502040204020203" pitchFamily="34" charset="-122"/>
                          <a:cs typeface="Segoe UI" panose="020B0502040204020203" pitchFamily="34" charset="-120"/>
                        </a:rPr>
                        <a:t>中文 NLP 研究事实标准</a:t>
                      </a:r>
                      <a:endParaRPr lang="en-US" sz="580" dirty="0">
                        <a:latin typeface="Segoe UI" panose="020B0502040204020203" pitchFamily="34" charset="0"/>
                        <a:ea typeface="Segoe UI" panose="020B0502040204020203" pitchFamily="34" charset="0"/>
                        <a:cs typeface="Segoe UI" panose="020B0502040204020203" pitchFamily="34" charset="0"/>
                      </a:endParaRPr>
                    </a:p>
                    <a:p>
                      <a:pPr marL="0" indent="0" algn="l">
                        <a:lnSpc>
                          <a:spcPts val="810"/>
                        </a:lnSpc>
                        <a:buNone/>
                      </a:pPr>
                      <a:r>
                        <a:rPr lang="en-US" sz="580" dirty="0">
                          <a:solidFill>
                            <a:srgbClr val="121C23"/>
                          </a:solidFill>
                          <a:latin typeface="Segoe UI" panose="020B0502040204020203" pitchFamily="34" charset="0"/>
                          <a:ea typeface="Segoe UI" panose="020B0502040204020203" pitchFamily="34" charset="-122"/>
                          <a:cs typeface="Segoe UI" panose="020B0502040204020203" pitchFamily="34" charset="-120"/>
                        </a:rPr>
                        <a:t>新用户送 7000 万 Token</a:t>
                      </a:r>
                      <a:endParaRPr lang="en-US" sz="580" dirty="0">
                        <a:latin typeface="Segoe UI" panose="020B0502040204020203" pitchFamily="34" charset="0"/>
                        <a:ea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22581" marR="122581" marT="73549" marB="73549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4903" cap="flat" cmpd="sng" algn="ctr">
                      <a:solidFill>
                        <a:srgbClr val="D9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810"/>
                        </a:lnSpc>
                        <a:buNone/>
                      </a:pPr>
                      <a:r>
                        <a:rPr lang="en-US" sz="580" dirty="0">
                          <a:solidFill>
                            <a:srgbClr val="121C23"/>
                          </a:solidFill>
                          <a:latin typeface="Segoe UI" panose="020B0502040204020203" pitchFamily="34" charset="0"/>
                          <a:ea typeface="Segoe UI" panose="020B0502040204020203" pitchFamily="34" charset="-122"/>
                          <a:cs typeface="Segoe UI" panose="020B0502040204020203" pitchFamily="34" charset="-120"/>
                        </a:rPr>
                        <a:t>HCI/AI 产品研究最佳样本</a:t>
                      </a:r>
                      <a:endParaRPr lang="en-US" sz="580" dirty="0">
                        <a:latin typeface="Segoe UI" panose="020B0502040204020203" pitchFamily="34" charset="0"/>
                        <a:ea typeface="Segoe UI" panose="020B0502040204020203" pitchFamily="34" charset="0"/>
                        <a:cs typeface="Segoe UI" panose="020B0502040204020203" pitchFamily="34" charset="0"/>
                      </a:endParaRPr>
                    </a:p>
                    <a:p>
                      <a:pPr marL="0" indent="0" algn="l">
                        <a:lnSpc>
                          <a:spcPts val="810"/>
                        </a:lnSpc>
                        <a:buNone/>
                      </a:pPr>
                      <a:r>
                        <a:rPr lang="en-US" sz="580" dirty="0">
                          <a:solidFill>
                            <a:srgbClr val="121C23"/>
                          </a:solidFill>
                          <a:latin typeface="Segoe UI" panose="020B0502040204020203" pitchFamily="34" charset="0"/>
                          <a:ea typeface="Segoe UI" panose="020B0502040204020203" pitchFamily="34" charset="-122"/>
                          <a:cs typeface="Segoe UI" panose="020B0502040204020203" pitchFamily="34" charset="-120"/>
                        </a:rPr>
                        <a:t>1 亿日活用户反馈闭环</a:t>
                      </a:r>
                      <a:endParaRPr lang="en-US" sz="580" dirty="0">
                        <a:latin typeface="Segoe UI" panose="020B0502040204020203" pitchFamily="34" charset="0"/>
                        <a:ea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22581" marR="122581" marT="73549" marB="73549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4903" cap="flat" cmpd="sng" algn="ctr">
                      <a:solidFill>
                        <a:srgbClr val="D9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810"/>
                        </a:lnSpc>
                        <a:buNone/>
                      </a:pPr>
                      <a:r>
                        <a:rPr lang="en-US" sz="580" dirty="0">
                          <a:solidFill>
                            <a:srgbClr val="121C23"/>
                          </a:solidFill>
                          <a:latin typeface="Segoe UI" panose="020B0502040204020203" pitchFamily="34" charset="0"/>
                          <a:ea typeface="Segoe UI" panose="020B0502040204020203" pitchFamily="34" charset="-122"/>
                          <a:cs typeface="Segoe UI" panose="020B0502040204020203" pitchFamily="34" charset="-120"/>
                        </a:rPr>
                        <a:t>论文综述/元分析首选</a:t>
                      </a:r>
                      <a:endParaRPr lang="en-US" sz="580" dirty="0">
                        <a:latin typeface="Segoe UI" panose="020B0502040204020203" pitchFamily="34" charset="0"/>
                        <a:ea typeface="Segoe UI" panose="020B0502040204020203" pitchFamily="34" charset="0"/>
                        <a:cs typeface="Segoe UI" panose="020B0502040204020203" pitchFamily="34" charset="0"/>
                      </a:endParaRPr>
                    </a:p>
                    <a:p>
                      <a:pPr marL="0" indent="0" algn="l">
                        <a:lnSpc>
                          <a:spcPts val="810"/>
                        </a:lnSpc>
                        <a:buNone/>
                      </a:pPr>
                      <a:r>
                        <a:rPr lang="en-US" sz="580" dirty="0">
                          <a:solidFill>
                            <a:srgbClr val="121C23"/>
                          </a:solidFill>
                          <a:latin typeface="Segoe UI" panose="020B0502040204020203" pitchFamily="34" charset="0"/>
                          <a:ea typeface="Segoe UI" panose="020B0502040204020203" pitchFamily="34" charset="-122"/>
                          <a:cs typeface="Segoe UI" panose="020B0502040204020203" pitchFamily="34" charset="-120"/>
                        </a:rPr>
                        <a:t>整语料库一次性处理</a:t>
                      </a:r>
                      <a:endParaRPr lang="en-US" sz="580" dirty="0">
                        <a:latin typeface="Segoe UI" panose="020B0502040204020203" pitchFamily="34" charset="0"/>
                        <a:ea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22581" marR="122581" marT="73549" marB="73549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4903" cap="flat" cmpd="sng" algn="ctr">
                      <a:solidFill>
                        <a:srgbClr val="D9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810"/>
                        </a:lnSpc>
                        <a:buNone/>
                      </a:pPr>
                      <a:r>
                        <a:rPr lang="en-US" sz="580" dirty="0">
                          <a:solidFill>
                            <a:srgbClr val="5A656D"/>
                          </a:solidFill>
                          <a:latin typeface="Segoe UI" panose="020B0502040204020203" pitchFamily="34" charset="0"/>
                          <a:ea typeface="Segoe UI" panose="020B0502040204020203" pitchFamily="34" charset="-122"/>
                          <a:cs typeface="Segoe UI" panose="020B0502040204020203" pitchFamily="34" charset="-120"/>
                        </a:rPr>
                        <a:t>零成本学术基线(Flash)</a:t>
                      </a:r>
                      <a:endParaRPr lang="en-US" sz="580" dirty="0">
                        <a:latin typeface="Segoe UI" panose="020B0502040204020203" pitchFamily="34" charset="0"/>
                        <a:ea typeface="Segoe UI" panose="020B0502040204020203" pitchFamily="34" charset="0"/>
                        <a:cs typeface="Segoe UI" panose="020B0502040204020203" pitchFamily="34" charset="0"/>
                      </a:endParaRPr>
                    </a:p>
                    <a:p>
                      <a:pPr marL="0" indent="0" algn="l">
                        <a:lnSpc>
                          <a:spcPts val="810"/>
                        </a:lnSpc>
                        <a:buNone/>
                      </a:pPr>
                      <a:r>
                        <a:rPr lang="en-US" sz="580" dirty="0">
                          <a:solidFill>
                            <a:srgbClr val="5A656D"/>
                          </a:solidFill>
                          <a:latin typeface="Segoe UI" panose="020B0502040204020203" pitchFamily="34" charset="0"/>
                          <a:ea typeface="Segoe UI" panose="020B0502040204020203" pitchFamily="34" charset="-122"/>
                          <a:cs typeface="Segoe UI" panose="020B0502040204020203" pitchFamily="34" charset="-120"/>
                        </a:rPr>
                        <a:t>学术氛围最开放</a:t>
                      </a:r>
                      <a:endParaRPr lang="en-US" sz="580" dirty="0">
                        <a:latin typeface="Segoe UI" panose="020B0502040204020203" pitchFamily="34" charset="0"/>
                        <a:ea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22581" marR="122581" marT="73549" marB="73549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4903" cap="flat" cmpd="sng" algn="ctr">
                      <a:solidFill>
                        <a:srgbClr val="D9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id="7" name="Shape 10"/>
          <p:cNvSpPr/>
          <p:nvPr/>
        </p:nvSpPr>
        <p:spPr>
          <a:xfrm>
            <a:off x="476250" y="4342433"/>
            <a:ext cx="8191500" cy="476250"/>
          </a:xfrm>
          <a:prstGeom prst="roundRect">
            <a:avLst>
              <a:gd name="adj" fmla="val 6177"/>
            </a:avLst>
          </a:prstGeom>
          <a:solidFill>
            <a:srgbClr val="5A845A">
              <a:alpha val="12157"/>
            </a:srgbClr>
          </a:solidFill>
          <a:ln w="4903">
            <a:solidFill>
              <a:srgbClr val="5C875C">
                <a:alpha val="25098"/>
              </a:srgbClr>
            </a:solidFill>
            <a:prstDash val="solid"/>
          </a:ln>
        </p:spPr>
      </p:sp>
      <p:sp>
        <p:nvSpPr>
          <p:cNvPr id="8" name="TextBox 12"/>
          <p:cNvSpPr/>
          <p:nvPr/>
        </p:nvSpPr>
        <p:spPr>
          <a:xfrm>
            <a:off x="633412" y="4451970"/>
            <a:ext cx="7877175" cy="25717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040"/>
              </a:lnSpc>
              <a:buNone/>
            </a:pPr>
            <a:r>
              <a:rPr lang="en-US" sz="695" b="1" dirty="0">
                <a:solidFill>
                  <a:srgbClr val="121C23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最佳实践：多模型路由。</a:t>
            </a:r>
            <a:r>
              <a:rPr lang="en-US" sz="695" dirty="0">
                <a:solidFill>
                  <a:srgbClr val="121C23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成熟企业/研究组不会只用一个模型——GLM-4-Flash 做分类/预处理 → DeepSeek 做推理/编程 → Kimi 做长文档 → 通义千问做中文生成 → 豆包做语音交互。组合策略可将总体成本降低 </a:t>
            </a:r>
            <a:r>
              <a:rPr lang="en-US" sz="695" b="1" dirty="0">
                <a:solidFill>
                  <a:srgbClr val="121C23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40%-67%</a:t>
            </a:r>
            <a:r>
              <a:rPr lang="en-US" sz="695" dirty="0">
                <a:solidFill>
                  <a:srgbClr val="121C23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，每个任务都用最合适的模型。</a:t>
            </a:r>
            <a:r>
              <a:rPr lang="en-US" sz="695" b="1" dirty="0">
                <a:solidFill>
                  <a:srgbClr val="121C23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没有全能的模型——只有用对地方的模型。</a:t>
            </a:r>
            <a:endParaRPr lang="en-US" sz="695" dirty="0"/>
          </a:p>
        </p:txBody>
      </p:sp>
      <p:pic>
        <p:nvPicPr>
          <p:cNvPr id="9" name="Picture 16" descr="__type_image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76250" y="4819650"/>
            <a:ext cx="8191500" cy="171450"/>
          </a:xfrm>
          <a:prstGeom prst="rect">
            <a:avLst/>
          </a:prstGeom>
        </p:spPr>
      </p:pic>
      <p:sp>
        <p:nvSpPr>
          <p:cNvPr id="10" name="TextBox 16"/>
          <p:cNvSpPr/>
          <p:nvPr/>
        </p:nvSpPr>
        <p:spPr>
          <a:xfrm>
            <a:off x="476250" y="4819650"/>
            <a:ext cx="8191500" cy="171450"/>
          </a:xfrm>
          <a:prstGeom prst="rect">
            <a:avLst/>
          </a:prstGeom>
          <a:noFill/>
        </p:spPr>
        <p:txBody>
          <a:bodyPr wrap="square" lIns="0" tIns="68645" rIns="0" bIns="0" rtlCol="0" anchor="t">
            <a:spAutoFit/>
          </a:bodyPr>
          <a:lstStyle/>
          <a:p>
            <a:pPr marL="0" indent="0" algn="l">
              <a:lnSpc>
                <a:spcPts val="810"/>
              </a:lnSpc>
              <a:buNone/>
            </a:pPr>
            <a:r>
              <a:rPr lang="en-US" sz="540" kern="0" spc="22" dirty="0">
                <a:solidFill>
                  <a:srgbClr val="5A656D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五强互补而非替代：DeepSeek(推理) + Qwen(中文) + 豆包(C端) + Kimi(长文档) + 智谱(Agent) = 完整工具链</a:t>
            </a:r>
            <a:endParaRPr lang="en-US" sz="54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6F9FC"/>
          </a:solidFill>
        </p:spPr>
      </p:sp>
      <p:sp>
        <p:nvSpPr>
          <p:cNvPr id="3" name="Shape 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6F9FC"/>
          </a:solidFill>
        </p:spPr>
      </p:sp>
      <p:pic>
        <p:nvPicPr>
          <p:cNvPr id="4" name="Picture 4" descr="__type_image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76250" y="381000"/>
            <a:ext cx="8191500" cy="390525"/>
          </a:xfrm>
          <a:prstGeom prst="rect">
            <a:avLst/>
          </a:prstGeom>
        </p:spPr>
      </p:pic>
      <p:sp>
        <p:nvSpPr>
          <p:cNvPr id="5" name="TextBox 4"/>
          <p:cNvSpPr/>
          <p:nvPr/>
        </p:nvSpPr>
        <p:spPr>
          <a:xfrm>
            <a:off x="476250" y="381000"/>
            <a:ext cx="8191500" cy="390525"/>
          </a:xfrm>
          <a:prstGeom prst="rect">
            <a:avLst/>
          </a:prstGeom>
          <a:noFill/>
        </p:spPr>
        <p:txBody>
          <a:bodyPr wrap="square" lIns="0" tIns="0" rIns="0" bIns="98065" rtlCol="0" anchor="t">
            <a:spAutoFit/>
          </a:bodyPr>
          <a:lstStyle/>
          <a:p>
            <a:pPr marL="0" indent="0" algn="l">
              <a:lnSpc>
                <a:spcPts val="2315"/>
              </a:lnSpc>
              <a:buNone/>
            </a:pPr>
            <a:r>
              <a:rPr lang="en-US" sz="1545" b="1" kern="0" spc="-23" dirty="0">
                <a:solidFill>
                  <a:srgbClr val="121C23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开源与闭源的格局：2026 年的真实图景</a:t>
            </a:r>
            <a:endParaRPr lang="en-US" sz="1545" dirty="0"/>
          </a:p>
        </p:txBody>
      </p:sp>
      <p:sp>
        <p:nvSpPr>
          <p:cNvPr id="6" name="Shape 8"/>
          <p:cNvSpPr/>
          <p:nvPr/>
        </p:nvSpPr>
        <p:spPr>
          <a:xfrm>
            <a:off x="476250" y="1000125"/>
            <a:ext cx="8191500" cy="694804"/>
          </a:xfrm>
          <a:prstGeom prst="roundRect">
            <a:avLst>
              <a:gd name="adj" fmla="val 4234"/>
            </a:avLst>
          </a:prstGeom>
          <a:solidFill>
            <a:srgbClr val="FFFFFF"/>
          </a:solidFill>
        </p:spPr>
      </p:sp>
      <p:pic>
        <p:nvPicPr>
          <p:cNvPr id="7" name="Picture 8" descr="__type_image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76250" y="1000125"/>
            <a:ext cx="8191500" cy="694804"/>
          </a:xfrm>
          <a:prstGeom prst="rect">
            <a:avLst/>
          </a:prstGeom>
        </p:spPr>
      </p:pic>
      <p:sp>
        <p:nvSpPr>
          <p:cNvPr id="8" name="TextBox 10"/>
          <p:cNvSpPr/>
          <p:nvPr/>
        </p:nvSpPr>
        <p:spPr>
          <a:xfrm>
            <a:off x="666750" y="1138237"/>
            <a:ext cx="7824788" cy="100013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810"/>
              </a:lnSpc>
              <a:buNone/>
            </a:pPr>
            <a:r>
              <a:rPr lang="en-US" sz="540" kern="0" spc="43" dirty="0">
                <a:solidFill>
                  <a:srgbClr val="299236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先厘清概念："开源权重" ≠ "开源"</a:t>
            </a:r>
            <a:endParaRPr lang="en-US" sz="540" dirty="0"/>
          </a:p>
        </p:txBody>
      </p:sp>
      <p:sp>
        <p:nvSpPr>
          <p:cNvPr id="9" name="TextBox 12"/>
          <p:cNvSpPr/>
          <p:nvPr/>
        </p:nvSpPr>
        <p:spPr>
          <a:xfrm>
            <a:off x="666750" y="1276350"/>
            <a:ext cx="7824788" cy="280467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135"/>
              </a:lnSpc>
              <a:buNone/>
            </a:pPr>
            <a:r>
              <a:rPr lang="en-US" sz="735" dirty="0">
                <a:solidFill>
                  <a:srgbClr val="121C23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2026 年绝大多数"开源"模型实际上是</a:t>
            </a:r>
            <a:r>
              <a:rPr lang="en-US" sz="735" b="1" dirty="0">
                <a:solidFill>
                  <a:srgbClr val="121C23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开放权重（Open Weights）</a:t>
            </a:r>
            <a:r>
              <a:rPr lang="en-US" sz="735" dirty="0">
                <a:solidFill>
                  <a:srgbClr val="121C23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——模型参数可下载，但训练数据、训练代码、完整 pipeline 并不公开。真正严格意义上的开源（权重 + 代码 + 数据全公开）只有 OLMo（AI2）、Pythia（EleutherAI）等学术项目。DeepSeek-R1/V4、Qwen 3.X 是</a:t>
            </a:r>
            <a:r>
              <a:rPr lang="en-US" sz="735" b="1" dirty="0">
                <a:solidFill>
                  <a:srgbClr val="121C23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开放权重</a:t>
            </a:r>
            <a:r>
              <a:rPr lang="en-US" sz="735" dirty="0">
                <a:solidFill>
                  <a:srgbClr val="121C23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（MIT/Apache 2.0 许可证），不是严格开源。</a:t>
            </a:r>
            <a:endParaRPr lang="en-US" sz="735" dirty="0"/>
          </a:p>
        </p:txBody>
      </p:sp>
      <p:graphicFrame>
        <p:nvGraphicFramePr>
          <p:cNvPr id="34" name="Table 15"/>
          <p:cNvGraphicFramePr>
            <a:graphicFrameLocks noGrp="1"/>
          </p:cNvGraphicFramePr>
          <p:nvPr/>
        </p:nvGraphicFramePr>
        <p:xfrm>
          <a:off x="476250" y="1761604"/>
          <a:ext cx="8191501" cy="914400"/>
        </p:xfrm>
        <a:graphic>
          <a:graphicData uri="http://schemas.openxmlformats.org/drawingml/2006/table">
            <a:tbl>
              <a:tblPr/>
              <a:tblGrid>
                <a:gridCol w="1122871"/>
                <a:gridCol w="2376934"/>
                <a:gridCol w="859892"/>
                <a:gridCol w="859892"/>
                <a:gridCol w="2971912"/>
              </a:tblGrid>
              <a:tr h="0"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925"/>
                        </a:lnSpc>
                        <a:buNone/>
                      </a:pPr>
                      <a:r>
                        <a:rPr lang="en-US" sz="850" b="1" dirty="0">
                          <a:solidFill>
                            <a:srgbClr val="121C23"/>
                          </a:solidFill>
                          <a:latin typeface="Segoe UI" panose="020B0502040204020203" pitchFamily="34" charset="0"/>
                          <a:ea typeface="Segoe UI" panose="020B0502040204020203" pitchFamily="34" charset="-122"/>
                          <a:cs typeface="Segoe UI" panose="020B0502040204020203" pitchFamily="34" charset="-120"/>
                        </a:rPr>
                        <a:t>许可证类型</a:t>
                      </a:r>
                      <a:endParaRPr lang="en-US" sz="620" dirty="0">
                        <a:latin typeface="Consolas" panose="020B0609020204030204" pitchFamily="34" charset="0"/>
                        <a:ea typeface="Consolas" panose="020B0609020204030204" pitchFamily="34" charset="0"/>
                        <a:cs typeface="Consolas" panose="020B0609020204030204" pitchFamily="34" charset="0"/>
                      </a:endParaRPr>
                    </a:p>
                  </a:txBody>
                  <a:tcPr marL="122581" marR="122581" marT="83355" marB="8335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806" cap="flat" cmpd="sng" algn="ctr">
                      <a:solidFill>
                        <a:srgbClr val="2992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A845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1275"/>
                        </a:lnSpc>
                        <a:buNone/>
                      </a:pPr>
                      <a:r>
                        <a:rPr lang="en-US" sz="850" b="1" dirty="0">
                          <a:solidFill>
                            <a:srgbClr val="121C23"/>
                          </a:solidFill>
                          <a:latin typeface="Segoe UI" panose="020B0502040204020203" pitchFamily="34" charset="0"/>
                          <a:ea typeface="Segoe UI" panose="020B0502040204020203" pitchFamily="34" charset="-122"/>
                          <a:cs typeface="Segoe UI" panose="020B0502040204020203" pitchFamily="34" charset="-120"/>
                        </a:rPr>
                        <a:t>代表模型</a:t>
                      </a:r>
                      <a:endParaRPr lang="en-US" sz="850" dirty="0">
                        <a:latin typeface="Segoe UI" panose="020B0502040204020203" pitchFamily="34" charset="0"/>
                        <a:ea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22581" marR="122581" marT="83355" marB="8335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806" cap="flat" cmpd="sng" algn="ctr">
                      <a:solidFill>
                        <a:srgbClr val="2992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A845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1275"/>
                        </a:lnSpc>
                        <a:buNone/>
                      </a:pPr>
                      <a:r>
                        <a:rPr lang="en-US" sz="850" b="1" dirty="0">
                          <a:solidFill>
                            <a:srgbClr val="121C23"/>
                          </a:solidFill>
                          <a:latin typeface="Segoe UI" panose="020B0502040204020203" pitchFamily="34" charset="0"/>
                          <a:ea typeface="Segoe UI" panose="020B0502040204020203" pitchFamily="34" charset="-122"/>
                          <a:cs typeface="Segoe UI" panose="020B0502040204020203" pitchFamily="34" charset="-120"/>
                        </a:rPr>
                        <a:t>可商用？</a:t>
                      </a:r>
                      <a:endParaRPr lang="en-US" sz="850" dirty="0">
                        <a:latin typeface="Segoe UI" panose="020B0502040204020203" pitchFamily="34" charset="0"/>
                        <a:ea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22581" marR="122581" marT="83355" marB="8335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806" cap="flat" cmpd="sng" algn="ctr">
                      <a:solidFill>
                        <a:srgbClr val="2992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A845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1275"/>
                        </a:lnSpc>
                        <a:buNone/>
                      </a:pPr>
                      <a:r>
                        <a:rPr lang="en-US" sz="850" b="1" dirty="0">
                          <a:solidFill>
                            <a:srgbClr val="121C23"/>
                          </a:solidFill>
                          <a:latin typeface="Segoe UI" panose="020B0502040204020203" pitchFamily="34" charset="0"/>
                          <a:ea typeface="Segoe UI" panose="020B0502040204020203" pitchFamily="34" charset="-122"/>
                          <a:cs typeface="Segoe UI" panose="020B0502040204020203" pitchFamily="34" charset="-120"/>
                        </a:rPr>
                        <a:t>可微调？</a:t>
                      </a:r>
                      <a:endParaRPr lang="en-US" sz="850" dirty="0">
                        <a:latin typeface="Segoe UI" panose="020B0502040204020203" pitchFamily="34" charset="0"/>
                        <a:ea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22581" marR="122581" marT="83355" marB="8335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806" cap="flat" cmpd="sng" algn="ctr">
                      <a:solidFill>
                        <a:srgbClr val="2992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A845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1275"/>
                        </a:lnSpc>
                        <a:buNone/>
                      </a:pPr>
                      <a:r>
                        <a:rPr lang="en-US" sz="850" b="1" dirty="0">
                          <a:solidFill>
                            <a:srgbClr val="121C23"/>
                          </a:solidFill>
                          <a:latin typeface="Segoe UI" panose="020B0502040204020203" pitchFamily="34" charset="0"/>
                          <a:ea typeface="Segoe UI" panose="020B0502040204020203" pitchFamily="34" charset="-122"/>
                          <a:cs typeface="Segoe UI" panose="020B0502040204020203" pitchFamily="34" charset="-120"/>
                        </a:rPr>
                        <a:t>对学术的意义</a:t>
                      </a:r>
                      <a:endParaRPr lang="en-US" sz="850" dirty="0">
                        <a:latin typeface="Segoe UI" panose="020B0502040204020203" pitchFamily="34" charset="0"/>
                        <a:ea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22581" marR="122581" marT="83355" marB="8335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806" cap="flat" cmpd="sng" algn="ctr">
                      <a:solidFill>
                        <a:srgbClr val="2992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A845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1040"/>
                        </a:lnSpc>
                        <a:buNone/>
                      </a:pPr>
                      <a:r>
                        <a:rPr lang="en-US" sz="695" b="1" dirty="0">
                          <a:solidFill>
                            <a:srgbClr val="121C23"/>
                          </a:solidFill>
                          <a:latin typeface="Segoe UI" panose="020B0502040204020203" pitchFamily="34" charset="0"/>
                          <a:ea typeface="Segoe UI" panose="020B0502040204020203" pitchFamily="34" charset="-122"/>
                          <a:cs typeface="Segoe UI" panose="020B0502040204020203" pitchFamily="34" charset="-120"/>
                        </a:rPr>
                        <a:t>Apache 2.0</a:t>
                      </a:r>
                      <a:endParaRPr lang="en-US" sz="695" dirty="0">
                        <a:latin typeface="Segoe UI" panose="020B0502040204020203" pitchFamily="34" charset="0"/>
                        <a:ea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22581" marR="122581" marT="73549" marB="73549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4903" cap="flat" cmpd="sng" algn="ctr">
                      <a:solidFill>
                        <a:srgbClr val="D9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1040"/>
                        </a:lnSpc>
                        <a:buNone/>
                      </a:pPr>
                      <a:r>
                        <a:rPr lang="en-US" sz="695" dirty="0">
                          <a:solidFill>
                            <a:srgbClr val="121C23"/>
                          </a:solidFill>
                          <a:latin typeface="Segoe UI" panose="020B0502040204020203" pitchFamily="34" charset="0"/>
                          <a:ea typeface="Segoe UI" panose="020B0502040204020203" pitchFamily="34" charset="-122"/>
                          <a:cs typeface="Segoe UI" panose="020B0502040204020203" pitchFamily="34" charset="-120"/>
                        </a:rPr>
                        <a:t>Qwen 3.X, Gemma 4, Mistral, OLMo</a:t>
                      </a:r>
                      <a:endParaRPr lang="en-US" sz="695" dirty="0">
                        <a:latin typeface="Segoe UI" panose="020B0502040204020203" pitchFamily="34" charset="0"/>
                        <a:ea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22581" marR="122581" marT="73549" marB="73549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4903" cap="flat" cmpd="sng" algn="ctr">
                      <a:solidFill>
                        <a:srgbClr val="D9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1040"/>
                        </a:lnSpc>
                        <a:buNone/>
                      </a:pPr>
                      <a:r>
                        <a:rPr lang="en-US" sz="695" dirty="0">
                          <a:solidFill>
                            <a:srgbClr val="121C23"/>
                          </a:solidFill>
                          <a:latin typeface="Segoe UI" panose="020B0502040204020203" pitchFamily="34" charset="0"/>
                          <a:ea typeface="Segoe UI" panose="020B0502040204020203" pitchFamily="34" charset="-122"/>
                          <a:cs typeface="Segoe UI" panose="020B0502040204020203" pitchFamily="34" charset="-120"/>
                        </a:rPr>
                        <a:t>✅</a:t>
                      </a:r>
                      <a:endParaRPr lang="en-US" sz="695" dirty="0">
                        <a:latin typeface="Segoe UI" panose="020B0502040204020203" pitchFamily="34" charset="0"/>
                        <a:ea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22581" marR="122581" marT="73549" marB="73549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4903" cap="flat" cmpd="sng" algn="ctr">
                      <a:solidFill>
                        <a:srgbClr val="D9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1040"/>
                        </a:lnSpc>
                        <a:buNone/>
                      </a:pPr>
                      <a:r>
                        <a:rPr lang="en-US" sz="695" dirty="0">
                          <a:solidFill>
                            <a:srgbClr val="121C23"/>
                          </a:solidFill>
                          <a:latin typeface="Segoe UI" panose="020B0502040204020203" pitchFamily="34" charset="0"/>
                          <a:ea typeface="Segoe UI" panose="020B0502040204020203" pitchFamily="34" charset="-122"/>
                          <a:cs typeface="Segoe UI" panose="020B0502040204020203" pitchFamily="34" charset="-120"/>
                        </a:rPr>
                        <a:t>✅</a:t>
                      </a:r>
                      <a:endParaRPr lang="en-US" sz="695" dirty="0">
                        <a:latin typeface="Segoe UI" panose="020B0502040204020203" pitchFamily="34" charset="0"/>
                        <a:ea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22581" marR="122581" marT="73549" marB="73549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4903" cap="flat" cmpd="sng" algn="ctr">
                      <a:solidFill>
                        <a:srgbClr val="D9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1040"/>
                        </a:lnSpc>
                        <a:buNone/>
                      </a:pPr>
                      <a:r>
                        <a:rPr lang="en-US" sz="695" dirty="0">
                          <a:solidFill>
                            <a:srgbClr val="5A656D"/>
                          </a:solidFill>
                          <a:latin typeface="Segoe UI" panose="020B0502040204020203" pitchFamily="34" charset="0"/>
                          <a:ea typeface="Segoe UI" panose="020B0502040204020203" pitchFamily="34" charset="-122"/>
                          <a:cs typeface="Segoe UI" panose="020B0502040204020203" pitchFamily="34" charset="-120"/>
                        </a:rPr>
                        <a:t>最干净——论文复现、企业合作都无风险</a:t>
                      </a:r>
                      <a:endParaRPr lang="en-US" sz="695" dirty="0">
                        <a:latin typeface="Segoe UI" panose="020B0502040204020203" pitchFamily="34" charset="0"/>
                        <a:ea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22581" marR="122581" marT="73549" marB="73549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4903" cap="flat" cmpd="sng" algn="ctr">
                      <a:solidFill>
                        <a:srgbClr val="D9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1040"/>
                        </a:lnSpc>
                        <a:buNone/>
                      </a:pPr>
                      <a:r>
                        <a:rPr lang="en-US" sz="695" b="1" dirty="0">
                          <a:solidFill>
                            <a:srgbClr val="121C23"/>
                          </a:solidFill>
                          <a:latin typeface="Segoe UI" panose="020B0502040204020203" pitchFamily="34" charset="0"/>
                          <a:ea typeface="Segoe UI" panose="020B0502040204020203" pitchFamily="34" charset="-122"/>
                          <a:cs typeface="Segoe UI" panose="020B0502040204020203" pitchFamily="34" charset="-120"/>
                        </a:rPr>
                        <a:t>MIT</a:t>
                      </a:r>
                      <a:endParaRPr lang="en-US" sz="695" dirty="0">
                        <a:latin typeface="Segoe UI" panose="020B0502040204020203" pitchFamily="34" charset="0"/>
                        <a:ea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22581" marR="122581" marT="73549" marB="73549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4903" cap="flat" cmpd="sng" algn="ctr">
                      <a:solidFill>
                        <a:srgbClr val="D9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1040"/>
                        </a:lnSpc>
                        <a:buNone/>
                      </a:pPr>
                      <a:r>
                        <a:rPr lang="en-US" sz="695" dirty="0">
                          <a:solidFill>
                            <a:srgbClr val="121C23"/>
                          </a:solidFill>
                          <a:latin typeface="Segoe UI" panose="020B0502040204020203" pitchFamily="34" charset="0"/>
                          <a:ea typeface="Segoe UI" panose="020B0502040204020203" pitchFamily="34" charset="-122"/>
                          <a:cs typeface="Segoe UI" panose="020B0502040204020203" pitchFamily="34" charset="-120"/>
                        </a:rPr>
                        <a:t>DeepSeek R1/V4, Kimi K2.5, GLM-5, Phi-4</a:t>
                      </a:r>
                      <a:endParaRPr lang="en-US" sz="695" dirty="0">
                        <a:latin typeface="Segoe UI" panose="020B0502040204020203" pitchFamily="34" charset="0"/>
                        <a:ea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22581" marR="122581" marT="73549" marB="73549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4903" cap="flat" cmpd="sng" algn="ctr">
                      <a:solidFill>
                        <a:srgbClr val="D9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1040"/>
                        </a:lnSpc>
                        <a:buNone/>
                      </a:pPr>
                      <a:r>
                        <a:rPr lang="en-US" sz="695" dirty="0">
                          <a:solidFill>
                            <a:srgbClr val="121C23"/>
                          </a:solidFill>
                          <a:latin typeface="Segoe UI" panose="020B0502040204020203" pitchFamily="34" charset="0"/>
                          <a:ea typeface="Segoe UI" panose="020B0502040204020203" pitchFamily="34" charset="-122"/>
                          <a:cs typeface="Segoe UI" panose="020B0502040204020203" pitchFamily="34" charset="-120"/>
                        </a:rPr>
                        <a:t>✅</a:t>
                      </a:r>
                      <a:endParaRPr lang="en-US" sz="695" dirty="0">
                        <a:latin typeface="Segoe UI" panose="020B0502040204020203" pitchFamily="34" charset="0"/>
                        <a:ea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22581" marR="122581" marT="73549" marB="73549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4903" cap="flat" cmpd="sng" algn="ctr">
                      <a:solidFill>
                        <a:srgbClr val="D9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1040"/>
                        </a:lnSpc>
                        <a:buNone/>
                      </a:pPr>
                      <a:r>
                        <a:rPr lang="en-US" sz="695" dirty="0">
                          <a:solidFill>
                            <a:srgbClr val="121C23"/>
                          </a:solidFill>
                          <a:latin typeface="Segoe UI" panose="020B0502040204020203" pitchFamily="34" charset="0"/>
                          <a:ea typeface="Segoe UI" panose="020B0502040204020203" pitchFamily="34" charset="-122"/>
                          <a:cs typeface="Segoe UI" panose="020B0502040204020203" pitchFamily="34" charset="-120"/>
                        </a:rPr>
                        <a:t>✅</a:t>
                      </a:r>
                      <a:endParaRPr lang="en-US" sz="695" dirty="0">
                        <a:latin typeface="Segoe UI" panose="020B0502040204020203" pitchFamily="34" charset="0"/>
                        <a:ea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22581" marR="122581" marT="73549" marB="73549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4903" cap="flat" cmpd="sng" algn="ctr">
                      <a:solidFill>
                        <a:srgbClr val="D9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1040"/>
                        </a:lnSpc>
                        <a:buNone/>
                      </a:pPr>
                      <a:r>
                        <a:rPr lang="en-US" sz="695" dirty="0">
                          <a:solidFill>
                            <a:srgbClr val="5A656D"/>
                          </a:solidFill>
                          <a:latin typeface="Segoe UI" panose="020B0502040204020203" pitchFamily="34" charset="0"/>
                          <a:ea typeface="Segoe UI" panose="020B0502040204020203" pitchFamily="34" charset="-122"/>
                          <a:cs typeface="Segoe UI" panose="020B0502040204020203" pitchFamily="34" charset="-120"/>
                        </a:rPr>
                        <a:t>无专利条款但文本简洁，学术使用完全 OK</a:t>
                      </a:r>
                      <a:endParaRPr lang="en-US" sz="695" dirty="0">
                        <a:latin typeface="Segoe UI" panose="020B0502040204020203" pitchFamily="34" charset="0"/>
                        <a:ea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22581" marR="122581" marT="73549" marB="73549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4903" cap="flat" cmpd="sng" algn="ctr">
                      <a:solidFill>
                        <a:srgbClr val="D9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1040"/>
                        </a:lnSpc>
                        <a:buNone/>
                      </a:pPr>
                      <a:r>
                        <a:rPr lang="en-US" sz="695" b="1" dirty="0">
                          <a:solidFill>
                            <a:srgbClr val="121C23"/>
                          </a:solidFill>
                          <a:latin typeface="Segoe UI" panose="020B0502040204020203" pitchFamily="34" charset="0"/>
                          <a:ea typeface="Segoe UI" panose="020B0502040204020203" pitchFamily="34" charset="-122"/>
                          <a:cs typeface="Segoe UI" panose="020B0502040204020203" pitchFamily="34" charset="-120"/>
                        </a:rPr>
                        <a:t>Llama 社区许可</a:t>
                      </a:r>
                      <a:endParaRPr lang="en-US" sz="695" dirty="0">
                        <a:latin typeface="Segoe UI" panose="020B0502040204020203" pitchFamily="34" charset="0"/>
                        <a:ea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22581" marR="122581" marT="73549" marB="73549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4903" cap="flat" cmpd="sng" algn="ctr">
                      <a:solidFill>
                        <a:srgbClr val="D9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1040"/>
                        </a:lnSpc>
                        <a:buNone/>
                      </a:pPr>
                      <a:r>
                        <a:rPr lang="en-US" sz="695" dirty="0">
                          <a:solidFill>
                            <a:srgbClr val="121C23"/>
                          </a:solidFill>
                          <a:latin typeface="Segoe UI" panose="020B0502040204020203" pitchFamily="34" charset="0"/>
                          <a:ea typeface="Segoe UI" panose="020B0502040204020203" pitchFamily="34" charset="-122"/>
                          <a:cs typeface="Segoe UI" panose="020B0502040204020203" pitchFamily="34" charset="-120"/>
                        </a:rPr>
                        <a:t>Llama 4 系列</a:t>
                      </a:r>
                      <a:endParaRPr lang="en-US" sz="695" dirty="0">
                        <a:latin typeface="Segoe UI" panose="020B0502040204020203" pitchFamily="34" charset="0"/>
                        <a:ea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22581" marR="122581" marT="73549" marB="73549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4903" cap="flat" cmpd="sng" algn="ctr">
                      <a:solidFill>
                        <a:srgbClr val="D9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1040"/>
                        </a:lnSpc>
                        <a:buNone/>
                      </a:pPr>
                      <a:r>
                        <a:rPr lang="en-US" sz="695" dirty="0">
                          <a:solidFill>
                            <a:srgbClr val="121C23"/>
                          </a:solidFill>
                          <a:latin typeface="Segoe UI" panose="020B0502040204020203" pitchFamily="34" charset="0"/>
                          <a:ea typeface="Segoe UI" panose="020B0502040204020203" pitchFamily="34" charset="-122"/>
                          <a:cs typeface="Segoe UI" panose="020B0502040204020203" pitchFamily="34" charset="-120"/>
                        </a:rPr>
                        <a:t>⚠️ 有条件</a:t>
                      </a:r>
                      <a:endParaRPr lang="en-US" sz="695" dirty="0">
                        <a:latin typeface="Segoe UI" panose="020B0502040204020203" pitchFamily="34" charset="0"/>
                        <a:ea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22581" marR="122581" marT="73549" marB="73549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4903" cap="flat" cmpd="sng" algn="ctr">
                      <a:solidFill>
                        <a:srgbClr val="D9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1040"/>
                        </a:lnSpc>
                        <a:buNone/>
                      </a:pPr>
                      <a:r>
                        <a:rPr lang="en-US" sz="695" dirty="0">
                          <a:solidFill>
                            <a:srgbClr val="121C23"/>
                          </a:solidFill>
                          <a:latin typeface="Segoe UI" panose="020B0502040204020203" pitchFamily="34" charset="0"/>
                          <a:ea typeface="Segoe UI" panose="020B0502040204020203" pitchFamily="34" charset="-122"/>
                          <a:cs typeface="Segoe UI" panose="020B0502040204020203" pitchFamily="34" charset="-120"/>
                        </a:rPr>
                        <a:t>✅</a:t>
                      </a:r>
                      <a:endParaRPr lang="en-US" sz="695" dirty="0">
                        <a:latin typeface="Segoe UI" panose="020B0502040204020203" pitchFamily="34" charset="0"/>
                        <a:ea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22581" marR="122581" marT="73549" marB="73549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4903" cap="flat" cmpd="sng" algn="ctr">
                      <a:solidFill>
                        <a:srgbClr val="D9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1040"/>
                        </a:lnSpc>
                        <a:buNone/>
                      </a:pPr>
                      <a:r>
                        <a:rPr lang="en-US" sz="695" dirty="0">
                          <a:solidFill>
                            <a:srgbClr val="5A656D"/>
                          </a:solidFill>
                          <a:latin typeface="Segoe UI" panose="020B0502040204020203" pitchFamily="34" charset="0"/>
                          <a:ea typeface="Segoe UI" panose="020B0502040204020203" pitchFamily="34" charset="-122"/>
                          <a:cs typeface="Segoe UI" panose="020B0502040204020203" pitchFamily="34" charset="-120"/>
                        </a:rPr>
                        <a:t>&gt; 7 亿 MAU 的企业禁用；</a:t>
                      </a:r>
                      <a:r>
                        <a:rPr lang="en-US" sz="695" b="1" dirty="0">
                          <a:solidFill>
                            <a:srgbClr val="5A656D"/>
                          </a:solidFill>
                          <a:latin typeface="Segoe UI" panose="020B0502040204020203" pitchFamily="34" charset="0"/>
                          <a:ea typeface="Segoe UI" panose="020B0502040204020203" pitchFamily="34" charset="-122"/>
                          <a:cs typeface="Segoe UI" panose="020B0502040204020203" pitchFamily="34" charset="-120"/>
                        </a:rPr>
                        <a:t>欧盟企业完全禁用 Llama 4</a:t>
                      </a:r>
                      <a:endParaRPr lang="en-US" sz="695" dirty="0">
                        <a:latin typeface="Segoe UI" panose="020B0502040204020203" pitchFamily="34" charset="0"/>
                        <a:ea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22581" marR="122581" marT="73549" marB="73549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4903" cap="flat" cmpd="sng" algn="ctr">
                      <a:solidFill>
                        <a:srgbClr val="D9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1040"/>
                        </a:lnSpc>
                        <a:buNone/>
                      </a:pPr>
                      <a:r>
                        <a:rPr lang="en-US" sz="695" b="1" dirty="0">
                          <a:solidFill>
                            <a:srgbClr val="121C23"/>
                          </a:solidFill>
                          <a:latin typeface="Segoe UI" panose="020B0502040204020203" pitchFamily="34" charset="0"/>
                          <a:ea typeface="Segoe UI" panose="020B0502040204020203" pitchFamily="34" charset="-122"/>
                          <a:cs typeface="Segoe UI" panose="020B0502040204020203" pitchFamily="34" charset="-120"/>
                        </a:rPr>
                        <a:t>闭源 API</a:t>
                      </a:r>
                      <a:endParaRPr lang="en-US" sz="695" dirty="0">
                        <a:latin typeface="Segoe UI" panose="020B0502040204020203" pitchFamily="34" charset="0"/>
                        <a:ea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22581" marR="122581" marT="73549" marB="73549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4903" cap="flat" cmpd="sng" algn="ctr">
                      <a:solidFill>
                        <a:srgbClr val="D9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1040"/>
                        </a:lnSpc>
                        <a:buNone/>
                      </a:pPr>
                      <a:r>
                        <a:rPr lang="en-US" sz="695" dirty="0">
                          <a:solidFill>
                            <a:srgbClr val="121C23"/>
                          </a:solidFill>
                          <a:latin typeface="Segoe UI" panose="020B0502040204020203" pitchFamily="34" charset="0"/>
                          <a:ea typeface="Segoe UI" panose="020B0502040204020203" pitchFamily="34" charset="-122"/>
                          <a:cs typeface="Segoe UI" panose="020B0502040204020203" pitchFamily="34" charset="-120"/>
                        </a:rPr>
                        <a:t>GPT-5, Claude Opus, Gemini Pro</a:t>
                      </a:r>
                      <a:endParaRPr lang="en-US" sz="695" dirty="0">
                        <a:latin typeface="Segoe UI" panose="020B0502040204020203" pitchFamily="34" charset="0"/>
                        <a:ea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22581" marR="122581" marT="73549" marB="73549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4903" cap="flat" cmpd="sng" algn="ctr">
                      <a:solidFill>
                        <a:srgbClr val="D9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1040"/>
                        </a:lnSpc>
                        <a:buNone/>
                      </a:pPr>
                      <a:r>
                        <a:rPr lang="en-US" sz="695" dirty="0">
                          <a:solidFill>
                            <a:srgbClr val="121C23"/>
                          </a:solidFill>
                          <a:latin typeface="Segoe UI" panose="020B0502040204020203" pitchFamily="34" charset="0"/>
                          <a:ea typeface="Segoe UI" panose="020B0502040204020203" pitchFamily="34" charset="-122"/>
                          <a:cs typeface="Segoe UI" panose="020B0502040204020203" pitchFamily="34" charset="-120"/>
                        </a:rPr>
                        <a:t>仅 API</a:t>
                      </a:r>
                      <a:endParaRPr lang="en-US" sz="695" dirty="0">
                        <a:latin typeface="Segoe UI" panose="020B0502040204020203" pitchFamily="34" charset="0"/>
                        <a:ea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22581" marR="122581" marT="73549" marB="73549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4903" cap="flat" cmpd="sng" algn="ctr">
                      <a:solidFill>
                        <a:srgbClr val="D9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1040"/>
                        </a:lnSpc>
                        <a:buNone/>
                      </a:pPr>
                      <a:r>
                        <a:rPr lang="en-US" sz="695" dirty="0">
                          <a:solidFill>
                            <a:srgbClr val="121C23"/>
                          </a:solidFill>
                          <a:latin typeface="Segoe UI" panose="020B0502040204020203" pitchFamily="34" charset="0"/>
                          <a:ea typeface="Segoe UI" panose="020B0502040204020203" pitchFamily="34" charset="-122"/>
                          <a:cs typeface="Segoe UI" panose="020B0502040204020203" pitchFamily="34" charset="-120"/>
                        </a:rPr>
                        <a:t>❌</a:t>
                      </a:r>
                      <a:endParaRPr lang="en-US" sz="695" dirty="0">
                        <a:latin typeface="Segoe UI" panose="020B0502040204020203" pitchFamily="34" charset="0"/>
                        <a:ea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22581" marR="122581" marT="73549" marB="73549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4903" cap="flat" cmpd="sng" algn="ctr">
                      <a:solidFill>
                        <a:srgbClr val="D9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1040"/>
                        </a:lnSpc>
                        <a:buNone/>
                      </a:pPr>
                      <a:r>
                        <a:rPr lang="en-US" sz="695" dirty="0">
                          <a:solidFill>
                            <a:srgbClr val="5A656D"/>
                          </a:solidFill>
                          <a:latin typeface="Segoe UI" panose="020B0502040204020203" pitchFamily="34" charset="0"/>
                          <a:ea typeface="Segoe UI" panose="020B0502040204020203" pitchFamily="34" charset="-122"/>
                          <a:cs typeface="Segoe UI" panose="020B0502040204020203" pitchFamily="34" charset="-120"/>
                        </a:rPr>
                        <a:t>不可微调，不可本地部署，但 API 能力最强</a:t>
                      </a:r>
                      <a:endParaRPr lang="en-US" sz="695" dirty="0">
                        <a:latin typeface="Segoe UI" panose="020B0502040204020203" pitchFamily="34" charset="0"/>
                        <a:ea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22581" marR="122581" marT="73549" marB="73549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4903" cap="flat" cmpd="sng" algn="ctr">
                      <a:solidFill>
                        <a:srgbClr val="D9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id="11" name="TextBox 19"/>
          <p:cNvSpPr/>
          <p:nvPr/>
        </p:nvSpPr>
        <p:spPr>
          <a:xfrm>
            <a:off x="476250" y="3214167"/>
            <a:ext cx="8191500" cy="100012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810"/>
              </a:lnSpc>
              <a:buNone/>
            </a:pPr>
            <a:r>
              <a:rPr lang="en-US" sz="540" kern="0" spc="43" dirty="0">
                <a:solidFill>
                  <a:srgbClr val="299236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2026 年开源/闭源格局的关键事实</a:t>
            </a:r>
            <a:endParaRPr lang="en-US" sz="540" dirty="0"/>
          </a:p>
        </p:txBody>
      </p:sp>
      <p:sp>
        <p:nvSpPr>
          <p:cNvPr id="12" name="Shape 23"/>
          <p:cNvSpPr/>
          <p:nvPr/>
        </p:nvSpPr>
        <p:spPr>
          <a:xfrm>
            <a:off x="476250" y="3371329"/>
            <a:ext cx="2667000" cy="654844"/>
          </a:xfrm>
          <a:prstGeom prst="roundRect">
            <a:avLst>
              <a:gd name="adj" fmla="val 4493"/>
            </a:avLst>
          </a:prstGeom>
          <a:solidFill>
            <a:srgbClr val="FFFFFF"/>
          </a:solidFill>
          <a:ln w="4903">
            <a:solidFill>
              <a:srgbClr val="D9DFE3"/>
            </a:solidFill>
            <a:prstDash val="solid"/>
          </a:ln>
        </p:spPr>
      </p:sp>
      <p:sp>
        <p:nvSpPr>
          <p:cNvPr id="13" name="TextBox 25"/>
          <p:cNvSpPr/>
          <p:nvPr/>
        </p:nvSpPr>
        <p:spPr>
          <a:xfrm>
            <a:off x="566737" y="3442767"/>
            <a:ext cx="2486025" cy="128587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040"/>
              </a:lnSpc>
              <a:buNone/>
            </a:pPr>
            <a:r>
              <a:rPr lang="en-US" sz="695" b="1" dirty="0">
                <a:solidFill>
                  <a:srgbClr val="299236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推理能力差距已基本闭合</a:t>
            </a:r>
            <a:endParaRPr lang="en-US" sz="695" dirty="0"/>
          </a:p>
        </p:txBody>
      </p:sp>
      <p:sp>
        <p:nvSpPr>
          <p:cNvPr id="14" name="TextBox 27"/>
          <p:cNvSpPr/>
          <p:nvPr/>
        </p:nvSpPr>
        <p:spPr>
          <a:xfrm>
            <a:off x="566737" y="3590404"/>
            <a:ext cx="2486025" cy="364331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985"/>
              </a:lnSpc>
              <a:buNone/>
            </a:pPr>
            <a:r>
              <a:rPr lang="en-US" sz="655" dirty="0">
                <a:solidFill>
                  <a:srgbClr val="5A656D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MMLU-Pro、MATH-500、HumanEval 等推理基准上，顶级开源模型与闭源差距 &lt; 3 个百分点。真正的差距在 </a:t>
            </a:r>
            <a:r>
              <a:rPr lang="en-US" sz="655" b="1" dirty="0">
                <a:solidFill>
                  <a:srgbClr val="5A656D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长距离 Agent 编排和工具调用可靠性</a:t>
            </a:r>
            <a:r>
              <a:rPr lang="en-US" sz="655" dirty="0">
                <a:solidFill>
                  <a:srgbClr val="5A656D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上。</a:t>
            </a:r>
            <a:endParaRPr lang="en-US" sz="655" dirty="0"/>
          </a:p>
        </p:txBody>
      </p:sp>
      <p:sp>
        <p:nvSpPr>
          <p:cNvPr id="15" name="Shape 30"/>
          <p:cNvSpPr/>
          <p:nvPr/>
        </p:nvSpPr>
        <p:spPr>
          <a:xfrm>
            <a:off x="3238500" y="3371329"/>
            <a:ext cx="2667000" cy="654844"/>
          </a:xfrm>
          <a:prstGeom prst="roundRect">
            <a:avLst>
              <a:gd name="adj" fmla="val 4493"/>
            </a:avLst>
          </a:prstGeom>
          <a:solidFill>
            <a:srgbClr val="FFFFFF"/>
          </a:solidFill>
          <a:ln w="4903">
            <a:solidFill>
              <a:srgbClr val="D9DFE3"/>
            </a:solidFill>
            <a:prstDash val="solid"/>
          </a:ln>
        </p:spPr>
      </p:sp>
      <p:sp>
        <p:nvSpPr>
          <p:cNvPr id="16" name="TextBox 32"/>
          <p:cNvSpPr/>
          <p:nvPr/>
        </p:nvSpPr>
        <p:spPr>
          <a:xfrm>
            <a:off x="3328987" y="3442767"/>
            <a:ext cx="2486025" cy="128587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040"/>
              </a:lnSpc>
              <a:buNone/>
            </a:pPr>
            <a:r>
              <a:rPr lang="en-US" sz="695" b="1" dirty="0">
                <a:solidFill>
                  <a:srgbClr val="299236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成本优势是决定性因素</a:t>
            </a:r>
            <a:endParaRPr lang="en-US" sz="695" dirty="0"/>
          </a:p>
        </p:txBody>
      </p:sp>
      <p:sp>
        <p:nvSpPr>
          <p:cNvPr id="17" name="TextBox 34"/>
          <p:cNvSpPr/>
          <p:nvPr/>
        </p:nvSpPr>
        <p:spPr>
          <a:xfrm>
            <a:off x="3328987" y="3590404"/>
            <a:ext cx="2486025" cy="242888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985"/>
              </a:lnSpc>
              <a:buNone/>
            </a:pPr>
            <a:r>
              <a:rPr lang="en-US" sz="655" dirty="0">
                <a:solidFill>
                  <a:srgbClr val="5A656D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自部署开源模型成本 &lt; $2/百万 token vs GPT-5 API $15+ → </a:t>
            </a:r>
            <a:r>
              <a:rPr lang="en-US" sz="655" b="1" dirty="0">
                <a:solidFill>
                  <a:srgbClr val="5A656D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8-12 倍差价</a:t>
            </a:r>
            <a:r>
              <a:rPr lang="en-US" sz="655" dirty="0">
                <a:solidFill>
                  <a:srgbClr val="5A656D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。对于高吞吐量的学术实验，成本差异决定了"能不能做"。</a:t>
            </a:r>
            <a:endParaRPr lang="en-US" sz="655" dirty="0"/>
          </a:p>
        </p:txBody>
      </p:sp>
      <p:sp>
        <p:nvSpPr>
          <p:cNvPr id="18" name="Shape 37"/>
          <p:cNvSpPr/>
          <p:nvPr/>
        </p:nvSpPr>
        <p:spPr>
          <a:xfrm>
            <a:off x="6000750" y="3371329"/>
            <a:ext cx="2667000" cy="654844"/>
          </a:xfrm>
          <a:prstGeom prst="roundRect">
            <a:avLst>
              <a:gd name="adj" fmla="val 4493"/>
            </a:avLst>
          </a:prstGeom>
          <a:solidFill>
            <a:srgbClr val="FFFFFF"/>
          </a:solidFill>
          <a:ln w="4903">
            <a:solidFill>
              <a:srgbClr val="D9DFE3"/>
            </a:solidFill>
            <a:prstDash val="solid"/>
          </a:ln>
        </p:spPr>
      </p:sp>
      <p:sp>
        <p:nvSpPr>
          <p:cNvPr id="19" name="TextBox 39"/>
          <p:cNvSpPr/>
          <p:nvPr/>
        </p:nvSpPr>
        <p:spPr>
          <a:xfrm>
            <a:off x="6091237" y="3442767"/>
            <a:ext cx="2486025" cy="128587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040"/>
              </a:lnSpc>
              <a:buNone/>
            </a:pPr>
            <a:r>
              <a:rPr lang="en-US" sz="695" b="1" dirty="0">
                <a:solidFill>
                  <a:srgbClr val="299236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中国模型成为开源主力</a:t>
            </a:r>
            <a:endParaRPr lang="en-US" sz="695" dirty="0"/>
          </a:p>
        </p:txBody>
      </p:sp>
      <p:sp>
        <p:nvSpPr>
          <p:cNvPr id="20" name="TextBox 41"/>
          <p:cNvSpPr/>
          <p:nvPr/>
        </p:nvSpPr>
        <p:spPr>
          <a:xfrm>
            <a:off x="6091237" y="3590404"/>
            <a:ext cx="2486025" cy="242888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985"/>
              </a:lnSpc>
              <a:buNone/>
            </a:pPr>
            <a:r>
              <a:rPr lang="en-US" sz="655" dirty="0">
                <a:solidFill>
                  <a:srgbClr val="5A656D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DeepSeek + Qwen 两大中系开源生态占据了 HuggingFace 下载量 Top 10 的半壁江山。中国企业靠开源策略打破了闭源巨头的护城河。</a:t>
            </a:r>
            <a:endParaRPr lang="en-US" sz="655" dirty="0"/>
          </a:p>
        </p:txBody>
      </p:sp>
      <p:pic>
        <p:nvPicPr>
          <p:cNvPr id="21" name="Picture 47" descr="__type_image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76250" y="4819650"/>
            <a:ext cx="8191500" cy="171450"/>
          </a:xfrm>
          <a:prstGeom prst="rect">
            <a:avLst/>
          </a:prstGeom>
        </p:spPr>
      </p:pic>
      <p:sp>
        <p:nvSpPr>
          <p:cNvPr id="22" name="TextBox 47"/>
          <p:cNvSpPr/>
          <p:nvPr/>
        </p:nvSpPr>
        <p:spPr>
          <a:xfrm>
            <a:off x="476250" y="4819650"/>
            <a:ext cx="8191500" cy="171450"/>
          </a:xfrm>
          <a:prstGeom prst="rect">
            <a:avLst/>
          </a:prstGeom>
          <a:noFill/>
        </p:spPr>
        <p:txBody>
          <a:bodyPr wrap="square" lIns="0" tIns="68645" rIns="0" bIns="0" rtlCol="0" anchor="t">
            <a:spAutoFit/>
          </a:bodyPr>
          <a:lstStyle/>
          <a:p>
            <a:pPr marL="0" indent="0" algn="l">
              <a:lnSpc>
                <a:spcPts val="810"/>
              </a:lnSpc>
              <a:buNone/>
            </a:pPr>
            <a:r>
              <a:rPr lang="en-US" sz="540" kern="0" spc="22" dirty="0">
                <a:solidFill>
                  <a:srgbClr val="5A656D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2026 年开源/闭源已不是"谁好谁差"的问题——而是"什么任务用什么许可证、什么成本"的工程决策</a:t>
            </a:r>
            <a:endParaRPr lang="en-US" sz="54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6F9FC"/>
          </a:solidFill>
        </p:spPr>
      </p:sp>
      <p:sp>
        <p:nvSpPr>
          <p:cNvPr id="3" name="Shape 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6F9FC"/>
          </a:solidFill>
        </p:spPr>
      </p:sp>
      <p:pic>
        <p:nvPicPr>
          <p:cNvPr id="4" name="Picture 4" descr="__type_image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76250" y="381000"/>
            <a:ext cx="8191500" cy="390525"/>
          </a:xfrm>
          <a:prstGeom prst="rect">
            <a:avLst/>
          </a:prstGeom>
        </p:spPr>
      </p:pic>
      <p:sp>
        <p:nvSpPr>
          <p:cNvPr id="5" name="TextBox 4"/>
          <p:cNvSpPr/>
          <p:nvPr/>
        </p:nvSpPr>
        <p:spPr>
          <a:xfrm>
            <a:off x="476250" y="381000"/>
            <a:ext cx="8191500" cy="390525"/>
          </a:xfrm>
          <a:prstGeom prst="rect">
            <a:avLst/>
          </a:prstGeom>
          <a:noFill/>
        </p:spPr>
        <p:txBody>
          <a:bodyPr wrap="square" lIns="0" tIns="0" rIns="0" bIns="98065" rtlCol="0" anchor="t">
            <a:spAutoFit/>
          </a:bodyPr>
          <a:lstStyle/>
          <a:p>
            <a:pPr marL="0" indent="0" algn="l">
              <a:lnSpc>
                <a:spcPts val="2315"/>
              </a:lnSpc>
              <a:buNone/>
            </a:pPr>
            <a:r>
              <a:rPr lang="en-US" sz="1545" b="1" kern="0" spc="-23" dirty="0">
                <a:solidFill>
                  <a:srgbClr val="121C23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开放权重对学术研究意味着什么？</a:t>
            </a:r>
            <a:endParaRPr lang="en-US" sz="1545" dirty="0"/>
          </a:p>
        </p:txBody>
      </p:sp>
      <p:sp>
        <p:nvSpPr>
          <p:cNvPr id="6" name="TextBox 12"/>
          <p:cNvSpPr/>
          <p:nvPr>
            <p:custDataLst>
              <p:tags r:id="rId3"/>
            </p:custDataLst>
          </p:nvPr>
        </p:nvSpPr>
        <p:spPr>
          <a:xfrm>
            <a:off x="476250" y="1000125"/>
            <a:ext cx="266700" cy="182873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r">
              <a:lnSpc>
                <a:spcPts val="1485"/>
              </a:lnSpc>
              <a:buNone/>
            </a:pPr>
            <a:r>
              <a:rPr lang="en-US" sz="1235" b="1" dirty="0">
                <a:solidFill>
                  <a:srgbClr val="299236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1</a:t>
            </a:r>
            <a:endParaRPr lang="en-US" sz="1235" dirty="0"/>
          </a:p>
        </p:txBody>
      </p:sp>
      <p:sp>
        <p:nvSpPr>
          <p:cNvPr id="7" name="TextBox 16"/>
          <p:cNvSpPr/>
          <p:nvPr>
            <p:custDataLst>
              <p:tags r:id="rId4"/>
            </p:custDataLst>
          </p:nvPr>
        </p:nvSpPr>
        <p:spPr>
          <a:xfrm>
            <a:off x="857250" y="1000125"/>
            <a:ext cx="7810500" cy="185737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505"/>
              </a:lnSpc>
              <a:buNone/>
            </a:pPr>
            <a:r>
              <a:rPr lang="en-US" sz="1005" b="1" dirty="0">
                <a:solidFill>
                  <a:srgbClr val="121C23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可复现性——科研成果的生命线</a:t>
            </a:r>
            <a:endParaRPr lang="en-US" sz="1005" dirty="0"/>
          </a:p>
        </p:txBody>
      </p:sp>
      <p:sp>
        <p:nvSpPr>
          <p:cNvPr id="8" name="TextBox 18"/>
          <p:cNvSpPr/>
          <p:nvPr>
            <p:custDataLst>
              <p:tags r:id="rId5"/>
            </p:custDataLst>
          </p:nvPr>
        </p:nvSpPr>
        <p:spPr>
          <a:xfrm>
            <a:off x="857250" y="1214437"/>
            <a:ext cx="7810500" cy="300038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215"/>
              </a:lnSpc>
              <a:buNone/>
            </a:pPr>
            <a:r>
              <a:rPr lang="en-US" sz="810" dirty="0">
                <a:solidFill>
                  <a:srgbClr val="5A656D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闭源 API 模型最大的问题是</a:t>
            </a:r>
            <a:r>
              <a:rPr lang="en-US" sz="810" b="1" dirty="0">
                <a:solidFill>
                  <a:srgbClr val="5A656D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不可复现</a:t>
            </a:r>
            <a:r>
              <a:rPr lang="en-US" sz="810" dirty="0">
                <a:solidFill>
                  <a:srgbClr val="5A656D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——今天跑的结果和三个月后再跑可能不一样（模型静默更新），别人无法独立验证你的实验。开放权重模型可以</a:t>
            </a:r>
            <a:r>
              <a:rPr lang="en-US" sz="810" b="1" dirty="0">
                <a:solidFill>
                  <a:srgbClr val="5A656D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固定版本</a:t>
            </a:r>
            <a:r>
              <a:rPr lang="en-US" sz="810" dirty="0">
                <a:solidFill>
                  <a:srgbClr val="5A656D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，任何人在任何时间都能复现你的结果。这是学术研究的底线要求。</a:t>
            </a:r>
            <a:endParaRPr lang="en-US" sz="810" dirty="0"/>
          </a:p>
        </p:txBody>
      </p:sp>
      <p:sp>
        <p:nvSpPr>
          <p:cNvPr id="9" name="TextBox 24"/>
          <p:cNvSpPr/>
          <p:nvPr>
            <p:custDataLst>
              <p:tags r:id="rId6"/>
            </p:custDataLst>
          </p:nvPr>
        </p:nvSpPr>
        <p:spPr>
          <a:xfrm>
            <a:off x="476250" y="1571625"/>
            <a:ext cx="266700" cy="182873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r">
              <a:lnSpc>
                <a:spcPts val="1485"/>
              </a:lnSpc>
              <a:buNone/>
            </a:pPr>
            <a:r>
              <a:rPr lang="en-US" sz="1235" b="1" dirty="0">
                <a:solidFill>
                  <a:srgbClr val="299236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2</a:t>
            </a:r>
            <a:endParaRPr lang="en-US" sz="1235" dirty="0"/>
          </a:p>
        </p:txBody>
      </p:sp>
      <p:sp>
        <p:nvSpPr>
          <p:cNvPr id="10" name="TextBox 28"/>
          <p:cNvSpPr/>
          <p:nvPr>
            <p:custDataLst>
              <p:tags r:id="rId7"/>
            </p:custDataLst>
          </p:nvPr>
        </p:nvSpPr>
        <p:spPr>
          <a:xfrm>
            <a:off x="857250" y="1571625"/>
            <a:ext cx="7810500" cy="185737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505"/>
              </a:lnSpc>
              <a:buNone/>
            </a:pPr>
            <a:r>
              <a:rPr lang="en-US" sz="1005" b="1" dirty="0">
                <a:solidFill>
                  <a:srgbClr val="121C23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可定制性——让研究从"使用模型"变成"理解模型"</a:t>
            </a:r>
            <a:endParaRPr lang="en-US" sz="1005" dirty="0"/>
          </a:p>
        </p:txBody>
      </p:sp>
      <p:sp>
        <p:nvSpPr>
          <p:cNvPr id="11" name="TextBox 30"/>
          <p:cNvSpPr/>
          <p:nvPr>
            <p:custDataLst>
              <p:tags r:id="rId8"/>
            </p:custDataLst>
          </p:nvPr>
        </p:nvSpPr>
        <p:spPr>
          <a:xfrm>
            <a:off x="857250" y="1785937"/>
            <a:ext cx="7810500" cy="300038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215"/>
              </a:lnSpc>
              <a:buNone/>
            </a:pPr>
            <a:r>
              <a:rPr lang="en-US" sz="810" dirty="0">
                <a:solidFill>
                  <a:srgbClr val="5A656D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开放权重意味着你可以做</a:t>
            </a:r>
            <a:r>
              <a:rPr lang="en-US" sz="810" b="1" dirty="0">
                <a:solidFill>
                  <a:srgbClr val="5A656D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微调、知识编辑、可解释性分析、探针实验</a:t>
            </a:r>
            <a:r>
              <a:rPr lang="en-US" sz="810" dirty="0">
                <a:solidFill>
                  <a:srgbClr val="5A656D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——这些是理解模型内部机制的必由之路。闭源 API 本质上是把模型当"黑箱"用，但学术研究的目标恰恰是</a:t>
            </a:r>
            <a:r>
              <a:rPr lang="en-US" sz="810" b="1" dirty="0">
                <a:solidFill>
                  <a:srgbClr val="5A656D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打开黑箱</a:t>
            </a:r>
            <a:r>
              <a:rPr lang="en-US" sz="810" dirty="0">
                <a:solidFill>
                  <a:srgbClr val="5A656D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。</a:t>
            </a:r>
            <a:endParaRPr lang="en-US" sz="810" dirty="0"/>
          </a:p>
        </p:txBody>
      </p:sp>
      <p:sp>
        <p:nvSpPr>
          <p:cNvPr id="12" name="TextBox 36"/>
          <p:cNvSpPr/>
          <p:nvPr>
            <p:custDataLst>
              <p:tags r:id="rId9"/>
            </p:custDataLst>
          </p:nvPr>
        </p:nvSpPr>
        <p:spPr>
          <a:xfrm>
            <a:off x="476250" y="2143125"/>
            <a:ext cx="266700" cy="182873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r">
              <a:lnSpc>
                <a:spcPts val="1485"/>
              </a:lnSpc>
              <a:buNone/>
            </a:pPr>
            <a:r>
              <a:rPr lang="en-US" sz="1235" b="1" dirty="0">
                <a:solidFill>
                  <a:srgbClr val="299236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3</a:t>
            </a:r>
            <a:endParaRPr lang="en-US" sz="1235" dirty="0"/>
          </a:p>
        </p:txBody>
      </p:sp>
      <p:sp>
        <p:nvSpPr>
          <p:cNvPr id="13" name="TextBox 40"/>
          <p:cNvSpPr/>
          <p:nvPr>
            <p:custDataLst>
              <p:tags r:id="rId10"/>
            </p:custDataLst>
          </p:nvPr>
        </p:nvSpPr>
        <p:spPr>
          <a:xfrm>
            <a:off x="857250" y="2143125"/>
            <a:ext cx="7810500" cy="185737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505"/>
              </a:lnSpc>
              <a:buNone/>
            </a:pPr>
            <a:r>
              <a:rPr lang="en-US" sz="1005" b="1" dirty="0">
                <a:solidFill>
                  <a:srgbClr val="121C23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成本自由——让资源有限的学术机构也能做前沿研究</a:t>
            </a:r>
            <a:endParaRPr lang="en-US" sz="1005" dirty="0"/>
          </a:p>
        </p:txBody>
      </p:sp>
      <p:sp>
        <p:nvSpPr>
          <p:cNvPr id="14" name="TextBox 42"/>
          <p:cNvSpPr/>
          <p:nvPr>
            <p:custDataLst>
              <p:tags r:id="rId11"/>
            </p:custDataLst>
          </p:nvPr>
        </p:nvSpPr>
        <p:spPr>
          <a:xfrm>
            <a:off x="857250" y="2357438"/>
            <a:ext cx="7810500" cy="31115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215"/>
              </a:lnSpc>
              <a:buNone/>
            </a:pPr>
            <a:r>
              <a:rPr lang="en-US" sz="810" dirty="0">
                <a:solidFill>
                  <a:srgbClr val="5A656D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GPT-5 API 调用一次复杂推理任务可能花费 $0.5-$2——对于需要上万次调用的实验来说，一笔预算很快耗尽。自部署开源模型边际成本接近于零。</a:t>
            </a:r>
            <a:r>
              <a:rPr lang="zh-CN" altLang="en-US" sz="810" dirty="0">
                <a:solidFill>
                  <a:srgbClr val="5A656D"/>
                </a:solidFill>
                <a:latin typeface="Segoe UI" panose="020B0502040204020203" pitchFamily="34" charset="0"/>
                <a:ea typeface="宋体" panose="02010600030101010101" pitchFamily="2" charset="-122"/>
                <a:cs typeface="Segoe UI" panose="020B0502040204020203" pitchFamily="34" charset="-120"/>
              </a:rPr>
              <a:t>伯克利大学</a:t>
            </a:r>
            <a:r>
              <a:rPr lang="en-US" sz="810" dirty="0">
                <a:solidFill>
                  <a:srgbClr val="5A656D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用 </a:t>
            </a:r>
            <a:r>
              <a:rPr lang="en-US" sz="810" b="1" dirty="0">
                <a:solidFill>
                  <a:srgbClr val="5A656D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$30</a:t>
            </a:r>
            <a:r>
              <a:rPr lang="en-US" sz="810" dirty="0">
                <a:solidFill>
                  <a:srgbClr val="5A656D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 复现了 DeepSeek-R1 的核心推理能力——这在闭源时代是不可想象的。</a:t>
            </a:r>
            <a:endParaRPr lang="en-US" sz="810" dirty="0"/>
          </a:p>
        </p:txBody>
      </p:sp>
      <p:sp>
        <p:nvSpPr>
          <p:cNvPr id="15" name="TextBox 48"/>
          <p:cNvSpPr/>
          <p:nvPr>
            <p:custDataLst>
              <p:tags r:id="rId12"/>
            </p:custDataLst>
          </p:nvPr>
        </p:nvSpPr>
        <p:spPr>
          <a:xfrm>
            <a:off x="476250" y="2714625"/>
            <a:ext cx="266700" cy="182873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r">
              <a:lnSpc>
                <a:spcPts val="1485"/>
              </a:lnSpc>
              <a:buNone/>
            </a:pPr>
            <a:r>
              <a:rPr lang="en-US" sz="1235" b="1" dirty="0">
                <a:solidFill>
                  <a:srgbClr val="299236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4</a:t>
            </a:r>
            <a:endParaRPr lang="en-US" sz="1235" dirty="0"/>
          </a:p>
        </p:txBody>
      </p:sp>
      <p:sp>
        <p:nvSpPr>
          <p:cNvPr id="16" name="TextBox 52"/>
          <p:cNvSpPr/>
          <p:nvPr>
            <p:custDataLst>
              <p:tags r:id="rId13"/>
            </p:custDataLst>
          </p:nvPr>
        </p:nvSpPr>
        <p:spPr>
          <a:xfrm>
            <a:off x="857250" y="2714625"/>
            <a:ext cx="7810500" cy="185737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505"/>
              </a:lnSpc>
              <a:buNone/>
            </a:pPr>
            <a:r>
              <a:rPr lang="en-US" sz="1005" b="1" dirty="0">
                <a:solidFill>
                  <a:srgbClr val="121C23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数据主权——不可忽视的现实约束</a:t>
            </a:r>
            <a:endParaRPr lang="en-US" sz="1005" dirty="0"/>
          </a:p>
        </p:txBody>
      </p:sp>
      <p:sp>
        <p:nvSpPr>
          <p:cNvPr id="17" name="TextBox 54"/>
          <p:cNvSpPr/>
          <p:nvPr>
            <p:custDataLst>
              <p:tags r:id="rId14"/>
            </p:custDataLst>
          </p:nvPr>
        </p:nvSpPr>
        <p:spPr>
          <a:xfrm>
            <a:off x="857250" y="2928937"/>
            <a:ext cx="7810500" cy="31115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215"/>
              </a:lnSpc>
              <a:buNone/>
            </a:pPr>
            <a:r>
              <a:rPr lang="en-US" sz="810" dirty="0">
                <a:solidFill>
                  <a:srgbClr val="5A656D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如果你的研究涉及</a:t>
            </a:r>
            <a:r>
              <a:rPr lang="en-US" sz="810" b="1" dirty="0">
                <a:solidFill>
                  <a:srgbClr val="5A656D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敏感数据</a:t>
            </a:r>
            <a:r>
              <a:rPr lang="en-US" sz="810" dirty="0">
                <a:solidFill>
                  <a:srgbClr val="5A656D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（医疗记录、个人对话），通过第三方 API 传输是不可接受的——多数高校的 IRB（伦理审查委员会）明确禁止。开放权重模型可以</a:t>
            </a:r>
            <a:r>
              <a:rPr lang="en-US" sz="810" b="1" dirty="0">
                <a:solidFill>
                  <a:srgbClr val="5A656D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本地部署</a:t>
            </a:r>
            <a:r>
              <a:rPr lang="en-US" sz="810" dirty="0">
                <a:solidFill>
                  <a:srgbClr val="5A656D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，数据不出实验室。同时，某些研究领域的合规要求（如 GDPR、中国数据安全法）也天然倾向于本地部署方案。</a:t>
            </a:r>
            <a:endParaRPr lang="en-US" sz="810" dirty="0"/>
          </a:p>
        </p:txBody>
      </p:sp>
      <p:sp>
        <p:nvSpPr>
          <p:cNvPr id="18" name="TextBox 60"/>
          <p:cNvSpPr/>
          <p:nvPr>
            <p:custDataLst>
              <p:tags r:id="rId15"/>
            </p:custDataLst>
          </p:nvPr>
        </p:nvSpPr>
        <p:spPr>
          <a:xfrm>
            <a:off x="476250" y="3286125"/>
            <a:ext cx="266700" cy="182873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r">
              <a:lnSpc>
                <a:spcPts val="1485"/>
              </a:lnSpc>
              <a:buNone/>
            </a:pPr>
            <a:r>
              <a:rPr lang="en-US" sz="1235" b="1" dirty="0">
                <a:solidFill>
                  <a:srgbClr val="299236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5</a:t>
            </a:r>
            <a:endParaRPr lang="en-US" sz="1235" dirty="0"/>
          </a:p>
        </p:txBody>
      </p:sp>
      <p:sp>
        <p:nvSpPr>
          <p:cNvPr id="19" name="TextBox 64"/>
          <p:cNvSpPr/>
          <p:nvPr>
            <p:custDataLst>
              <p:tags r:id="rId16"/>
            </p:custDataLst>
          </p:nvPr>
        </p:nvSpPr>
        <p:spPr>
          <a:xfrm>
            <a:off x="857250" y="3286125"/>
            <a:ext cx="7810500" cy="185737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505"/>
              </a:lnSpc>
              <a:buNone/>
            </a:pPr>
            <a:r>
              <a:rPr lang="en-US" sz="1005" b="1" dirty="0">
                <a:solidFill>
                  <a:srgbClr val="121C23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知识传承——学术的公共品属性</a:t>
            </a:r>
            <a:endParaRPr lang="en-US" sz="1005" dirty="0"/>
          </a:p>
        </p:txBody>
      </p:sp>
      <p:sp>
        <p:nvSpPr>
          <p:cNvPr id="20" name="TextBox 66"/>
          <p:cNvSpPr/>
          <p:nvPr>
            <p:custDataLst>
              <p:tags r:id="rId17"/>
            </p:custDataLst>
          </p:nvPr>
        </p:nvSpPr>
        <p:spPr>
          <a:xfrm>
            <a:off x="857250" y="3500437"/>
            <a:ext cx="7810500" cy="15557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215"/>
              </a:lnSpc>
              <a:buNone/>
            </a:pPr>
            <a:r>
              <a:rPr lang="en-US" sz="810" dirty="0">
                <a:solidFill>
                  <a:srgbClr val="5A656D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开放权重是学术社区最重要的"公共知识基础设施"——闭源 API 是一种</a:t>
            </a:r>
            <a:r>
              <a:rPr lang="en-US" sz="810" b="1" dirty="0">
                <a:solidFill>
                  <a:srgbClr val="5A656D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"付费使用"</a:t>
            </a:r>
            <a:r>
              <a:rPr lang="en-US" sz="810" dirty="0">
                <a:solidFill>
                  <a:srgbClr val="5A656D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的关系，开放权重是一种</a:t>
            </a:r>
            <a:r>
              <a:rPr lang="en-US" sz="810" b="1" dirty="0">
                <a:solidFill>
                  <a:srgbClr val="5A656D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"共同建设"</a:t>
            </a:r>
            <a:r>
              <a:rPr lang="en-US" sz="810" dirty="0">
                <a:solidFill>
                  <a:srgbClr val="5A656D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的关系——后者才是学术研究的本来面目。</a:t>
            </a:r>
            <a:endParaRPr lang="en-US" sz="810" dirty="0"/>
          </a:p>
        </p:txBody>
      </p:sp>
      <p:pic>
        <p:nvPicPr>
          <p:cNvPr id="21" name="Picture 72" descr="__type_image"/>
          <p:cNvPicPr>
            <a:picLocks noChangeAspect="1"/>
          </p:cNvPicPr>
          <p:nvPr/>
        </p:nvPicPr>
        <p:blipFill>
          <a:blip r:embed="rId18">
            <a:extLs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476250" y="4819650"/>
            <a:ext cx="8191500" cy="171450"/>
          </a:xfrm>
          <a:prstGeom prst="rect">
            <a:avLst/>
          </a:prstGeom>
        </p:spPr>
      </p:pic>
      <p:sp>
        <p:nvSpPr>
          <p:cNvPr id="22" name="TextBox 72"/>
          <p:cNvSpPr/>
          <p:nvPr/>
        </p:nvSpPr>
        <p:spPr>
          <a:xfrm>
            <a:off x="476250" y="4819650"/>
            <a:ext cx="8191500" cy="171450"/>
          </a:xfrm>
          <a:prstGeom prst="rect">
            <a:avLst/>
          </a:prstGeom>
          <a:noFill/>
        </p:spPr>
        <p:txBody>
          <a:bodyPr wrap="square" lIns="0" tIns="68645" rIns="0" bIns="0" rtlCol="0" anchor="t">
            <a:spAutoFit/>
          </a:bodyPr>
          <a:lstStyle/>
          <a:p>
            <a:pPr marL="0" indent="0" algn="l">
              <a:lnSpc>
                <a:spcPts val="810"/>
              </a:lnSpc>
              <a:buNone/>
            </a:pPr>
            <a:r>
              <a:rPr lang="en-US" sz="540" kern="0" spc="22" dirty="0">
                <a:solidFill>
                  <a:srgbClr val="5A656D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一句话：开放权重 = 学术自由的物质基础。没有它，AI 研究就是"租工具"而非"做科学"</a:t>
            </a:r>
            <a:endParaRPr lang="en-US" sz="54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6F9FC"/>
          </a:solidFill>
        </p:spPr>
      </p:sp>
      <p:sp>
        <p:nvSpPr>
          <p:cNvPr id="3" name="Shape 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6F9FC"/>
          </a:solidFill>
        </p:spPr>
      </p:sp>
      <p:pic>
        <p:nvPicPr>
          <p:cNvPr id="4" name="Picture 4" descr="__type_image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76250" y="381000"/>
            <a:ext cx="8191500" cy="390525"/>
          </a:xfrm>
          <a:prstGeom prst="rect">
            <a:avLst/>
          </a:prstGeom>
        </p:spPr>
      </p:pic>
      <p:sp>
        <p:nvSpPr>
          <p:cNvPr id="5" name="TextBox 4"/>
          <p:cNvSpPr/>
          <p:nvPr/>
        </p:nvSpPr>
        <p:spPr>
          <a:xfrm>
            <a:off x="476250" y="381000"/>
            <a:ext cx="8191500" cy="390525"/>
          </a:xfrm>
          <a:prstGeom prst="rect">
            <a:avLst/>
          </a:prstGeom>
          <a:noFill/>
        </p:spPr>
        <p:txBody>
          <a:bodyPr wrap="square" lIns="0" tIns="0" rIns="0" bIns="98065" rtlCol="0" anchor="t">
            <a:spAutoFit/>
          </a:bodyPr>
          <a:lstStyle/>
          <a:p>
            <a:pPr marL="0" indent="0" algn="l">
              <a:lnSpc>
                <a:spcPts val="2315"/>
              </a:lnSpc>
              <a:buNone/>
            </a:pPr>
            <a:r>
              <a:rPr lang="en-US" sz="1545" b="1" kern="0" spc="-23" dirty="0">
                <a:solidFill>
                  <a:srgbClr val="121C23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科研选型决策表：四个维度，一张表格</a:t>
            </a:r>
            <a:endParaRPr lang="en-US" sz="1545" dirty="0"/>
          </a:p>
        </p:txBody>
      </p:sp>
      <p:sp>
        <p:nvSpPr>
          <p:cNvPr id="6" name="Shape 8"/>
          <p:cNvSpPr/>
          <p:nvPr/>
        </p:nvSpPr>
        <p:spPr>
          <a:xfrm>
            <a:off x="476250" y="1000125"/>
            <a:ext cx="8191500" cy="354806"/>
          </a:xfrm>
          <a:prstGeom prst="roundRect">
            <a:avLst>
              <a:gd name="adj" fmla="val 8292"/>
            </a:avLst>
          </a:prstGeom>
          <a:solidFill>
            <a:srgbClr val="5A845A">
              <a:alpha val="12157"/>
            </a:srgbClr>
          </a:solidFill>
          <a:ln w="4903">
            <a:solidFill>
              <a:srgbClr val="5C875C">
                <a:alpha val="25098"/>
              </a:srgbClr>
            </a:solidFill>
            <a:prstDash val="solid"/>
          </a:ln>
        </p:spPr>
      </p:sp>
      <p:sp>
        <p:nvSpPr>
          <p:cNvPr id="7" name="TextBox 10"/>
          <p:cNvSpPr/>
          <p:nvPr/>
        </p:nvSpPr>
        <p:spPr>
          <a:xfrm>
            <a:off x="633412" y="1109663"/>
            <a:ext cx="7877175" cy="135731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735" dirty="0">
                <a:solidFill>
                  <a:srgbClr val="121C23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选模型不是看 benchmark 排名——而是把</a:t>
            </a:r>
            <a:r>
              <a:rPr lang="en-US" sz="735" b="1" dirty="0">
                <a:solidFill>
                  <a:srgbClr val="121C23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能力需求、预算上限、合规约束、可访问性</a:t>
            </a:r>
            <a:r>
              <a:rPr lang="en-US" sz="735" dirty="0">
                <a:solidFill>
                  <a:srgbClr val="121C23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四个维度放在一起做约束求解。以下是一个可直接使用的决策框架。</a:t>
            </a:r>
            <a:endParaRPr lang="en-US" sz="735" dirty="0"/>
          </a:p>
        </p:txBody>
      </p:sp>
      <p:graphicFrame>
        <p:nvGraphicFramePr>
          <p:cNvPr id="36" name="Table 13"/>
          <p:cNvGraphicFramePr>
            <a:graphicFrameLocks noGrp="1"/>
          </p:cNvGraphicFramePr>
          <p:nvPr/>
        </p:nvGraphicFramePr>
        <p:xfrm>
          <a:off x="476250" y="1421606"/>
          <a:ext cx="8191500" cy="914400"/>
        </p:xfrm>
        <a:graphic>
          <a:graphicData uri="http://schemas.openxmlformats.org/drawingml/2006/table">
            <a:tbl>
              <a:tblPr/>
              <a:tblGrid>
                <a:gridCol w="1114797"/>
                <a:gridCol w="2718234"/>
                <a:gridCol w="4358469"/>
              </a:tblGrid>
              <a:tr h="0"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925"/>
                        </a:lnSpc>
                        <a:buNone/>
                      </a:pPr>
                      <a:r>
                        <a:rPr lang="en-US" sz="620" b="1" kern="0" spc="37" dirty="0">
                          <a:solidFill>
                            <a:srgbClr val="299236"/>
                          </a:solidFill>
                          <a:latin typeface="Consolas" panose="020B0609020204030204" pitchFamily="34" charset="0"/>
                          <a:ea typeface="Consolas" panose="020B0609020204030204" pitchFamily="34" charset="-122"/>
                          <a:cs typeface="Consolas" panose="020B0609020204030204" pitchFamily="34" charset="-120"/>
                        </a:rPr>
                        <a:t>维度</a:t>
                      </a:r>
                      <a:endParaRPr lang="en-US" sz="620" dirty="0">
                        <a:latin typeface="Consolas" panose="020B0609020204030204" pitchFamily="34" charset="0"/>
                        <a:ea typeface="Consolas" panose="020B0609020204030204" pitchFamily="34" charset="0"/>
                        <a:cs typeface="Consolas" panose="020B0609020204030204" pitchFamily="34" charset="0"/>
                      </a:endParaRPr>
                    </a:p>
                  </a:txBody>
                  <a:tcPr marL="122581" marR="122581" marT="83355" marB="8335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806" cap="flat" cmpd="sng" algn="ctr">
                      <a:solidFill>
                        <a:srgbClr val="2992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A845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1275"/>
                        </a:lnSpc>
                        <a:buNone/>
                      </a:pPr>
                      <a:r>
                        <a:rPr lang="en-US" sz="850" b="1" dirty="0">
                          <a:solidFill>
                            <a:srgbClr val="121C23"/>
                          </a:solidFill>
                          <a:latin typeface="Segoe UI" panose="020B0502040204020203" pitchFamily="34" charset="0"/>
                          <a:ea typeface="Segoe UI" panose="020B0502040204020203" pitchFamily="34" charset="-122"/>
                          <a:cs typeface="Segoe UI" panose="020B0502040204020203" pitchFamily="34" charset="-120"/>
                        </a:rPr>
                        <a:t>要问自己的问题</a:t>
                      </a:r>
                      <a:endParaRPr lang="en-US" sz="850" dirty="0">
                        <a:latin typeface="Segoe UI" panose="020B0502040204020203" pitchFamily="34" charset="0"/>
                        <a:ea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22581" marR="122581" marT="83355" marB="8335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806" cap="flat" cmpd="sng" algn="ctr">
                      <a:solidFill>
                        <a:srgbClr val="2992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A845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1275"/>
                        </a:lnSpc>
                        <a:buNone/>
                      </a:pPr>
                      <a:r>
                        <a:rPr lang="en-US" sz="850" b="1" dirty="0">
                          <a:solidFill>
                            <a:srgbClr val="121C23"/>
                          </a:solidFill>
                          <a:latin typeface="Segoe UI" panose="020B0502040204020203" pitchFamily="34" charset="0"/>
                          <a:ea typeface="Segoe UI" panose="020B0502040204020203" pitchFamily="34" charset="-122"/>
                          <a:cs typeface="Segoe UI" panose="020B0502040204020203" pitchFamily="34" charset="-120"/>
                        </a:rPr>
                        <a:t>推荐方向</a:t>
                      </a:r>
                      <a:endParaRPr lang="en-US" sz="850" dirty="0">
                        <a:latin typeface="Segoe UI" panose="020B0502040204020203" pitchFamily="34" charset="0"/>
                        <a:ea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22581" marR="122581" marT="83355" marB="8335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806" cap="flat" cmpd="sng" algn="ctr">
                      <a:solidFill>
                        <a:srgbClr val="2992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A845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985"/>
                        </a:lnSpc>
                        <a:buNone/>
                      </a:pPr>
                      <a:r>
                        <a:rPr lang="en-US" sz="655" b="1" dirty="0">
                          <a:solidFill>
                            <a:srgbClr val="121C23"/>
                          </a:solidFill>
                          <a:latin typeface="Segoe UI" panose="020B0502040204020203" pitchFamily="34" charset="0"/>
                          <a:ea typeface="Segoe UI" panose="020B0502040204020203" pitchFamily="34" charset="-122"/>
                          <a:cs typeface="Segoe UI" panose="020B0502040204020203" pitchFamily="34" charset="-120"/>
                        </a:rPr>
                        <a:t>1. 能力</a:t>
                      </a:r>
                      <a:endParaRPr lang="en-US" sz="655" dirty="0">
                        <a:latin typeface="Segoe UI" panose="020B0502040204020203" pitchFamily="34" charset="0"/>
                        <a:ea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22581" marR="122581" marT="73549" marB="73549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4903" cap="flat" cmpd="sng" algn="ctr">
                      <a:solidFill>
                        <a:srgbClr val="D9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985"/>
                        </a:lnSpc>
                        <a:buNone/>
                      </a:pPr>
                      <a:r>
                        <a:rPr lang="en-US" sz="655" dirty="0">
                          <a:solidFill>
                            <a:srgbClr val="121C23"/>
                          </a:solidFill>
                          <a:latin typeface="Segoe UI" panose="020B0502040204020203" pitchFamily="34" charset="0"/>
                          <a:ea typeface="Segoe UI" panose="020B0502040204020203" pitchFamily="34" charset="-122"/>
                          <a:cs typeface="Segoe UI" panose="020B0502040204020203" pitchFamily="34" charset="-120"/>
                        </a:rPr>
                        <a:t>"我的任务需要什么级别的能力？"</a:t>
                      </a:r>
                      <a:endParaRPr lang="en-US" sz="655" dirty="0">
                        <a:latin typeface="Segoe UI" panose="020B0502040204020203" pitchFamily="34" charset="0"/>
                        <a:ea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22581" marR="122581" marT="73549" marB="73549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4903" cap="flat" cmpd="sng" algn="ctr">
                      <a:solidFill>
                        <a:srgbClr val="D9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985"/>
                        </a:lnSpc>
                        <a:buNone/>
                      </a:pPr>
                      <a:r>
                        <a:rPr lang="en-US" sz="655" dirty="0">
                          <a:solidFill>
                            <a:srgbClr val="5A656D"/>
                          </a:solidFill>
                          <a:latin typeface="Segoe UI" panose="020B0502040204020203" pitchFamily="34" charset="0"/>
                          <a:ea typeface="Segoe UI" panose="020B0502040204020203" pitchFamily="34" charset="-122"/>
                          <a:cs typeface="Segoe UI" panose="020B0502040204020203" pitchFamily="34" charset="-120"/>
                        </a:rPr>
                        <a:t>推理/数学/代码 → DeepSeek R1/V4</a:t>
                      </a:r>
                      <a:endParaRPr lang="en-US" sz="655" dirty="0">
                        <a:latin typeface="Segoe UI" panose="020B0502040204020203" pitchFamily="34" charset="0"/>
                        <a:ea typeface="Segoe UI" panose="020B0502040204020203" pitchFamily="34" charset="0"/>
                        <a:cs typeface="Segoe UI" panose="020B0502040204020203" pitchFamily="34" charset="0"/>
                      </a:endParaRPr>
                    </a:p>
                    <a:p>
                      <a:pPr marL="0" indent="0" algn="l">
                        <a:lnSpc>
                          <a:spcPts val="985"/>
                        </a:lnSpc>
                        <a:buNone/>
                      </a:pPr>
                      <a:r>
                        <a:rPr lang="en-US" sz="655" dirty="0">
                          <a:solidFill>
                            <a:srgbClr val="5A656D"/>
                          </a:solidFill>
                          <a:latin typeface="Segoe UI" panose="020B0502040204020203" pitchFamily="34" charset="0"/>
                          <a:ea typeface="Segoe UI" panose="020B0502040204020203" pitchFamily="34" charset="-122"/>
                          <a:cs typeface="Segoe UI" panose="020B0502040204020203" pitchFamily="34" charset="-120"/>
                        </a:rPr>
                        <a:t>中文生成/通用 NLP → 通义千问 Qwen</a:t>
                      </a:r>
                      <a:endParaRPr lang="en-US" sz="655" dirty="0">
                        <a:latin typeface="Segoe UI" panose="020B0502040204020203" pitchFamily="34" charset="0"/>
                        <a:ea typeface="Segoe UI" panose="020B0502040204020203" pitchFamily="34" charset="0"/>
                        <a:cs typeface="Segoe UI" panose="020B0502040204020203" pitchFamily="34" charset="0"/>
                      </a:endParaRPr>
                    </a:p>
                    <a:p>
                      <a:pPr marL="0" indent="0" algn="l">
                        <a:lnSpc>
                          <a:spcPts val="985"/>
                        </a:lnSpc>
                        <a:buNone/>
                      </a:pPr>
                      <a:r>
                        <a:rPr lang="en-US" sz="655" dirty="0">
                          <a:solidFill>
                            <a:srgbClr val="5A656D"/>
                          </a:solidFill>
                          <a:latin typeface="Segoe UI" panose="020B0502040204020203" pitchFamily="34" charset="0"/>
                          <a:ea typeface="Segoe UI" panose="020B0502040204020203" pitchFamily="34" charset="-122"/>
                          <a:cs typeface="Segoe UI" panose="020B0502040204020203" pitchFamily="34" charset="-120"/>
                        </a:rPr>
                        <a:t>长文档分析 → Kimi</a:t>
                      </a:r>
                      <a:endParaRPr lang="en-US" sz="655" dirty="0">
                        <a:latin typeface="Segoe UI" panose="020B0502040204020203" pitchFamily="34" charset="0"/>
                        <a:ea typeface="Segoe UI" panose="020B0502040204020203" pitchFamily="34" charset="0"/>
                        <a:cs typeface="Segoe UI" panose="020B0502040204020203" pitchFamily="34" charset="0"/>
                      </a:endParaRPr>
                    </a:p>
                    <a:p>
                      <a:pPr marL="0" indent="0" algn="l">
                        <a:lnSpc>
                          <a:spcPts val="985"/>
                        </a:lnSpc>
                        <a:buNone/>
                      </a:pPr>
                      <a:r>
                        <a:rPr lang="en-US" sz="655" dirty="0">
                          <a:solidFill>
                            <a:srgbClr val="5A656D"/>
                          </a:solidFill>
                          <a:latin typeface="Segoe UI" panose="020B0502040204020203" pitchFamily="34" charset="0"/>
                          <a:ea typeface="Segoe UI" panose="020B0502040204020203" pitchFamily="34" charset="-122"/>
                          <a:cs typeface="Segoe UI" panose="020B0502040204020203" pitchFamily="34" charset="-120"/>
                        </a:rPr>
                        <a:t>Agent/工具调用 → 智谱 GLM / Claude Sonnet</a:t>
                      </a:r>
                      <a:endParaRPr lang="en-US" sz="655" dirty="0">
                        <a:latin typeface="Segoe UI" panose="020B0502040204020203" pitchFamily="34" charset="0"/>
                        <a:ea typeface="Segoe UI" panose="020B0502040204020203" pitchFamily="34" charset="0"/>
                        <a:cs typeface="Segoe UI" panose="020B0502040204020203" pitchFamily="34" charset="0"/>
                      </a:endParaRPr>
                    </a:p>
                    <a:p>
                      <a:pPr marL="0" indent="0" algn="l">
                        <a:lnSpc>
                          <a:spcPts val="985"/>
                        </a:lnSpc>
                        <a:buNone/>
                      </a:pPr>
                      <a:r>
                        <a:rPr lang="en-US" sz="655" dirty="0">
                          <a:solidFill>
                            <a:srgbClr val="5A656D"/>
                          </a:solidFill>
                          <a:latin typeface="Segoe UI" panose="020B0502040204020203" pitchFamily="34" charset="0"/>
                          <a:ea typeface="Segoe UI" panose="020B0502040204020203" pitchFamily="34" charset="-122"/>
                          <a:cs typeface="Segoe UI" panose="020B0502040204020203" pitchFamily="34" charset="-120"/>
                        </a:rPr>
                        <a:t>多模态 → Gemini Flash / 豆包</a:t>
                      </a:r>
                      <a:endParaRPr lang="en-US" sz="655" dirty="0">
                        <a:latin typeface="Segoe UI" panose="020B0502040204020203" pitchFamily="34" charset="0"/>
                        <a:ea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22581" marR="122581" marT="73549" marB="73549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4903" cap="flat" cmpd="sng" algn="ctr">
                      <a:solidFill>
                        <a:srgbClr val="D9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985"/>
                        </a:lnSpc>
                        <a:buNone/>
                      </a:pPr>
                      <a:r>
                        <a:rPr lang="en-US" sz="655" b="1" dirty="0">
                          <a:solidFill>
                            <a:srgbClr val="121C23"/>
                          </a:solidFill>
                          <a:latin typeface="Segoe UI" panose="020B0502040204020203" pitchFamily="34" charset="0"/>
                          <a:ea typeface="Segoe UI" panose="020B0502040204020203" pitchFamily="34" charset="-122"/>
                          <a:cs typeface="Segoe UI" panose="020B0502040204020203" pitchFamily="34" charset="-120"/>
                        </a:rPr>
                        <a:t>2. 成本</a:t>
                      </a:r>
                      <a:endParaRPr lang="en-US" sz="655" dirty="0">
                        <a:latin typeface="Segoe UI" panose="020B0502040204020203" pitchFamily="34" charset="0"/>
                        <a:ea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22581" marR="122581" marT="73549" marB="73549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4903" cap="flat" cmpd="sng" algn="ctr">
                      <a:solidFill>
                        <a:srgbClr val="D9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985"/>
                        </a:lnSpc>
                        <a:buNone/>
                      </a:pPr>
                      <a:r>
                        <a:rPr lang="en-US" sz="655" dirty="0">
                          <a:solidFill>
                            <a:srgbClr val="121C23"/>
                          </a:solidFill>
                          <a:latin typeface="Segoe UI" panose="020B0502040204020203" pitchFamily="34" charset="0"/>
                          <a:ea typeface="Segoe UI" panose="020B0502040204020203" pitchFamily="34" charset="-122"/>
                          <a:cs typeface="Segoe UI" panose="020B0502040204020203" pitchFamily="34" charset="-120"/>
                        </a:rPr>
                        <a:t>"我的预算能承受多少？"</a:t>
                      </a:r>
                      <a:endParaRPr lang="en-US" sz="655" dirty="0">
                        <a:latin typeface="Segoe UI" panose="020B0502040204020203" pitchFamily="34" charset="0"/>
                        <a:ea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22581" marR="122581" marT="73549" marB="73549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4903" cap="flat" cmpd="sng" algn="ctr">
                      <a:solidFill>
                        <a:srgbClr val="D9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985"/>
                        </a:lnSpc>
                        <a:buNone/>
                      </a:pPr>
                      <a:r>
                        <a:rPr lang="en-US" sz="655" b="1" dirty="0">
                          <a:solidFill>
                            <a:srgbClr val="5A656D"/>
                          </a:solidFill>
                          <a:latin typeface="Segoe UI" panose="020B0502040204020203" pitchFamily="34" charset="0"/>
                          <a:ea typeface="Segoe UI" panose="020B0502040204020203" pitchFamily="34" charset="-122"/>
                          <a:cs typeface="Segoe UI" panose="020B0502040204020203" pitchFamily="34" charset="-120"/>
                        </a:rPr>
                        <a:t>零预算</a:t>
                      </a:r>
                      <a:r>
                        <a:rPr lang="en-US" sz="655" dirty="0">
                          <a:solidFill>
                            <a:srgbClr val="5A656D"/>
                          </a:solidFill>
                          <a:latin typeface="Segoe UI" panose="020B0502040204020203" pitchFamily="34" charset="0"/>
                          <a:ea typeface="Segoe UI" panose="020B0502040204020203" pitchFamily="34" charset="-122"/>
                          <a:cs typeface="Segoe UI" panose="020B0502040204020203" pitchFamily="34" charset="-120"/>
                        </a:rPr>
                        <a:t> → GLM-4-Flash（永久免费）+ Gemini Flash（免费额度）</a:t>
                      </a:r>
                      <a:endParaRPr lang="en-US" sz="655" dirty="0">
                        <a:latin typeface="Segoe UI" panose="020B0502040204020203" pitchFamily="34" charset="0"/>
                        <a:ea typeface="Segoe UI" panose="020B0502040204020203" pitchFamily="34" charset="0"/>
                        <a:cs typeface="Segoe UI" panose="020B0502040204020203" pitchFamily="34" charset="0"/>
                      </a:endParaRPr>
                    </a:p>
                    <a:p>
                      <a:pPr marL="0" indent="0" algn="l">
                        <a:lnSpc>
                          <a:spcPts val="985"/>
                        </a:lnSpc>
                        <a:buNone/>
                      </a:pPr>
                      <a:r>
                        <a:rPr lang="en-US" sz="655" b="1" dirty="0">
                          <a:solidFill>
                            <a:srgbClr val="5A656D"/>
                          </a:solidFill>
                          <a:latin typeface="Segoe UI" panose="020B0502040204020203" pitchFamily="34" charset="0"/>
                          <a:ea typeface="Segoe UI" panose="020B0502040204020203" pitchFamily="34" charset="-122"/>
                          <a:cs typeface="Segoe UI" panose="020B0502040204020203" pitchFamily="34" charset="-120"/>
                        </a:rPr>
                        <a:t>低预算</a:t>
                      </a:r>
                      <a:r>
                        <a:rPr lang="en-US" sz="655" dirty="0">
                          <a:solidFill>
                            <a:srgbClr val="5A656D"/>
                          </a:solidFill>
                          <a:latin typeface="Segoe UI" panose="020B0502040204020203" pitchFamily="34" charset="0"/>
                          <a:ea typeface="Segoe UI" panose="020B0502040204020203" pitchFamily="34" charset="-122"/>
                          <a:cs typeface="Segoe UI" panose="020B0502040204020203" pitchFamily="34" charset="-120"/>
                        </a:rPr>
                        <a:t> → DeepSeek API（¥1-2/百万 token）</a:t>
                      </a:r>
                      <a:endParaRPr lang="en-US" sz="655" dirty="0">
                        <a:latin typeface="Segoe UI" panose="020B0502040204020203" pitchFamily="34" charset="0"/>
                        <a:ea typeface="Segoe UI" panose="020B0502040204020203" pitchFamily="34" charset="0"/>
                        <a:cs typeface="Segoe UI" panose="020B0502040204020203" pitchFamily="34" charset="0"/>
                      </a:endParaRPr>
                    </a:p>
                    <a:p>
                      <a:pPr marL="0" indent="0" algn="l">
                        <a:lnSpc>
                          <a:spcPts val="985"/>
                        </a:lnSpc>
                        <a:buNone/>
                      </a:pPr>
                      <a:r>
                        <a:rPr lang="en-US" sz="655" b="1" dirty="0">
                          <a:solidFill>
                            <a:srgbClr val="5A656D"/>
                          </a:solidFill>
                          <a:latin typeface="Segoe UI" panose="020B0502040204020203" pitchFamily="34" charset="0"/>
                          <a:ea typeface="Segoe UI" panose="020B0502040204020203" pitchFamily="34" charset="-122"/>
                          <a:cs typeface="Segoe UI" panose="020B0502040204020203" pitchFamily="34" charset="-120"/>
                        </a:rPr>
                        <a:t>中等预算</a:t>
                      </a:r>
                      <a:r>
                        <a:rPr lang="en-US" sz="655" dirty="0">
                          <a:solidFill>
                            <a:srgbClr val="5A656D"/>
                          </a:solidFill>
                          <a:latin typeface="Segoe UI" panose="020B0502040204020203" pitchFamily="34" charset="0"/>
                          <a:ea typeface="Segoe UI" panose="020B0502040204020203" pitchFamily="34" charset="-122"/>
                          <a:cs typeface="Segoe UI" panose="020B0502040204020203" pitchFamily="34" charset="-120"/>
                        </a:rPr>
                        <a:t> → 通义千问 Qwen / Claude Sonnet</a:t>
                      </a:r>
                      <a:endParaRPr lang="en-US" sz="655" dirty="0">
                        <a:latin typeface="Segoe UI" panose="020B0502040204020203" pitchFamily="34" charset="0"/>
                        <a:ea typeface="Segoe UI" panose="020B0502040204020203" pitchFamily="34" charset="0"/>
                        <a:cs typeface="Segoe UI" panose="020B0502040204020203" pitchFamily="34" charset="0"/>
                      </a:endParaRPr>
                    </a:p>
                    <a:p>
                      <a:pPr marL="0" indent="0" algn="l">
                        <a:lnSpc>
                          <a:spcPts val="985"/>
                        </a:lnSpc>
                        <a:buNone/>
                      </a:pPr>
                      <a:r>
                        <a:rPr lang="en-US" sz="655" b="1" dirty="0">
                          <a:solidFill>
                            <a:srgbClr val="5A656D"/>
                          </a:solidFill>
                          <a:latin typeface="Segoe UI" panose="020B0502040204020203" pitchFamily="34" charset="0"/>
                          <a:ea typeface="Segoe UI" panose="020B0502040204020203" pitchFamily="34" charset="-122"/>
                          <a:cs typeface="Segoe UI" panose="020B0502040204020203" pitchFamily="34" charset="-120"/>
                        </a:rPr>
                        <a:t>高预算（追求极致）</a:t>
                      </a:r>
                      <a:r>
                        <a:rPr lang="en-US" sz="655" dirty="0">
                          <a:solidFill>
                            <a:srgbClr val="5A656D"/>
                          </a:solidFill>
                          <a:latin typeface="Segoe UI" panose="020B0502040204020203" pitchFamily="34" charset="0"/>
                          <a:ea typeface="Segoe UI" panose="020B0502040204020203" pitchFamily="34" charset="-122"/>
                          <a:cs typeface="Segoe UI" panose="020B0502040204020203" pitchFamily="34" charset="-120"/>
                        </a:rPr>
                        <a:t> → Claude Opus / GPT-5</a:t>
                      </a:r>
                      <a:endParaRPr lang="en-US" sz="655" dirty="0">
                        <a:latin typeface="Segoe UI" panose="020B0502040204020203" pitchFamily="34" charset="0"/>
                        <a:ea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22581" marR="122581" marT="73549" marB="73549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4903" cap="flat" cmpd="sng" algn="ctr">
                      <a:solidFill>
                        <a:srgbClr val="D9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985"/>
                        </a:lnSpc>
                        <a:buNone/>
                      </a:pPr>
                      <a:r>
                        <a:rPr lang="en-US" sz="655" b="1" dirty="0">
                          <a:solidFill>
                            <a:srgbClr val="121C23"/>
                          </a:solidFill>
                          <a:latin typeface="Segoe UI" panose="020B0502040204020203" pitchFamily="34" charset="0"/>
                          <a:ea typeface="Segoe UI" panose="020B0502040204020203" pitchFamily="34" charset="-122"/>
                          <a:cs typeface="Segoe UI" panose="020B0502040204020203" pitchFamily="34" charset="-120"/>
                        </a:rPr>
                        <a:t>3. 合规</a:t>
                      </a:r>
                      <a:endParaRPr lang="en-US" sz="655" dirty="0">
                        <a:latin typeface="Segoe UI" panose="020B0502040204020203" pitchFamily="34" charset="0"/>
                        <a:ea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22581" marR="122581" marT="73549" marB="73549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4903" cap="flat" cmpd="sng" algn="ctr">
                      <a:solidFill>
                        <a:srgbClr val="D9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985"/>
                        </a:lnSpc>
                        <a:buNone/>
                      </a:pPr>
                      <a:r>
                        <a:rPr lang="en-US" sz="655" dirty="0">
                          <a:solidFill>
                            <a:srgbClr val="121C23"/>
                          </a:solidFill>
                          <a:latin typeface="Segoe UI" panose="020B0502040204020203" pitchFamily="34" charset="0"/>
                          <a:ea typeface="Segoe UI" panose="020B0502040204020203" pitchFamily="34" charset="-122"/>
                          <a:cs typeface="Segoe UI" panose="020B0502040204020203" pitchFamily="34" charset="-120"/>
                        </a:rPr>
                        <a:t>"有什么法律/伦理约束？"</a:t>
                      </a:r>
                      <a:endParaRPr lang="en-US" sz="655" dirty="0">
                        <a:latin typeface="Segoe UI" panose="020B0502040204020203" pitchFamily="34" charset="0"/>
                        <a:ea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22581" marR="122581" marT="73549" marB="73549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4903" cap="flat" cmpd="sng" algn="ctr">
                      <a:solidFill>
                        <a:srgbClr val="D9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985"/>
                        </a:lnSpc>
                        <a:buNone/>
                      </a:pPr>
                      <a:r>
                        <a:rPr lang="en-US" sz="655" dirty="0">
                          <a:solidFill>
                            <a:srgbClr val="5A656D"/>
                          </a:solidFill>
                          <a:latin typeface="Segoe UI" panose="020B0502040204020203" pitchFamily="34" charset="0"/>
                          <a:ea typeface="Segoe UI" panose="020B0502040204020203" pitchFamily="34" charset="-122"/>
                          <a:cs typeface="Segoe UI" panose="020B0502040204020203" pitchFamily="34" charset="-120"/>
                        </a:rPr>
                        <a:t>数据不能出境 → 本地部署 DeepSeek/Qwen 开源版</a:t>
                      </a:r>
                      <a:endParaRPr lang="en-US" sz="655" dirty="0">
                        <a:latin typeface="Segoe UI" panose="020B0502040204020203" pitchFamily="34" charset="0"/>
                        <a:ea typeface="Segoe UI" panose="020B0502040204020203" pitchFamily="34" charset="0"/>
                        <a:cs typeface="Segoe UI" panose="020B0502040204020203" pitchFamily="34" charset="0"/>
                      </a:endParaRPr>
                    </a:p>
                    <a:p>
                      <a:pPr marL="0" indent="0" algn="l">
                        <a:lnSpc>
                          <a:spcPts val="985"/>
                        </a:lnSpc>
                        <a:buNone/>
                      </a:pPr>
                      <a:r>
                        <a:rPr lang="en-US" sz="655" dirty="0">
                          <a:solidFill>
                            <a:srgbClr val="5A656D"/>
                          </a:solidFill>
                          <a:latin typeface="Segoe UI" panose="020B0502040204020203" pitchFamily="34" charset="0"/>
                          <a:ea typeface="Segoe UI" panose="020B0502040204020203" pitchFamily="34" charset="-122"/>
                          <a:cs typeface="Segoe UI" panose="020B0502040204020203" pitchFamily="34" charset="-120"/>
                        </a:rPr>
                        <a:t>需 IRB 批准 → 优先 MIT/Apache 2.0 许可证模型</a:t>
                      </a:r>
                      <a:endParaRPr lang="en-US" sz="655" dirty="0">
                        <a:latin typeface="Segoe UI" panose="020B0502040204020203" pitchFamily="34" charset="0"/>
                        <a:ea typeface="Segoe UI" panose="020B0502040204020203" pitchFamily="34" charset="0"/>
                        <a:cs typeface="Segoe UI" panose="020B0502040204020203" pitchFamily="34" charset="0"/>
                      </a:endParaRPr>
                    </a:p>
                    <a:p>
                      <a:pPr marL="0" indent="0" algn="l">
                        <a:lnSpc>
                          <a:spcPts val="985"/>
                        </a:lnSpc>
                        <a:buNone/>
                      </a:pPr>
                      <a:r>
                        <a:rPr lang="en-US" sz="655" dirty="0">
                          <a:solidFill>
                            <a:srgbClr val="5A656D"/>
                          </a:solidFill>
                          <a:latin typeface="Segoe UI" panose="020B0502040204020203" pitchFamily="34" charset="0"/>
                          <a:ea typeface="Segoe UI" panose="020B0502040204020203" pitchFamily="34" charset="-122"/>
                          <a:cs typeface="Segoe UI" panose="020B0502040204020203" pitchFamily="34" charset="-120"/>
                        </a:rPr>
                        <a:t>涉及个人隐私 → 必须本地部署，不能走 API</a:t>
                      </a:r>
                      <a:endParaRPr lang="en-US" sz="655" dirty="0">
                        <a:latin typeface="Segoe UI" panose="020B0502040204020203" pitchFamily="34" charset="0"/>
                        <a:ea typeface="Segoe UI" panose="020B0502040204020203" pitchFamily="34" charset="0"/>
                        <a:cs typeface="Segoe UI" panose="020B0502040204020203" pitchFamily="34" charset="0"/>
                      </a:endParaRPr>
                    </a:p>
                    <a:p>
                      <a:pPr marL="0" indent="0" algn="l">
                        <a:lnSpc>
                          <a:spcPts val="985"/>
                        </a:lnSpc>
                        <a:buNone/>
                      </a:pPr>
                      <a:r>
                        <a:rPr lang="en-US" sz="655" dirty="0">
                          <a:solidFill>
                            <a:srgbClr val="5A656D"/>
                          </a:solidFill>
                          <a:latin typeface="Segoe UI" panose="020B0502040204020203" pitchFamily="34" charset="0"/>
                          <a:ea typeface="Segoe UI" panose="020B0502040204020203" pitchFamily="34" charset="-122"/>
                          <a:cs typeface="Segoe UI" panose="020B0502040204020203" pitchFamily="34" charset="-120"/>
                        </a:rPr>
                        <a:t>EU 用户/数据 → 避免 Llama 4；优先 Mistral/Qwen</a:t>
                      </a:r>
                      <a:endParaRPr lang="en-US" sz="655" dirty="0">
                        <a:latin typeface="Segoe UI" panose="020B0502040204020203" pitchFamily="34" charset="0"/>
                        <a:ea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22581" marR="122581" marT="73549" marB="73549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4903" cap="flat" cmpd="sng" algn="ctr">
                      <a:solidFill>
                        <a:srgbClr val="D9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985"/>
                        </a:lnSpc>
                        <a:buNone/>
                      </a:pPr>
                      <a:r>
                        <a:rPr lang="en-US" sz="655" b="1" dirty="0">
                          <a:solidFill>
                            <a:srgbClr val="121C23"/>
                          </a:solidFill>
                          <a:latin typeface="Segoe UI" panose="020B0502040204020203" pitchFamily="34" charset="0"/>
                          <a:ea typeface="Segoe UI" panose="020B0502040204020203" pitchFamily="34" charset="-122"/>
                          <a:cs typeface="Segoe UI" panose="020B0502040204020203" pitchFamily="34" charset="-120"/>
                        </a:rPr>
                        <a:t>4. 可访问性</a:t>
                      </a:r>
                      <a:endParaRPr lang="en-US" sz="655" dirty="0">
                        <a:latin typeface="Segoe UI" panose="020B0502040204020203" pitchFamily="34" charset="0"/>
                        <a:ea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22581" marR="122581" marT="73549" marB="73549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4903" cap="flat" cmpd="sng" algn="ctr">
                      <a:solidFill>
                        <a:srgbClr val="D9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985"/>
                        </a:lnSpc>
                        <a:buNone/>
                      </a:pPr>
                      <a:r>
                        <a:rPr lang="en-US" sz="655" dirty="0">
                          <a:solidFill>
                            <a:srgbClr val="121C23"/>
                          </a:solidFill>
                          <a:latin typeface="Segoe UI" panose="020B0502040204020203" pitchFamily="34" charset="0"/>
                          <a:ea typeface="Segoe UI" panose="020B0502040204020203" pitchFamily="34" charset="-122"/>
                          <a:cs typeface="Segoe UI" panose="020B0502040204020203" pitchFamily="34" charset="-120"/>
                        </a:rPr>
                        <a:t>"我能稳定、长期地访问这个模型吗？"</a:t>
                      </a:r>
                      <a:endParaRPr lang="en-US" sz="655" dirty="0">
                        <a:latin typeface="Segoe UI" panose="020B0502040204020203" pitchFamily="34" charset="0"/>
                        <a:ea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22581" marR="122581" marT="73549" marB="73549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4903" cap="flat" cmpd="sng" algn="ctr">
                      <a:solidFill>
                        <a:srgbClr val="D9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985"/>
                        </a:lnSpc>
                        <a:buNone/>
                      </a:pPr>
                      <a:r>
                        <a:rPr lang="en-US" sz="655" dirty="0">
                          <a:solidFill>
                            <a:srgbClr val="5A656D"/>
                          </a:solidFill>
                          <a:latin typeface="Segoe UI" panose="020B0502040204020203" pitchFamily="34" charset="0"/>
                          <a:ea typeface="Segoe UI" panose="020B0502040204020203" pitchFamily="34" charset="-122"/>
                          <a:cs typeface="Segoe UI" panose="020B0502040204020203" pitchFamily="34" charset="-120"/>
                        </a:rPr>
                        <a:t>需要论文复现 → 必须用固定版本的开放权重模型</a:t>
                      </a:r>
                      <a:endParaRPr lang="en-US" sz="655" dirty="0">
                        <a:latin typeface="Segoe UI" panose="020B0502040204020203" pitchFamily="34" charset="0"/>
                        <a:ea typeface="Segoe UI" panose="020B0502040204020203" pitchFamily="34" charset="0"/>
                        <a:cs typeface="Segoe UI" panose="020B0502040204020203" pitchFamily="34" charset="0"/>
                      </a:endParaRPr>
                    </a:p>
                    <a:p>
                      <a:pPr marL="0" indent="0" algn="l">
                        <a:lnSpc>
                          <a:spcPts val="985"/>
                        </a:lnSpc>
                        <a:buNone/>
                      </a:pPr>
                      <a:r>
                        <a:rPr lang="en-US" sz="655" dirty="0">
                          <a:solidFill>
                            <a:srgbClr val="5A656D"/>
                          </a:solidFill>
                          <a:latin typeface="Segoe UI" panose="020B0502040204020203" pitchFamily="34" charset="0"/>
                          <a:ea typeface="Segoe UI" panose="020B0502040204020203" pitchFamily="34" charset="-122"/>
                          <a:cs typeface="Segoe UI" panose="020B0502040204020203" pitchFamily="34" charset="-120"/>
                        </a:rPr>
                        <a:t>可能受出口管制影响 → 留意地缘政治风险</a:t>
                      </a:r>
                      <a:endParaRPr lang="en-US" sz="655" dirty="0">
                        <a:latin typeface="Segoe UI" panose="020B0502040204020203" pitchFamily="34" charset="0"/>
                        <a:ea typeface="Segoe UI" panose="020B0502040204020203" pitchFamily="34" charset="0"/>
                        <a:cs typeface="Segoe UI" panose="020B0502040204020203" pitchFamily="34" charset="0"/>
                      </a:endParaRPr>
                    </a:p>
                    <a:p>
                      <a:pPr marL="0" indent="0" algn="l">
                        <a:lnSpc>
                          <a:spcPts val="985"/>
                        </a:lnSpc>
                        <a:buNone/>
                      </a:pPr>
                      <a:r>
                        <a:rPr lang="en-US" sz="655" dirty="0">
                          <a:solidFill>
                            <a:srgbClr val="5A656D"/>
                          </a:solidFill>
                          <a:latin typeface="Segoe UI" panose="020B0502040204020203" pitchFamily="34" charset="0"/>
                          <a:ea typeface="Segoe UI" panose="020B0502040204020203" pitchFamily="34" charset="-122"/>
                          <a:cs typeface="Segoe UI" panose="020B0502040204020203" pitchFamily="34" charset="-120"/>
                        </a:rPr>
                        <a:t>长期项目 → 避免依赖可能限供/涨价的闭源 API</a:t>
                      </a:r>
                      <a:endParaRPr lang="en-US" sz="655" dirty="0">
                        <a:latin typeface="Segoe UI" panose="020B0502040204020203" pitchFamily="34" charset="0"/>
                        <a:ea typeface="Segoe UI" panose="020B0502040204020203" pitchFamily="34" charset="0"/>
                        <a:cs typeface="Segoe UI" panose="020B0502040204020203" pitchFamily="34" charset="0"/>
                      </a:endParaRPr>
                    </a:p>
                    <a:p>
                      <a:pPr marL="0" indent="0" algn="l">
                        <a:lnSpc>
                          <a:spcPts val="985"/>
                        </a:lnSpc>
                        <a:buNone/>
                      </a:pPr>
                      <a:r>
                        <a:rPr lang="en-US" sz="655" dirty="0">
                          <a:solidFill>
                            <a:srgbClr val="5A656D"/>
                          </a:solidFill>
                          <a:latin typeface="Segoe UI" panose="020B0502040204020203" pitchFamily="34" charset="0"/>
                          <a:ea typeface="Segoe UI" panose="020B0502040204020203" pitchFamily="34" charset="-122"/>
                          <a:cs typeface="Segoe UI" panose="020B0502040204020203" pitchFamily="34" charset="-120"/>
                        </a:rPr>
                        <a:t>高频调用 → 自部署开源模型（边际成本最低）</a:t>
                      </a:r>
                      <a:endParaRPr lang="en-US" sz="655" dirty="0">
                        <a:latin typeface="Segoe UI" panose="020B0502040204020203" pitchFamily="34" charset="0"/>
                        <a:ea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22581" marR="122581" marT="73549" marB="73549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4903" cap="flat" cmpd="sng" algn="ctr">
                      <a:solidFill>
                        <a:srgbClr val="D9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id="9" name="Shape 15"/>
          <p:cNvSpPr/>
          <p:nvPr/>
        </p:nvSpPr>
        <p:spPr>
          <a:xfrm>
            <a:off x="476250" y="4424363"/>
            <a:ext cx="8191500" cy="582625"/>
          </a:xfrm>
          <a:prstGeom prst="roundRect">
            <a:avLst>
              <a:gd name="adj" fmla="val 5049"/>
            </a:avLst>
          </a:prstGeom>
          <a:solidFill>
            <a:srgbClr val="FFFFFF"/>
          </a:solidFill>
        </p:spPr>
      </p:sp>
      <p:pic>
        <p:nvPicPr>
          <p:cNvPr id="10" name="Picture 15" descr="__type_image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76250" y="4424363"/>
            <a:ext cx="8191500" cy="582625"/>
          </a:xfrm>
          <a:prstGeom prst="rect">
            <a:avLst/>
          </a:prstGeom>
        </p:spPr>
      </p:pic>
      <p:sp>
        <p:nvSpPr>
          <p:cNvPr id="11" name="TextBox 17"/>
          <p:cNvSpPr/>
          <p:nvPr/>
        </p:nvSpPr>
        <p:spPr>
          <a:xfrm>
            <a:off x="628650" y="4505325"/>
            <a:ext cx="7900987" cy="42070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135"/>
              </a:lnSpc>
              <a:buNone/>
            </a:pPr>
            <a:r>
              <a:rPr lang="en-US" sz="735" b="1" dirty="0">
                <a:solidFill>
                  <a:srgbClr val="121C23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决策公式（按优先级排序）：</a:t>
            </a:r>
            <a:endParaRPr lang="en-US" sz="735" dirty="0"/>
          </a:p>
          <a:p>
            <a:pPr marL="0" indent="0" algn="l">
              <a:lnSpc>
                <a:spcPts val="1135"/>
              </a:lnSpc>
              <a:buNone/>
            </a:pPr>
            <a:r>
              <a:rPr lang="en-US" sz="735" dirty="0">
                <a:solidFill>
                  <a:srgbClr val="121C23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① 先排除不合规的选项（数据安全法 / IRB / 出口管制）→ ② 在合规范围内按能力匹配任务 → ③ 在能力匹配的候选中选成本最低的 → ④ 优先选开放权重的（保证长期可访问性和可复现性）。</a:t>
            </a:r>
            <a:r>
              <a:rPr lang="en-US" sz="735" b="1" dirty="0">
                <a:solidFill>
                  <a:srgbClr val="121C23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如果多个候选项得分接近 → 选许可证最干净、社区最活跃的那个。</a:t>
            </a:r>
            <a:endParaRPr lang="en-US" sz="735" dirty="0"/>
          </a:p>
        </p:txBody>
      </p:sp>
      <p:pic>
        <p:nvPicPr>
          <p:cNvPr id="12" name="Picture 21" descr="__type_image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76250" y="4819650"/>
            <a:ext cx="8191500" cy="171450"/>
          </a:xfrm>
          <a:prstGeom prst="rect">
            <a:avLst/>
          </a:prstGeom>
        </p:spPr>
      </p:pic>
      <p:sp>
        <p:nvSpPr>
          <p:cNvPr id="13" name="TextBox 21"/>
          <p:cNvSpPr/>
          <p:nvPr/>
        </p:nvSpPr>
        <p:spPr>
          <a:xfrm>
            <a:off x="476250" y="4819650"/>
            <a:ext cx="8191500" cy="171450"/>
          </a:xfrm>
          <a:prstGeom prst="rect">
            <a:avLst/>
          </a:prstGeom>
          <a:noFill/>
        </p:spPr>
        <p:txBody>
          <a:bodyPr wrap="square" lIns="0" tIns="68645" rIns="0" bIns="0" rtlCol="0" anchor="t">
            <a:spAutoFit/>
          </a:bodyPr>
          <a:lstStyle/>
          <a:p>
            <a:pPr marL="0" indent="0" algn="l">
              <a:lnSpc>
                <a:spcPts val="810"/>
              </a:lnSpc>
              <a:buNone/>
            </a:pPr>
            <a:r>
              <a:rPr lang="en-US" sz="540" kern="0" spc="22" dirty="0">
                <a:solidFill>
                  <a:srgbClr val="5A656D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学术选型 = 合规是第一约束（做不到就别想），然后是能力/成本/可访问性的三维平衡</a:t>
            </a:r>
            <a:endParaRPr lang="en-US" sz="54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6F9FC"/>
          </a:solidFill>
        </p:spPr>
      </p:sp>
      <p:sp>
        <p:nvSpPr>
          <p:cNvPr id="3" name="Shape 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6F9FC"/>
          </a:solidFill>
        </p:spPr>
      </p:sp>
      <p:pic>
        <p:nvPicPr>
          <p:cNvPr id="4" name="Picture 4" descr="__type_image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76250" y="381000"/>
            <a:ext cx="8191500" cy="390525"/>
          </a:xfrm>
          <a:prstGeom prst="rect">
            <a:avLst/>
          </a:prstGeom>
        </p:spPr>
      </p:pic>
      <p:sp>
        <p:nvSpPr>
          <p:cNvPr id="5" name="TextBox 4"/>
          <p:cNvSpPr/>
          <p:nvPr/>
        </p:nvSpPr>
        <p:spPr>
          <a:xfrm>
            <a:off x="476250" y="381000"/>
            <a:ext cx="8191500" cy="394335"/>
          </a:xfrm>
          <a:prstGeom prst="rect">
            <a:avLst/>
          </a:prstGeom>
          <a:noFill/>
        </p:spPr>
        <p:txBody>
          <a:bodyPr wrap="square" lIns="0" tIns="0" rIns="0" bIns="98065" rtlCol="0" anchor="t">
            <a:spAutoFit/>
          </a:bodyPr>
          <a:lstStyle/>
          <a:p>
            <a:pPr marL="0" indent="0" algn="l">
              <a:lnSpc>
                <a:spcPts val="2315"/>
              </a:lnSpc>
              <a:buNone/>
            </a:pPr>
            <a:r>
              <a:rPr lang="en-US" sz="1545" b="1" kern="0" spc="-23" dirty="0">
                <a:solidFill>
                  <a:srgbClr val="121C23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1.7什么是提示工程？——不只是"写提示词"</a:t>
            </a:r>
            <a:endParaRPr lang="en-US" sz="1545" dirty="0"/>
          </a:p>
        </p:txBody>
      </p:sp>
      <p:sp>
        <p:nvSpPr>
          <p:cNvPr id="6" name="Shape 8"/>
          <p:cNvSpPr/>
          <p:nvPr/>
        </p:nvSpPr>
        <p:spPr>
          <a:xfrm>
            <a:off x="476250" y="1000125"/>
            <a:ext cx="8191500" cy="724346"/>
          </a:xfrm>
          <a:prstGeom prst="roundRect">
            <a:avLst>
              <a:gd name="adj" fmla="val 4062"/>
            </a:avLst>
          </a:prstGeom>
          <a:solidFill>
            <a:srgbClr val="FFFFFF"/>
          </a:solidFill>
        </p:spPr>
      </p:sp>
      <p:pic>
        <p:nvPicPr>
          <p:cNvPr id="7" name="Picture 8" descr="__type_image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76250" y="1000125"/>
            <a:ext cx="8191500" cy="724346"/>
          </a:xfrm>
          <a:prstGeom prst="rect">
            <a:avLst/>
          </a:prstGeom>
        </p:spPr>
      </p:pic>
      <p:sp>
        <p:nvSpPr>
          <p:cNvPr id="8" name="TextBox 10"/>
          <p:cNvSpPr/>
          <p:nvPr/>
        </p:nvSpPr>
        <p:spPr>
          <a:xfrm>
            <a:off x="666750" y="1138237"/>
            <a:ext cx="7824788" cy="100013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810"/>
              </a:lnSpc>
              <a:buNone/>
            </a:pPr>
            <a:r>
              <a:rPr lang="en-US" sz="540" kern="0" spc="43" dirty="0">
                <a:solidFill>
                  <a:srgbClr val="299236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2025-2026 年的范式转变</a:t>
            </a:r>
            <a:endParaRPr lang="en-US" sz="540" dirty="0"/>
          </a:p>
        </p:txBody>
      </p:sp>
      <p:sp>
        <p:nvSpPr>
          <p:cNvPr id="9" name="TextBox 12"/>
          <p:cNvSpPr/>
          <p:nvPr/>
        </p:nvSpPr>
        <p:spPr>
          <a:xfrm>
            <a:off x="666750" y="1276350"/>
            <a:ext cx="7824788" cy="310009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255"/>
              </a:lnSpc>
              <a:buNone/>
            </a:pPr>
            <a:r>
              <a:rPr lang="en-US" sz="810" dirty="0">
                <a:solidFill>
                  <a:srgbClr val="121C23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提示工程已从"怎么把话写得更好"升级为</a:t>
            </a:r>
            <a:r>
              <a:rPr lang="en-US" sz="810" b="1" dirty="0">
                <a:solidFill>
                  <a:srgbClr val="121C23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上下文工程</a:t>
            </a:r>
            <a:r>
              <a:rPr lang="en-US" sz="810" dirty="0">
                <a:solidFill>
                  <a:srgbClr val="121C23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——不是孤立的一段文字，而是系统指令、工具定义、注入文档、示例、用户查询共同构成的</a:t>
            </a:r>
            <a:r>
              <a:rPr lang="en-US" sz="810" b="1" dirty="0">
                <a:solidFill>
                  <a:srgbClr val="121C23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完整信息接口协议</a:t>
            </a:r>
            <a:r>
              <a:rPr lang="en-US" sz="810" dirty="0">
                <a:solidFill>
                  <a:srgbClr val="121C23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。核心原则：</a:t>
            </a:r>
            <a:r>
              <a:rPr lang="en-US" sz="810" b="1" dirty="0">
                <a:solidFill>
                  <a:srgbClr val="121C23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给原则而非给步骤</a:t>
            </a:r>
            <a:r>
              <a:rPr lang="en-US" sz="810" dirty="0">
                <a:solidFill>
                  <a:srgbClr val="121C23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——模型自身的推理能力常常超出人能预设的最优路径。</a:t>
            </a:r>
            <a:endParaRPr lang="en-US" sz="810" dirty="0"/>
          </a:p>
        </p:txBody>
      </p:sp>
      <p:sp>
        <p:nvSpPr>
          <p:cNvPr id="10" name="TextBox 19"/>
          <p:cNvSpPr/>
          <p:nvPr/>
        </p:nvSpPr>
        <p:spPr>
          <a:xfrm>
            <a:off x="476250" y="1791146"/>
            <a:ext cx="4019550" cy="100013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810"/>
              </a:lnSpc>
              <a:buNone/>
            </a:pPr>
            <a:r>
              <a:rPr lang="en-US" sz="540" kern="0" spc="43" dirty="0">
                <a:solidFill>
                  <a:srgbClr val="299236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传统理解（2022-2024）</a:t>
            </a:r>
            <a:endParaRPr lang="en-US" sz="540" dirty="0"/>
          </a:p>
        </p:txBody>
      </p:sp>
      <p:sp>
        <p:nvSpPr>
          <p:cNvPr id="11" name="TextBox 21"/>
          <p:cNvSpPr/>
          <p:nvPr/>
        </p:nvSpPr>
        <p:spPr>
          <a:xfrm>
            <a:off x="476250" y="1995934"/>
            <a:ext cx="4019550" cy="781685"/>
          </a:xfrm>
          <a:prstGeom prst="rect">
            <a:avLst/>
          </a:prstGeom>
          <a:noFill/>
        </p:spPr>
        <p:txBody>
          <a:bodyPr wrap="square" lIns="0" tIns="117678" rIns="0" bIns="0" rtlCol="0" anchor="t">
            <a:spAutoFit/>
          </a:bodyPr>
          <a:lstStyle/>
          <a:p>
            <a:pPr marL="0" indent="0" algn="l">
              <a:lnSpc>
                <a:spcPts val="1295"/>
              </a:lnSpc>
              <a:buSzPct val="100000"/>
              <a:buChar char="•"/>
            </a:pPr>
            <a:r>
              <a:rPr lang="en-US" sz="810" dirty="0">
                <a:solidFill>
                  <a:srgbClr val="5A656D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​</a:t>
            </a:r>
            <a:r>
              <a:rPr lang="en-US" sz="810" dirty="0">
                <a:solidFill>
                  <a:srgbClr val="5A656D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提示工程 = 琢磨怎么措辞能输出得更好</a:t>
            </a:r>
            <a:endParaRPr lang="en-US" sz="810" dirty="0"/>
          </a:p>
          <a:p>
            <a:pPr marL="0" indent="0" algn="l">
              <a:lnSpc>
                <a:spcPts val="1295"/>
              </a:lnSpc>
              <a:buSzPct val="100000"/>
              <a:buChar char="•"/>
            </a:pPr>
            <a:r>
              <a:rPr lang="en-US" sz="810" dirty="0">
                <a:solidFill>
                  <a:srgbClr val="5A656D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​</a:t>
            </a:r>
            <a:r>
              <a:rPr lang="en-US" sz="810" dirty="0">
                <a:solidFill>
                  <a:srgbClr val="5A656D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手段：加角色、加示例、加"Think step by step"</a:t>
            </a:r>
            <a:endParaRPr lang="en-US" sz="810" dirty="0"/>
          </a:p>
          <a:p>
            <a:pPr marL="0" indent="0" algn="l">
              <a:lnSpc>
                <a:spcPts val="1295"/>
              </a:lnSpc>
              <a:buSzPct val="100000"/>
              <a:buChar char="•"/>
            </a:pPr>
            <a:r>
              <a:rPr lang="en-US" sz="810" dirty="0">
                <a:solidFill>
                  <a:srgbClr val="5A656D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​</a:t>
            </a:r>
            <a:r>
              <a:rPr lang="en-US" sz="810" dirty="0">
                <a:solidFill>
                  <a:srgbClr val="5A656D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本质是</a:t>
            </a:r>
            <a:r>
              <a:rPr lang="en-US" sz="810" b="1" dirty="0">
                <a:solidFill>
                  <a:srgbClr val="5A656D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"试出来的手艺"</a:t>
            </a:r>
            <a:endParaRPr lang="en-US" sz="810" b="1" dirty="0">
              <a:solidFill>
                <a:srgbClr val="5A656D"/>
              </a:solidFill>
              <a:latin typeface="Segoe UI" panose="020B0502040204020203" pitchFamily="34" charset="0"/>
              <a:ea typeface="Segoe UI" panose="020B0502040204020203" pitchFamily="34" charset="-122"/>
              <a:cs typeface="Segoe UI" panose="020B0502040204020203" pitchFamily="34" charset="-120"/>
            </a:endParaRPr>
          </a:p>
          <a:p>
            <a:pPr marL="0" indent="0" algn="l">
              <a:lnSpc>
                <a:spcPts val="1295"/>
              </a:lnSpc>
              <a:buSzPct val="100000"/>
              <a:buChar char="•"/>
            </a:pPr>
            <a:endParaRPr lang="en-US" sz="810" dirty="0"/>
          </a:p>
        </p:txBody>
      </p:sp>
      <p:sp>
        <p:nvSpPr>
          <p:cNvPr id="12" name="TextBox 26"/>
          <p:cNvSpPr/>
          <p:nvPr/>
        </p:nvSpPr>
        <p:spPr>
          <a:xfrm>
            <a:off x="4648200" y="1791146"/>
            <a:ext cx="4019550" cy="100013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810"/>
              </a:lnSpc>
              <a:buNone/>
            </a:pPr>
            <a:r>
              <a:rPr lang="en-US" sz="540" kern="0" spc="43" dirty="0">
                <a:solidFill>
                  <a:srgbClr val="299236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新理解（2025-2026）</a:t>
            </a:r>
            <a:endParaRPr lang="en-US" sz="540" dirty="0"/>
          </a:p>
        </p:txBody>
      </p:sp>
      <p:sp>
        <p:nvSpPr>
          <p:cNvPr id="13" name="TextBox 28"/>
          <p:cNvSpPr/>
          <p:nvPr/>
        </p:nvSpPr>
        <p:spPr>
          <a:xfrm>
            <a:off x="4648200" y="1995934"/>
            <a:ext cx="4019550" cy="615315"/>
          </a:xfrm>
          <a:prstGeom prst="rect">
            <a:avLst/>
          </a:prstGeom>
          <a:noFill/>
        </p:spPr>
        <p:txBody>
          <a:bodyPr wrap="square" lIns="0" tIns="117678" rIns="0" bIns="0" rtlCol="0" anchor="t">
            <a:spAutoFit/>
          </a:bodyPr>
          <a:lstStyle/>
          <a:p>
            <a:pPr marL="0" indent="0" algn="l">
              <a:lnSpc>
                <a:spcPts val="1295"/>
              </a:lnSpc>
              <a:buSzPct val="100000"/>
              <a:buChar char="•"/>
            </a:pPr>
            <a:r>
              <a:rPr lang="en-US" sz="810" dirty="0">
                <a:solidFill>
                  <a:srgbClr val="5A656D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​</a:t>
            </a:r>
            <a:r>
              <a:rPr lang="en-US" sz="810" dirty="0">
                <a:solidFill>
                  <a:srgbClr val="5A656D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提示工程 = </a:t>
            </a:r>
            <a:r>
              <a:rPr lang="en-US" sz="810" b="1" dirty="0">
                <a:solidFill>
                  <a:srgbClr val="5A656D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设计完整的信息环境</a:t>
            </a:r>
            <a:endParaRPr lang="en-US" sz="810" dirty="0"/>
          </a:p>
          <a:p>
            <a:pPr marL="0" indent="0" algn="l">
              <a:lnSpc>
                <a:spcPts val="1295"/>
              </a:lnSpc>
              <a:buSzPct val="100000"/>
              <a:buChar char="•"/>
            </a:pPr>
            <a:r>
              <a:rPr lang="en-US" sz="810" dirty="0">
                <a:solidFill>
                  <a:srgbClr val="5A656D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​</a:t>
            </a:r>
            <a:r>
              <a:rPr lang="en-US" sz="810" dirty="0">
                <a:solidFill>
                  <a:srgbClr val="5A656D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手段：XML 标签分区 + 原则式指令 + API 结构化输出</a:t>
            </a:r>
            <a:endParaRPr lang="en-US" sz="810" dirty="0"/>
          </a:p>
          <a:p>
            <a:pPr marL="0" indent="0" algn="l">
              <a:lnSpc>
                <a:spcPts val="1295"/>
              </a:lnSpc>
              <a:buSzPct val="100000"/>
              <a:buNone/>
            </a:pPr>
            <a:endParaRPr lang="en-US" sz="810" dirty="0"/>
          </a:p>
        </p:txBody>
      </p:sp>
      <p:sp>
        <p:nvSpPr>
          <p:cNvPr id="14" name="TextBox 34"/>
          <p:cNvSpPr/>
          <p:nvPr/>
        </p:nvSpPr>
        <p:spPr>
          <a:xfrm>
            <a:off x="476250" y="2573695"/>
            <a:ext cx="8191500" cy="100012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810"/>
              </a:lnSpc>
              <a:buNone/>
            </a:pPr>
            <a:r>
              <a:rPr lang="en-US" sz="540" kern="0" spc="43" dirty="0">
                <a:solidFill>
                  <a:srgbClr val="299236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提示工程仍然重要的三个原因</a:t>
            </a:r>
            <a:endParaRPr lang="en-US" sz="540" dirty="0"/>
          </a:p>
        </p:txBody>
      </p:sp>
      <p:sp>
        <p:nvSpPr>
          <p:cNvPr id="15" name="Shape 38"/>
          <p:cNvSpPr/>
          <p:nvPr/>
        </p:nvSpPr>
        <p:spPr>
          <a:xfrm>
            <a:off x="476250" y="2699742"/>
            <a:ext cx="2667000" cy="409575"/>
          </a:xfrm>
          <a:prstGeom prst="roundRect">
            <a:avLst>
              <a:gd name="adj" fmla="val 7183"/>
            </a:avLst>
          </a:prstGeom>
          <a:solidFill>
            <a:srgbClr val="FFFFFF"/>
          </a:solidFill>
          <a:ln w="4903">
            <a:solidFill>
              <a:srgbClr val="D9DFE3"/>
            </a:solidFill>
            <a:prstDash val="solid"/>
          </a:ln>
        </p:spPr>
      </p:sp>
      <p:sp>
        <p:nvSpPr>
          <p:cNvPr id="16" name="TextBox 40"/>
          <p:cNvSpPr/>
          <p:nvPr/>
        </p:nvSpPr>
        <p:spPr>
          <a:xfrm>
            <a:off x="566737" y="2771180"/>
            <a:ext cx="2486025" cy="128588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040"/>
              </a:lnSpc>
              <a:buNone/>
            </a:pPr>
            <a:r>
              <a:rPr lang="en-US" sz="695" b="1" dirty="0">
                <a:solidFill>
                  <a:srgbClr val="299236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质量差距可达 30-50%</a:t>
            </a:r>
            <a:endParaRPr lang="en-US" sz="695" dirty="0"/>
          </a:p>
        </p:txBody>
      </p:sp>
      <p:sp>
        <p:nvSpPr>
          <p:cNvPr id="17" name="TextBox 42"/>
          <p:cNvSpPr/>
          <p:nvPr/>
        </p:nvSpPr>
        <p:spPr>
          <a:xfrm>
            <a:off x="566737" y="2909292"/>
            <a:ext cx="2486025" cy="128587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040"/>
              </a:lnSpc>
              <a:buNone/>
            </a:pPr>
            <a:r>
              <a:rPr lang="en-US" sz="695" dirty="0">
                <a:solidFill>
                  <a:srgbClr val="5A656D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同一模型的好/差提示在结构化提取等任务上输出质量差距巨大</a:t>
            </a:r>
            <a:endParaRPr lang="en-US" sz="695" dirty="0"/>
          </a:p>
        </p:txBody>
      </p:sp>
      <p:sp>
        <p:nvSpPr>
          <p:cNvPr id="18" name="Shape 45"/>
          <p:cNvSpPr/>
          <p:nvPr/>
        </p:nvSpPr>
        <p:spPr>
          <a:xfrm>
            <a:off x="3238500" y="2699742"/>
            <a:ext cx="2667000" cy="409575"/>
          </a:xfrm>
          <a:prstGeom prst="roundRect">
            <a:avLst>
              <a:gd name="adj" fmla="val 7183"/>
            </a:avLst>
          </a:prstGeom>
          <a:solidFill>
            <a:srgbClr val="FFFFFF"/>
          </a:solidFill>
          <a:ln w="4903">
            <a:solidFill>
              <a:srgbClr val="D9DFE3"/>
            </a:solidFill>
            <a:prstDash val="solid"/>
          </a:ln>
        </p:spPr>
      </p:sp>
      <p:sp>
        <p:nvSpPr>
          <p:cNvPr id="19" name="TextBox 47"/>
          <p:cNvSpPr/>
          <p:nvPr/>
        </p:nvSpPr>
        <p:spPr>
          <a:xfrm>
            <a:off x="3328987" y="2771180"/>
            <a:ext cx="2486025" cy="128588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040"/>
              </a:lnSpc>
              <a:buNone/>
            </a:pPr>
            <a:r>
              <a:rPr lang="en-US" sz="695" b="1" dirty="0">
                <a:solidFill>
                  <a:srgbClr val="299236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持续迭代而非一次性</a:t>
            </a:r>
            <a:endParaRPr lang="en-US" sz="695" dirty="0"/>
          </a:p>
        </p:txBody>
      </p:sp>
      <p:sp>
        <p:nvSpPr>
          <p:cNvPr id="20" name="TextBox 49"/>
          <p:cNvSpPr/>
          <p:nvPr/>
        </p:nvSpPr>
        <p:spPr>
          <a:xfrm>
            <a:off x="3328987" y="2909292"/>
            <a:ext cx="2486025" cy="128587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040"/>
              </a:lnSpc>
              <a:buNone/>
            </a:pPr>
            <a:r>
              <a:rPr lang="en-US" sz="695" dirty="0">
                <a:solidFill>
                  <a:srgbClr val="5A656D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在整个项目周期中与模型持续对话、迭代优化</a:t>
            </a:r>
            <a:endParaRPr lang="en-US" sz="695" dirty="0"/>
          </a:p>
        </p:txBody>
      </p:sp>
      <p:sp>
        <p:nvSpPr>
          <p:cNvPr id="21" name="Shape 52"/>
          <p:cNvSpPr/>
          <p:nvPr/>
        </p:nvSpPr>
        <p:spPr>
          <a:xfrm>
            <a:off x="6000750" y="2699742"/>
            <a:ext cx="2667000" cy="409575"/>
          </a:xfrm>
          <a:prstGeom prst="roundRect">
            <a:avLst>
              <a:gd name="adj" fmla="val 7183"/>
            </a:avLst>
          </a:prstGeom>
          <a:solidFill>
            <a:srgbClr val="FFFFFF"/>
          </a:solidFill>
          <a:ln w="4903">
            <a:solidFill>
              <a:srgbClr val="D9DFE3"/>
            </a:solidFill>
            <a:prstDash val="solid"/>
          </a:ln>
        </p:spPr>
      </p:sp>
      <p:sp>
        <p:nvSpPr>
          <p:cNvPr id="22" name="TextBox 54"/>
          <p:cNvSpPr/>
          <p:nvPr/>
        </p:nvSpPr>
        <p:spPr>
          <a:xfrm>
            <a:off x="6091237" y="2771180"/>
            <a:ext cx="2486025" cy="128588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040"/>
              </a:lnSpc>
              <a:buNone/>
            </a:pPr>
            <a:r>
              <a:rPr lang="en-US" sz="695" b="1" dirty="0">
                <a:solidFill>
                  <a:srgbClr val="299236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意图 → 指令的翻译层</a:t>
            </a:r>
            <a:endParaRPr lang="en-US" sz="695" dirty="0"/>
          </a:p>
        </p:txBody>
      </p:sp>
      <p:sp>
        <p:nvSpPr>
          <p:cNvPr id="23" name="TextBox 56"/>
          <p:cNvSpPr/>
          <p:nvPr/>
        </p:nvSpPr>
        <p:spPr>
          <a:xfrm>
            <a:off x="6091237" y="2909292"/>
            <a:ext cx="2486025" cy="128587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040"/>
              </a:lnSpc>
              <a:buNone/>
            </a:pPr>
            <a:r>
              <a:rPr lang="en-US" sz="695" dirty="0">
                <a:solidFill>
                  <a:srgbClr val="5A656D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把模糊的人类意图转化为模型能精确执行的结构化指令</a:t>
            </a:r>
            <a:endParaRPr lang="en-US" sz="695" dirty="0"/>
          </a:p>
        </p:txBody>
      </p:sp>
      <p:pic>
        <p:nvPicPr>
          <p:cNvPr id="24" name="Picture 62" descr="__type_image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76250" y="4819650"/>
            <a:ext cx="8191500" cy="171450"/>
          </a:xfrm>
          <a:prstGeom prst="rect">
            <a:avLst/>
          </a:prstGeom>
        </p:spPr>
      </p:pic>
      <p:sp>
        <p:nvSpPr>
          <p:cNvPr id="25" name="TextBox 62"/>
          <p:cNvSpPr/>
          <p:nvPr/>
        </p:nvSpPr>
        <p:spPr>
          <a:xfrm>
            <a:off x="476250" y="4819650"/>
            <a:ext cx="8191500" cy="171450"/>
          </a:xfrm>
          <a:prstGeom prst="rect">
            <a:avLst/>
          </a:prstGeom>
          <a:noFill/>
        </p:spPr>
        <p:txBody>
          <a:bodyPr wrap="square" lIns="0" tIns="68645" rIns="0" bIns="0" rtlCol="0" anchor="t">
            <a:spAutoFit/>
          </a:bodyPr>
          <a:lstStyle/>
          <a:p>
            <a:pPr marL="0" indent="0" algn="l">
              <a:lnSpc>
                <a:spcPts val="810"/>
              </a:lnSpc>
              <a:buNone/>
            </a:pPr>
            <a:r>
              <a:rPr lang="en-US" sz="540" kern="0" spc="22" dirty="0">
                <a:solidFill>
                  <a:srgbClr val="5A656D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Anthropic 已将这个领域重新命名为"上下文工程"（Context Engineering）——比"提示工程"更准确地描述了它的真实范围</a:t>
            </a:r>
            <a:endParaRPr lang="en-US" sz="54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6F9FC"/>
          </a:solidFill>
        </p:spPr>
      </p:sp>
      <p:sp>
        <p:nvSpPr>
          <p:cNvPr id="3" name="Shape 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6F9FC"/>
          </a:solidFill>
        </p:spPr>
      </p:sp>
      <p:pic>
        <p:nvPicPr>
          <p:cNvPr id="4" name="Picture 4" descr="__type_image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76250" y="381000"/>
            <a:ext cx="8191500" cy="390525"/>
          </a:xfrm>
          <a:prstGeom prst="rect">
            <a:avLst/>
          </a:prstGeom>
        </p:spPr>
      </p:pic>
      <p:sp>
        <p:nvSpPr>
          <p:cNvPr id="5" name="TextBox 4"/>
          <p:cNvSpPr/>
          <p:nvPr/>
        </p:nvSpPr>
        <p:spPr>
          <a:xfrm>
            <a:off x="476250" y="381000"/>
            <a:ext cx="8191500" cy="390525"/>
          </a:xfrm>
          <a:prstGeom prst="rect">
            <a:avLst/>
          </a:prstGeom>
          <a:noFill/>
        </p:spPr>
        <p:txBody>
          <a:bodyPr wrap="square" lIns="0" tIns="0" rIns="0" bIns="98065" rtlCol="0" anchor="t">
            <a:spAutoFit/>
          </a:bodyPr>
          <a:lstStyle/>
          <a:p>
            <a:pPr marL="0" indent="0" algn="l">
              <a:lnSpc>
                <a:spcPts val="2315"/>
              </a:lnSpc>
              <a:buNone/>
            </a:pPr>
            <a:r>
              <a:rPr lang="en-US" sz="1545" b="1" kern="0" spc="-23" dirty="0">
                <a:solidFill>
                  <a:srgbClr val="121C23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核心技法（一）：角色设定 + 少样本提示</a:t>
            </a:r>
            <a:endParaRPr lang="en-US" sz="1545" dirty="0"/>
          </a:p>
        </p:txBody>
      </p:sp>
      <p:sp>
        <p:nvSpPr>
          <p:cNvPr id="6" name="Shape 8"/>
          <p:cNvSpPr/>
          <p:nvPr/>
        </p:nvSpPr>
        <p:spPr>
          <a:xfrm>
            <a:off x="476250" y="1000125"/>
            <a:ext cx="8191500" cy="709612"/>
          </a:xfrm>
          <a:prstGeom prst="roundRect">
            <a:avLst>
              <a:gd name="adj" fmla="val 4146"/>
            </a:avLst>
          </a:prstGeom>
          <a:solidFill>
            <a:srgbClr val="FFFFFF"/>
          </a:solidFill>
        </p:spPr>
      </p:sp>
      <p:pic>
        <p:nvPicPr>
          <p:cNvPr id="7" name="Picture 8" descr="__type_image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76250" y="1000125"/>
            <a:ext cx="8191500" cy="709612"/>
          </a:xfrm>
          <a:prstGeom prst="rect">
            <a:avLst/>
          </a:prstGeom>
        </p:spPr>
      </p:pic>
      <p:sp>
        <p:nvSpPr>
          <p:cNvPr id="8" name="TextBox 10"/>
          <p:cNvSpPr/>
          <p:nvPr/>
        </p:nvSpPr>
        <p:spPr>
          <a:xfrm>
            <a:off x="666750" y="1138237"/>
            <a:ext cx="7824788" cy="100013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810"/>
              </a:lnSpc>
              <a:buNone/>
            </a:pPr>
            <a:r>
              <a:rPr lang="en-US" sz="540" kern="0" spc="43" dirty="0">
                <a:solidFill>
                  <a:srgbClr val="299236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技法 1：角色设定（ROLE PROMPTING）</a:t>
            </a:r>
            <a:endParaRPr lang="en-US" sz="540" dirty="0"/>
          </a:p>
        </p:txBody>
      </p:sp>
      <p:sp>
        <p:nvSpPr>
          <p:cNvPr id="9" name="TextBox 12"/>
          <p:cNvSpPr/>
          <p:nvPr/>
        </p:nvSpPr>
        <p:spPr>
          <a:xfrm>
            <a:off x="666750" y="1276350"/>
            <a:ext cx="7824788" cy="30607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195"/>
              </a:lnSpc>
              <a:buNone/>
            </a:pPr>
            <a:r>
              <a:rPr lang="en-US" sz="770" b="1" dirty="0">
                <a:solidFill>
                  <a:srgbClr val="121C23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一句话定义身份和视角。</a:t>
            </a:r>
            <a:r>
              <a:rPr lang="en-US" sz="770" dirty="0">
                <a:solidFill>
                  <a:srgbClr val="121C23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不需要长篇背景——"你是一位资深软件工程师"就够了。角色设定的本质不是给模型知识（模型本来就有），而是给模型一个</a:t>
            </a:r>
            <a:r>
              <a:rPr lang="en-US" sz="770" b="1" dirty="0">
                <a:solidFill>
                  <a:srgbClr val="121C23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决策框架</a:t>
            </a:r>
            <a:r>
              <a:rPr lang="en-US" sz="770" dirty="0">
                <a:solidFill>
                  <a:srgbClr val="121C23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——"在面临多个合理选项时，从哪个角度出发做判断"。</a:t>
            </a:r>
            <a:endParaRPr lang="en-US" sz="770" dirty="0"/>
          </a:p>
        </p:txBody>
      </p:sp>
      <p:sp>
        <p:nvSpPr>
          <p:cNvPr id="10" name="Shape 15"/>
          <p:cNvSpPr/>
          <p:nvPr/>
        </p:nvSpPr>
        <p:spPr>
          <a:xfrm>
            <a:off x="476250" y="1776412"/>
            <a:ext cx="8191500" cy="709612"/>
          </a:xfrm>
          <a:prstGeom prst="roundRect">
            <a:avLst>
              <a:gd name="adj" fmla="val 4146"/>
            </a:avLst>
          </a:prstGeom>
          <a:solidFill>
            <a:srgbClr val="FFFFFF"/>
          </a:solidFill>
        </p:spPr>
      </p:sp>
      <p:pic>
        <p:nvPicPr>
          <p:cNvPr id="11" name="Picture 15" descr="__type_image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76250" y="1776412"/>
            <a:ext cx="8191500" cy="709612"/>
          </a:xfrm>
          <a:prstGeom prst="rect">
            <a:avLst/>
          </a:prstGeom>
        </p:spPr>
      </p:pic>
      <p:sp>
        <p:nvSpPr>
          <p:cNvPr id="12" name="TextBox 17"/>
          <p:cNvSpPr/>
          <p:nvPr/>
        </p:nvSpPr>
        <p:spPr>
          <a:xfrm>
            <a:off x="666750" y="1914525"/>
            <a:ext cx="7824788" cy="100012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810"/>
              </a:lnSpc>
              <a:buNone/>
            </a:pPr>
            <a:r>
              <a:rPr lang="en-US" sz="540" kern="0" spc="43" dirty="0">
                <a:solidFill>
                  <a:srgbClr val="299236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技法 2：少样本提示（FEW-SHOT PROMPTING）</a:t>
            </a:r>
            <a:endParaRPr lang="en-US" sz="540" dirty="0"/>
          </a:p>
        </p:txBody>
      </p:sp>
      <p:sp>
        <p:nvSpPr>
          <p:cNvPr id="13" name="TextBox 19"/>
          <p:cNvSpPr/>
          <p:nvPr/>
        </p:nvSpPr>
        <p:spPr>
          <a:xfrm>
            <a:off x="666750" y="2052638"/>
            <a:ext cx="7824788" cy="15303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195"/>
              </a:lnSpc>
              <a:buNone/>
            </a:pPr>
            <a:r>
              <a:rPr lang="en-US" sz="770" dirty="0">
                <a:solidFill>
                  <a:srgbClr val="121C23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提供 </a:t>
            </a:r>
            <a:r>
              <a:rPr lang="en-US" sz="770" b="1" dirty="0">
                <a:solidFill>
                  <a:srgbClr val="121C23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2-5 个多样化示例</a:t>
            </a:r>
            <a:r>
              <a:rPr lang="en-US" sz="770" dirty="0">
                <a:solidFill>
                  <a:srgbClr val="121C23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，展示期望的输入 → 输出模式。</a:t>
            </a:r>
            <a:r>
              <a:rPr lang="en-US" sz="770" b="1" dirty="0">
                <a:solidFill>
                  <a:srgbClr val="121C23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不只展示"输入 → 输出"，而要展示"输入 → 推理过程 → 输出"</a:t>
            </a:r>
            <a:r>
              <a:rPr lang="en-US" sz="770" dirty="0">
                <a:solidFill>
                  <a:srgbClr val="121C23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——让模型不仅模仿答案，更模仿得出结论的方式。</a:t>
            </a:r>
            <a:endParaRPr lang="en-US" sz="770" dirty="0"/>
          </a:p>
        </p:txBody>
      </p:sp>
      <p:sp>
        <p:nvSpPr>
          <p:cNvPr id="14" name="TextBox 24"/>
          <p:cNvSpPr/>
          <p:nvPr/>
        </p:nvSpPr>
        <p:spPr>
          <a:xfrm>
            <a:off x="476250" y="2552700"/>
            <a:ext cx="8191500" cy="100012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810"/>
              </a:lnSpc>
              <a:buNone/>
            </a:pPr>
            <a:r>
              <a:rPr lang="en-US" sz="540" kern="0" spc="43" dirty="0">
                <a:solidFill>
                  <a:srgbClr val="299236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示例结构对比</a:t>
            </a:r>
            <a:endParaRPr lang="en-US" sz="540" dirty="0"/>
          </a:p>
        </p:txBody>
      </p:sp>
      <p:sp>
        <p:nvSpPr>
          <p:cNvPr id="15" name="Shape 28"/>
          <p:cNvSpPr/>
          <p:nvPr/>
        </p:nvSpPr>
        <p:spPr>
          <a:xfrm>
            <a:off x="476250" y="2709863"/>
            <a:ext cx="4029075" cy="673894"/>
          </a:xfrm>
          <a:prstGeom prst="roundRect">
            <a:avLst>
              <a:gd name="adj" fmla="val 4366"/>
            </a:avLst>
          </a:prstGeom>
          <a:solidFill>
            <a:srgbClr val="5A845A">
              <a:alpha val="12157"/>
            </a:srgbClr>
          </a:solidFill>
          <a:ln w="4903">
            <a:solidFill>
              <a:srgbClr val="5C875C">
                <a:alpha val="25098"/>
              </a:srgbClr>
            </a:solidFill>
            <a:prstDash val="solid"/>
          </a:ln>
        </p:spPr>
      </p:sp>
      <p:sp>
        <p:nvSpPr>
          <p:cNvPr id="16" name="TextBox 30"/>
          <p:cNvSpPr/>
          <p:nvPr/>
        </p:nvSpPr>
        <p:spPr>
          <a:xfrm>
            <a:off x="576263" y="2790825"/>
            <a:ext cx="3829050" cy="128588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040"/>
              </a:lnSpc>
              <a:buNone/>
            </a:pPr>
            <a:r>
              <a:rPr lang="en-US" sz="695" b="1" dirty="0">
                <a:solidFill>
                  <a:srgbClr val="121C23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❌ 旧方式（只给输入输出）</a:t>
            </a:r>
            <a:endParaRPr lang="en-US" sz="695" dirty="0"/>
          </a:p>
        </p:txBody>
      </p:sp>
      <p:sp>
        <p:nvSpPr>
          <p:cNvPr id="17" name="TextBox 32"/>
          <p:cNvSpPr/>
          <p:nvPr/>
        </p:nvSpPr>
        <p:spPr>
          <a:xfrm>
            <a:off x="576263" y="2938462"/>
            <a:ext cx="3829050" cy="242888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985"/>
              </a:lnSpc>
              <a:buNone/>
            </a:pPr>
            <a:r>
              <a:rPr lang="en-US" sz="655" dirty="0">
                <a:solidFill>
                  <a:srgbClr val="5A656D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输入："产品三天就坏了，客服不理人"</a:t>
            </a:r>
            <a:endParaRPr lang="en-US" sz="655" dirty="0"/>
          </a:p>
          <a:p>
            <a:pPr marL="0" indent="0" algn="l">
              <a:lnSpc>
                <a:spcPts val="985"/>
              </a:lnSpc>
              <a:buNone/>
            </a:pPr>
            <a:r>
              <a:rPr lang="en-US" sz="655" dirty="0">
                <a:solidFill>
                  <a:srgbClr val="5A656D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输出：{"category": "产品质量"}</a:t>
            </a:r>
            <a:endParaRPr lang="en-US" sz="655" dirty="0"/>
          </a:p>
        </p:txBody>
      </p:sp>
      <p:sp>
        <p:nvSpPr>
          <p:cNvPr id="18" name="Shape 35"/>
          <p:cNvSpPr/>
          <p:nvPr/>
        </p:nvSpPr>
        <p:spPr>
          <a:xfrm>
            <a:off x="4638675" y="2709863"/>
            <a:ext cx="4029075" cy="673894"/>
          </a:xfrm>
          <a:prstGeom prst="roundRect">
            <a:avLst>
              <a:gd name="adj" fmla="val 4366"/>
            </a:avLst>
          </a:prstGeom>
          <a:solidFill>
            <a:srgbClr val="FFFFFF"/>
          </a:solidFill>
          <a:ln w="4903">
            <a:solidFill>
              <a:srgbClr val="D9DFE3"/>
            </a:solidFill>
            <a:prstDash val="solid"/>
          </a:ln>
        </p:spPr>
      </p:sp>
      <p:sp>
        <p:nvSpPr>
          <p:cNvPr id="19" name="TextBox 37"/>
          <p:cNvSpPr/>
          <p:nvPr/>
        </p:nvSpPr>
        <p:spPr>
          <a:xfrm>
            <a:off x="4738687" y="2790825"/>
            <a:ext cx="3829050" cy="128588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040"/>
              </a:lnSpc>
              <a:buNone/>
            </a:pPr>
            <a:r>
              <a:rPr lang="en-US" sz="695" b="1" dirty="0">
                <a:solidFill>
                  <a:srgbClr val="299236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✅ 新方式（输入 → 推理 → 输出）</a:t>
            </a:r>
            <a:endParaRPr lang="en-US" sz="695" dirty="0"/>
          </a:p>
        </p:txBody>
      </p:sp>
      <p:sp>
        <p:nvSpPr>
          <p:cNvPr id="20" name="TextBox 39"/>
          <p:cNvSpPr/>
          <p:nvPr/>
        </p:nvSpPr>
        <p:spPr>
          <a:xfrm>
            <a:off x="4738687" y="2938462"/>
            <a:ext cx="3829050" cy="364331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985"/>
              </a:lnSpc>
              <a:buNone/>
            </a:pPr>
            <a:r>
              <a:rPr lang="en-US" sz="655" dirty="0">
                <a:solidFill>
                  <a:srgbClr val="5A656D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输入："产品三天就坏了，客服不理人"</a:t>
            </a:r>
            <a:endParaRPr lang="en-US" sz="655" dirty="0"/>
          </a:p>
          <a:p>
            <a:pPr marL="0" indent="0" algn="l">
              <a:lnSpc>
                <a:spcPts val="985"/>
              </a:lnSpc>
              <a:buNone/>
            </a:pPr>
            <a:r>
              <a:rPr lang="en-US" sz="655" dirty="0">
                <a:solidFill>
                  <a:srgbClr val="5A656D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分析：情绪=愤怒；主诉=质量；次诉=客服</a:t>
            </a:r>
            <a:endParaRPr lang="en-US" sz="655" dirty="0"/>
          </a:p>
          <a:p>
            <a:pPr marL="0" indent="0" algn="l">
              <a:lnSpc>
                <a:spcPts val="985"/>
              </a:lnSpc>
              <a:buNone/>
            </a:pPr>
            <a:r>
              <a:rPr lang="en-US" sz="655" dirty="0">
                <a:solidFill>
                  <a:srgbClr val="5A656D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输出：{"category": "产品质量", "sub": "客服态度"}</a:t>
            </a:r>
            <a:endParaRPr lang="en-US" sz="655" dirty="0"/>
          </a:p>
        </p:txBody>
      </p:sp>
      <p:pic>
        <p:nvPicPr>
          <p:cNvPr id="21" name="Picture 45" descr="__type_image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76250" y="4819650"/>
            <a:ext cx="8191500" cy="171450"/>
          </a:xfrm>
          <a:prstGeom prst="rect">
            <a:avLst/>
          </a:prstGeom>
        </p:spPr>
      </p:pic>
      <p:sp>
        <p:nvSpPr>
          <p:cNvPr id="22" name="TextBox 45"/>
          <p:cNvSpPr/>
          <p:nvPr/>
        </p:nvSpPr>
        <p:spPr>
          <a:xfrm>
            <a:off x="476250" y="4819650"/>
            <a:ext cx="8191500" cy="171450"/>
          </a:xfrm>
          <a:prstGeom prst="rect">
            <a:avLst/>
          </a:prstGeom>
          <a:noFill/>
        </p:spPr>
        <p:txBody>
          <a:bodyPr wrap="square" lIns="0" tIns="68645" rIns="0" bIns="0" rtlCol="0" anchor="t">
            <a:spAutoFit/>
          </a:bodyPr>
          <a:lstStyle/>
          <a:p>
            <a:pPr marL="0" indent="0" algn="l">
              <a:lnSpc>
                <a:spcPts val="810"/>
              </a:lnSpc>
              <a:buNone/>
            </a:pPr>
            <a:r>
              <a:rPr lang="en-US" sz="540" kern="0" spc="22" dirty="0">
                <a:solidFill>
                  <a:srgbClr val="5A656D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少样本三关键：多样性（覆盖典型+边界+对抗）、难度递进（简→难）、明确边界（用一个"这不算"的示例）</a:t>
            </a:r>
            <a:endParaRPr lang="en-US" sz="54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6F9FC"/>
          </a:solidFill>
        </p:spPr>
      </p:sp>
      <p:sp>
        <p:nvSpPr>
          <p:cNvPr id="3" name="Shape 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6F9FC"/>
          </a:solidFill>
        </p:spPr>
      </p:sp>
      <p:pic>
        <p:nvPicPr>
          <p:cNvPr id="4" name="Picture 4" descr="__type_image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76250" y="381000"/>
            <a:ext cx="8191500" cy="390525"/>
          </a:xfrm>
          <a:prstGeom prst="rect">
            <a:avLst/>
          </a:prstGeom>
        </p:spPr>
      </p:pic>
      <p:sp>
        <p:nvSpPr>
          <p:cNvPr id="5" name="TextBox 4"/>
          <p:cNvSpPr/>
          <p:nvPr/>
        </p:nvSpPr>
        <p:spPr>
          <a:xfrm>
            <a:off x="476250" y="381000"/>
            <a:ext cx="8191500" cy="390525"/>
          </a:xfrm>
          <a:prstGeom prst="rect">
            <a:avLst/>
          </a:prstGeom>
          <a:noFill/>
        </p:spPr>
        <p:txBody>
          <a:bodyPr wrap="square" lIns="0" tIns="0" rIns="0" bIns="98065" rtlCol="0" anchor="t">
            <a:spAutoFit/>
          </a:bodyPr>
          <a:lstStyle/>
          <a:p>
            <a:pPr marL="0" indent="0" algn="l">
              <a:lnSpc>
                <a:spcPts val="2315"/>
              </a:lnSpc>
              <a:buNone/>
            </a:pPr>
            <a:r>
              <a:rPr lang="en-US" sz="1545" b="1" kern="0" spc="-23" dirty="0">
                <a:solidFill>
                  <a:srgbClr val="121C23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核心技法（二）：思维链 + 格式约束 + 分步拆解</a:t>
            </a:r>
            <a:endParaRPr lang="en-US" sz="1545" dirty="0"/>
          </a:p>
        </p:txBody>
      </p:sp>
      <p:sp>
        <p:nvSpPr>
          <p:cNvPr id="6" name="Shape 10"/>
          <p:cNvSpPr/>
          <p:nvPr/>
        </p:nvSpPr>
        <p:spPr>
          <a:xfrm>
            <a:off x="476250" y="1000125"/>
            <a:ext cx="2654275" cy="833437"/>
          </a:xfrm>
          <a:prstGeom prst="roundRect">
            <a:avLst>
              <a:gd name="adj" fmla="val 3530"/>
            </a:avLst>
          </a:prstGeom>
          <a:solidFill>
            <a:srgbClr val="FFFFFF"/>
          </a:solidFill>
          <a:ln w="4903">
            <a:solidFill>
              <a:srgbClr val="D9DFE3"/>
            </a:solidFill>
            <a:prstDash val="solid"/>
          </a:ln>
        </p:spPr>
      </p:sp>
      <p:sp>
        <p:nvSpPr>
          <p:cNvPr id="7" name="TextBox 12"/>
          <p:cNvSpPr/>
          <p:nvPr/>
        </p:nvSpPr>
        <p:spPr>
          <a:xfrm>
            <a:off x="576263" y="1081088"/>
            <a:ext cx="2454250" cy="128587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040"/>
              </a:lnSpc>
              <a:buNone/>
            </a:pPr>
            <a:r>
              <a:rPr lang="en-US" sz="695" b="1" dirty="0">
                <a:solidFill>
                  <a:srgbClr val="299236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技法 3：思维链 CoT</a:t>
            </a:r>
            <a:endParaRPr lang="en-US" sz="695" dirty="0"/>
          </a:p>
        </p:txBody>
      </p:sp>
      <p:sp>
        <p:nvSpPr>
          <p:cNvPr id="8" name="TextBox 14"/>
          <p:cNvSpPr/>
          <p:nvPr/>
        </p:nvSpPr>
        <p:spPr>
          <a:xfrm>
            <a:off x="576263" y="1238250"/>
            <a:ext cx="2454250" cy="51435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040"/>
              </a:lnSpc>
              <a:buNone/>
            </a:pPr>
            <a:r>
              <a:rPr lang="en-US" sz="695" dirty="0">
                <a:solidFill>
                  <a:srgbClr val="5A656D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引导模型先输出推理步骤再给答案。三种变体：</a:t>
            </a:r>
            <a:r>
              <a:rPr lang="en-US" sz="695" b="1" dirty="0">
                <a:solidFill>
                  <a:srgbClr val="5A656D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零样本</a:t>
            </a:r>
            <a:r>
              <a:rPr lang="en-US" sz="695" dirty="0">
                <a:solidFill>
                  <a:srgbClr val="5A656D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（"一步步思考"）→ </a:t>
            </a:r>
            <a:r>
              <a:rPr lang="en-US" sz="695" b="1" dirty="0">
                <a:solidFill>
                  <a:srgbClr val="5A656D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少样本</a:t>
            </a:r>
            <a:r>
              <a:rPr lang="en-US" sz="695" dirty="0">
                <a:solidFill>
                  <a:srgbClr val="5A656D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（给推理示例）→ </a:t>
            </a:r>
            <a:r>
              <a:rPr lang="en-US" sz="695" b="1" dirty="0">
                <a:solidFill>
                  <a:srgbClr val="5A656D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结构化</a:t>
            </a:r>
            <a:r>
              <a:rPr lang="en-US" sz="695" dirty="0">
                <a:solidFill>
                  <a:srgbClr val="5A656D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（指定推理框架）。⚠️ Claude 4.6+/o 系列等推理模型已内置思考——先检查原生推理是否够用，再决定是否需要手写 CoT。</a:t>
            </a:r>
            <a:endParaRPr lang="en-US" sz="695" dirty="0"/>
          </a:p>
        </p:txBody>
      </p:sp>
      <p:sp>
        <p:nvSpPr>
          <p:cNvPr id="9" name="Shape 17"/>
          <p:cNvSpPr/>
          <p:nvPr/>
        </p:nvSpPr>
        <p:spPr>
          <a:xfrm>
            <a:off x="3244825" y="1000125"/>
            <a:ext cx="2654313" cy="833437"/>
          </a:xfrm>
          <a:prstGeom prst="roundRect">
            <a:avLst>
              <a:gd name="adj" fmla="val 3530"/>
            </a:avLst>
          </a:prstGeom>
          <a:solidFill>
            <a:srgbClr val="FFFFFF"/>
          </a:solidFill>
          <a:ln w="4903">
            <a:solidFill>
              <a:srgbClr val="D9DFE3"/>
            </a:solidFill>
            <a:prstDash val="solid"/>
          </a:ln>
        </p:spPr>
      </p:sp>
      <p:sp>
        <p:nvSpPr>
          <p:cNvPr id="10" name="TextBox 19"/>
          <p:cNvSpPr/>
          <p:nvPr/>
        </p:nvSpPr>
        <p:spPr>
          <a:xfrm>
            <a:off x="3344838" y="1081088"/>
            <a:ext cx="2454288" cy="128587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040"/>
              </a:lnSpc>
              <a:buNone/>
            </a:pPr>
            <a:r>
              <a:rPr lang="en-US" sz="695" b="1" dirty="0">
                <a:solidFill>
                  <a:srgbClr val="299236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技法 4：格式约束</a:t>
            </a:r>
            <a:endParaRPr lang="en-US" sz="695" dirty="0"/>
          </a:p>
        </p:txBody>
      </p:sp>
      <p:sp>
        <p:nvSpPr>
          <p:cNvPr id="11" name="TextBox 21"/>
          <p:cNvSpPr/>
          <p:nvPr/>
        </p:nvSpPr>
        <p:spPr>
          <a:xfrm>
            <a:off x="3344838" y="1238250"/>
            <a:ext cx="2454288" cy="51435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040"/>
              </a:lnSpc>
              <a:buNone/>
            </a:pPr>
            <a:r>
              <a:rPr lang="en-US" sz="695" dirty="0">
                <a:solidFill>
                  <a:srgbClr val="5A656D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明确指定输出的格式、长度、结构。</a:t>
            </a:r>
            <a:r>
              <a:rPr lang="en-US" sz="695" b="1" dirty="0">
                <a:solidFill>
                  <a:srgbClr val="5A656D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核心原则：正面描述你要什么，而非负面禁止你不要什么。</a:t>
            </a:r>
            <a:r>
              <a:rPr lang="en-US" sz="695" dirty="0">
                <a:solidFill>
                  <a:srgbClr val="5A656D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"以编号列表输出，每项 ≤ 20 字"比"不要用 Markdown，不要编造数据"有效得多。需要 JSON → 优先用 Structured Outputs API。</a:t>
            </a:r>
            <a:endParaRPr lang="en-US" sz="695" dirty="0"/>
          </a:p>
        </p:txBody>
      </p:sp>
      <p:sp>
        <p:nvSpPr>
          <p:cNvPr id="12" name="Shape 24"/>
          <p:cNvSpPr/>
          <p:nvPr/>
        </p:nvSpPr>
        <p:spPr>
          <a:xfrm>
            <a:off x="6013437" y="1000125"/>
            <a:ext cx="2654313" cy="833437"/>
          </a:xfrm>
          <a:prstGeom prst="roundRect">
            <a:avLst>
              <a:gd name="adj" fmla="val 3530"/>
            </a:avLst>
          </a:prstGeom>
          <a:solidFill>
            <a:srgbClr val="FFFFFF"/>
          </a:solidFill>
          <a:ln w="4903">
            <a:solidFill>
              <a:srgbClr val="D9DFE3"/>
            </a:solidFill>
            <a:prstDash val="solid"/>
          </a:ln>
        </p:spPr>
      </p:sp>
      <p:sp>
        <p:nvSpPr>
          <p:cNvPr id="13" name="TextBox 26"/>
          <p:cNvSpPr/>
          <p:nvPr/>
        </p:nvSpPr>
        <p:spPr>
          <a:xfrm>
            <a:off x="6113450" y="1081088"/>
            <a:ext cx="2454288" cy="128587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040"/>
              </a:lnSpc>
              <a:buNone/>
            </a:pPr>
            <a:r>
              <a:rPr lang="en-US" sz="695" b="1" dirty="0">
                <a:solidFill>
                  <a:srgbClr val="299236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技法 5：分步拆解</a:t>
            </a:r>
            <a:endParaRPr lang="en-US" sz="695" dirty="0"/>
          </a:p>
        </p:txBody>
      </p:sp>
      <p:sp>
        <p:nvSpPr>
          <p:cNvPr id="14" name="TextBox 28"/>
          <p:cNvSpPr/>
          <p:nvPr/>
        </p:nvSpPr>
        <p:spPr>
          <a:xfrm>
            <a:off x="6113450" y="1238250"/>
            <a:ext cx="2454288" cy="385762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040"/>
              </a:lnSpc>
              <a:buNone/>
            </a:pPr>
            <a:r>
              <a:rPr lang="en-US" sz="695" dirty="0">
                <a:solidFill>
                  <a:srgbClr val="5A656D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将复杂任务拆为多个简单子任务。</a:t>
            </a:r>
            <a:r>
              <a:rPr lang="en-US" sz="695" b="1" dirty="0">
                <a:solidFill>
                  <a:srgbClr val="5A656D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关键原则：多个不相关任务合在一个 prompt 中会同时降低所有子任务质量。</a:t>
            </a:r>
            <a:r>
              <a:rPr lang="en-US" sz="695" dirty="0">
                <a:solidFill>
                  <a:srgbClr val="5A656D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应拆为独立 prompt 分别调用——前一个输出作为后一个的输入/参考。</a:t>
            </a:r>
            <a:endParaRPr lang="en-US" sz="695" dirty="0"/>
          </a:p>
        </p:txBody>
      </p:sp>
      <p:sp>
        <p:nvSpPr>
          <p:cNvPr id="15" name="TextBox 34"/>
          <p:cNvSpPr/>
          <p:nvPr/>
        </p:nvSpPr>
        <p:spPr>
          <a:xfrm>
            <a:off x="476250" y="1890713"/>
            <a:ext cx="8191500" cy="100012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810"/>
              </a:lnSpc>
              <a:buNone/>
            </a:pPr>
            <a:r>
              <a:rPr lang="en-US" sz="540" kern="0" spc="43" dirty="0">
                <a:solidFill>
                  <a:srgbClr val="299236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格式约束示例</a:t>
            </a:r>
            <a:endParaRPr lang="en-US" sz="540" dirty="0"/>
          </a:p>
        </p:txBody>
      </p:sp>
      <p:sp>
        <p:nvSpPr>
          <p:cNvPr id="16" name="Shape 38"/>
          <p:cNvSpPr/>
          <p:nvPr/>
        </p:nvSpPr>
        <p:spPr>
          <a:xfrm>
            <a:off x="476250" y="2047875"/>
            <a:ext cx="4038600" cy="407194"/>
          </a:xfrm>
          <a:prstGeom prst="roundRect">
            <a:avLst>
              <a:gd name="adj" fmla="val 7225"/>
            </a:avLst>
          </a:prstGeom>
          <a:solidFill>
            <a:srgbClr val="5A845A">
              <a:alpha val="12157"/>
            </a:srgbClr>
          </a:solidFill>
          <a:ln w="4903">
            <a:solidFill>
              <a:srgbClr val="5C875C">
                <a:alpha val="25098"/>
              </a:srgbClr>
            </a:solidFill>
            <a:prstDash val="solid"/>
          </a:ln>
        </p:spPr>
      </p:sp>
      <p:sp>
        <p:nvSpPr>
          <p:cNvPr id="17" name="TextBox 40"/>
          <p:cNvSpPr/>
          <p:nvPr/>
        </p:nvSpPr>
        <p:spPr>
          <a:xfrm>
            <a:off x="566737" y="2119313"/>
            <a:ext cx="3857625" cy="128587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040"/>
              </a:lnSpc>
              <a:buNone/>
            </a:pPr>
            <a:r>
              <a:rPr lang="en-US" sz="695" b="1" dirty="0">
                <a:solidFill>
                  <a:srgbClr val="121C23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❌ 负面表述</a:t>
            </a:r>
            <a:endParaRPr lang="en-US" sz="695" dirty="0"/>
          </a:p>
        </p:txBody>
      </p:sp>
      <p:sp>
        <p:nvSpPr>
          <p:cNvPr id="18" name="TextBox 42"/>
          <p:cNvSpPr/>
          <p:nvPr/>
        </p:nvSpPr>
        <p:spPr>
          <a:xfrm>
            <a:off x="566737" y="2262188"/>
            <a:ext cx="3857625" cy="121444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985"/>
              </a:lnSpc>
              <a:buNone/>
            </a:pPr>
            <a:r>
              <a:rPr lang="en-US" sz="655" dirty="0">
                <a:solidFill>
                  <a:srgbClr val="5A656D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"不要用 Markdown。不要编造数据。不要太长。不要用表格。"</a:t>
            </a:r>
            <a:endParaRPr lang="en-US" sz="655" dirty="0"/>
          </a:p>
        </p:txBody>
      </p:sp>
      <p:sp>
        <p:nvSpPr>
          <p:cNvPr id="19" name="Shape 45"/>
          <p:cNvSpPr/>
          <p:nvPr/>
        </p:nvSpPr>
        <p:spPr>
          <a:xfrm>
            <a:off x="4629150" y="2047875"/>
            <a:ext cx="4038600" cy="407194"/>
          </a:xfrm>
          <a:prstGeom prst="roundRect">
            <a:avLst>
              <a:gd name="adj" fmla="val 7225"/>
            </a:avLst>
          </a:prstGeom>
          <a:solidFill>
            <a:srgbClr val="FFFFFF"/>
          </a:solidFill>
          <a:ln w="4903">
            <a:solidFill>
              <a:srgbClr val="D9DFE3"/>
            </a:solidFill>
            <a:prstDash val="solid"/>
          </a:ln>
        </p:spPr>
      </p:sp>
      <p:sp>
        <p:nvSpPr>
          <p:cNvPr id="20" name="TextBox 47"/>
          <p:cNvSpPr/>
          <p:nvPr/>
        </p:nvSpPr>
        <p:spPr>
          <a:xfrm>
            <a:off x="4719637" y="2119313"/>
            <a:ext cx="3857625" cy="128587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040"/>
              </a:lnSpc>
              <a:buNone/>
            </a:pPr>
            <a:r>
              <a:rPr lang="en-US" sz="695" b="1" dirty="0">
                <a:solidFill>
                  <a:srgbClr val="299236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✅ 正面表述</a:t>
            </a:r>
            <a:endParaRPr lang="en-US" sz="695" dirty="0"/>
          </a:p>
        </p:txBody>
      </p:sp>
      <p:sp>
        <p:nvSpPr>
          <p:cNvPr id="21" name="TextBox 49"/>
          <p:cNvSpPr/>
          <p:nvPr/>
        </p:nvSpPr>
        <p:spPr>
          <a:xfrm>
            <a:off x="4719637" y="2262188"/>
            <a:ext cx="3857625" cy="121444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985"/>
              </a:lnSpc>
              <a:buNone/>
            </a:pPr>
            <a:r>
              <a:rPr lang="en-US" sz="655" dirty="0">
                <a:solidFill>
                  <a:srgbClr val="5A656D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"以纯文本段落回答。所有数据引用附原始来源。全文不超过 300 字。"</a:t>
            </a:r>
            <a:endParaRPr lang="en-US" sz="655" dirty="0"/>
          </a:p>
        </p:txBody>
      </p:sp>
      <p:pic>
        <p:nvPicPr>
          <p:cNvPr id="22" name="Picture 55" descr="__type_image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76250" y="4819650"/>
            <a:ext cx="8191500" cy="171450"/>
          </a:xfrm>
          <a:prstGeom prst="rect">
            <a:avLst/>
          </a:prstGeom>
        </p:spPr>
      </p:pic>
      <p:sp>
        <p:nvSpPr>
          <p:cNvPr id="23" name="TextBox 55"/>
          <p:cNvSpPr/>
          <p:nvPr/>
        </p:nvSpPr>
        <p:spPr>
          <a:xfrm>
            <a:off x="476250" y="4819650"/>
            <a:ext cx="8191500" cy="171450"/>
          </a:xfrm>
          <a:prstGeom prst="rect">
            <a:avLst/>
          </a:prstGeom>
          <a:noFill/>
        </p:spPr>
        <p:txBody>
          <a:bodyPr wrap="square" lIns="0" tIns="68645" rIns="0" bIns="0" rtlCol="0" anchor="t">
            <a:spAutoFit/>
          </a:bodyPr>
          <a:lstStyle/>
          <a:p>
            <a:pPr marL="0" indent="0" algn="l">
              <a:lnSpc>
                <a:spcPts val="810"/>
              </a:lnSpc>
              <a:buNone/>
            </a:pPr>
            <a:r>
              <a:rPr lang="en-US" sz="540" kern="0" spc="22" dirty="0">
                <a:solidFill>
                  <a:srgbClr val="5A656D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记住：2026 年的大模型不需要你教"怎么做"——它需要你定义"什么是好的"</a:t>
            </a:r>
            <a:endParaRPr lang="en-US" sz="54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6F9FC"/>
          </a:solidFill>
        </p:spPr>
      </p:sp>
      <p:sp>
        <p:nvSpPr>
          <p:cNvPr id="3" name="Shape 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6F9FC"/>
          </a:solidFill>
        </p:spPr>
      </p:sp>
      <p:pic>
        <p:nvPicPr>
          <p:cNvPr id="4" name="Picture 4" descr="__type_image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76250" y="381000"/>
            <a:ext cx="8191500" cy="390525"/>
          </a:xfrm>
          <a:prstGeom prst="rect">
            <a:avLst/>
          </a:prstGeom>
        </p:spPr>
      </p:pic>
      <p:sp>
        <p:nvSpPr>
          <p:cNvPr id="5" name="TextBox 4"/>
          <p:cNvSpPr/>
          <p:nvPr/>
        </p:nvSpPr>
        <p:spPr>
          <a:xfrm>
            <a:off x="476250" y="381000"/>
            <a:ext cx="8191500" cy="390525"/>
          </a:xfrm>
          <a:prstGeom prst="rect">
            <a:avLst/>
          </a:prstGeom>
          <a:noFill/>
        </p:spPr>
        <p:txBody>
          <a:bodyPr wrap="square" lIns="0" tIns="0" rIns="0" bIns="98065" rtlCol="0" anchor="t">
            <a:spAutoFit/>
          </a:bodyPr>
          <a:lstStyle/>
          <a:p>
            <a:pPr marL="0" indent="0" algn="l">
              <a:lnSpc>
                <a:spcPts val="2315"/>
              </a:lnSpc>
              <a:buNone/>
            </a:pPr>
            <a:r>
              <a:rPr lang="en-US" sz="1545" b="1" kern="0" spc="-23" dirty="0">
                <a:solidFill>
                  <a:srgbClr val="121C23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核心技法（三）：预填响应 + XML 标签化</a:t>
            </a:r>
            <a:endParaRPr lang="en-US" sz="1545" dirty="0"/>
          </a:p>
        </p:txBody>
      </p:sp>
      <p:sp>
        <p:nvSpPr>
          <p:cNvPr id="6" name="TextBox 12"/>
          <p:cNvSpPr/>
          <p:nvPr/>
        </p:nvSpPr>
        <p:spPr>
          <a:xfrm>
            <a:off x="476250" y="1000125"/>
            <a:ext cx="4029075" cy="100012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810"/>
              </a:lnSpc>
              <a:buNone/>
            </a:pPr>
            <a:r>
              <a:rPr lang="en-US" sz="540" kern="0" spc="43" dirty="0">
                <a:solidFill>
                  <a:srgbClr val="299236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技法 6：预填响应 PRE-FILLING</a:t>
            </a:r>
            <a:endParaRPr lang="en-US" sz="540" dirty="0"/>
          </a:p>
        </p:txBody>
      </p:sp>
      <p:sp>
        <p:nvSpPr>
          <p:cNvPr id="7" name="TextBox 14"/>
          <p:cNvSpPr/>
          <p:nvPr/>
        </p:nvSpPr>
        <p:spPr>
          <a:xfrm>
            <a:off x="476250" y="1214437"/>
            <a:ext cx="4029075" cy="31432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275"/>
              </a:lnSpc>
              <a:buNone/>
            </a:pPr>
            <a:r>
              <a:rPr lang="en-US" sz="850" dirty="0">
                <a:solidFill>
                  <a:srgbClr val="5A656D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在 Assistant 角色消息中预设起始文本，强制模型从指定位置续写。适用于需要精确控制输出格式开头——如强制以特定标签或关键词开头。</a:t>
            </a:r>
            <a:endParaRPr lang="en-US" sz="850" dirty="0"/>
          </a:p>
        </p:txBody>
      </p:sp>
      <p:sp>
        <p:nvSpPr>
          <p:cNvPr id="8" name="TextBox 16"/>
          <p:cNvSpPr/>
          <p:nvPr/>
        </p:nvSpPr>
        <p:spPr>
          <a:xfrm>
            <a:off x="476250" y="1585913"/>
            <a:ext cx="4029075" cy="100012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810"/>
              </a:lnSpc>
              <a:buNone/>
            </a:pPr>
            <a:r>
              <a:rPr lang="en-US" sz="540" kern="0" spc="43" dirty="0">
                <a:solidFill>
                  <a:srgbClr val="299236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技法 7：XML 标签化结构</a:t>
            </a:r>
            <a:endParaRPr lang="en-US" sz="540" dirty="0"/>
          </a:p>
        </p:txBody>
      </p:sp>
      <p:sp>
        <p:nvSpPr>
          <p:cNvPr id="9" name="TextBox 18"/>
          <p:cNvSpPr/>
          <p:nvPr/>
        </p:nvSpPr>
        <p:spPr>
          <a:xfrm>
            <a:off x="476250" y="1800225"/>
            <a:ext cx="4029075" cy="32639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275"/>
              </a:lnSpc>
              <a:buNone/>
            </a:pPr>
            <a:r>
              <a:rPr lang="en-US" sz="850" dirty="0">
                <a:solidFill>
                  <a:srgbClr val="5A656D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用 XML 标签将 prompt 各部分清晰分隔——identity / task / principles / constraints / examples / data。模型能从标签语义中推断结构意图，比纯文本布局更准确。</a:t>
            </a:r>
            <a:endParaRPr lang="en-US" sz="850" dirty="0"/>
          </a:p>
        </p:txBody>
      </p:sp>
      <p:sp>
        <p:nvSpPr>
          <p:cNvPr id="10" name="TextBox 23"/>
          <p:cNvSpPr/>
          <p:nvPr/>
        </p:nvSpPr>
        <p:spPr>
          <a:xfrm>
            <a:off x="4638675" y="1000125"/>
            <a:ext cx="4029075" cy="100012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810"/>
              </a:lnSpc>
              <a:buNone/>
            </a:pPr>
            <a:r>
              <a:rPr lang="en-US" sz="540" kern="0" spc="43" dirty="0">
                <a:solidFill>
                  <a:srgbClr val="299236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2026 新范式速查</a:t>
            </a:r>
            <a:endParaRPr lang="en-US" sz="540" dirty="0"/>
          </a:p>
        </p:txBody>
      </p:sp>
      <p:graphicFrame>
        <p:nvGraphicFramePr>
          <p:cNvPr id="40" name="Table 25"/>
          <p:cNvGraphicFramePr>
            <a:graphicFrameLocks noGrp="1"/>
          </p:cNvGraphicFramePr>
          <p:nvPr/>
        </p:nvGraphicFramePr>
        <p:xfrm>
          <a:off x="4638675" y="1157288"/>
          <a:ext cx="4029075" cy="914400"/>
        </p:xfrm>
        <a:graphic>
          <a:graphicData uri="http://schemas.openxmlformats.org/drawingml/2006/table">
            <a:tbl>
              <a:tblPr/>
              <a:tblGrid>
                <a:gridCol w="841512"/>
                <a:gridCol w="1488690"/>
                <a:gridCol w="1698873"/>
              </a:tblGrid>
              <a:tr h="0"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925"/>
                        </a:lnSpc>
                        <a:buNone/>
                      </a:pPr>
                      <a:r>
                        <a:rPr lang="en-US" sz="620" b="1" kern="0" spc="37" dirty="0">
                          <a:solidFill>
                            <a:srgbClr val="299236"/>
                          </a:solidFill>
                          <a:latin typeface="Consolas" panose="020B0609020204030204" pitchFamily="34" charset="0"/>
                          <a:ea typeface="Consolas" panose="020B0609020204030204" pitchFamily="34" charset="-122"/>
                          <a:cs typeface="Consolas" panose="020B0609020204030204" pitchFamily="34" charset="-120"/>
                        </a:rPr>
                        <a:t>维度</a:t>
                      </a:r>
                      <a:endParaRPr lang="en-US" sz="620" dirty="0">
                        <a:latin typeface="Consolas" panose="020B0609020204030204" pitchFamily="34" charset="0"/>
                        <a:ea typeface="Consolas" panose="020B0609020204030204" pitchFamily="34" charset="0"/>
                        <a:cs typeface="Consolas" panose="020B0609020204030204" pitchFamily="34" charset="0"/>
                      </a:endParaRPr>
                    </a:p>
                  </a:txBody>
                  <a:tcPr marL="122581" marR="122581" marT="83355" marB="8335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806" cap="flat" cmpd="sng" algn="ctr">
                      <a:solidFill>
                        <a:srgbClr val="2992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A845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1275"/>
                        </a:lnSpc>
                        <a:buNone/>
                      </a:pPr>
                      <a:r>
                        <a:rPr lang="en-US" sz="850" b="1" dirty="0">
                          <a:solidFill>
                            <a:srgbClr val="121C23"/>
                          </a:solidFill>
                          <a:latin typeface="Segoe UI" panose="020B0502040204020203" pitchFamily="34" charset="0"/>
                          <a:ea typeface="Segoe UI" panose="020B0502040204020203" pitchFamily="34" charset="-122"/>
                          <a:cs typeface="Segoe UI" panose="020B0502040204020203" pitchFamily="34" charset="-120"/>
                        </a:rPr>
                        <a:t>老范式</a:t>
                      </a:r>
                      <a:endParaRPr lang="en-US" sz="850" dirty="0">
                        <a:latin typeface="Segoe UI" panose="020B0502040204020203" pitchFamily="34" charset="0"/>
                        <a:ea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22581" marR="122581" marT="83355" marB="8335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806" cap="flat" cmpd="sng" algn="ctr">
                      <a:solidFill>
                        <a:srgbClr val="2992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A845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1275"/>
                        </a:lnSpc>
                        <a:buNone/>
                      </a:pPr>
                      <a:r>
                        <a:rPr lang="en-US" sz="850" b="1" dirty="0">
                          <a:solidFill>
                            <a:srgbClr val="121C23"/>
                          </a:solidFill>
                          <a:latin typeface="Segoe UI" panose="020B0502040204020203" pitchFamily="34" charset="0"/>
                          <a:ea typeface="Segoe UI" panose="020B0502040204020203" pitchFamily="34" charset="-122"/>
                          <a:cs typeface="Segoe UI" panose="020B0502040204020203" pitchFamily="34" charset="-120"/>
                        </a:rPr>
                        <a:t>新范式</a:t>
                      </a:r>
                      <a:endParaRPr lang="en-US" sz="850" dirty="0">
                        <a:latin typeface="Segoe UI" panose="020B0502040204020203" pitchFamily="34" charset="0"/>
                        <a:ea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22581" marR="122581" marT="83355" marB="8335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806" cap="flat" cmpd="sng" algn="ctr">
                      <a:solidFill>
                        <a:srgbClr val="2992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A845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985"/>
                        </a:lnSpc>
                        <a:buNone/>
                      </a:pPr>
                      <a:r>
                        <a:rPr lang="en-US" sz="655" b="1" dirty="0">
                          <a:solidFill>
                            <a:srgbClr val="121C23"/>
                          </a:solidFill>
                          <a:latin typeface="Segoe UI" panose="020B0502040204020203" pitchFamily="34" charset="0"/>
                          <a:ea typeface="Segoe UI" panose="020B0502040204020203" pitchFamily="34" charset="-122"/>
                          <a:cs typeface="Segoe UI" panose="020B0502040204020203" pitchFamily="34" charset="-120"/>
                        </a:rPr>
                        <a:t>角色定义</a:t>
                      </a:r>
                      <a:endParaRPr lang="en-US" sz="655" dirty="0">
                        <a:latin typeface="Segoe UI" panose="020B0502040204020203" pitchFamily="34" charset="0"/>
                        <a:ea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22581" marR="122581" marT="73549" marB="73549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4903" cap="flat" cmpd="sng" algn="ctr">
                      <a:solidFill>
                        <a:srgbClr val="D9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985"/>
                        </a:lnSpc>
                        <a:buNone/>
                      </a:pPr>
                      <a:r>
                        <a:rPr lang="en-US" sz="655" dirty="0">
                          <a:solidFill>
                            <a:srgbClr val="121C23"/>
                          </a:solidFill>
                          <a:latin typeface="Segoe UI" panose="020B0502040204020203" pitchFamily="34" charset="0"/>
                          <a:ea typeface="Segoe UI" panose="020B0502040204020203" pitchFamily="34" charset="-122"/>
                          <a:cs typeface="Segoe UI" panose="020B0502040204020203" pitchFamily="34" charset="-120"/>
                        </a:rPr>
                        <a:t>长篇背景</a:t>
                      </a:r>
                      <a:endParaRPr lang="en-US" sz="655" dirty="0">
                        <a:latin typeface="Segoe UI" panose="020B0502040204020203" pitchFamily="34" charset="0"/>
                        <a:ea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22581" marR="122581" marT="73549" marB="73549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4903" cap="flat" cmpd="sng" algn="ctr">
                      <a:solidFill>
                        <a:srgbClr val="D9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985"/>
                        </a:lnSpc>
                        <a:buNone/>
                      </a:pPr>
                      <a:r>
                        <a:rPr lang="en-US" sz="655" b="1" dirty="0">
                          <a:solidFill>
                            <a:srgbClr val="5A656D"/>
                          </a:solidFill>
                          <a:latin typeface="Segoe UI" panose="020B0502040204020203" pitchFamily="34" charset="0"/>
                          <a:ea typeface="Segoe UI" panose="020B0502040204020203" pitchFamily="34" charset="-122"/>
                          <a:cs typeface="Segoe UI" panose="020B0502040204020203" pitchFamily="34" charset="-120"/>
                        </a:rPr>
                        <a:t>一句话</a:t>
                      </a:r>
                      <a:endParaRPr lang="en-US" sz="655" dirty="0">
                        <a:latin typeface="Segoe UI" panose="020B0502040204020203" pitchFamily="34" charset="0"/>
                        <a:ea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22581" marR="122581" marT="73549" marB="73549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4903" cap="flat" cmpd="sng" algn="ctr">
                      <a:solidFill>
                        <a:srgbClr val="D9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985"/>
                        </a:lnSpc>
                        <a:buNone/>
                      </a:pPr>
                      <a:r>
                        <a:rPr lang="en-US" sz="655" b="1" dirty="0">
                          <a:solidFill>
                            <a:srgbClr val="121C23"/>
                          </a:solidFill>
                          <a:latin typeface="Segoe UI" panose="020B0502040204020203" pitchFamily="34" charset="0"/>
                          <a:ea typeface="Segoe UI" panose="020B0502040204020203" pitchFamily="34" charset="-122"/>
                          <a:cs typeface="Segoe UI" panose="020B0502040204020203" pitchFamily="34" charset="-120"/>
                        </a:rPr>
                        <a:t>任务描述</a:t>
                      </a:r>
                      <a:endParaRPr lang="en-US" sz="655" dirty="0">
                        <a:latin typeface="Segoe UI" panose="020B0502040204020203" pitchFamily="34" charset="0"/>
                        <a:ea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22581" marR="122581" marT="73549" marB="73549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4903" cap="flat" cmpd="sng" algn="ctr">
                      <a:solidFill>
                        <a:srgbClr val="D9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985"/>
                        </a:lnSpc>
                        <a:buNone/>
                      </a:pPr>
                      <a:r>
                        <a:rPr lang="en-US" sz="655" dirty="0">
                          <a:solidFill>
                            <a:srgbClr val="121C23"/>
                          </a:solidFill>
                          <a:latin typeface="Segoe UI" panose="020B0502040204020203" pitchFamily="34" charset="0"/>
                          <a:ea typeface="Segoe UI" panose="020B0502040204020203" pitchFamily="34" charset="-122"/>
                          <a:cs typeface="Segoe UI" panose="020B0502040204020203" pitchFamily="34" charset="-120"/>
                        </a:rPr>
                        <a:t>步骤 1,2,3...</a:t>
                      </a:r>
                      <a:endParaRPr lang="en-US" sz="655" dirty="0">
                        <a:latin typeface="Segoe UI" panose="020B0502040204020203" pitchFamily="34" charset="0"/>
                        <a:ea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22581" marR="122581" marT="73549" marB="73549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4903" cap="flat" cmpd="sng" algn="ctr">
                      <a:solidFill>
                        <a:srgbClr val="D9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985"/>
                        </a:lnSpc>
                        <a:buNone/>
                      </a:pPr>
                      <a:r>
                        <a:rPr lang="en-US" sz="655" b="1" dirty="0">
                          <a:solidFill>
                            <a:srgbClr val="5A656D"/>
                          </a:solidFill>
                          <a:latin typeface="Segoe UI" panose="020B0502040204020203" pitchFamily="34" charset="0"/>
                          <a:ea typeface="Segoe UI" panose="020B0502040204020203" pitchFamily="34" charset="-122"/>
                          <a:cs typeface="Segoe UI" panose="020B0502040204020203" pitchFamily="34" charset="-120"/>
                        </a:rPr>
                        <a:t>原则 + 判断标准</a:t>
                      </a:r>
                      <a:endParaRPr lang="en-US" sz="655" dirty="0">
                        <a:latin typeface="Segoe UI" panose="020B0502040204020203" pitchFamily="34" charset="0"/>
                        <a:ea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22581" marR="122581" marT="73549" marB="73549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4903" cap="flat" cmpd="sng" algn="ctr">
                      <a:solidFill>
                        <a:srgbClr val="D9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985"/>
                        </a:lnSpc>
                        <a:buNone/>
                      </a:pPr>
                      <a:r>
                        <a:rPr lang="en-US" sz="655" b="1" dirty="0">
                          <a:solidFill>
                            <a:srgbClr val="121C23"/>
                          </a:solidFill>
                          <a:latin typeface="Segoe UI" panose="020B0502040204020203" pitchFamily="34" charset="0"/>
                          <a:ea typeface="Segoe UI" panose="020B0502040204020203" pitchFamily="34" charset="-122"/>
                          <a:cs typeface="Segoe UI" panose="020B0502040204020203" pitchFamily="34" charset="-120"/>
                        </a:rPr>
                        <a:t>约束表达</a:t>
                      </a:r>
                      <a:endParaRPr lang="en-US" sz="655" dirty="0">
                        <a:latin typeface="Segoe UI" panose="020B0502040204020203" pitchFamily="34" charset="0"/>
                        <a:ea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22581" marR="122581" marT="73549" marB="73549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4903" cap="flat" cmpd="sng" algn="ctr">
                      <a:solidFill>
                        <a:srgbClr val="D9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985"/>
                        </a:lnSpc>
                        <a:buNone/>
                      </a:pPr>
                      <a:r>
                        <a:rPr lang="en-US" sz="655" dirty="0">
                          <a:solidFill>
                            <a:srgbClr val="121C23"/>
                          </a:solidFill>
                          <a:latin typeface="Segoe UI" panose="020B0502040204020203" pitchFamily="34" charset="0"/>
                          <a:ea typeface="Segoe UI" panose="020B0502040204020203" pitchFamily="34" charset="-122"/>
                          <a:cs typeface="Segoe UI" panose="020B0502040204020203" pitchFamily="34" charset="-120"/>
                        </a:rPr>
                        <a:t>"不要做 X"</a:t>
                      </a:r>
                      <a:endParaRPr lang="en-US" sz="655" dirty="0">
                        <a:latin typeface="Segoe UI" panose="020B0502040204020203" pitchFamily="34" charset="0"/>
                        <a:ea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22581" marR="122581" marT="73549" marB="73549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4903" cap="flat" cmpd="sng" algn="ctr">
                      <a:solidFill>
                        <a:srgbClr val="D9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985"/>
                        </a:lnSpc>
                        <a:buNone/>
                      </a:pPr>
                      <a:r>
                        <a:rPr lang="en-US" sz="655" b="1" dirty="0">
                          <a:solidFill>
                            <a:srgbClr val="5A656D"/>
                          </a:solidFill>
                          <a:latin typeface="Segoe UI" panose="020B0502040204020203" pitchFamily="34" charset="0"/>
                          <a:ea typeface="Segoe UI" panose="020B0502040204020203" pitchFamily="34" charset="-122"/>
                          <a:cs typeface="Segoe UI" panose="020B0502040204020203" pitchFamily="34" charset="-120"/>
                        </a:rPr>
                        <a:t>"请做 Y"（正面）</a:t>
                      </a:r>
                      <a:endParaRPr lang="en-US" sz="655" dirty="0">
                        <a:latin typeface="Segoe UI" panose="020B0502040204020203" pitchFamily="34" charset="0"/>
                        <a:ea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22581" marR="122581" marT="73549" marB="73549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4903" cap="flat" cmpd="sng" algn="ctr">
                      <a:solidFill>
                        <a:srgbClr val="D9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985"/>
                        </a:lnSpc>
                        <a:buNone/>
                      </a:pPr>
                      <a:r>
                        <a:rPr lang="en-US" sz="655" b="1" dirty="0">
                          <a:solidFill>
                            <a:srgbClr val="121C23"/>
                          </a:solidFill>
                          <a:latin typeface="Segoe UI" panose="020B0502040204020203" pitchFamily="34" charset="0"/>
                          <a:ea typeface="Segoe UI" panose="020B0502040204020203" pitchFamily="34" charset="-122"/>
                          <a:cs typeface="Segoe UI" panose="020B0502040204020203" pitchFamily="34" charset="-120"/>
                        </a:rPr>
                        <a:t>推理控制</a:t>
                      </a:r>
                      <a:endParaRPr lang="en-US" sz="655" dirty="0">
                        <a:latin typeface="Segoe UI" panose="020B0502040204020203" pitchFamily="34" charset="0"/>
                        <a:ea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22581" marR="122581" marT="73549" marB="73549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4903" cap="flat" cmpd="sng" algn="ctr">
                      <a:solidFill>
                        <a:srgbClr val="D9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985"/>
                        </a:lnSpc>
                        <a:buNone/>
                      </a:pPr>
                      <a:r>
                        <a:rPr lang="en-US" sz="655" dirty="0">
                          <a:solidFill>
                            <a:srgbClr val="121C23"/>
                          </a:solidFill>
                          <a:latin typeface="Segoe UI" panose="020B0502040204020203" pitchFamily="34" charset="0"/>
                          <a:ea typeface="Segoe UI" panose="020B0502040204020203" pitchFamily="34" charset="-122"/>
                          <a:cs typeface="Segoe UI" panose="020B0502040204020203" pitchFamily="34" charset="-120"/>
                        </a:rPr>
                        <a:t>"Think step by step"</a:t>
                      </a:r>
                      <a:endParaRPr lang="en-US" sz="655" dirty="0">
                        <a:latin typeface="Segoe UI" panose="020B0502040204020203" pitchFamily="34" charset="0"/>
                        <a:ea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22581" marR="122581" marT="73549" marB="73549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4903" cap="flat" cmpd="sng" algn="ctr">
                      <a:solidFill>
                        <a:srgbClr val="D9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985"/>
                        </a:lnSpc>
                        <a:buNone/>
                      </a:pPr>
                      <a:r>
                        <a:rPr lang="en-US" sz="655" b="1" dirty="0">
                          <a:solidFill>
                            <a:srgbClr val="5A656D"/>
                          </a:solidFill>
                          <a:latin typeface="Segoe UI" panose="020B0502040204020203" pitchFamily="34" charset="0"/>
                          <a:ea typeface="Segoe UI" panose="020B0502040204020203" pitchFamily="34" charset="-122"/>
                          <a:cs typeface="Segoe UI" panose="020B0502040204020203" pitchFamily="34" charset="-120"/>
                        </a:rPr>
                        <a:t>thinking: adaptive 参数</a:t>
                      </a:r>
                      <a:endParaRPr lang="en-US" sz="655" dirty="0">
                        <a:latin typeface="Segoe UI" panose="020B0502040204020203" pitchFamily="34" charset="0"/>
                        <a:ea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22581" marR="122581" marT="73549" marB="73549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4903" cap="flat" cmpd="sng" algn="ctr">
                      <a:solidFill>
                        <a:srgbClr val="D9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985"/>
                        </a:lnSpc>
                        <a:buNone/>
                      </a:pPr>
                      <a:r>
                        <a:rPr lang="en-US" sz="655" b="1" dirty="0">
                          <a:solidFill>
                            <a:srgbClr val="121C23"/>
                          </a:solidFill>
                          <a:latin typeface="Segoe UI" panose="020B0502040204020203" pitchFamily="34" charset="0"/>
                          <a:ea typeface="Segoe UI" panose="020B0502040204020203" pitchFamily="34" charset="-122"/>
                          <a:cs typeface="Segoe UI" panose="020B0502040204020203" pitchFamily="34" charset="-120"/>
                        </a:rPr>
                        <a:t>格式控制</a:t>
                      </a:r>
                      <a:endParaRPr lang="en-US" sz="655" dirty="0">
                        <a:latin typeface="Segoe UI" panose="020B0502040204020203" pitchFamily="34" charset="0"/>
                        <a:ea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22581" marR="122581" marT="73549" marB="73549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4903" cap="flat" cmpd="sng" algn="ctr">
                      <a:solidFill>
                        <a:srgbClr val="D9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985"/>
                        </a:lnSpc>
                        <a:buNone/>
                      </a:pPr>
                      <a:r>
                        <a:rPr lang="en-US" sz="655" dirty="0">
                          <a:solidFill>
                            <a:srgbClr val="121C23"/>
                          </a:solidFill>
                          <a:latin typeface="Segoe UI" panose="020B0502040204020203" pitchFamily="34" charset="0"/>
                          <a:ea typeface="Segoe UI" panose="020B0502040204020203" pitchFamily="34" charset="-122"/>
                          <a:cs typeface="Segoe UI" panose="020B0502040204020203" pitchFamily="34" charset="-120"/>
                        </a:rPr>
                        <a:t>prompt 中描述 JSON</a:t>
                      </a:r>
                      <a:endParaRPr lang="en-US" sz="655" dirty="0">
                        <a:latin typeface="Segoe UI" panose="020B0502040204020203" pitchFamily="34" charset="0"/>
                        <a:ea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22581" marR="122581" marT="73549" marB="73549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4903" cap="flat" cmpd="sng" algn="ctr">
                      <a:solidFill>
                        <a:srgbClr val="D9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985"/>
                        </a:lnSpc>
                        <a:buNone/>
                      </a:pPr>
                      <a:r>
                        <a:rPr lang="en-US" sz="655" b="1" dirty="0">
                          <a:solidFill>
                            <a:srgbClr val="5A656D"/>
                          </a:solidFill>
                          <a:latin typeface="Segoe UI" panose="020B0502040204020203" pitchFamily="34" charset="0"/>
                          <a:ea typeface="Segoe UI" panose="020B0502040204020203" pitchFamily="34" charset="-122"/>
                          <a:cs typeface="Segoe UI" panose="020B0502040204020203" pitchFamily="34" charset="-120"/>
                        </a:rPr>
                        <a:t>Structured Outputs API</a:t>
                      </a:r>
                      <a:endParaRPr lang="en-US" sz="655" dirty="0">
                        <a:latin typeface="Segoe UI" panose="020B0502040204020203" pitchFamily="34" charset="0"/>
                        <a:ea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22581" marR="122581" marT="73549" marB="73549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4903" cap="flat" cmpd="sng" algn="ctr">
                      <a:solidFill>
                        <a:srgbClr val="D9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985"/>
                        </a:lnSpc>
                        <a:buNone/>
                      </a:pPr>
                      <a:r>
                        <a:rPr lang="en-US" sz="655" b="1" dirty="0">
                          <a:solidFill>
                            <a:srgbClr val="121C23"/>
                          </a:solidFill>
                          <a:latin typeface="Segoe UI" panose="020B0502040204020203" pitchFamily="34" charset="0"/>
                          <a:ea typeface="Segoe UI" panose="020B0502040204020203" pitchFamily="34" charset="-122"/>
                          <a:cs typeface="Segoe UI" panose="020B0502040204020203" pitchFamily="34" charset="-120"/>
                        </a:rPr>
                        <a:t>工具调用</a:t>
                      </a:r>
                      <a:endParaRPr lang="en-US" sz="655" dirty="0">
                        <a:latin typeface="Segoe UI" panose="020B0502040204020203" pitchFamily="34" charset="0"/>
                        <a:ea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22581" marR="122581" marT="73549" marB="73549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4903" cap="flat" cmpd="sng" algn="ctr">
                      <a:solidFill>
                        <a:srgbClr val="D9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985"/>
                        </a:lnSpc>
                        <a:buNone/>
                      </a:pPr>
                      <a:r>
                        <a:rPr lang="en-US" sz="655" dirty="0">
                          <a:solidFill>
                            <a:srgbClr val="121C23"/>
                          </a:solidFill>
                          <a:latin typeface="Segoe UI" panose="020B0502040204020203" pitchFamily="34" charset="0"/>
                          <a:ea typeface="Segoe UI" panose="020B0502040204020203" pitchFamily="34" charset="-122"/>
                          <a:cs typeface="Segoe UI" panose="020B0502040204020203" pitchFamily="34" charset="-120"/>
                        </a:rPr>
                        <a:t>"MUST use tool!!!"</a:t>
                      </a:r>
                      <a:endParaRPr lang="en-US" sz="655" dirty="0">
                        <a:latin typeface="Segoe UI" panose="020B0502040204020203" pitchFamily="34" charset="0"/>
                        <a:ea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22581" marR="122581" marT="73549" marB="73549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4903" cap="flat" cmpd="sng" algn="ctr">
                      <a:solidFill>
                        <a:srgbClr val="D9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985"/>
                        </a:lnSpc>
                        <a:buNone/>
                      </a:pPr>
                      <a:r>
                        <a:rPr lang="en-US" sz="655" b="1" dirty="0">
                          <a:solidFill>
                            <a:srgbClr val="5A656D"/>
                          </a:solidFill>
                          <a:latin typeface="Segoe UI" panose="020B0502040204020203" pitchFamily="34" charset="0"/>
                          <a:ea typeface="Segoe UI" panose="020B0502040204020203" pitchFamily="34" charset="-122"/>
                          <a:cs typeface="Segoe UI" panose="020B0502040204020203" pitchFamily="34" charset="-120"/>
                        </a:rPr>
                        <a:t>"当…时使用此工具"</a:t>
                      </a:r>
                      <a:endParaRPr lang="en-US" sz="655" dirty="0">
                        <a:latin typeface="Segoe UI" panose="020B0502040204020203" pitchFamily="34" charset="0"/>
                        <a:ea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22581" marR="122581" marT="73549" marB="73549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4903" cap="flat" cmpd="sng" algn="ctr">
                      <a:solidFill>
                        <a:srgbClr val="D9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985"/>
                        </a:lnSpc>
                        <a:buNone/>
                      </a:pPr>
                      <a:r>
                        <a:rPr lang="en-US" sz="655" b="1" dirty="0">
                          <a:solidFill>
                            <a:srgbClr val="121C23"/>
                          </a:solidFill>
                          <a:latin typeface="Segoe UI" panose="020B0502040204020203" pitchFamily="34" charset="0"/>
                          <a:ea typeface="Segoe UI" panose="020B0502040204020203" pitchFamily="34" charset="-122"/>
                          <a:cs typeface="Segoe UI" panose="020B0502040204020203" pitchFamily="34" charset="-120"/>
                        </a:rPr>
                        <a:t>结构</a:t>
                      </a:r>
                      <a:endParaRPr lang="en-US" sz="655" dirty="0">
                        <a:latin typeface="Segoe UI" panose="020B0502040204020203" pitchFamily="34" charset="0"/>
                        <a:ea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22581" marR="122581" marT="73549" marB="73549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4903" cap="flat" cmpd="sng" algn="ctr">
                      <a:solidFill>
                        <a:srgbClr val="D9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985"/>
                        </a:lnSpc>
                        <a:buNone/>
                      </a:pPr>
                      <a:r>
                        <a:rPr lang="en-US" sz="655" dirty="0">
                          <a:solidFill>
                            <a:srgbClr val="121C23"/>
                          </a:solidFill>
                          <a:latin typeface="Segoe UI" panose="020B0502040204020203" pitchFamily="34" charset="0"/>
                          <a:ea typeface="Segoe UI" panose="020B0502040204020203" pitchFamily="34" charset="-122"/>
                          <a:cs typeface="Segoe UI" panose="020B0502040204020203" pitchFamily="34" charset="-120"/>
                        </a:rPr>
                        <a:t>一整块文本</a:t>
                      </a:r>
                      <a:endParaRPr lang="en-US" sz="655" dirty="0">
                        <a:latin typeface="Segoe UI" panose="020B0502040204020203" pitchFamily="34" charset="0"/>
                        <a:ea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22581" marR="122581" marT="73549" marB="73549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4903" cap="flat" cmpd="sng" algn="ctr">
                      <a:solidFill>
                        <a:srgbClr val="D9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985"/>
                        </a:lnSpc>
                        <a:buNone/>
                      </a:pPr>
                      <a:r>
                        <a:rPr lang="en-US" sz="655" b="1" dirty="0">
                          <a:solidFill>
                            <a:srgbClr val="5A656D"/>
                          </a:solidFill>
                          <a:latin typeface="Segoe UI" panose="020B0502040204020203" pitchFamily="34" charset="0"/>
                          <a:ea typeface="Segoe UI" panose="020B0502040204020203" pitchFamily="34" charset="-122"/>
                          <a:cs typeface="Segoe UI" panose="020B0502040204020203" pitchFamily="34" charset="-120"/>
                        </a:rPr>
                        <a:t>XML/MD 分区</a:t>
                      </a:r>
                      <a:endParaRPr lang="en-US" sz="655" dirty="0">
                        <a:latin typeface="Segoe UI" panose="020B0502040204020203" pitchFamily="34" charset="0"/>
                        <a:ea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22581" marR="122581" marT="73549" marB="73549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4903" cap="flat" cmpd="sng" algn="ctr">
                      <a:solidFill>
                        <a:srgbClr val="D9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id="12" name="Shape 29"/>
          <p:cNvSpPr/>
          <p:nvPr/>
        </p:nvSpPr>
        <p:spPr>
          <a:xfrm>
            <a:off x="476250" y="4271963"/>
            <a:ext cx="8191500" cy="490537"/>
          </a:xfrm>
          <a:prstGeom prst="roundRect">
            <a:avLst>
              <a:gd name="adj" fmla="val 5997"/>
            </a:avLst>
          </a:prstGeom>
          <a:solidFill>
            <a:srgbClr val="5A845A">
              <a:alpha val="12157"/>
            </a:srgbClr>
          </a:solidFill>
          <a:ln w="4903">
            <a:solidFill>
              <a:srgbClr val="5C875C">
                <a:alpha val="25098"/>
              </a:srgbClr>
            </a:solidFill>
            <a:prstDash val="solid"/>
          </a:ln>
        </p:spPr>
      </p:sp>
      <p:sp>
        <p:nvSpPr>
          <p:cNvPr id="13" name="TextBox 31"/>
          <p:cNvSpPr/>
          <p:nvPr/>
        </p:nvSpPr>
        <p:spPr>
          <a:xfrm>
            <a:off x="633412" y="4381500"/>
            <a:ext cx="7877175" cy="28194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735" b="1" dirty="0">
                <a:solidFill>
                  <a:srgbClr val="121C23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关键设计（Anthropic 官方）：</a:t>
            </a:r>
            <a:r>
              <a:rPr lang="en-US" sz="735" dirty="0">
                <a:solidFill>
                  <a:srgbClr val="121C23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"Claude 的推理能力通常超出人类能预先规划的最优路径——所以给它原则和判断标准，比给它详细的步骤清单，效果更好。"不是"不要给步骤"，而是"如果你不确定哪条路径最优，只给目标，让模型自己规划路径"。</a:t>
            </a:r>
            <a:endParaRPr lang="en-US" sz="735" dirty="0"/>
          </a:p>
        </p:txBody>
      </p:sp>
      <p:pic>
        <p:nvPicPr>
          <p:cNvPr id="14" name="Picture 35" descr="__type_image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76250" y="4819650"/>
            <a:ext cx="8191500" cy="171450"/>
          </a:xfrm>
          <a:prstGeom prst="rect">
            <a:avLst/>
          </a:prstGeom>
        </p:spPr>
      </p:pic>
      <p:sp>
        <p:nvSpPr>
          <p:cNvPr id="15" name="TextBox 35"/>
          <p:cNvSpPr/>
          <p:nvPr/>
        </p:nvSpPr>
        <p:spPr>
          <a:xfrm>
            <a:off x="476250" y="4819650"/>
            <a:ext cx="8191500" cy="171450"/>
          </a:xfrm>
          <a:prstGeom prst="rect">
            <a:avLst/>
          </a:prstGeom>
          <a:noFill/>
        </p:spPr>
        <p:txBody>
          <a:bodyPr wrap="square" lIns="0" tIns="68645" rIns="0" bIns="0" rtlCol="0" anchor="t">
            <a:spAutoFit/>
          </a:bodyPr>
          <a:lstStyle/>
          <a:p>
            <a:pPr marL="0" indent="0" algn="l">
              <a:lnSpc>
                <a:spcPts val="810"/>
              </a:lnSpc>
              <a:buNone/>
            </a:pPr>
            <a:r>
              <a:rPr lang="en-US" sz="540" kern="0" spc="22" dirty="0">
                <a:solidFill>
                  <a:srgbClr val="5A656D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从"精细化步骤"到"原则 + 判断标准"——这是 2025-2026 年提示工程最根本的范式转变</a:t>
            </a:r>
            <a:endParaRPr lang="en-US" sz="54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6F9FC"/>
          </a:solidFill>
        </p:spPr>
      </p:sp>
      <p:sp>
        <p:nvSpPr>
          <p:cNvPr id="3" name="Shape 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6F9FC"/>
          </a:solidFill>
        </p:spPr>
      </p:sp>
      <p:pic>
        <p:nvPicPr>
          <p:cNvPr id="4" name="Picture 4" descr="__type_image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76250" y="381000"/>
            <a:ext cx="8191500" cy="390525"/>
          </a:xfrm>
          <a:prstGeom prst="rect">
            <a:avLst/>
          </a:prstGeom>
        </p:spPr>
      </p:pic>
      <p:sp>
        <p:nvSpPr>
          <p:cNvPr id="5" name="TextBox 4"/>
          <p:cNvSpPr/>
          <p:nvPr/>
        </p:nvSpPr>
        <p:spPr>
          <a:xfrm>
            <a:off x="476250" y="381000"/>
            <a:ext cx="8191500" cy="390525"/>
          </a:xfrm>
          <a:prstGeom prst="rect">
            <a:avLst/>
          </a:prstGeom>
          <a:noFill/>
        </p:spPr>
        <p:txBody>
          <a:bodyPr wrap="square" lIns="0" tIns="0" rIns="0" bIns="98065" rtlCol="0" anchor="t">
            <a:spAutoFit/>
          </a:bodyPr>
          <a:lstStyle/>
          <a:p>
            <a:pPr marL="0" indent="0" algn="l">
              <a:lnSpc>
                <a:spcPts val="2315"/>
              </a:lnSpc>
              <a:buNone/>
            </a:pPr>
            <a:r>
              <a:rPr lang="en-US" sz="1545" b="1" kern="0" spc="-23" dirty="0">
                <a:solidFill>
                  <a:srgbClr val="121C23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为什么"给示例"往往比"讲规则"有效？</a:t>
            </a:r>
            <a:endParaRPr lang="en-US" sz="1545" dirty="0"/>
          </a:p>
        </p:txBody>
      </p:sp>
      <p:sp>
        <p:nvSpPr>
          <p:cNvPr id="6" name="TextBox 12"/>
          <p:cNvSpPr/>
          <p:nvPr>
            <p:custDataLst>
              <p:tags r:id="rId3"/>
            </p:custDataLst>
          </p:nvPr>
        </p:nvSpPr>
        <p:spPr>
          <a:xfrm>
            <a:off x="476250" y="1000125"/>
            <a:ext cx="266700" cy="182873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r">
              <a:lnSpc>
                <a:spcPts val="1485"/>
              </a:lnSpc>
              <a:buNone/>
            </a:pPr>
            <a:r>
              <a:rPr lang="en-US" sz="1235" b="1" dirty="0">
                <a:solidFill>
                  <a:srgbClr val="299236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1</a:t>
            </a:r>
            <a:endParaRPr lang="en-US" sz="1235" dirty="0"/>
          </a:p>
        </p:txBody>
      </p:sp>
      <p:sp>
        <p:nvSpPr>
          <p:cNvPr id="7" name="TextBox 16"/>
          <p:cNvSpPr/>
          <p:nvPr>
            <p:custDataLst>
              <p:tags r:id="rId4"/>
            </p:custDataLst>
          </p:nvPr>
        </p:nvSpPr>
        <p:spPr>
          <a:xfrm>
            <a:off x="857250" y="1000125"/>
            <a:ext cx="7155619" cy="185737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505"/>
              </a:lnSpc>
              <a:buNone/>
            </a:pPr>
            <a:r>
              <a:rPr lang="en-US" sz="1005" b="1" dirty="0">
                <a:solidFill>
                  <a:srgbClr val="121C23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语言的多义性</a:t>
            </a:r>
            <a:endParaRPr lang="en-US" sz="1005" dirty="0"/>
          </a:p>
        </p:txBody>
      </p:sp>
      <p:sp>
        <p:nvSpPr>
          <p:cNvPr id="8" name="TextBox 18"/>
          <p:cNvSpPr/>
          <p:nvPr>
            <p:custDataLst>
              <p:tags r:id="rId5"/>
            </p:custDataLst>
          </p:nvPr>
        </p:nvSpPr>
        <p:spPr>
          <a:xfrm>
            <a:off x="857250" y="1214120"/>
            <a:ext cx="7430770" cy="15557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215"/>
              </a:lnSpc>
              <a:buNone/>
            </a:pPr>
            <a:r>
              <a:rPr lang="en-US" sz="810" dirty="0">
                <a:solidFill>
                  <a:srgbClr val="5A656D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当你说"输出要简洁"——你的"简洁"是 20 字，模型的理解可能是"不要展开细节"。</a:t>
            </a:r>
            <a:r>
              <a:rPr lang="en-US" sz="810" b="1" dirty="0">
                <a:solidFill>
                  <a:srgbClr val="5A656D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示例消除了歧义</a:t>
            </a:r>
            <a:r>
              <a:rPr lang="en-US" sz="810" dirty="0">
                <a:solidFill>
                  <a:srgbClr val="5A656D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——"简洁"不再是抽象概念，而是被具体化为"像这个示例一样"。</a:t>
            </a:r>
            <a:endParaRPr lang="en-US" sz="810" dirty="0"/>
          </a:p>
        </p:txBody>
      </p:sp>
      <p:sp>
        <p:nvSpPr>
          <p:cNvPr id="9" name="TextBox 24"/>
          <p:cNvSpPr/>
          <p:nvPr>
            <p:custDataLst>
              <p:tags r:id="rId6"/>
            </p:custDataLst>
          </p:nvPr>
        </p:nvSpPr>
        <p:spPr>
          <a:xfrm>
            <a:off x="476250" y="1421606"/>
            <a:ext cx="266700" cy="182873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r">
              <a:lnSpc>
                <a:spcPts val="1485"/>
              </a:lnSpc>
              <a:buNone/>
            </a:pPr>
            <a:r>
              <a:rPr lang="en-US" sz="1235" b="1" dirty="0">
                <a:solidFill>
                  <a:srgbClr val="299236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2</a:t>
            </a:r>
            <a:endParaRPr lang="en-US" sz="1235" dirty="0"/>
          </a:p>
        </p:txBody>
      </p:sp>
      <p:sp>
        <p:nvSpPr>
          <p:cNvPr id="10" name="TextBox 28"/>
          <p:cNvSpPr/>
          <p:nvPr>
            <p:custDataLst>
              <p:tags r:id="rId7"/>
            </p:custDataLst>
          </p:nvPr>
        </p:nvSpPr>
        <p:spPr>
          <a:xfrm>
            <a:off x="857250" y="1421606"/>
            <a:ext cx="7810500" cy="185737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505"/>
              </a:lnSpc>
              <a:buNone/>
            </a:pPr>
            <a:r>
              <a:rPr lang="en-US" sz="1005" b="1" dirty="0">
                <a:solidFill>
                  <a:srgbClr val="121C23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模式的直观性 &gt; 规则的完备性</a:t>
            </a:r>
            <a:endParaRPr lang="en-US" sz="1005" dirty="0"/>
          </a:p>
        </p:txBody>
      </p:sp>
      <p:sp>
        <p:nvSpPr>
          <p:cNvPr id="11" name="TextBox 30"/>
          <p:cNvSpPr/>
          <p:nvPr>
            <p:custDataLst>
              <p:tags r:id="rId8"/>
            </p:custDataLst>
          </p:nvPr>
        </p:nvSpPr>
        <p:spPr>
          <a:xfrm>
            <a:off x="857250" y="1635919"/>
            <a:ext cx="7810500" cy="300037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215"/>
              </a:lnSpc>
              <a:buNone/>
            </a:pPr>
            <a:r>
              <a:rPr lang="en-US" sz="810" dirty="0">
                <a:solidFill>
                  <a:srgbClr val="5A656D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你写 5 条规则，第 6 种边界情况就被漏掉了。但 3 个好的示例</a:t>
            </a:r>
            <a:r>
              <a:rPr lang="en-US" sz="810" b="1" dirty="0">
                <a:solidFill>
                  <a:srgbClr val="5A656D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隐式覆盖了远多于 5 条规则能覆盖的情况</a:t>
            </a:r>
            <a:r>
              <a:rPr lang="en-US" sz="810" dirty="0">
                <a:solidFill>
                  <a:srgbClr val="5A656D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——因为示例展现的是</a:t>
            </a:r>
            <a:r>
              <a:rPr lang="en-US" sz="810" b="1" dirty="0">
                <a:solidFill>
                  <a:srgbClr val="5A656D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模式</a:t>
            </a:r>
            <a:r>
              <a:rPr lang="en-US" sz="810" dirty="0">
                <a:solidFill>
                  <a:srgbClr val="5A656D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，规则只能枚举</a:t>
            </a:r>
            <a:r>
              <a:rPr lang="en-US" sz="810" b="1" dirty="0">
                <a:solidFill>
                  <a:srgbClr val="5A656D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边界</a:t>
            </a:r>
            <a:r>
              <a:rPr lang="en-US" sz="810" dirty="0">
                <a:solidFill>
                  <a:srgbClr val="5A656D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。模式是"活"的——模型能从示例中推导出你没想到的规则。</a:t>
            </a:r>
            <a:endParaRPr lang="en-US" sz="810" dirty="0"/>
          </a:p>
        </p:txBody>
      </p:sp>
      <p:sp>
        <p:nvSpPr>
          <p:cNvPr id="12" name="TextBox 36"/>
          <p:cNvSpPr/>
          <p:nvPr>
            <p:custDataLst>
              <p:tags r:id="rId9"/>
            </p:custDataLst>
          </p:nvPr>
        </p:nvSpPr>
        <p:spPr>
          <a:xfrm>
            <a:off x="476250" y="1993106"/>
            <a:ext cx="266700" cy="182872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r">
              <a:lnSpc>
                <a:spcPts val="1485"/>
              </a:lnSpc>
              <a:buNone/>
            </a:pPr>
            <a:r>
              <a:rPr lang="en-US" sz="1235" b="1" dirty="0">
                <a:solidFill>
                  <a:srgbClr val="299236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3</a:t>
            </a:r>
            <a:endParaRPr lang="en-US" sz="1235" dirty="0"/>
          </a:p>
        </p:txBody>
      </p:sp>
      <p:sp>
        <p:nvSpPr>
          <p:cNvPr id="13" name="TextBox 40"/>
          <p:cNvSpPr/>
          <p:nvPr>
            <p:custDataLst>
              <p:tags r:id="rId10"/>
            </p:custDataLst>
          </p:nvPr>
        </p:nvSpPr>
        <p:spPr>
          <a:xfrm>
            <a:off x="857250" y="1993106"/>
            <a:ext cx="7810500" cy="185737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505"/>
              </a:lnSpc>
              <a:buNone/>
            </a:pPr>
            <a:r>
              <a:rPr lang="en-US" sz="1005" b="1" dirty="0">
                <a:solidFill>
                  <a:srgbClr val="121C23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规则之间的意外冲突</a:t>
            </a:r>
            <a:endParaRPr lang="en-US" sz="1005" dirty="0"/>
          </a:p>
        </p:txBody>
      </p:sp>
      <p:sp>
        <p:nvSpPr>
          <p:cNvPr id="14" name="TextBox 42"/>
          <p:cNvSpPr/>
          <p:nvPr>
            <p:custDataLst>
              <p:tags r:id="rId11"/>
            </p:custDataLst>
          </p:nvPr>
        </p:nvSpPr>
        <p:spPr>
          <a:xfrm>
            <a:off x="857250" y="2207419"/>
            <a:ext cx="7810500" cy="300038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215"/>
              </a:lnSpc>
              <a:buNone/>
            </a:pPr>
            <a:r>
              <a:rPr lang="en-US" sz="810" dirty="0">
                <a:solidFill>
                  <a:srgbClr val="5A656D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多条规则放在一起，可能产生你没预料的冲突。模型在"遵循所有规则"和"判断哪个规则优先"之间分裂——输出不确定、不一致。</a:t>
            </a:r>
            <a:r>
              <a:rPr lang="en-US" sz="810" b="1" dirty="0">
                <a:solidFill>
                  <a:srgbClr val="5A656D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示例不会冲突</a:t>
            </a:r>
            <a:r>
              <a:rPr lang="en-US" sz="810" dirty="0">
                <a:solidFill>
                  <a:srgbClr val="5A656D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——它们就是"结果应该长这样"的总和，是一个整体而非分散的条目。</a:t>
            </a:r>
            <a:endParaRPr lang="en-US" sz="810" dirty="0"/>
          </a:p>
        </p:txBody>
      </p:sp>
      <p:sp>
        <p:nvSpPr>
          <p:cNvPr id="15" name="Shape 47"/>
          <p:cNvSpPr/>
          <p:nvPr/>
        </p:nvSpPr>
        <p:spPr>
          <a:xfrm>
            <a:off x="476250" y="4271963"/>
            <a:ext cx="8191500" cy="490537"/>
          </a:xfrm>
          <a:prstGeom prst="roundRect">
            <a:avLst>
              <a:gd name="adj" fmla="val 5997"/>
            </a:avLst>
          </a:prstGeom>
          <a:solidFill>
            <a:srgbClr val="5A845A">
              <a:alpha val="12157"/>
            </a:srgbClr>
          </a:solidFill>
          <a:ln w="4903">
            <a:solidFill>
              <a:srgbClr val="5C875C">
                <a:alpha val="25098"/>
              </a:srgbClr>
            </a:solidFill>
            <a:prstDash val="solid"/>
          </a:ln>
        </p:spPr>
      </p:sp>
      <p:sp>
        <p:nvSpPr>
          <p:cNvPr id="16" name="TextBox 49"/>
          <p:cNvSpPr/>
          <p:nvPr/>
        </p:nvSpPr>
        <p:spPr>
          <a:xfrm>
            <a:off x="633412" y="4381500"/>
            <a:ext cx="7877175" cy="271463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735" b="1" dirty="0">
                <a:solidFill>
                  <a:srgbClr val="121C23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实用法则：</a:t>
            </a:r>
            <a:r>
              <a:rPr lang="en-US" sz="735" dirty="0">
                <a:solidFill>
                  <a:srgbClr val="121C23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简单任务（分类/格式转换）→ 规则就够了；需要判断的任务（情感分析/质量评估）→ 规则 + 示例双管齐下；高度依赖"品味"的任务（风格模仿/创意写作）→ 示例 &gt; 规则。但注意：</a:t>
            </a:r>
            <a:r>
              <a:rPr lang="en-US" sz="735" b="1" dirty="0">
                <a:solidFill>
                  <a:srgbClr val="121C23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超过 5-7 个示例后增量收益衰减</a:t>
            </a:r>
            <a:r>
              <a:rPr lang="en-US" sz="735" dirty="0">
                <a:solidFill>
                  <a:srgbClr val="121C23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——示例之间隐含矛盾增多，边际改善趋零甚至为负。</a:t>
            </a:r>
            <a:endParaRPr lang="en-US" sz="735" dirty="0"/>
          </a:p>
        </p:txBody>
      </p:sp>
      <p:pic>
        <p:nvPicPr>
          <p:cNvPr id="17" name="Picture 53" descr="__type_image"/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476250" y="4819650"/>
            <a:ext cx="8191500" cy="171450"/>
          </a:xfrm>
          <a:prstGeom prst="rect">
            <a:avLst/>
          </a:prstGeom>
        </p:spPr>
      </p:pic>
      <p:sp>
        <p:nvSpPr>
          <p:cNvPr id="18" name="TextBox 53"/>
          <p:cNvSpPr/>
          <p:nvPr/>
        </p:nvSpPr>
        <p:spPr>
          <a:xfrm>
            <a:off x="476250" y="4819650"/>
            <a:ext cx="8191500" cy="171450"/>
          </a:xfrm>
          <a:prstGeom prst="rect">
            <a:avLst/>
          </a:prstGeom>
          <a:noFill/>
        </p:spPr>
        <p:txBody>
          <a:bodyPr wrap="square" lIns="0" tIns="68645" rIns="0" bIns="0" rtlCol="0" anchor="t">
            <a:spAutoFit/>
          </a:bodyPr>
          <a:lstStyle/>
          <a:p>
            <a:pPr marL="0" indent="0" algn="l">
              <a:lnSpc>
                <a:spcPts val="810"/>
              </a:lnSpc>
              <a:buNone/>
            </a:pPr>
            <a:r>
              <a:rPr lang="en-US" sz="540" kern="0" spc="22" dirty="0">
                <a:solidFill>
                  <a:srgbClr val="5A656D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一句话记：示例是"展示什么是好"，规则是"描述什么是好"——展示比描述省去了翻译损耗</a:t>
            </a:r>
            <a:endParaRPr lang="en-US" sz="54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6F9FC"/>
          </a:solidFill>
        </p:spPr>
      </p:sp>
      <p:sp>
        <p:nvSpPr>
          <p:cNvPr id="3" name="Shape 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6F9FC"/>
          </a:solidFill>
        </p:spPr>
      </p:sp>
      <p:pic>
        <p:nvPicPr>
          <p:cNvPr id="4" name="Picture 4" descr="__type_image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76250" y="381000"/>
            <a:ext cx="8191500" cy="390525"/>
          </a:xfrm>
          <a:prstGeom prst="rect">
            <a:avLst/>
          </a:prstGeom>
        </p:spPr>
      </p:pic>
      <p:sp>
        <p:nvSpPr>
          <p:cNvPr id="5" name="TextBox 4"/>
          <p:cNvSpPr/>
          <p:nvPr/>
        </p:nvSpPr>
        <p:spPr>
          <a:xfrm>
            <a:off x="476250" y="381000"/>
            <a:ext cx="8191500" cy="390525"/>
          </a:xfrm>
          <a:prstGeom prst="rect">
            <a:avLst/>
          </a:prstGeom>
          <a:noFill/>
        </p:spPr>
        <p:txBody>
          <a:bodyPr wrap="square" lIns="0" tIns="0" rIns="0" bIns="98065" rtlCol="0" anchor="t">
            <a:spAutoFit/>
          </a:bodyPr>
          <a:lstStyle/>
          <a:p>
            <a:pPr marL="0" indent="0" algn="l">
              <a:lnSpc>
                <a:spcPts val="2315"/>
              </a:lnSpc>
              <a:buNone/>
            </a:pPr>
            <a:r>
              <a:rPr lang="en-US" sz="1545" b="1" kern="0" spc="-23" dirty="0">
                <a:solidFill>
                  <a:srgbClr val="121C23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怎样系统地迭代提示词？（上）——测试用例驱动</a:t>
            </a:r>
            <a:endParaRPr lang="en-US" sz="1545" dirty="0"/>
          </a:p>
        </p:txBody>
      </p:sp>
      <p:sp>
        <p:nvSpPr>
          <p:cNvPr id="6" name="Shape 8"/>
          <p:cNvSpPr/>
          <p:nvPr/>
        </p:nvSpPr>
        <p:spPr>
          <a:xfrm>
            <a:off x="476250" y="1000125"/>
            <a:ext cx="8191500" cy="561975"/>
          </a:xfrm>
          <a:prstGeom prst="roundRect">
            <a:avLst>
              <a:gd name="adj" fmla="val 5235"/>
            </a:avLst>
          </a:prstGeom>
          <a:solidFill>
            <a:srgbClr val="FFFFFF"/>
          </a:solidFill>
        </p:spPr>
      </p:sp>
      <p:pic>
        <p:nvPicPr>
          <p:cNvPr id="7" name="Picture 8" descr="__type_image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76250" y="1000125"/>
            <a:ext cx="8191500" cy="561975"/>
          </a:xfrm>
          <a:prstGeom prst="rect">
            <a:avLst/>
          </a:prstGeom>
        </p:spPr>
      </p:pic>
      <p:sp>
        <p:nvSpPr>
          <p:cNvPr id="8" name="TextBox 10"/>
          <p:cNvSpPr/>
          <p:nvPr/>
        </p:nvSpPr>
        <p:spPr>
          <a:xfrm>
            <a:off x="666750" y="1138237"/>
            <a:ext cx="7824788" cy="100013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810"/>
              </a:lnSpc>
              <a:buNone/>
            </a:pPr>
            <a:r>
              <a:rPr lang="en-US" sz="540" kern="0" spc="43" dirty="0">
                <a:solidFill>
                  <a:srgbClr val="299236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"碰运气式迭代"的典型症状</a:t>
            </a:r>
            <a:endParaRPr lang="en-US" sz="540" dirty="0"/>
          </a:p>
        </p:txBody>
      </p:sp>
      <p:sp>
        <p:nvSpPr>
          <p:cNvPr id="9" name="TextBox 12"/>
          <p:cNvSpPr/>
          <p:nvPr/>
        </p:nvSpPr>
        <p:spPr>
          <a:xfrm>
            <a:off x="666750" y="1276350"/>
            <a:ext cx="7824788" cy="147638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195"/>
              </a:lnSpc>
              <a:buNone/>
            </a:pPr>
            <a:r>
              <a:rPr lang="en-US" sz="770" dirty="0">
                <a:solidFill>
                  <a:srgbClr val="121C23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改几个词 → 感觉好一点 → 就保留 → 过几天又改 → 不知道到底改了啥 → 三个月后忘了当初为什么写成这样。没有测试、没有记录、没有可控变量——每次改动都是"重新猜一次"。</a:t>
            </a:r>
            <a:endParaRPr lang="en-US" sz="770" dirty="0"/>
          </a:p>
        </p:txBody>
      </p:sp>
      <p:sp>
        <p:nvSpPr>
          <p:cNvPr id="10" name="TextBox 19"/>
          <p:cNvSpPr/>
          <p:nvPr>
            <p:custDataLst>
              <p:tags r:id="rId5"/>
            </p:custDataLst>
          </p:nvPr>
        </p:nvSpPr>
        <p:spPr>
          <a:xfrm>
            <a:off x="476250" y="1628775"/>
            <a:ext cx="266700" cy="182872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r">
              <a:lnSpc>
                <a:spcPts val="1485"/>
              </a:lnSpc>
              <a:buNone/>
            </a:pPr>
            <a:r>
              <a:rPr lang="en-US" sz="1235" b="1" dirty="0">
                <a:solidFill>
                  <a:srgbClr val="299236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1</a:t>
            </a:r>
            <a:endParaRPr lang="en-US" sz="1235" dirty="0"/>
          </a:p>
        </p:txBody>
      </p:sp>
      <p:sp>
        <p:nvSpPr>
          <p:cNvPr id="11" name="TextBox 23"/>
          <p:cNvSpPr/>
          <p:nvPr>
            <p:custDataLst>
              <p:tags r:id="rId6"/>
            </p:custDataLst>
          </p:nvPr>
        </p:nvSpPr>
        <p:spPr>
          <a:xfrm>
            <a:off x="857250" y="1628775"/>
            <a:ext cx="7810500" cy="185737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505"/>
              </a:lnSpc>
              <a:buNone/>
            </a:pPr>
            <a:r>
              <a:rPr lang="en-US" sz="1005" b="1" dirty="0">
                <a:solidFill>
                  <a:srgbClr val="121C23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建立黄金测试集（Golden Set）</a:t>
            </a:r>
            <a:endParaRPr lang="en-US" sz="1005" dirty="0"/>
          </a:p>
        </p:txBody>
      </p:sp>
      <p:sp>
        <p:nvSpPr>
          <p:cNvPr id="12" name="TextBox 25"/>
          <p:cNvSpPr/>
          <p:nvPr>
            <p:custDataLst>
              <p:tags r:id="rId7"/>
            </p:custDataLst>
          </p:nvPr>
        </p:nvSpPr>
        <p:spPr>
          <a:xfrm>
            <a:off x="857250" y="1843087"/>
            <a:ext cx="7810500" cy="300038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215"/>
              </a:lnSpc>
              <a:buNone/>
            </a:pPr>
            <a:r>
              <a:rPr lang="en-US" sz="810" b="1" dirty="0">
                <a:solidFill>
                  <a:srgbClr val="5A656D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50-200 个真实案例。</a:t>
            </a:r>
            <a:r>
              <a:rPr lang="en-US" sz="810" dirty="0">
                <a:solidFill>
                  <a:srgbClr val="5A656D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每个含：输入 + 期望输出 + 禁止的错误模式。覆盖：典型场景（70%）+ 边界案例（20%）+ 对抗输入（10%）。测试集必须版本控制——和 prompt 一起纳入 git。</a:t>
            </a:r>
            <a:endParaRPr lang="en-US" sz="810" dirty="0"/>
          </a:p>
        </p:txBody>
      </p:sp>
      <p:sp>
        <p:nvSpPr>
          <p:cNvPr id="13" name="TextBox 31"/>
          <p:cNvSpPr/>
          <p:nvPr>
            <p:custDataLst>
              <p:tags r:id="rId8"/>
            </p:custDataLst>
          </p:nvPr>
        </p:nvSpPr>
        <p:spPr>
          <a:xfrm>
            <a:off x="476250" y="2190750"/>
            <a:ext cx="266700" cy="182873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r">
              <a:lnSpc>
                <a:spcPts val="1485"/>
              </a:lnSpc>
              <a:buNone/>
            </a:pPr>
            <a:r>
              <a:rPr lang="en-US" sz="1235" b="1" dirty="0">
                <a:solidFill>
                  <a:srgbClr val="299236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2</a:t>
            </a:r>
            <a:endParaRPr lang="en-US" sz="1235" dirty="0"/>
          </a:p>
        </p:txBody>
      </p:sp>
      <p:sp>
        <p:nvSpPr>
          <p:cNvPr id="14" name="TextBox 35"/>
          <p:cNvSpPr/>
          <p:nvPr>
            <p:custDataLst>
              <p:tags r:id="rId9"/>
            </p:custDataLst>
          </p:nvPr>
        </p:nvSpPr>
        <p:spPr>
          <a:xfrm>
            <a:off x="857250" y="2190750"/>
            <a:ext cx="7810500" cy="185737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505"/>
              </a:lnSpc>
              <a:buNone/>
            </a:pPr>
            <a:r>
              <a:rPr lang="en-US" sz="1005" b="1" dirty="0">
                <a:solidFill>
                  <a:srgbClr val="121C23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定义可验证的"好"的标准</a:t>
            </a:r>
            <a:endParaRPr lang="en-US" sz="1005" dirty="0"/>
          </a:p>
        </p:txBody>
      </p:sp>
      <p:sp>
        <p:nvSpPr>
          <p:cNvPr id="15" name="TextBox 37"/>
          <p:cNvSpPr/>
          <p:nvPr>
            <p:custDataLst>
              <p:tags r:id="rId10"/>
            </p:custDataLst>
          </p:nvPr>
        </p:nvSpPr>
        <p:spPr>
          <a:xfrm>
            <a:off x="857250" y="2405063"/>
            <a:ext cx="7810500" cy="300037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215"/>
              </a:lnSpc>
              <a:buNone/>
            </a:pPr>
            <a:r>
              <a:rPr lang="en-US" sz="810" dirty="0">
                <a:solidFill>
                  <a:srgbClr val="5A656D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结构化输出 → 字段准确率/格式合规率。分类 → 精确率/召回率/混淆矩阵。生成 → 关键信息覆盖率/禁止模式触发率。推荐</a:t>
            </a:r>
            <a:r>
              <a:rPr lang="en-US" sz="810" b="1" dirty="0">
                <a:solidFill>
                  <a:srgbClr val="5A656D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点对点判断</a:t>
            </a:r>
            <a:r>
              <a:rPr lang="en-US" sz="810" dirty="0">
                <a:solidFill>
                  <a:srgbClr val="5A656D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（pairwise judging）——让另一个模型盲评两个版本在同一输入上的输出，选更好的——比"打分"更可靠。</a:t>
            </a:r>
            <a:endParaRPr lang="en-US" sz="810" dirty="0"/>
          </a:p>
        </p:txBody>
      </p:sp>
      <p:sp>
        <p:nvSpPr>
          <p:cNvPr id="16" name="TextBox 43"/>
          <p:cNvSpPr/>
          <p:nvPr>
            <p:custDataLst>
              <p:tags r:id="rId11"/>
            </p:custDataLst>
          </p:nvPr>
        </p:nvSpPr>
        <p:spPr>
          <a:xfrm>
            <a:off x="476250" y="2752725"/>
            <a:ext cx="266700" cy="182873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r">
              <a:lnSpc>
                <a:spcPts val="1485"/>
              </a:lnSpc>
              <a:buNone/>
            </a:pPr>
            <a:r>
              <a:rPr lang="en-US" sz="1235" b="1" dirty="0">
                <a:solidFill>
                  <a:srgbClr val="299236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3</a:t>
            </a:r>
            <a:endParaRPr lang="en-US" sz="1235" dirty="0"/>
          </a:p>
        </p:txBody>
      </p:sp>
      <p:sp>
        <p:nvSpPr>
          <p:cNvPr id="17" name="TextBox 47"/>
          <p:cNvSpPr/>
          <p:nvPr>
            <p:custDataLst>
              <p:tags r:id="rId12"/>
            </p:custDataLst>
          </p:nvPr>
        </p:nvSpPr>
        <p:spPr>
          <a:xfrm>
            <a:off x="857250" y="2752725"/>
            <a:ext cx="7810500" cy="185737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505"/>
              </a:lnSpc>
              <a:buNone/>
            </a:pPr>
            <a:r>
              <a:rPr lang="en-US" sz="1005" b="1" dirty="0">
                <a:solidFill>
                  <a:srgbClr val="121C23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运行基线 + 记录失败模式</a:t>
            </a:r>
            <a:endParaRPr lang="en-US" sz="1005" dirty="0"/>
          </a:p>
        </p:txBody>
      </p:sp>
      <p:sp>
        <p:nvSpPr>
          <p:cNvPr id="18" name="TextBox 49"/>
          <p:cNvSpPr/>
          <p:nvPr>
            <p:custDataLst>
              <p:tags r:id="rId13"/>
            </p:custDataLst>
          </p:nvPr>
        </p:nvSpPr>
        <p:spPr>
          <a:xfrm>
            <a:off x="857250" y="2967038"/>
            <a:ext cx="7810500" cy="300037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215"/>
              </a:lnSpc>
              <a:buNone/>
            </a:pPr>
            <a:r>
              <a:rPr lang="en-US" sz="810" dirty="0">
                <a:solidFill>
                  <a:srgbClr val="5A656D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每次迭代前，用当前 prompt 跑一遍全部测试用例。保存完整输出（便于后续对比）。</a:t>
            </a:r>
            <a:r>
              <a:rPr lang="en-US" sz="810" b="1" dirty="0">
                <a:solidFill>
                  <a:srgbClr val="5A656D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分类记录所有失败案例的失败原因</a:t>
            </a:r>
            <a:r>
              <a:rPr lang="en-US" sz="810" dirty="0">
                <a:solidFill>
                  <a:srgbClr val="5A656D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——是格式问题？分类错误？遗漏信息？这个分类比一个总分数字更有用。</a:t>
            </a:r>
            <a:endParaRPr lang="en-US" sz="810" dirty="0"/>
          </a:p>
        </p:txBody>
      </p:sp>
      <p:sp>
        <p:nvSpPr>
          <p:cNvPr id="19" name="Shape 54"/>
          <p:cNvSpPr/>
          <p:nvPr/>
        </p:nvSpPr>
        <p:spPr>
          <a:xfrm>
            <a:off x="476250" y="4414837"/>
            <a:ext cx="8191500" cy="347663"/>
          </a:xfrm>
          <a:prstGeom prst="roundRect">
            <a:avLst>
              <a:gd name="adj" fmla="val 8462"/>
            </a:avLst>
          </a:prstGeom>
          <a:solidFill>
            <a:srgbClr val="5A845A">
              <a:alpha val="12157"/>
            </a:srgbClr>
          </a:solidFill>
          <a:ln w="4903">
            <a:solidFill>
              <a:srgbClr val="5C875C">
                <a:alpha val="25098"/>
              </a:srgbClr>
            </a:solidFill>
            <a:prstDash val="solid"/>
          </a:ln>
        </p:spPr>
      </p:sp>
      <p:sp>
        <p:nvSpPr>
          <p:cNvPr id="20" name="TextBox 56"/>
          <p:cNvSpPr/>
          <p:nvPr/>
        </p:nvSpPr>
        <p:spPr>
          <a:xfrm>
            <a:off x="633412" y="4524375"/>
            <a:ext cx="7877175" cy="128587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040"/>
              </a:lnSpc>
              <a:buNone/>
            </a:pPr>
            <a:r>
              <a:rPr lang="en-US" sz="695" b="1" dirty="0">
                <a:solidFill>
                  <a:srgbClr val="121C23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核心思想：</a:t>
            </a:r>
            <a:r>
              <a:rPr lang="en-US" sz="695" dirty="0">
                <a:solidFill>
                  <a:srgbClr val="121C23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不是"改到感觉对了"，而是"用数据来告诉我对不对"。迭代循环 = 定义标准 → 建立测试集 → 运行基线 → 单变量修改 → 对比分析 → 决定采纳/回退 → 重复。</a:t>
            </a:r>
            <a:endParaRPr lang="en-US" sz="695" dirty="0"/>
          </a:p>
        </p:txBody>
      </p:sp>
      <p:pic>
        <p:nvPicPr>
          <p:cNvPr id="21" name="Picture 60" descr="__type_image"/>
          <p:cNvPicPr>
            <a:picLocks noChangeAspect="1"/>
          </p:cNvPicPr>
          <p:nvPr/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476250" y="4819650"/>
            <a:ext cx="8191500" cy="171450"/>
          </a:xfrm>
          <a:prstGeom prst="rect">
            <a:avLst/>
          </a:prstGeom>
        </p:spPr>
      </p:pic>
      <p:sp>
        <p:nvSpPr>
          <p:cNvPr id="22" name="TextBox 60"/>
          <p:cNvSpPr/>
          <p:nvPr/>
        </p:nvSpPr>
        <p:spPr>
          <a:xfrm>
            <a:off x="476250" y="4819650"/>
            <a:ext cx="8191500" cy="171450"/>
          </a:xfrm>
          <a:prstGeom prst="rect">
            <a:avLst/>
          </a:prstGeom>
          <a:noFill/>
        </p:spPr>
        <p:txBody>
          <a:bodyPr wrap="square" lIns="0" tIns="68645" rIns="0" bIns="0" rtlCol="0" anchor="t">
            <a:spAutoFit/>
          </a:bodyPr>
          <a:lstStyle/>
          <a:p>
            <a:pPr marL="0" indent="0" algn="l">
              <a:lnSpc>
                <a:spcPts val="810"/>
              </a:lnSpc>
              <a:buNone/>
            </a:pPr>
            <a:r>
              <a:rPr lang="en-US" sz="540" kern="0" spc="22" dirty="0">
                <a:solidFill>
                  <a:srgbClr val="5A656D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准备 20 个测试用例的 5 分钟投入，会在未来省下你无数个小时的 debug 时间</a:t>
            </a:r>
            <a:endParaRPr lang="en-US" sz="54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6F9FC"/>
          </a:solidFill>
        </p:spPr>
      </p:sp>
      <p:sp>
        <p:nvSpPr>
          <p:cNvPr id="3" name="Shape 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6F9FC"/>
          </a:solidFill>
        </p:spPr>
      </p:sp>
      <p:pic>
        <p:nvPicPr>
          <p:cNvPr id="4" name="Picture 4" descr="__type_image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76250" y="381000"/>
            <a:ext cx="8191500" cy="390525"/>
          </a:xfrm>
          <a:prstGeom prst="rect">
            <a:avLst/>
          </a:prstGeom>
        </p:spPr>
      </p:pic>
      <p:sp>
        <p:nvSpPr>
          <p:cNvPr id="5" name="TextBox 4"/>
          <p:cNvSpPr/>
          <p:nvPr/>
        </p:nvSpPr>
        <p:spPr>
          <a:xfrm>
            <a:off x="476250" y="381000"/>
            <a:ext cx="8191500" cy="390525"/>
          </a:xfrm>
          <a:prstGeom prst="rect">
            <a:avLst/>
          </a:prstGeom>
          <a:noFill/>
        </p:spPr>
        <p:txBody>
          <a:bodyPr wrap="square" lIns="0" tIns="0" rIns="0" bIns="98065" rtlCol="0" anchor="t">
            <a:spAutoFit/>
          </a:bodyPr>
          <a:lstStyle/>
          <a:p>
            <a:pPr marL="0" indent="0" algn="l">
              <a:lnSpc>
                <a:spcPts val="2315"/>
              </a:lnSpc>
              <a:buNone/>
            </a:pPr>
            <a:r>
              <a:rPr lang="en-US" sz="1545" b="1" kern="0" spc="-23" dirty="0">
                <a:solidFill>
                  <a:srgbClr val="121C23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怎样系统地迭代提示词？（下）——控制变量 + 统计学</a:t>
            </a:r>
            <a:endParaRPr lang="en-US" sz="1545" dirty="0"/>
          </a:p>
        </p:txBody>
      </p:sp>
      <p:sp>
        <p:nvSpPr>
          <p:cNvPr id="6" name="Shape 8"/>
          <p:cNvSpPr/>
          <p:nvPr/>
        </p:nvSpPr>
        <p:spPr>
          <a:xfrm>
            <a:off x="476250" y="1000125"/>
            <a:ext cx="8191500" cy="709612"/>
          </a:xfrm>
          <a:prstGeom prst="roundRect">
            <a:avLst>
              <a:gd name="adj" fmla="val 4146"/>
            </a:avLst>
          </a:prstGeom>
          <a:solidFill>
            <a:srgbClr val="FFFFFF"/>
          </a:solidFill>
        </p:spPr>
      </p:sp>
      <p:pic>
        <p:nvPicPr>
          <p:cNvPr id="7" name="Picture 8" descr="__type_image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76250" y="1000125"/>
            <a:ext cx="8191500" cy="709612"/>
          </a:xfrm>
          <a:prstGeom prst="rect">
            <a:avLst/>
          </a:prstGeom>
        </p:spPr>
      </p:pic>
      <p:sp>
        <p:nvSpPr>
          <p:cNvPr id="8" name="TextBox 10"/>
          <p:cNvSpPr/>
          <p:nvPr/>
        </p:nvSpPr>
        <p:spPr>
          <a:xfrm>
            <a:off x="666750" y="1138237"/>
            <a:ext cx="7824788" cy="100013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810"/>
              </a:lnSpc>
              <a:buNone/>
            </a:pPr>
            <a:r>
              <a:rPr lang="en-US" sz="540" kern="0" spc="43" dirty="0">
                <a:solidFill>
                  <a:srgbClr val="299236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单变量修改——最重要的一步，也是最容易被跳过的</a:t>
            </a:r>
            <a:endParaRPr lang="en-US" sz="540" dirty="0"/>
          </a:p>
        </p:txBody>
      </p:sp>
      <p:sp>
        <p:nvSpPr>
          <p:cNvPr id="9" name="TextBox 12"/>
          <p:cNvSpPr/>
          <p:nvPr/>
        </p:nvSpPr>
        <p:spPr>
          <a:xfrm>
            <a:off x="666750" y="1276350"/>
            <a:ext cx="7824788" cy="29527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195"/>
              </a:lnSpc>
              <a:buNone/>
            </a:pPr>
            <a:r>
              <a:rPr lang="en-US" sz="770" dirty="0">
                <a:solidFill>
                  <a:srgbClr val="121C23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同时改了 4 个东西，结果提升 5%——你完全不知道哪个改动带来了提升，甚至可能 3 个是坏的、1 个是好的。三个月后你维护的是一个"不知道为什么有效"的东西。</a:t>
            </a:r>
            <a:r>
              <a:rPr lang="en-US" sz="770" b="1" dirty="0">
                <a:solidFill>
                  <a:srgbClr val="121C23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每次只改一个变量：</a:t>
            </a:r>
            <a:r>
              <a:rPr lang="en-US" sz="770" dirty="0">
                <a:solidFill>
                  <a:srgbClr val="121C23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角色描述 / 一个示例 / 格式要求 / 温度——分别测试。</a:t>
            </a:r>
            <a:endParaRPr lang="en-US" sz="770" dirty="0"/>
          </a:p>
        </p:txBody>
      </p:sp>
      <p:sp>
        <p:nvSpPr>
          <p:cNvPr id="10" name="Shape 17"/>
          <p:cNvSpPr/>
          <p:nvPr/>
        </p:nvSpPr>
        <p:spPr>
          <a:xfrm>
            <a:off x="476250" y="1776412"/>
            <a:ext cx="4038600" cy="833438"/>
          </a:xfrm>
          <a:prstGeom prst="roundRect">
            <a:avLst>
              <a:gd name="adj" fmla="val 3530"/>
            </a:avLst>
          </a:prstGeom>
          <a:solidFill>
            <a:srgbClr val="FFFFFF"/>
          </a:solidFill>
          <a:ln w="4903">
            <a:solidFill>
              <a:srgbClr val="D9DFE3"/>
            </a:solidFill>
            <a:prstDash val="solid"/>
          </a:ln>
        </p:spPr>
      </p:sp>
      <p:sp>
        <p:nvSpPr>
          <p:cNvPr id="11" name="TextBox 19"/>
          <p:cNvSpPr/>
          <p:nvPr/>
        </p:nvSpPr>
        <p:spPr>
          <a:xfrm>
            <a:off x="576263" y="1857375"/>
            <a:ext cx="3838575" cy="100012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810"/>
              </a:lnSpc>
              <a:buNone/>
            </a:pPr>
            <a:r>
              <a:rPr lang="en-US" sz="540" kern="0" spc="43" dirty="0">
                <a:solidFill>
                  <a:srgbClr val="299236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统计检验——别被小样本骗</a:t>
            </a:r>
            <a:endParaRPr lang="en-US" sz="540" dirty="0"/>
          </a:p>
        </p:txBody>
      </p:sp>
      <p:sp>
        <p:nvSpPr>
          <p:cNvPr id="12" name="TextBox 21"/>
          <p:cNvSpPr/>
          <p:nvPr/>
        </p:nvSpPr>
        <p:spPr>
          <a:xfrm>
            <a:off x="576263" y="2014537"/>
            <a:ext cx="3838575" cy="53340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040"/>
              </a:lnSpc>
              <a:buNone/>
            </a:pPr>
            <a:r>
              <a:rPr lang="en-US" sz="695" dirty="0">
                <a:solidFill>
                  <a:srgbClr val="5A656D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• </a:t>
            </a:r>
            <a:r>
              <a:rPr lang="en-US" sz="695" b="1" dirty="0">
                <a:solidFill>
                  <a:srgbClr val="5A656D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配对 t 检验</a:t>
            </a:r>
            <a:r>
              <a:rPr lang="en-US" sz="695" dirty="0">
                <a:solidFill>
                  <a:srgbClr val="5A656D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：同一输入上新旧 prompt 分数差是否显著？</a:t>
            </a:r>
            <a:endParaRPr lang="en-US" sz="695" dirty="0"/>
          </a:p>
          <a:p>
            <a:pPr marL="0" indent="0" algn="l">
              <a:lnSpc>
                <a:spcPts val="1040"/>
              </a:lnSpc>
              <a:buNone/>
            </a:pPr>
            <a:r>
              <a:rPr lang="en-US" sz="695" dirty="0">
                <a:solidFill>
                  <a:srgbClr val="5A656D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• </a:t>
            </a:r>
            <a:r>
              <a:rPr lang="en-US" sz="695" b="1" dirty="0">
                <a:solidFill>
                  <a:srgbClr val="5A656D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Bootstrap 95% CI</a:t>
            </a:r>
            <a:r>
              <a:rPr lang="en-US" sz="695" dirty="0">
                <a:solidFill>
                  <a:srgbClr val="5A656D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：</a:t>
            </a:r>
            <a:r>
              <a:rPr lang="zh-CN" altLang="en-US" sz="695" dirty="0">
                <a:solidFill>
                  <a:srgbClr val="5A656D"/>
                </a:solidFill>
                <a:latin typeface="Segoe UI" panose="020B0502040204020203" pitchFamily="34" charset="0"/>
                <a:ea typeface="宋体" panose="02010600030101010101" pitchFamily="2" charset="-122"/>
                <a:cs typeface="Segoe UI" panose="020B0502040204020203" pitchFamily="34" charset="-120"/>
              </a:rPr>
              <a:t>根据</a:t>
            </a:r>
            <a:r>
              <a:rPr lang="en-US" altLang="zh-CN" sz="695" dirty="0">
                <a:solidFill>
                  <a:srgbClr val="5A656D"/>
                </a:solidFill>
                <a:latin typeface="Segoe UI" panose="020B0502040204020203" pitchFamily="34" charset="0"/>
                <a:ea typeface="宋体" panose="02010600030101010101" pitchFamily="2" charset="-122"/>
                <a:cs typeface="Segoe UI" panose="020B0502040204020203" pitchFamily="34" charset="-120"/>
              </a:rPr>
              <a:t>95%</a:t>
            </a:r>
            <a:r>
              <a:rPr lang="zh-CN" altLang="en-US" sz="695" dirty="0">
                <a:solidFill>
                  <a:srgbClr val="5A656D"/>
                </a:solidFill>
                <a:latin typeface="Segoe UI" panose="020B0502040204020203" pitchFamily="34" charset="0"/>
                <a:ea typeface="宋体" panose="02010600030101010101" pitchFamily="2" charset="-122"/>
                <a:cs typeface="Segoe UI" panose="020B0502040204020203" pitchFamily="34" charset="-120"/>
              </a:rPr>
              <a:t>置信区间判断是否真的提升还是随机波动</a:t>
            </a:r>
            <a:endParaRPr lang="en-US" sz="695" dirty="0"/>
          </a:p>
          <a:p>
            <a:pPr marL="0" indent="0" algn="l">
              <a:lnSpc>
                <a:spcPts val="1040"/>
              </a:lnSpc>
              <a:buNone/>
            </a:pPr>
            <a:r>
              <a:rPr lang="en-US" sz="695" dirty="0">
                <a:solidFill>
                  <a:srgbClr val="5A656D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• </a:t>
            </a:r>
            <a:r>
              <a:rPr lang="en-US" sz="695" b="1" dirty="0">
                <a:solidFill>
                  <a:srgbClr val="5A656D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MDE</a:t>
            </a:r>
            <a:r>
              <a:rPr lang="en-US" sz="695" dirty="0">
                <a:solidFill>
                  <a:srgbClr val="5A656D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（最小可检测效应量）：提前定义"多小不值得在意"（通常 &lt; 0.02）</a:t>
            </a:r>
            <a:endParaRPr lang="en-US" sz="695" dirty="0"/>
          </a:p>
          <a:p>
            <a:pPr marL="0" indent="0" algn="l">
              <a:lnSpc>
                <a:spcPts val="1040"/>
              </a:lnSpc>
              <a:buNone/>
            </a:pPr>
            <a:r>
              <a:rPr lang="en-US" sz="695" dirty="0">
                <a:solidFill>
                  <a:srgbClr val="5A656D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• 只有 30 个测试用例时，+0.02 的均值提升大概率是噪音</a:t>
            </a:r>
            <a:endParaRPr lang="en-US" sz="695" dirty="0"/>
          </a:p>
        </p:txBody>
      </p:sp>
      <p:sp>
        <p:nvSpPr>
          <p:cNvPr id="13" name="Shape 24"/>
          <p:cNvSpPr/>
          <p:nvPr/>
        </p:nvSpPr>
        <p:spPr>
          <a:xfrm>
            <a:off x="4629150" y="1776412"/>
            <a:ext cx="4038600" cy="833438"/>
          </a:xfrm>
          <a:prstGeom prst="roundRect">
            <a:avLst>
              <a:gd name="adj" fmla="val 3530"/>
            </a:avLst>
          </a:prstGeom>
          <a:solidFill>
            <a:srgbClr val="FFFFFF"/>
          </a:solidFill>
          <a:ln w="4903">
            <a:solidFill>
              <a:srgbClr val="D9DFE3"/>
            </a:solidFill>
            <a:prstDash val="solid"/>
          </a:ln>
        </p:spPr>
      </p:sp>
      <p:sp>
        <p:nvSpPr>
          <p:cNvPr id="14" name="TextBox 26"/>
          <p:cNvSpPr/>
          <p:nvPr/>
        </p:nvSpPr>
        <p:spPr>
          <a:xfrm>
            <a:off x="4729163" y="1857375"/>
            <a:ext cx="3838575" cy="100012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810"/>
              </a:lnSpc>
              <a:buNone/>
            </a:pPr>
            <a:r>
              <a:rPr lang="en-US" sz="540" kern="0" spc="43" dirty="0">
                <a:solidFill>
                  <a:srgbClr val="299236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诊断而非只看总分</a:t>
            </a:r>
            <a:endParaRPr lang="en-US" sz="540" dirty="0"/>
          </a:p>
        </p:txBody>
      </p:sp>
      <p:sp>
        <p:nvSpPr>
          <p:cNvPr id="15" name="TextBox 28"/>
          <p:cNvSpPr/>
          <p:nvPr/>
        </p:nvSpPr>
        <p:spPr>
          <a:xfrm>
            <a:off x="4729163" y="2014537"/>
            <a:ext cx="3838575" cy="51435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040"/>
              </a:lnSpc>
              <a:buNone/>
            </a:pPr>
            <a:r>
              <a:rPr lang="en-US" sz="695" dirty="0">
                <a:solidFill>
                  <a:srgbClr val="5A656D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• 分类失败案例：哪些输入类型变好了？哪些变差了？</a:t>
            </a:r>
            <a:endParaRPr lang="en-US" sz="695" dirty="0"/>
          </a:p>
          <a:p>
            <a:pPr marL="0" indent="0" algn="l">
              <a:lnSpc>
                <a:spcPts val="1040"/>
              </a:lnSpc>
              <a:buNone/>
            </a:pPr>
            <a:r>
              <a:rPr lang="en-US" sz="695" dirty="0">
                <a:solidFill>
                  <a:srgbClr val="5A656D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• 寻找</a:t>
            </a:r>
            <a:r>
              <a:rPr lang="en-US" sz="695" b="1" dirty="0">
                <a:solidFill>
                  <a:srgbClr val="5A656D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系统性模式</a:t>
            </a:r>
            <a:r>
              <a:rPr lang="en-US" sz="695" dirty="0">
                <a:solidFill>
                  <a:srgbClr val="5A656D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——某种输入全部变差 → 分析 prompt 哪部分导致</a:t>
            </a:r>
            <a:endParaRPr lang="en-US" sz="695" dirty="0"/>
          </a:p>
          <a:p>
            <a:pPr marL="0" indent="0" algn="l">
              <a:lnSpc>
                <a:spcPts val="1040"/>
              </a:lnSpc>
              <a:buNone/>
            </a:pPr>
            <a:r>
              <a:rPr lang="en-US" sz="695" dirty="0">
                <a:solidFill>
                  <a:srgbClr val="5A656D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• ⚠️ 2026 年发现：通用"改善型"prompt 在特定任务上</a:t>
            </a:r>
            <a:r>
              <a:rPr lang="en-US" sz="695" b="1" dirty="0">
                <a:solidFill>
                  <a:srgbClr val="5A656D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反而降低 10% 准确率</a:t>
            </a:r>
            <a:r>
              <a:rPr lang="en-US" sz="695" dirty="0">
                <a:solidFill>
                  <a:srgbClr val="5A656D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——"感觉更好了"必须在测试集上验证</a:t>
            </a:r>
            <a:endParaRPr lang="en-US" sz="695" dirty="0"/>
          </a:p>
        </p:txBody>
      </p:sp>
      <p:sp>
        <p:nvSpPr>
          <p:cNvPr id="16" name="Shape 32"/>
          <p:cNvSpPr/>
          <p:nvPr/>
        </p:nvSpPr>
        <p:spPr>
          <a:xfrm>
            <a:off x="476250" y="2676525"/>
            <a:ext cx="8191500" cy="476250"/>
          </a:xfrm>
          <a:prstGeom prst="roundRect">
            <a:avLst>
              <a:gd name="adj" fmla="val 6177"/>
            </a:avLst>
          </a:prstGeom>
          <a:solidFill>
            <a:srgbClr val="5A845A">
              <a:alpha val="12157"/>
            </a:srgbClr>
          </a:solidFill>
          <a:ln w="4903">
            <a:solidFill>
              <a:srgbClr val="5C875C">
                <a:alpha val="25098"/>
              </a:srgbClr>
            </a:solidFill>
            <a:prstDash val="solid"/>
          </a:ln>
        </p:spPr>
      </p:sp>
      <p:sp>
        <p:nvSpPr>
          <p:cNvPr id="17" name="TextBox 34"/>
          <p:cNvSpPr/>
          <p:nvPr/>
        </p:nvSpPr>
        <p:spPr>
          <a:xfrm>
            <a:off x="633412" y="2786062"/>
            <a:ext cx="7877175" cy="25717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040"/>
              </a:lnSpc>
              <a:buNone/>
            </a:pPr>
            <a:r>
              <a:rPr lang="en-US" sz="695" b="1" dirty="0">
                <a:solidFill>
                  <a:srgbClr val="121C23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一句话总结：</a:t>
            </a:r>
            <a:r>
              <a:rPr lang="en-US" sz="695" dirty="0">
                <a:solidFill>
                  <a:srgbClr val="121C23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"感觉变好了"不是数据。"通用改进"不是所有任务都受益。每次改动必须（1）只改一个变量（2）在相同测试集上跑（3）用统计检验确认效果（4）记录下这次学到了什么——否则你只是在碰运气。</a:t>
            </a:r>
            <a:endParaRPr lang="en-US" sz="695" dirty="0"/>
          </a:p>
        </p:txBody>
      </p:sp>
      <p:pic>
        <p:nvPicPr>
          <p:cNvPr id="18" name="Picture 38" descr="__type_image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76250" y="4819650"/>
            <a:ext cx="8191500" cy="171450"/>
          </a:xfrm>
          <a:prstGeom prst="rect">
            <a:avLst/>
          </a:prstGeom>
        </p:spPr>
      </p:pic>
      <p:sp>
        <p:nvSpPr>
          <p:cNvPr id="19" name="TextBox 38"/>
          <p:cNvSpPr/>
          <p:nvPr/>
        </p:nvSpPr>
        <p:spPr>
          <a:xfrm>
            <a:off x="476250" y="4819650"/>
            <a:ext cx="8191500" cy="171450"/>
          </a:xfrm>
          <a:prstGeom prst="rect">
            <a:avLst/>
          </a:prstGeom>
          <a:noFill/>
        </p:spPr>
        <p:txBody>
          <a:bodyPr wrap="square" lIns="0" tIns="68645" rIns="0" bIns="0" rtlCol="0" anchor="t">
            <a:spAutoFit/>
          </a:bodyPr>
          <a:lstStyle/>
          <a:p>
            <a:pPr marL="0" indent="0" algn="l">
              <a:lnSpc>
                <a:spcPts val="810"/>
              </a:lnSpc>
              <a:buNone/>
            </a:pPr>
            <a:r>
              <a:rPr lang="en-US" sz="540" kern="0" spc="22" dirty="0">
                <a:solidFill>
                  <a:srgbClr val="5A656D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科学的迭代 = 每次只改一个变量 + 用测试数据说话 + 记录每次学到了什么</a:t>
            </a:r>
            <a:endParaRPr lang="en-US" sz="54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6F9FC"/>
          </a:solidFill>
        </p:spPr>
      </p:sp>
      <p:sp>
        <p:nvSpPr>
          <p:cNvPr id="3" name="Shape 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6F9FC"/>
          </a:solidFill>
        </p:spPr>
      </p:sp>
      <p:sp>
        <p:nvSpPr>
          <p:cNvPr id="4" name="TextBox 8"/>
          <p:cNvSpPr/>
          <p:nvPr/>
        </p:nvSpPr>
        <p:spPr>
          <a:xfrm>
            <a:off x="476250" y="381000"/>
            <a:ext cx="8191500" cy="128587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040"/>
              </a:lnSpc>
              <a:buNone/>
            </a:pPr>
            <a:r>
              <a:rPr lang="en-US" sz="695" kern="0" spc="49" dirty="0">
                <a:solidFill>
                  <a:srgbClr val="299236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场景设定 SCENARIO</a:t>
            </a:r>
            <a:endParaRPr lang="en-US" sz="695" dirty="0"/>
          </a:p>
        </p:txBody>
      </p:sp>
      <p:sp>
        <p:nvSpPr>
          <p:cNvPr id="5" name="TextBox 10"/>
          <p:cNvSpPr/>
          <p:nvPr/>
        </p:nvSpPr>
        <p:spPr>
          <a:xfrm>
            <a:off x="476250" y="528637"/>
            <a:ext cx="8191500" cy="22860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855"/>
              </a:lnSpc>
              <a:buNone/>
            </a:pPr>
            <a:r>
              <a:rPr lang="en-US" sz="1545" b="1" kern="0" spc="-15" dirty="0">
                <a:solidFill>
                  <a:srgbClr val="121C23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管理学问卷的开放题编码任务</a:t>
            </a:r>
            <a:endParaRPr lang="en-US" sz="1545" dirty="0"/>
          </a:p>
        </p:txBody>
      </p:sp>
      <p:sp>
        <p:nvSpPr>
          <p:cNvPr id="6" name="Shape 12"/>
          <p:cNvSpPr/>
          <p:nvPr/>
        </p:nvSpPr>
        <p:spPr>
          <a:xfrm>
            <a:off x="476250" y="852488"/>
            <a:ext cx="8191500" cy="4763"/>
          </a:xfrm>
          <a:prstGeom prst="rect">
            <a:avLst/>
          </a:prstGeom>
          <a:solidFill>
            <a:srgbClr val="D9DFE3"/>
          </a:solidFill>
        </p:spPr>
      </p:sp>
      <p:sp>
        <p:nvSpPr>
          <p:cNvPr id="7" name="TextBox 22"/>
          <p:cNvSpPr/>
          <p:nvPr/>
        </p:nvSpPr>
        <p:spPr>
          <a:xfrm>
            <a:off x="476250" y="990600"/>
            <a:ext cx="3952875" cy="182873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485"/>
              </a:lnSpc>
              <a:buNone/>
            </a:pPr>
            <a:r>
              <a:rPr lang="en-US" sz="925" b="1" dirty="0">
                <a:solidFill>
                  <a:srgbClr val="121C23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研究背景</a:t>
            </a:r>
            <a:endParaRPr lang="en-US" sz="925" dirty="0"/>
          </a:p>
        </p:txBody>
      </p:sp>
      <p:sp>
        <p:nvSpPr>
          <p:cNvPr id="8" name="TextBox 24"/>
          <p:cNvSpPr/>
          <p:nvPr/>
        </p:nvSpPr>
        <p:spPr>
          <a:xfrm>
            <a:off x="476250" y="1268723"/>
            <a:ext cx="3952875" cy="38036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485"/>
              </a:lnSpc>
              <a:buNone/>
            </a:pPr>
            <a:r>
              <a:rPr lang="en-US" sz="925" dirty="0">
                <a:solidFill>
                  <a:srgbClr val="121C23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某中型互联网公司（约 200 人）完成了年度</a:t>
            </a:r>
            <a:r>
              <a:rPr lang="en-US" sz="925" b="1" dirty="0">
                <a:solidFill>
                  <a:srgbClr val="121C23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员工调查</a:t>
            </a:r>
            <a:r>
              <a:rPr lang="en-US" sz="925" dirty="0">
                <a:solidFill>
                  <a:srgbClr val="121C23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。问卷包含一道核心开放题：</a:t>
            </a:r>
            <a:endParaRPr lang="en-US" sz="925" dirty="0"/>
          </a:p>
        </p:txBody>
      </p:sp>
      <p:sp>
        <p:nvSpPr>
          <p:cNvPr id="9" name="Shape 26"/>
          <p:cNvSpPr/>
          <p:nvPr/>
        </p:nvSpPr>
        <p:spPr>
          <a:xfrm>
            <a:off x="476250" y="1729718"/>
            <a:ext cx="3952875" cy="401948"/>
          </a:xfrm>
          <a:prstGeom prst="roundRect">
            <a:avLst>
              <a:gd name="adj" fmla="val 14638"/>
            </a:avLst>
          </a:prstGeom>
          <a:solidFill>
            <a:srgbClr val="FFFFFF"/>
          </a:solidFill>
          <a:ln w="4903">
            <a:solidFill>
              <a:srgbClr val="D9DFE3"/>
            </a:solidFill>
            <a:prstDash val="solid"/>
          </a:ln>
        </p:spPr>
      </p:sp>
      <p:sp>
        <p:nvSpPr>
          <p:cNvPr id="10" name="TextBox 28"/>
          <p:cNvSpPr/>
          <p:nvPr/>
        </p:nvSpPr>
        <p:spPr>
          <a:xfrm>
            <a:off x="614363" y="1839255"/>
            <a:ext cx="3676650" cy="182873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485"/>
              </a:lnSpc>
              <a:buNone/>
            </a:pPr>
            <a:r>
              <a:rPr lang="en-US" sz="925" i="1" dirty="0">
                <a:solidFill>
                  <a:srgbClr val="121C23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"回顾过去一年，你在工作中遇到的最大挑战是什么？请具体描述。"</a:t>
            </a:r>
            <a:endParaRPr lang="en-US" sz="925" dirty="0"/>
          </a:p>
        </p:txBody>
      </p:sp>
      <p:sp>
        <p:nvSpPr>
          <p:cNvPr id="11" name="TextBox 31"/>
          <p:cNvSpPr/>
          <p:nvPr/>
        </p:nvSpPr>
        <p:spPr>
          <a:xfrm>
            <a:off x="476250" y="2226915"/>
            <a:ext cx="3952875" cy="300038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215"/>
              </a:lnSpc>
              <a:buNone/>
            </a:pPr>
            <a:r>
              <a:rPr lang="en-US" sz="810" dirty="0">
                <a:solidFill>
                  <a:srgbClr val="5A656D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共回收 </a:t>
            </a:r>
            <a:r>
              <a:rPr lang="en-US" sz="810" b="1" dirty="0">
                <a:solidFill>
                  <a:srgbClr val="121C23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50 份</a:t>
            </a:r>
            <a:r>
              <a:rPr lang="en-US" sz="810" dirty="0">
                <a:solidFill>
                  <a:srgbClr val="5A656D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 有效开放式回答，每条约 50–200 字。HR 部门需要将这些定性数据</a:t>
            </a:r>
            <a:r>
              <a:rPr lang="en-US" sz="810" b="1" dirty="0">
                <a:solidFill>
                  <a:srgbClr val="121C23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编码归类</a:t>
            </a:r>
            <a:r>
              <a:rPr lang="en-US" sz="810" dirty="0">
                <a:solidFill>
                  <a:srgbClr val="5A656D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，以便与定量指标（离职率、满意度评分）进行交叉分析。</a:t>
            </a:r>
            <a:endParaRPr lang="en-US" sz="810" dirty="0"/>
          </a:p>
        </p:txBody>
      </p:sp>
      <p:sp>
        <p:nvSpPr>
          <p:cNvPr id="12" name="Shape 33"/>
          <p:cNvSpPr/>
          <p:nvPr/>
        </p:nvSpPr>
        <p:spPr>
          <a:xfrm>
            <a:off x="476250" y="2622203"/>
            <a:ext cx="3952875" cy="838200"/>
          </a:xfrm>
          <a:prstGeom prst="roundRect">
            <a:avLst>
              <a:gd name="adj" fmla="val 7020"/>
            </a:avLst>
          </a:prstGeom>
          <a:solidFill>
            <a:srgbClr val="5A845A">
              <a:alpha val="12000"/>
            </a:srgbClr>
          </a:solidFill>
          <a:ln w="4903">
            <a:solidFill>
              <a:srgbClr val="5C875C">
                <a:alpha val="25000"/>
              </a:srgbClr>
            </a:solidFill>
            <a:prstDash val="solid"/>
          </a:ln>
        </p:spPr>
      </p:sp>
      <p:sp>
        <p:nvSpPr>
          <p:cNvPr id="13" name="TextBox 35"/>
          <p:cNvSpPr/>
          <p:nvPr/>
        </p:nvSpPr>
        <p:spPr>
          <a:xfrm>
            <a:off x="633412" y="2741265"/>
            <a:ext cx="3638550" cy="46736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215"/>
              </a:lnSpc>
              <a:buNone/>
            </a:pPr>
            <a:endParaRPr lang="en-US" sz="810" dirty="0"/>
          </a:p>
          <a:p>
            <a:pPr marL="0" indent="0" algn="l">
              <a:lnSpc>
                <a:spcPts val="1215"/>
              </a:lnSpc>
              <a:buNone/>
            </a:pPr>
            <a:r>
              <a:rPr lang="en-US" sz="810" dirty="0">
                <a:solidFill>
                  <a:srgbClr val="121C23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开放式编码需要模型同时具备：类别定义理解、文本解读、边界判断、格式遵循——任何一环模糊都会导致输出不可用。</a:t>
            </a:r>
            <a:endParaRPr lang="en-US" sz="810" dirty="0"/>
          </a:p>
        </p:txBody>
      </p:sp>
      <p:sp>
        <p:nvSpPr>
          <p:cNvPr id="14" name="TextBox 43"/>
          <p:cNvSpPr/>
          <p:nvPr/>
        </p:nvSpPr>
        <p:spPr>
          <a:xfrm>
            <a:off x="4714875" y="990600"/>
            <a:ext cx="3952875" cy="182873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485"/>
              </a:lnSpc>
              <a:buNone/>
            </a:pPr>
            <a:r>
              <a:rPr lang="en-US" sz="925" b="1" dirty="0">
                <a:solidFill>
                  <a:srgbClr val="121C23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预定义编码框架（8 类 + 其他）</a:t>
            </a:r>
            <a:endParaRPr lang="en-US" sz="925" dirty="0"/>
          </a:p>
        </p:txBody>
      </p:sp>
      <p:sp>
        <p:nvSpPr>
          <p:cNvPr id="15" name="TextBox 47"/>
          <p:cNvSpPr/>
          <p:nvPr/>
        </p:nvSpPr>
        <p:spPr>
          <a:xfrm>
            <a:off x="4714875" y="1301750"/>
            <a:ext cx="1096010" cy="192440"/>
          </a:xfrm>
          <a:prstGeom prst="roundRect">
            <a:avLst>
              <a:gd name="adj" fmla="val 16473"/>
            </a:avLst>
          </a:prstGeom>
          <a:solidFill>
            <a:srgbClr val="FFFFFF"/>
          </a:solidFill>
          <a:ln w="4903">
            <a:solidFill>
              <a:srgbClr val="D9DFE3"/>
            </a:solidFill>
            <a:prstDash val="solid"/>
          </a:ln>
        </p:spPr>
        <p:txBody>
          <a:bodyPr wrap="square" lIns="68645" tIns="24516" rIns="68645" bIns="24516" rtlCol="0" anchor="t">
            <a:spAutoFit/>
          </a:bodyPr>
          <a:lstStyle/>
          <a:p>
            <a:pPr marL="0" indent="0" algn="l">
              <a:lnSpc>
                <a:spcPts val="985"/>
              </a:lnSpc>
              <a:buNone/>
            </a:pPr>
            <a:r>
              <a:rPr lang="en-US" sz="655" b="1" kern="0" spc="13" dirty="0">
                <a:solidFill>
                  <a:srgbClr val="121C23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A. 工作负荷与时间压力</a:t>
            </a:r>
            <a:endParaRPr lang="en-US" sz="655" dirty="0"/>
          </a:p>
        </p:txBody>
      </p:sp>
      <p:sp>
        <p:nvSpPr>
          <p:cNvPr id="16" name="TextBox 49"/>
          <p:cNvSpPr/>
          <p:nvPr/>
        </p:nvSpPr>
        <p:spPr>
          <a:xfrm>
            <a:off x="5810885" y="1301750"/>
            <a:ext cx="1011555" cy="192440"/>
          </a:xfrm>
          <a:prstGeom prst="roundRect">
            <a:avLst>
              <a:gd name="adj" fmla="val 16473"/>
            </a:avLst>
          </a:prstGeom>
          <a:solidFill>
            <a:srgbClr val="FFFFFF"/>
          </a:solidFill>
          <a:ln w="4903">
            <a:solidFill>
              <a:srgbClr val="D9DFE3"/>
            </a:solidFill>
            <a:prstDash val="solid"/>
          </a:ln>
        </p:spPr>
        <p:txBody>
          <a:bodyPr wrap="square" lIns="68645" tIns="24516" rIns="68645" bIns="24516" rtlCol="0" anchor="t">
            <a:spAutoFit/>
          </a:bodyPr>
          <a:lstStyle/>
          <a:p>
            <a:pPr marL="0" indent="0" algn="l">
              <a:lnSpc>
                <a:spcPts val="985"/>
              </a:lnSpc>
              <a:buNone/>
            </a:pPr>
            <a:r>
              <a:rPr lang="en-US" sz="655" b="1" kern="0" spc="13" dirty="0">
                <a:solidFill>
                  <a:srgbClr val="121C23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B. 跨部门沟通与协作</a:t>
            </a:r>
            <a:endParaRPr lang="en-US" sz="655" dirty="0"/>
          </a:p>
        </p:txBody>
      </p:sp>
      <p:sp>
        <p:nvSpPr>
          <p:cNvPr id="17" name="TextBox 51"/>
          <p:cNvSpPr/>
          <p:nvPr/>
        </p:nvSpPr>
        <p:spPr>
          <a:xfrm>
            <a:off x="6822440" y="1301750"/>
            <a:ext cx="1023620" cy="192440"/>
          </a:xfrm>
          <a:prstGeom prst="roundRect">
            <a:avLst>
              <a:gd name="adj" fmla="val 16473"/>
            </a:avLst>
          </a:prstGeom>
          <a:solidFill>
            <a:srgbClr val="FFFFFF"/>
          </a:solidFill>
          <a:ln w="4903">
            <a:solidFill>
              <a:srgbClr val="D9DFE3"/>
            </a:solidFill>
            <a:prstDash val="solid"/>
          </a:ln>
        </p:spPr>
        <p:txBody>
          <a:bodyPr wrap="square" lIns="68645" tIns="24516" rIns="68645" bIns="24516" rtlCol="0" anchor="t">
            <a:spAutoFit/>
          </a:bodyPr>
          <a:lstStyle/>
          <a:p>
            <a:pPr marL="0" indent="0" algn="l">
              <a:lnSpc>
                <a:spcPts val="985"/>
              </a:lnSpc>
              <a:buNone/>
            </a:pPr>
            <a:r>
              <a:rPr lang="en-US" sz="655" b="1" kern="0" spc="13" dirty="0">
                <a:solidFill>
                  <a:srgbClr val="121C23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C. 职业发展与晋升</a:t>
            </a:r>
            <a:endParaRPr lang="en-US" sz="655" dirty="0"/>
          </a:p>
        </p:txBody>
      </p:sp>
      <p:sp>
        <p:nvSpPr>
          <p:cNvPr id="18" name="TextBox 53"/>
          <p:cNvSpPr/>
          <p:nvPr/>
        </p:nvSpPr>
        <p:spPr>
          <a:xfrm>
            <a:off x="4714875" y="1537970"/>
            <a:ext cx="1025525" cy="192440"/>
          </a:xfrm>
          <a:prstGeom prst="roundRect">
            <a:avLst>
              <a:gd name="adj" fmla="val 16473"/>
            </a:avLst>
          </a:prstGeom>
          <a:solidFill>
            <a:srgbClr val="FFFFFF"/>
          </a:solidFill>
          <a:ln w="4903">
            <a:solidFill>
              <a:srgbClr val="D9DFE3"/>
            </a:solidFill>
            <a:prstDash val="solid"/>
          </a:ln>
        </p:spPr>
        <p:txBody>
          <a:bodyPr wrap="square" lIns="68645" tIns="24516" rIns="68645" bIns="24516" rtlCol="0" anchor="t">
            <a:spAutoFit/>
          </a:bodyPr>
          <a:lstStyle/>
          <a:p>
            <a:pPr marL="0" indent="0" algn="l">
              <a:lnSpc>
                <a:spcPts val="985"/>
              </a:lnSpc>
              <a:buNone/>
            </a:pPr>
            <a:r>
              <a:rPr lang="en-US" sz="655" b="1" kern="0" spc="13" dirty="0">
                <a:solidFill>
                  <a:srgbClr val="121C23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D. 管理支持与领导力</a:t>
            </a:r>
            <a:endParaRPr lang="en-US" sz="655" dirty="0"/>
          </a:p>
        </p:txBody>
      </p:sp>
      <p:sp>
        <p:nvSpPr>
          <p:cNvPr id="19" name="TextBox 55"/>
          <p:cNvSpPr/>
          <p:nvPr/>
        </p:nvSpPr>
        <p:spPr>
          <a:xfrm>
            <a:off x="5800725" y="1527175"/>
            <a:ext cx="932180" cy="192570"/>
          </a:xfrm>
          <a:prstGeom prst="roundRect">
            <a:avLst>
              <a:gd name="adj" fmla="val 16473"/>
            </a:avLst>
          </a:prstGeom>
          <a:solidFill>
            <a:srgbClr val="FFFFFF"/>
          </a:solidFill>
          <a:ln w="4903">
            <a:solidFill>
              <a:srgbClr val="D9DFE3"/>
            </a:solidFill>
            <a:prstDash val="solid"/>
          </a:ln>
        </p:spPr>
        <p:txBody>
          <a:bodyPr wrap="square" lIns="68645" tIns="24516" rIns="68645" bIns="24516" rtlCol="0" anchor="t">
            <a:spAutoFit/>
          </a:bodyPr>
          <a:lstStyle/>
          <a:p>
            <a:pPr marL="0" indent="0" algn="l">
              <a:lnSpc>
                <a:spcPts val="985"/>
              </a:lnSpc>
              <a:buNone/>
            </a:pPr>
            <a:r>
              <a:rPr lang="en-US" sz="655" b="1" kern="0" spc="13" dirty="0">
                <a:solidFill>
                  <a:srgbClr val="121C23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E. 工作-生活平衡</a:t>
            </a:r>
            <a:endParaRPr lang="en-US" sz="655" dirty="0"/>
          </a:p>
        </p:txBody>
      </p:sp>
      <p:sp>
        <p:nvSpPr>
          <p:cNvPr id="20" name="TextBox 57"/>
          <p:cNvSpPr/>
          <p:nvPr/>
        </p:nvSpPr>
        <p:spPr>
          <a:xfrm>
            <a:off x="6793230" y="1537970"/>
            <a:ext cx="1278890" cy="193858"/>
          </a:xfrm>
          <a:prstGeom prst="roundRect">
            <a:avLst>
              <a:gd name="adj" fmla="val 16473"/>
            </a:avLst>
          </a:prstGeom>
          <a:solidFill>
            <a:srgbClr val="FFFFFF"/>
          </a:solidFill>
          <a:ln w="4903">
            <a:solidFill>
              <a:srgbClr val="D9DFE3"/>
            </a:solidFill>
            <a:prstDash val="solid"/>
          </a:ln>
        </p:spPr>
        <p:txBody>
          <a:bodyPr wrap="square" lIns="68645" tIns="24516" rIns="68645" bIns="24516" rtlCol="0" anchor="t">
            <a:spAutoFit/>
          </a:bodyPr>
          <a:lstStyle/>
          <a:p>
            <a:pPr marL="0" indent="0" algn="l">
              <a:lnSpc>
                <a:spcPts val="985"/>
              </a:lnSpc>
              <a:buNone/>
            </a:pPr>
            <a:r>
              <a:rPr lang="en-US" sz="655" b="1" kern="0" spc="13" dirty="0">
                <a:solidFill>
                  <a:srgbClr val="121C23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F. 工具与技术基础设施</a:t>
            </a:r>
            <a:endParaRPr lang="en-US" sz="655" dirty="0"/>
          </a:p>
        </p:txBody>
      </p:sp>
      <p:sp>
        <p:nvSpPr>
          <p:cNvPr id="21" name="TextBox 59"/>
          <p:cNvSpPr/>
          <p:nvPr/>
        </p:nvSpPr>
        <p:spPr>
          <a:xfrm>
            <a:off x="4714875" y="1773555"/>
            <a:ext cx="1085850" cy="192440"/>
          </a:xfrm>
          <a:prstGeom prst="roundRect">
            <a:avLst>
              <a:gd name="adj" fmla="val 16473"/>
            </a:avLst>
          </a:prstGeom>
          <a:solidFill>
            <a:srgbClr val="FFFFFF"/>
          </a:solidFill>
          <a:ln w="4903">
            <a:solidFill>
              <a:srgbClr val="D9DFE3"/>
            </a:solidFill>
            <a:prstDash val="solid"/>
          </a:ln>
        </p:spPr>
        <p:txBody>
          <a:bodyPr wrap="square" lIns="68645" tIns="24516" rIns="68645" bIns="24516" rtlCol="0" anchor="t">
            <a:spAutoFit/>
          </a:bodyPr>
          <a:lstStyle/>
          <a:p>
            <a:pPr marL="0" indent="0" algn="l">
              <a:lnSpc>
                <a:spcPts val="985"/>
              </a:lnSpc>
              <a:buNone/>
            </a:pPr>
            <a:r>
              <a:rPr lang="en-US" sz="655" b="1" kern="0" spc="13" dirty="0">
                <a:solidFill>
                  <a:srgbClr val="121C23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G. 人际关系与团队氛围</a:t>
            </a:r>
            <a:endParaRPr lang="en-US" sz="655" dirty="0"/>
          </a:p>
        </p:txBody>
      </p:sp>
      <p:sp>
        <p:nvSpPr>
          <p:cNvPr id="22" name="TextBox 61"/>
          <p:cNvSpPr/>
          <p:nvPr/>
        </p:nvSpPr>
        <p:spPr>
          <a:xfrm>
            <a:off x="5781040" y="1779270"/>
            <a:ext cx="1234440" cy="172720"/>
          </a:xfrm>
          <a:prstGeom prst="roundRect">
            <a:avLst>
              <a:gd name="adj" fmla="val 16473"/>
            </a:avLst>
          </a:prstGeom>
          <a:solidFill>
            <a:srgbClr val="FFFFFF"/>
          </a:solidFill>
          <a:ln w="4903">
            <a:solidFill>
              <a:srgbClr val="D9DFE3"/>
            </a:solidFill>
            <a:prstDash val="solid"/>
          </a:ln>
        </p:spPr>
        <p:txBody>
          <a:bodyPr wrap="square" lIns="68645" tIns="24516" rIns="68645" bIns="24516" rtlCol="0" anchor="t">
            <a:noAutofit/>
          </a:bodyPr>
          <a:lstStyle/>
          <a:p>
            <a:pPr marL="0" indent="0" algn="l">
              <a:lnSpc>
                <a:spcPts val="985"/>
              </a:lnSpc>
              <a:buNone/>
            </a:pPr>
            <a:r>
              <a:rPr lang="en-US" sz="655" b="1" kern="0" spc="13" dirty="0">
                <a:solidFill>
                  <a:srgbClr val="121C23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H. 角色模糊与目标不清</a:t>
            </a:r>
            <a:endParaRPr lang="en-US" sz="655" dirty="0"/>
          </a:p>
        </p:txBody>
      </p:sp>
      <p:sp>
        <p:nvSpPr>
          <p:cNvPr id="23" name="TextBox 63"/>
          <p:cNvSpPr/>
          <p:nvPr/>
        </p:nvSpPr>
        <p:spPr>
          <a:xfrm>
            <a:off x="7038975" y="1773555"/>
            <a:ext cx="624205" cy="192570"/>
          </a:xfrm>
          <a:prstGeom prst="roundRect">
            <a:avLst>
              <a:gd name="adj" fmla="val 16473"/>
            </a:avLst>
          </a:prstGeom>
          <a:solidFill>
            <a:srgbClr val="FFFFFF"/>
          </a:solidFill>
          <a:ln w="4903">
            <a:solidFill>
              <a:srgbClr val="D9DFE3"/>
            </a:solidFill>
            <a:prstDash val="solid"/>
          </a:ln>
        </p:spPr>
        <p:txBody>
          <a:bodyPr wrap="square" lIns="68645" tIns="24516" rIns="68645" bIns="24516" rtlCol="0" anchor="t">
            <a:spAutoFit/>
          </a:bodyPr>
          <a:lstStyle/>
          <a:p>
            <a:pPr marL="0" indent="0" algn="l">
              <a:lnSpc>
                <a:spcPts val="985"/>
              </a:lnSpc>
              <a:buNone/>
            </a:pPr>
            <a:r>
              <a:rPr lang="en-US" sz="655" b="1" kern="0" spc="13" dirty="0">
                <a:solidFill>
                  <a:srgbClr val="121C23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I. 其他</a:t>
            </a:r>
            <a:endParaRPr lang="en-US" sz="655" dirty="0"/>
          </a:p>
        </p:txBody>
      </p:sp>
      <p:sp>
        <p:nvSpPr>
          <p:cNvPr id="24" name="TextBox 66"/>
          <p:cNvSpPr/>
          <p:nvPr/>
        </p:nvSpPr>
        <p:spPr>
          <a:xfrm>
            <a:off x="4714875" y="2137879"/>
            <a:ext cx="3952875" cy="300038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215"/>
              </a:lnSpc>
              <a:buNone/>
            </a:pPr>
            <a:r>
              <a:rPr lang="en-US" sz="810" b="1" dirty="0">
                <a:solidFill>
                  <a:srgbClr val="121C23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核心挑战：</a:t>
            </a:r>
            <a:r>
              <a:rPr lang="en-US" sz="810" dirty="0">
                <a:solidFill>
                  <a:srgbClr val="5A656D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如何让 LLM 准确理解每个类别的边界，并在模糊、多义的开放回答中做出合理判断？答案取决于</a:t>
            </a:r>
            <a:r>
              <a:rPr lang="en-US" sz="810" b="1" dirty="0">
                <a:solidFill>
                  <a:srgbClr val="121C23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提示词的质量</a:t>
            </a:r>
            <a:r>
              <a:rPr lang="en-US" sz="810" dirty="0">
                <a:solidFill>
                  <a:srgbClr val="5A656D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。</a:t>
            </a:r>
            <a:endParaRPr lang="en-US" sz="810" dirty="0"/>
          </a:p>
        </p:txBody>
      </p:sp>
      <p:sp>
        <p:nvSpPr>
          <p:cNvPr id="25" name="Shape 68"/>
          <p:cNvSpPr/>
          <p:nvPr/>
        </p:nvSpPr>
        <p:spPr>
          <a:xfrm>
            <a:off x="4714875" y="2571266"/>
            <a:ext cx="3952875" cy="862012"/>
          </a:xfrm>
          <a:prstGeom prst="roundRect">
            <a:avLst>
              <a:gd name="adj" fmla="val 6826"/>
            </a:avLst>
          </a:prstGeom>
          <a:solidFill>
            <a:srgbClr val="FFFFFF"/>
          </a:solidFill>
          <a:ln w="4903">
            <a:solidFill>
              <a:srgbClr val="D9DFE3"/>
            </a:solidFill>
            <a:prstDash val="solid"/>
          </a:ln>
        </p:spPr>
      </p:sp>
      <p:sp>
        <p:nvSpPr>
          <p:cNvPr id="26" name="TextBox 70"/>
          <p:cNvSpPr/>
          <p:nvPr/>
        </p:nvSpPr>
        <p:spPr>
          <a:xfrm>
            <a:off x="4852987" y="2680804"/>
            <a:ext cx="3676650" cy="128588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040"/>
              </a:lnSpc>
              <a:buNone/>
            </a:pPr>
            <a:r>
              <a:rPr lang="en-US" sz="695" dirty="0">
                <a:solidFill>
                  <a:srgbClr val="5A656D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示例回答（需编码）：</a:t>
            </a:r>
            <a:endParaRPr lang="en-US" sz="695" dirty="0"/>
          </a:p>
        </p:txBody>
      </p:sp>
      <p:sp>
        <p:nvSpPr>
          <p:cNvPr id="27" name="TextBox 72"/>
          <p:cNvSpPr/>
          <p:nvPr/>
        </p:nvSpPr>
        <p:spPr>
          <a:xfrm>
            <a:off x="4852987" y="2847491"/>
            <a:ext cx="3676650" cy="300037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215"/>
              </a:lnSpc>
              <a:buNone/>
            </a:pPr>
            <a:r>
              <a:rPr lang="en-US" sz="810" i="1" dirty="0">
                <a:solidFill>
                  <a:srgbClr val="121C23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"我们团队的项目管理工具实在太旧了，经常丢数据和版本冲突。另外跨部门的审批流程也很慢，一个简单需求要等三天。"</a:t>
            </a:r>
            <a:endParaRPr lang="en-US" sz="810" dirty="0"/>
          </a:p>
        </p:txBody>
      </p:sp>
      <p:sp>
        <p:nvSpPr>
          <p:cNvPr id="28" name="TextBox 74"/>
          <p:cNvSpPr/>
          <p:nvPr/>
        </p:nvSpPr>
        <p:spPr>
          <a:xfrm>
            <a:off x="4852987" y="3195154"/>
            <a:ext cx="3676650" cy="128587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040"/>
              </a:lnSpc>
              <a:buNone/>
            </a:pPr>
            <a:r>
              <a:rPr lang="en-US" sz="695" dirty="0">
                <a:solidFill>
                  <a:srgbClr val="299236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→ 应编码为 F（工具与技术基础设施），因为核心诉求是工具问题，审批流程是次因</a:t>
            </a:r>
            <a:endParaRPr lang="en-US" sz="695" dirty="0"/>
          </a:p>
        </p:txBody>
      </p:sp>
      <p:sp>
        <p:nvSpPr>
          <p:cNvPr id="29" name="TextBox 83"/>
          <p:cNvSpPr/>
          <p:nvPr/>
        </p:nvSpPr>
        <p:spPr>
          <a:xfrm>
            <a:off x="476250" y="4633912"/>
            <a:ext cx="4202237" cy="128588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040"/>
              </a:lnSpc>
              <a:buNone/>
            </a:pPr>
            <a:r>
              <a:rPr lang="en-US" sz="695" kern="0" spc="28" dirty="0">
                <a:solidFill>
                  <a:srgbClr val="5A656D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开放式编码任务天然适合验证提示词工程——每项要求（框架、示例、格式、边界）都可以独立操控进行对比</a:t>
            </a:r>
            <a:endParaRPr lang="en-US" sz="695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6F9FC"/>
          </a:solidFill>
        </p:spPr>
      </p:sp>
      <p:sp>
        <p:nvSpPr>
          <p:cNvPr id="3" name="Shape 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6F9FC"/>
          </a:solidFill>
        </p:spPr>
      </p:sp>
      <p:sp>
        <p:nvSpPr>
          <p:cNvPr id="4" name="TextBox 10"/>
          <p:cNvSpPr/>
          <p:nvPr/>
        </p:nvSpPr>
        <p:spPr>
          <a:xfrm>
            <a:off x="476250" y="387985"/>
            <a:ext cx="1247775" cy="13335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040"/>
              </a:lnSpc>
              <a:buNone/>
            </a:pPr>
            <a:r>
              <a:rPr lang="en-US" sz="695" kern="0" spc="49" dirty="0">
                <a:solidFill>
                  <a:srgbClr val="299236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差提示词 BAD PROMPT</a:t>
            </a:r>
            <a:endParaRPr lang="en-US" sz="695" dirty="0"/>
          </a:p>
        </p:txBody>
      </p:sp>
      <p:sp>
        <p:nvSpPr>
          <p:cNvPr id="6" name="TextBox 15"/>
          <p:cNvSpPr/>
          <p:nvPr/>
        </p:nvSpPr>
        <p:spPr>
          <a:xfrm>
            <a:off x="476250" y="542925"/>
            <a:ext cx="8191500" cy="22860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855"/>
              </a:lnSpc>
              <a:buNone/>
            </a:pPr>
            <a:r>
              <a:rPr lang="en-US" sz="1545" b="1" kern="0" spc="-15" dirty="0">
                <a:solidFill>
                  <a:srgbClr val="121C23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模糊指令：一次典型的"随便问问"</a:t>
            </a:r>
            <a:endParaRPr lang="en-US" sz="1545" dirty="0"/>
          </a:p>
        </p:txBody>
      </p:sp>
      <p:sp>
        <p:nvSpPr>
          <p:cNvPr id="7" name="Shape 17"/>
          <p:cNvSpPr/>
          <p:nvPr/>
        </p:nvSpPr>
        <p:spPr>
          <a:xfrm>
            <a:off x="476250" y="866775"/>
            <a:ext cx="8191500" cy="4763"/>
          </a:xfrm>
          <a:prstGeom prst="rect">
            <a:avLst/>
          </a:prstGeom>
          <a:solidFill>
            <a:srgbClr val="D9DFE3"/>
          </a:solidFill>
        </p:spPr>
      </p:sp>
      <p:sp>
        <p:nvSpPr>
          <p:cNvPr id="8" name="TextBox 25"/>
          <p:cNvSpPr/>
          <p:nvPr/>
        </p:nvSpPr>
        <p:spPr>
          <a:xfrm>
            <a:off x="476250" y="1004888"/>
            <a:ext cx="3952875" cy="15557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215"/>
              </a:lnSpc>
              <a:buNone/>
            </a:pPr>
            <a:r>
              <a:rPr lang="en-US" sz="810" b="1" dirty="0">
                <a:solidFill>
                  <a:srgbClr val="121C23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提示词V1：</a:t>
            </a:r>
            <a:endParaRPr lang="en-US" sz="810" dirty="0"/>
          </a:p>
        </p:txBody>
      </p:sp>
      <p:sp>
        <p:nvSpPr>
          <p:cNvPr id="9" name="TextBox 27"/>
          <p:cNvSpPr/>
          <p:nvPr/>
        </p:nvSpPr>
        <p:spPr>
          <a:xfrm>
            <a:off x="476250" y="1269206"/>
            <a:ext cx="3952875" cy="873323"/>
          </a:xfrm>
          <a:prstGeom prst="roundRect">
            <a:avLst>
              <a:gd name="adj" fmla="val 4492"/>
            </a:avLst>
          </a:prstGeom>
          <a:solidFill>
            <a:srgbClr val="F0F2F5"/>
          </a:solidFill>
          <a:ln w="4903">
            <a:solidFill>
              <a:srgbClr val="D9DFE3"/>
            </a:solidFill>
            <a:prstDash val="solid"/>
          </a:ln>
        </p:spPr>
        <p:txBody>
          <a:bodyPr wrap="square" lIns="156904" tIns="137291" rIns="156904" bIns="137291" rtlCol="0" anchor="t">
            <a:spAutoFit/>
          </a:bodyPr>
          <a:lstStyle/>
          <a:p>
            <a:pPr marL="0" indent="0" algn="l">
              <a:lnSpc>
                <a:spcPts val="1210"/>
              </a:lnSpc>
              <a:buNone/>
            </a:pPr>
            <a:endParaRPr lang="en-US" sz="735" dirty="0"/>
          </a:p>
          <a:p>
            <a:pPr marL="0" indent="0" algn="l">
              <a:lnSpc>
                <a:spcPts val="1210"/>
              </a:lnSpc>
              <a:buNone/>
            </a:pPr>
            <a:r>
              <a:rPr lang="en-US" sz="735" dirty="0">
                <a:solidFill>
                  <a:srgbClr val="121C23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请对以下员工关于工作挑战的开放式回答进行分类编码。</a:t>
            </a:r>
            <a:endParaRPr lang="en-US" sz="735" dirty="0"/>
          </a:p>
          <a:p>
            <a:pPr marL="0" indent="0" algn="l">
              <a:lnSpc>
                <a:spcPts val="1210"/>
              </a:lnSpc>
              <a:buNone/>
            </a:pPr>
            <a:endParaRPr lang="en-US" sz="735" dirty="0"/>
          </a:p>
          <a:p>
            <a:pPr marL="0" indent="0" algn="l">
              <a:lnSpc>
                <a:spcPts val="1210"/>
              </a:lnSpc>
              <a:buNone/>
            </a:pPr>
            <a:r>
              <a:rPr lang="en-US" sz="735" dirty="0">
                <a:solidFill>
                  <a:srgbClr val="121C23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[插入 50 条回答文本]</a:t>
            </a:r>
            <a:endParaRPr lang="en-US" sz="735" dirty="0"/>
          </a:p>
        </p:txBody>
      </p:sp>
      <p:sp>
        <p:nvSpPr>
          <p:cNvPr id="10" name="TextBox 29"/>
          <p:cNvSpPr/>
          <p:nvPr/>
        </p:nvSpPr>
        <p:spPr>
          <a:xfrm>
            <a:off x="476250" y="2256830"/>
            <a:ext cx="3952875" cy="13335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040"/>
              </a:lnSpc>
              <a:buNone/>
            </a:pPr>
            <a:r>
              <a:rPr lang="en-US" sz="695" dirty="0">
                <a:solidFill>
                  <a:srgbClr val="5A656D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就这么两行——没有类别定义、没有示例、没有输出格式。</a:t>
            </a:r>
            <a:endParaRPr lang="en-US" sz="695" dirty="0"/>
          </a:p>
        </p:txBody>
      </p:sp>
      <p:sp>
        <p:nvSpPr>
          <p:cNvPr id="11" name="TextBox 36"/>
          <p:cNvSpPr/>
          <p:nvPr/>
        </p:nvSpPr>
        <p:spPr>
          <a:xfrm>
            <a:off x="4714875" y="1004888"/>
            <a:ext cx="3952875" cy="182873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485"/>
              </a:lnSpc>
              <a:buNone/>
            </a:pPr>
            <a:r>
              <a:rPr lang="en-US" sz="925" b="1" dirty="0">
                <a:solidFill>
                  <a:srgbClr val="B5452C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5 个致命问题</a:t>
            </a:r>
            <a:endParaRPr lang="en-US" sz="925" dirty="0"/>
          </a:p>
        </p:txBody>
      </p:sp>
      <p:sp>
        <p:nvSpPr>
          <p:cNvPr id="12" name="TextBox 40"/>
          <p:cNvSpPr/>
          <p:nvPr>
            <p:custDataLst>
              <p:tags r:id="rId1"/>
            </p:custDataLst>
          </p:nvPr>
        </p:nvSpPr>
        <p:spPr>
          <a:xfrm>
            <a:off x="4714875" y="1263960"/>
            <a:ext cx="171450" cy="15240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r">
              <a:lnSpc>
                <a:spcPts val="1235"/>
              </a:lnSpc>
              <a:buNone/>
            </a:pPr>
            <a:r>
              <a:rPr lang="en-US" sz="1235" b="1" dirty="0">
                <a:solidFill>
                  <a:srgbClr val="B5452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1</a:t>
            </a:r>
            <a:endParaRPr lang="en-US" sz="1235" dirty="0"/>
          </a:p>
        </p:txBody>
      </p:sp>
      <p:sp>
        <p:nvSpPr>
          <p:cNvPr id="13" name="TextBox 44"/>
          <p:cNvSpPr/>
          <p:nvPr>
            <p:custDataLst>
              <p:tags r:id="rId2"/>
            </p:custDataLst>
          </p:nvPr>
        </p:nvSpPr>
        <p:spPr>
          <a:xfrm>
            <a:off x="4981575" y="1263960"/>
            <a:ext cx="3686175" cy="142391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155"/>
              </a:lnSpc>
              <a:buNone/>
            </a:pPr>
            <a:r>
              <a:rPr lang="en-US" sz="890" b="1" dirty="0">
                <a:solidFill>
                  <a:srgbClr val="121C23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未定义分类体系</a:t>
            </a:r>
            <a:endParaRPr lang="en-US" sz="890" dirty="0"/>
          </a:p>
        </p:txBody>
      </p:sp>
      <p:sp>
        <p:nvSpPr>
          <p:cNvPr id="14" name="TextBox 46"/>
          <p:cNvSpPr/>
          <p:nvPr>
            <p:custDataLst>
              <p:tags r:id="rId3"/>
            </p:custDataLst>
          </p:nvPr>
        </p:nvSpPr>
        <p:spPr>
          <a:xfrm>
            <a:off x="4981575" y="1425401"/>
            <a:ext cx="3686175" cy="300037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215"/>
              </a:lnSpc>
              <a:buNone/>
            </a:pPr>
            <a:r>
              <a:rPr lang="en-US" sz="810" dirty="0">
                <a:solidFill>
                  <a:srgbClr val="5A656D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模型不知道"哪些类别"存在，只能自行编造一套分类——且每次运行都可能不同，无法跨批次合并。</a:t>
            </a:r>
            <a:endParaRPr lang="en-US" sz="810" dirty="0"/>
          </a:p>
        </p:txBody>
      </p:sp>
      <p:sp>
        <p:nvSpPr>
          <p:cNvPr id="15" name="TextBox 52"/>
          <p:cNvSpPr/>
          <p:nvPr>
            <p:custDataLst>
              <p:tags r:id="rId4"/>
            </p:custDataLst>
          </p:nvPr>
        </p:nvSpPr>
        <p:spPr>
          <a:xfrm>
            <a:off x="4714875" y="1801639"/>
            <a:ext cx="171450" cy="15240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r">
              <a:lnSpc>
                <a:spcPts val="1235"/>
              </a:lnSpc>
              <a:buNone/>
            </a:pPr>
            <a:r>
              <a:rPr lang="en-US" sz="1235" b="1" dirty="0">
                <a:solidFill>
                  <a:srgbClr val="B5452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2</a:t>
            </a:r>
            <a:endParaRPr lang="en-US" sz="1235" dirty="0"/>
          </a:p>
        </p:txBody>
      </p:sp>
      <p:sp>
        <p:nvSpPr>
          <p:cNvPr id="16" name="TextBox 56"/>
          <p:cNvSpPr/>
          <p:nvPr>
            <p:custDataLst>
              <p:tags r:id="rId5"/>
            </p:custDataLst>
          </p:nvPr>
        </p:nvSpPr>
        <p:spPr>
          <a:xfrm>
            <a:off x="4981575" y="1801639"/>
            <a:ext cx="3686175" cy="142391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155"/>
              </a:lnSpc>
              <a:buNone/>
            </a:pPr>
            <a:r>
              <a:rPr lang="en-US" sz="890" b="1" dirty="0">
                <a:solidFill>
                  <a:srgbClr val="121C23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缺少数标注示例（Few-shot）</a:t>
            </a:r>
            <a:endParaRPr lang="en-US" sz="890" dirty="0"/>
          </a:p>
        </p:txBody>
      </p:sp>
      <p:sp>
        <p:nvSpPr>
          <p:cNvPr id="17" name="TextBox 58"/>
          <p:cNvSpPr/>
          <p:nvPr>
            <p:custDataLst>
              <p:tags r:id="rId6"/>
            </p:custDataLst>
          </p:nvPr>
        </p:nvSpPr>
        <p:spPr>
          <a:xfrm>
            <a:off x="4981575" y="1963080"/>
            <a:ext cx="3686175" cy="300037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215"/>
              </a:lnSpc>
              <a:buNone/>
            </a:pPr>
            <a:r>
              <a:rPr lang="en-US" sz="810" dirty="0">
                <a:solidFill>
                  <a:srgbClr val="5A656D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模型不清楚每个类别的边界。例如"加班太多"归入 A（工作负荷）还是 E（工作-生活平衡）？没有示例就无法建立一致的标准。</a:t>
            </a:r>
            <a:endParaRPr lang="en-US" sz="810" dirty="0"/>
          </a:p>
        </p:txBody>
      </p:sp>
      <p:sp>
        <p:nvSpPr>
          <p:cNvPr id="18" name="TextBox 64"/>
          <p:cNvSpPr/>
          <p:nvPr>
            <p:custDataLst>
              <p:tags r:id="rId7"/>
            </p:custDataLst>
          </p:nvPr>
        </p:nvSpPr>
        <p:spPr>
          <a:xfrm>
            <a:off x="4714875" y="2339318"/>
            <a:ext cx="171450" cy="15240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r">
              <a:lnSpc>
                <a:spcPts val="1235"/>
              </a:lnSpc>
              <a:buNone/>
            </a:pPr>
            <a:r>
              <a:rPr lang="en-US" sz="1235" b="1" dirty="0">
                <a:solidFill>
                  <a:srgbClr val="B5452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3</a:t>
            </a:r>
            <a:endParaRPr lang="en-US" sz="1235" dirty="0"/>
          </a:p>
        </p:txBody>
      </p:sp>
      <p:sp>
        <p:nvSpPr>
          <p:cNvPr id="19" name="TextBox 68"/>
          <p:cNvSpPr/>
          <p:nvPr>
            <p:custDataLst>
              <p:tags r:id="rId8"/>
            </p:custDataLst>
          </p:nvPr>
        </p:nvSpPr>
        <p:spPr>
          <a:xfrm>
            <a:off x="4981575" y="2339318"/>
            <a:ext cx="3686175" cy="142392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155"/>
              </a:lnSpc>
              <a:buNone/>
            </a:pPr>
            <a:r>
              <a:rPr lang="en-US" sz="890" b="1" dirty="0">
                <a:solidFill>
                  <a:srgbClr val="121C23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未指定输出格式</a:t>
            </a:r>
            <a:endParaRPr lang="en-US" sz="890" dirty="0"/>
          </a:p>
        </p:txBody>
      </p:sp>
      <p:sp>
        <p:nvSpPr>
          <p:cNvPr id="20" name="TextBox 70"/>
          <p:cNvSpPr/>
          <p:nvPr>
            <p:custDataLst>
              <p:tags r:id="rId9"/>
            </p:custDataLst>
          </p:nvPr>
        </p:nvSpPr>
        <p:spPr>
          <a:xfrm>
            <a:off x="4981575" y="2500759"/>
            <a:ext cx="3686175" cy="300038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215"/>
              </a:lnSpc>
              <a:buNone/>
            </a:pPr>
            <a:r>
              <a:rPr lang="en-US" sz="810" dirty="0">
                <a:solidFill>
                  <a:srgbClr val="5A656D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模型可能输出自然语言段落、无序列表、或随意编号——无法对接后续统计分析流程（Python/R）。</a:t>
            </a:r>
            <a:endParaRPr lang="en-US" sz="810" dirty="0"/>
          </a:p>
        </p:txBody>
      </p:sp>
      <p:sp>
        <p:nvSpPr>
          <p:cNvPr id="21" name="TextBox 76"/>
          <p:cNvSpPr/>
          <p:nvPr>
            <p:custDataLst>
              <p:tags r:id="rId10"/>
            </p:custDataLst>
          </p:nvPr>
        </p:nvSpPr>
        <p:spPr>
          <a:xfrm>
            <a:off x="4714875" y="2876996"/>
            <a:ext cx="171450" cy="15240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r">
              <a:lnSpc>
                <a:spcPts val="1235"/>
              </a:lnSpc>
              <a:buNone/>
            </a:pPr>
            <a:r>
              <a:rPr lang="en-US" sz="1235" b="1" dirty="0">
                <a:solidFill>
                  <a:srgbClr val="B5452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4</a:t>
            </a:r>
            <a:endParaRPr lang="en-US" sz="1235" dirty="0"/>
          </a:p>
        </p:txBody>
      </p:sp>
      <p:sp>
        <p:nvSpPr>
          <p:cNvPr id="22" name="TextBox 80"/>
          <p:cNvSpPr/>
          <p:nvPr>
            <p:custDataLst>
              <p:tags r:id="rId11"/>
            </p:custDataLst>
          </p:nvPr>
        </p:nvSpPr>
        <p:spPr>
          <a:xfrm>
            <a:off x="4981575" y="2876996"/>
            <a:ext cx="3686175" cy="142391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155"/>
              </a:lnSpc>
              <a:buNone/>
            </a:pPr>
            <a:r>
              <a:rPr lang="en-US" sz="890" b="1" dirty="0">
                <a:solidFill>
                  <a:srgbClr val="121C23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缺少角色与任务上下文</a:t>
            </a:r>
            <a:endParaRPr lang="en-US" sz="890" dirty="0"/>
          </a:p>
        </p:txBody>
      </p:sp>
      <p:sp>
        <p:nvSpPr>
          <p:cNvPr id="23" name="TextBox 82"/>
          <p:cNvSpPr/>
          <p:nvPr>
            <p:custDataLst>
              <p:tags r:id="rId12"/>
            </p:custDataLst>
          </p:nvPr>
        </p:nvSpPr>
        <p:spPr>
          <a:xfrm>
            <a:off x="4981575" y="3038438"/>
            <a:ext cx="3686175" cy="300038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215"/>
              </a:lnSpc>
              <a:buNone/>
            </a:pPr>
            <a:r>
              <a:rPr lang="en-US" sz="810" dirty="0">
                <a:solidFill>
                  <a:srgbClr val="5A656D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模型不知道自己是谁、在帮谁、为什么做这件事——缺少角色锚定，输出风格随意。</a:t>
            </a:r>
            <a:endParaRPr lang="en-US" sz="810" dirty="0"/>
          </a:p>
        </p:txBody>
      </p:sp>
      <p:sp>
        <p:nvSpPr>
          <p:cNvPr id="24" name="TextBox 88"/>
          <p:cNvSpPr/>
          <p:nvPr>
            <p:custDataLst>
              <p:tags r:id="rId13"/>
            </p:custDataLst>
          </p:nvPr>
        </p:nvSpPr>
        <p:spPr>
          <a:xfrm>
            <a:off x="4714875" y="3414675"/>
            <a:ext cx="171450" cy="15240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r">
              <a:lnSpc>
                <a:spcPts val="1235"/>
              </a:lnSpc>
              <a:buNone/>
            </a:pPr>
            <a:r>
              <a:rPr lang="en-US" sz="1235" b="1" dirty="0">
                <a:solidFill>
                  <a:srgbClr val="B5452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5</a:t>
            </a:r>
            <a:endParaRPr lang="en-US" sz="1235" dirty="0"/>
          </a:p>
        </p:txBody>
      </p:sp>
      <p:sp>
        <p:nvSpPr>
          <p:cNvPr id="25" name="TextBox 92"/>
          <p:cNvSpPr/>
          <p:nvPr>
            <p:custDataLst>
              <p:tags r:id="rId14"/>
            </p:custDataLst>
          </p:nvPr>
        </p:nvSpPr>
        <p:spPr>
          <a:xfrm>
            <a:off x="4981575" y="3414675"/>
            <a:ext cx="3600450" cy="142391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155"/>
              </a:lnSpc>
              <a:buNone/>
            </a:pPr>
            <a:r>
              <a:rPr lang="en-US" sz="890" b="1" dirty="0">
                <a:solidFill>
                  <a:srgbClr val="121C23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边界情况无处理规则</a:t>
            </a:r>
            <a:endParaRPr lang="en-US" sz="890" dirty="0"/>
          </a:p>
        </p:txBody>
      </p:sp>
      <p:sp>
        <p:nvSpPr>
          <p:cNvPr id="26" name="TextBox 94"/>
          <p:cNvSpPr/>
          <p:nvPr>
            <p:custDataLst>
              <p:tags r:id="rId15"/>
            </p:custDataLst>
          </p:nvPr>
        </p:nvSpPr>
        <p:spPr>
          <a:xfrm>
            <a:off x="4981575" y="3576117"/>
            <a:ext cx="3600450" cy="150019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215"/>
              </a:lnSpc>
              <a:buNone/>
            </a:pPr>
            <a:r>
              <a:rPr lang="en-US" sz="810" dirty="0">
                <a:solidFill>
                  <a:srgbClr val="5A656D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一条回答涉及多个主题时怎么办？回答过于模糊时如何处理？——没有任何指引。</a:t>
            </a:r>
            <a:endParaRPr lang="en-US" sz="810" dirty="0"/>
          </a:p>
        </p:txBody>
      </p:sp>
      <p:sp>
        <p:nvSpPr>
          <p:cNvPr id="27" name="TextBox 104"/>
          <p:cNvSpPr/>
          <p:nvPr/>
        </p:nvSpPr>
        <p:spPr>
          <a:xfrm>
            <a:off x="476250" y="4633912"/>
            <a:ext cx="3156310" cy="128588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040"/>
              </a:lnSpc>
              <a:buNone/>
            </a:pPr>
            <a:r>
              <a:rPr lang="en-US" sz="695" kern="0" spc="28" dirty="0">
                <a:solidFill>
                  <a:srgbClr val="5A656D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差提示 → 模型自行编造类别、格式混乱、跨批次不可合并 → 编码结果无法使用</a:t>
            </a:r>
            <a:endParaRPr lang="en-US" sz="695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6F9FC"/>
          </a:solidFill>
        </p:spPr>
      </p:sp>
      <p:sp>
        <p:nvSpPr>
          <p:cNvPr id="3" name="Shape 2"/>
          <p:cNvSpPr/>
          <p:nvPr/>
        </p:nvSpPr>
        <p:spPr>
          <a:xfrm>
            <a:off x="0" y="-28575"/>
            <a:ext cx="9144000" cy="5143500"/>
          </a:xfrm>
          <a:prstGeom prst="rect">
            <a:avLst/>
          </a:prstGeom>
          <a:solidFill>
            <a:srgbClr val="F6F9FC"/>
          </a:solidFill>
        </p:spPr>
      </p:sp>
      <p:sp>
        <p:nvSpPr>
          <p:cNvPr id="4" name="TextBox 8"/>
          <p:cNvSpPr/>
          <p:nvPr/>
        </p:nvSpPr>
        <p:spPr>
          <a:xfrm>
            <a:off x="476250" y="381000"/>
            <a:ext cx="8191500" cy="13335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040"/>
              </a:lnSpc>
              <a:buNone/>
            </a:pPr>
            <a:endParaRPr lang="en-US" sz="695" dirty="0"/>
          </a:p>
        </p:txBody>
      </p:sp>
      <p:sp>
        <p:nvSpPr>
          <p:cNvPr id="5" name="TextBox 10"/>
          <p:cNvSpPr/>
          <p:nvPr/>
        </p:nvSpPr>
        <p:spPr>
          <a:xfrm>
            <a:off x="476250" y="528637"/>
            <a:ext cx="8191500" cy="23749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855"/>
              </a:lnSpc>
              <a:buNone/>
            </a:pPr>
            <a:r>
              <a:rPr lang="en-US" sz="1545" b="1" kern="0" spc="-15" dirty="0">
                <a:solidFill>
                  <a:srgbClr val="121C23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差提示下，deepseek 实际会输出什么？</a:t>
            </a:r>
            <a:endParaRPr lang="en-US" sz="1545" dirty="0"/>
          </a:p>
        </p:txBody>
      </p:sp>
      <p:sp>
        <p:nvSpPr>
          <p:cNvPr id="6" name="TextBox 12"/>
          <p:cNvSpPr/>
          <p:nvPr/>
        </p:nvSpPr>
        <p:spPr>
          <a:xfrm>
            <a:off x="476250" y="776288"/>
            <a:ext cx="8191500" cy="150019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215"/>
              </a:lnSpc>
              <a:buNone/>
            </a:pPr>
            <a:r>
              <a:rPr lang="en-US" sz="810" dirty="0">
                <a:solidFill>
                  <a:srgbClr val="5A656D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基于真实测试的典型响应——当提示词只有两句话时，模型自行发挥，输出无法使用。</a:t>
            </a:r>
            <a:endParaRPr lang="en-US" sz="810" dirty="0"/>
          </a:p>
        </p:txBody>
      </p:sp>
      <p:sp>
        <p:nvSpPr>
          <p:cNvPr id="7" name="Shape 14"/>
          <p:cNvSpPr/>
          <p:nvPr/>
        </p:nvSpPr>
        <p:spPr>
          <a:xfrm>
            <a:off x="476250" y="1002506"/>
            <a:ext cx="8191500" cy="4763"/>
          </a:xfrm>
          <a:prstGeom prst="rect">
            <a:avLst/>
          </a:prstGeom>
          <a:solidFill>
            <a:srgbClr val="D9DFE3"/>
          </a:solidFill>
        </p:spPr>
      </p:sp>
      <p:sp>
        <p:nvSpPr>
          <p:cNvPr id="8" name="TextBox 26"/>
          <p:cNvSpPr/>
          <p:nvPr/>
        </p:nvSpPr>
        <p:spPr>
          <a:xfrm>
            <a:off x="476250" y="1083310"/>
            <a:ext cx="701040" cy="175284"/>
          </a:xfrm>
          <a:prstGeom prst="roundRect">
            <a:avLst>
              <a:gd name="adj" fmla="val 12479"/>
            </a:avLst>
          </a:prstGeom>
          <a:solidFill>
            <a:srgbClr val="B5452C">
              <a:alpha val="10000"/>
            </a:srgbClr>
          </a:solidFill>
        </p:spPr>
        <p:txBody>
          <a:bodyPr wrap="square" lIns="58839" tIns="14710" rIns="58839" bIns="14710" rtlCol="0" anchor="t">
            <a:spAutoFit/>
          </a:bodyPr>
          <a:lstStyle/>
          <a:p>
            <a:pPr marL="0" indent="0" algn="l">
              <a:lnSpc>
                <a:spcPts val="1040"/>
              </a:lnSpc>
              <a:buNone/>
            </a:pPr>
            <a:r>
              <a:rPr lang="en-US" sz="695" b="1" kern="0" spc="35" dirty="0">
                <a:solidFill>
                  <a:srgbClr val="B5452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用户输入</a:t>
            </a:r>
            <a:endParaRPr lang="en-US" sz="695" dirty="0"/>
          </a:p>
        </p:txBody>
      </p:sp>
      <p:sp>
        <p:nvSpPr>
          <p:cNvPr id="9" name="TextBox 29"/>
          <p:cNvSpPr/>
          <p:nvPr/>
        </p:nvSpPr>
        <p:spPr>
          <a:xfrm>
            <a:off x="476250" y="1288415"/>
            <a:ext cx="4010025" cy="3394075"/>
          </a:xfrm>
          <a:prstGeom prst="roundRect">
            <a:avLst>
              <a:gd name="adj" fmla="val 1115"/>
            </a:avLst>
          </a:prstGeom>
          <a:solidFill>
            <a:srgbClr val="F5F5F8"/>
          </a:solidFill>
          <a:ln w="4903">
            <a:solidFill>
              <a:srgbClr val="D9DFE3"/>
            </a:solidFill>
            <a:prstDash val="solid"/>
          </a:ln>
        </p:spPr>
        <p:txBody>
          <a:bodyPr wrap="square" lIns="127484" tIns="107871" rIns="127484" bIns="107871" rtlCol="0" anchor="t">
            <a:noAutofit/>
          </a:bodyPr>
          <a:lstStyle/>
          <a:p>
            <a:pPr marL="0" indent="0" algn="l">
              <a:lnSpc>
                <a:spcPts val="1275"/>
              </a:lnSpc>
              <a:buNone/>
            </a:pPr>
            <a:endParaRPr lang="en-US" sz="770" dirty="0"/>
          </a:p>
          <a:p>
            <a:pPr marL="0" indent="0" algn="l">
              <a:lnSpc>
                <a:spcPts val="1275"/>
              </a:lnSpc>
              <a:buNone/>
            </a:pPr>
            <a:r>
              <a:rPr lang="en-US" sz="770" dirty="0">
                <a:solidFill>
                  <a:srgbClr val="121C23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请对以下员工关于工作挑战的开放式回答进行分类编码。</a:t>
            </a:r>
            <a:endParaRPr lang="en-US" sz="770" dirty="0"/>
          </a:p>
          <a:p>
            <a:pPr marL="0" indent="0" algn="l">
              <a:lnSpc>
                <a:spcPts val="1275"/>
              </a:lnSpc>
              <a:buNone/>
            </a:pPr>
            <a:endParaRPr lang="en-US" sz="770" dirty="0"/>
          </a:p>
          <a:p>
            <a:pPr marL="0" indent="0" algn="l">
              <a:lnSpc>
                <a:spcPts val="1275"/>
              </a:lnSpc>
              <a:buNone/>
            </a:pPr>
            <a:r>
              <a:rPr lang="en-US" sz="770" dirty="0">
                <a:solidFill>
                  <a:srgbClr val="121C23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[david_l]: 我们团队的项目管理工具实在太旧了，经常丢数据和版本冲突。另外跨部门的审批流程也很慢，一个简单需求要等三天。</a:t>
            </a:r>
            <a:endParaRPr lang="en-US" sz="770" dirty="0"/>
          </a:p>
          <a:p>
            <a:pPr marL="0" indent="0" algn="l">
              <a:lnSpc>
                <a:spcPts val="1275"/>
              </a:lnSpc>
              <a:buNone/>
            </a:pPr>
            <a:endParaRPr lang="en-US" sz="770" dirty="0"/>
          </a:p>
          <a:p>
            <a:pPr marL="0" indent="0" algn="l">
              <a:lnSpc>
                <a:spcPts val="1275"/>
              </a:lnSpc>
              <a:buNone/>
            </a:pPr>
            <a:r>
              <a:rPr lang="en-US" sz="770" dirty="0">
                <a:solidFill>
                  <a:srgbClr val="121C23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[emma_w]: 今年最困扰我的是职业方向迷茫。我已经是高级工程师了，但不知道下一步是该走技术专家路线还是管理路线，领导也没给明确的反馈。</a:t>
            </a:r>
            <a:endParaRPr lang="en-US" sz="770" dirty="0"/>
          </a:p>
          <a:p>
            <a:pPr marL="0" indent="0" algn="l">
              <a:lnSpc>
                <a:spcPts val="1275"/>
              </a:lnSpc>
              <a:buNone/>
            </a:pPr>
            <a:endParaRPr lang="en-US" sz="770" dirty="0"/>
          </a:p>
          <a:p>
            <a:pPr marL="0" indent="0" algn="l">
              <a:lnSpc>
                <a:spcPts val="1275"/>
              </a:lnSpc>
              <a:buNone/>
            </a:pPr>
            <a:r>
              <a:rPr lang="en-US" sz="770" dirty="0">
                <a:solidFill>
                  <a:srgbClr val="121C23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[lisa_c]: 项目排期太紧了，连续三个月每周加班10小时以上。团队里的气氛也变得很差，大家都不太愿意互相帮忙了。</a:t>
            </a:r>
            <a:endParaRPr lang="en-US" sz="770" dirty="0"/>
          </a:p>
          <a:p>
            <a:pPr marL="0" indent="0" algn="l">
              <a:lnSpc>
                <a:spcPts val="1275"/>
              </a:lnSpc>
              <a:buNone/>
            </a:pPr>
            <a:endParaRPr lang="en-US" sz="770" dirty="0"/>
          </a:p>
          <a:p>
            <a:pPr marL="0" indent="0" algn="l">
              <a:lnSpc>
                <a:spcPts val="1275"/>
              </a:lnSpc>
              <a:buNone/>
            </a:pPr>
            <a:r>
              <a:rPr lang="en-US" sz="770" dirty="0">
                <a:solidFill>
                  <a:srgbClr val="121C23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[mike_z]: 公司的新CRM系统上线后，客户数据经常对不上，销售那边天天来找我们IT投诉，但我们也没权限改系统配置，只能等总部的运维处理。</a:t>
            </a:r>
            <a:endParaRPr lang="en-US" sz="770" dirty="0"/>
          </a:p>
          <a:p>
            <a:pPr marL="0" indent="0" algn="l">
              <a:lnSpc>
                <a:spcPts val="1275"/>
              </a:lnSpc>
              <a:buNone/>
            </a:pPr>
            <a:endParaRPr lang="en-US" sz="770" dirty="0"/>
          </a:p>
          <a:p>
            <a:pPr marL="0" indent="0" algn="l">
              <a:lnSpc>
                <a:spcPts val="1275"/>
              </a:lnSpc>
              <a:buNone/>
            </a:pPr>
            <a:r>
              <a:rPr lang="en-US" sz="770" dirty="0">
                <a:solidFill>
                  <a:srgbClr val="121C23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[anna_p]: 直属领导今年换了三个，每个风格都不一样。第一个是放养型，第二个是细节控，第三个干脆不怎么管我们。团队目标一直在变。</a:t>
            </a:r>
            <a:endParaRPr lang="en-US" sz="770" dirty="0"/>
          </a:p>
          <a:p>
            <a:pPr marL="0" indent="0" algn="l">
              <a:lnSpc>
                <a:spcPts val="1275"/>
              </a:lnSpc>
              <a:buNone/>
            </a:pPr>
            <a:endParaRPr lang="en-US" sz="770" dirty="0"/>
          </a:p>
          <a:p>
            <a:pPr marL="0" indent="0" algn="l">
              <a:lnSpc>
                <a:spcPts val="1275"/>
              </a:lnSpc>
              <a:buNone/>
            </a:pPr>
            <a:r>
              <a:rPr lang="en-US" sz="770" dirty="0">
                <a:solidFill>
                  <a:srgbClr val="121C23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[jason_t]: 说实话最大的挑战就是没有成长空间。入职两年了，做的还是同样的工作内容，没有任何培训机会。外面技术栈更新很快，我担心自己落后了。</a:t>
            </a:r>
            <a:endParaRPr lang="en-US" sz="770" dirty="0"/>
          </a:p>
          <a:p>
            <a:pPr marL="0" indent="0" algn="l">
              <a:lnSpc>
                <a:spcPts val="1275"/>
              </a:lnSpc>
              <a:buNone/>
            </a:pPr>
            <a:r>
              <a:rPr lang="en-US" sz="770" dirty="0">
                <a:solidFill>
                  <a:srgbClr val="121C23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          </a:t>
            </a:r>
            <a:endParaRPr lang="en-US" sz="770" dirty="0"/>
          </a:p>
        </p:txBody>
      </p:sp>
      <p:sp>
        <p:nvSpPr>
          <p:cNvPr id="10" name="TextBox 38"/>
          <p:cNvSpPr/>
          <p:nvPr/>
        </p:nvSpPr>
        <p:spPr>
          <a:xfrm>
            <a:off x="4657725" y="1083469"/>
            <a:ext cx="840991" cy="319190"/>
          </a:xfrm>
          <a:prstGeom prst="roundRect">
            <a:avLst>
              <a:gd name="adj" fmla="val 12479"/>
            </a:avLst>
          </a:prstGeom>
          <a:solidFill>
            <a:srgbClr val="B5452C">
              <a:alpha val="10000"/>
            </a:srgbClr>
          </a:solidFill>
        </p:spPr>
        <p:txBody>
          <a:bodyPr wrap="square" lIns="58839" tIns="14710" rIns="58839" bIns="14710" rtlCol="0" anchor="t">
            <a:spAutoFit/>
          </a:bodyPr>
          <a:lstStyle/>
          <a:p>
            <a:pPr marL="0" indent="0" algn="l">
              <a:lnSpc>
                <a:spcPts val="1040"/>
              </a:lnSpc>
              <a:buNone/>
            </a:pPr>
            <a:r>
              <a:rPr lang="en-US" sz="695" b="1" kern="0" spc="35" dirty="0">
                <a:solidFill>
                  <a:srgbClr val="B5452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deepseek 实际回复</a:t>
            </a:r>
            <a:endParaRPr lang="en-US" sz="695" dirty="0"/>
          </a:p>
        </p:txBody>
      </p:sp>
      <p:sp>
        <p:nvSpPr>
          <p:cNvPr id="11" name="TextBox 40"/>
          <p:cNvSpPr/>
          <p:nvPr/>
        </p:nvSpPr>
        <p:spPr>
          <a:xfrm>
            <a:off x="5536565" y="1104900"/>
            <a:ext cx="1170305" cy="18859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ts val="925"/>
              </a:lnSpc>
              <a:buNone/>
            </a:pPr>
            <a:r>
              <a:rPr lang="en-US" sz="620" dirty="0">
                <a:solidFill>
                  <a:srgbClr val="B5452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⚠ 分类靠猜 · 格式靠临场发挥</a:t>
            </a:r>
            <a:endParaRPr lang="en-US" sz="620" dirty="0"/>
          </a:p>
        </p:txBody>
      </p:sp>
      <p:sp>
        <p:nvSpPr>
          <p:cNvPr id="12" name="Shape 43"/>
          <p:cNvSpPr/>
          <p:nvPr/>
        </p:nvSpPr>
        <p:spPr>
          <a:xfrm>
            <a:off x="4657725" y="1388110"/>
            <a:ext cx="4010025" cy="3124200"/>
          </a:xfrm>
          <a:prstGeom prst="roundRect">
            <a:avLst>
              <a:gd name="adj" fmla="val 1217"/>
            </a:avLst>
          </a:prstGeom>
          <a:solidFill>
            <a:srgbClr val="FEF9F7"/>
          </a:solidFill>
          <a:ln w="4903">
            <a:solidFill>
              <a:srgbClr val="B5452C">
                <a:alpha val="20000"/>
              </a:srgbClr>
            </a:solidFill>
            <a:prstDash val="solid"/>
          </a:ln>
        </p:spPr>
      </p:sp>
      <p:sp>
        <p:nvSpPr>
          <p:cNvPr id="13" name="TextBox 45"/>
          <p:cNvSpPr/>
          <p:nvPr/>
        </p:nvSpPr>
        <p:spPr>
          <a:xfrm>
            <a:off x="4786312" y="1397794"/>
            <a:ext cx="3752850" cy="16192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315"/>
              </a:lnSpc>
              <a:buNone/>
            </a:pPr>
            <a:r>
              <a:rPr lang="en-US" sz="770" b="1" dirty="0">
                <a:solidFill>
                  <a:srgbClr val="121C23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根据回复内容，我将其大致分类如下：</a:t>
            </a:r>
            <a:endParaRPr lang="en-US" sz="770" dirty="0"/>
          </a:p>
        </p:txBody>
      </p:sp>
      <p:sp>
        <p:nvSpPr>
          <p:cNvPr id="14" name="TextBox 47"/>
          <p:cNvSpPr/>
          <p:nvPr/>
        </p:nvSpPr>
        <p:spPr>
          <a:xfrm>
            <a:off x="4786312" y="1626394"/>
            <a:ext cx="3752850" cy="16192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315"/>
              </a:lnSpc>
              <a:buNone/>
            </a:pPr>
            <a:r>
              <a:rPr lang="en-US" sz="770" b="1" dirty="0">
                <a:solidFill>
                  <a:srgbClr val="121C23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1. 工具与系统问题</a:t>
            </a:r>
            <a:endParaRPr lang="en-US" sz="770" dirty="0"/>
          </a:p>
        </p:txBody>
      </p:sp>
      <p:sp>
        <p:nvSpPr>
          <p:cNvPr id="15" name="TextBox 49"/>
          <p:cNvSpPr/>
          <p:nvPr/>
        </p:nvSpPr>
        <p:spPr>
          <a:xfrm>
            <a:off x="4900613" y="1835944"/>
            <a:ext cx="3638550" cy="307628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245"/>
              </a:lnSpc>
              <a:buSzPct val="100000"/>
              <a:buChar char="•"/>
            </a:pPr>
            <a:r>
              <a:rPr lang="en-US" sz="735" dirty="0">
                <a:solidFill>
                  <a:srgbClr val="5A656D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​</a:t>
            </a:r>
            <a:r>
              <a:rPr lang="en-US" sz="735" dirty="0">
                <a:solidFill>
                  <a:srgbClr val="5A656D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david_l：项目管理工具过时、数据丢失——属于</a:t>
            </a:r>
            <a:r>
              <a:rPr lang="en-US" sz="735" dirty="0">
                <a:solidFill>
                  <a:srgbClr val="B5452C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工具问题</a:t>
            </a:r>
            <a:endParaRPr lang="en-US" sz="735" dirty="0"/>
          </a:p>
          <a:p>
            <a:pPr marL="0" indent="0" algn="l">
              <a:lnSpc>
                <a:spcPts val="1245"/>
              </a:lnSpc>
              <a:buSzPct val="100000"/>
              <a:buChar char="•"/>
            </a:pPr>
            <a:r>
              <a:rPr lang="en-US" sz="735" dirty="0">
                <a:solidFill>
                  <a:srgbClr val="5A656D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​</a:t>
            </a:r>
            <a:r>
              <a:rPr lang="en-US" sz="735" dirty="0">
                <a:solidFill>
                  <a:srgbClr val="5A656D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mike_z：CRM系统数据不一致——属于</a:t>
            </a:r>
            <a:r>
              <a:rPr lang="en-US" sz="735" dirty="0">
                <a:solidFill>
                  <a:srgbClr val="B5452C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系统问题</a:t>
            </a:r>
            <a:endParaRPr lang="en-US" sz="735" dirty="0"/>
          </a:p>
        </p:txBody>
      </p:sp>
      <p:sp>
        <p:nvSpPr>
          <p:cNvPr id="16" name="TextBox 51"/>
          <p:cNvSpPr/>
          <p:nvPr/>
        </p:nvSpPr>
        <p:spPr>
          <a:xfrm>
            <a:off x="4786312" y="2210247"/>
            <a:ext cx="3752850" cy="16192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315"/>
              </a:lnSpc>
              <a:buNone/>
            </a:pPr>
            <a:r>
              <a:rPr lang="en-US" sz="770" b="1" dirty="0">
                <a:solidFill>
                  <a:srgbClr val="121C23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2. 工作压力与加班</a:t>
            </a:r>
            <a:endParaRPr lang="en-US" sz="770" dirty="0"/>
          </a:p>
        </p:txBody>
      </p:sp>
      <p:sp>
        <p:nvSpPr>
          <p:cNvPr id="17" name="TextBox 53"/>
          <p:cNvSpPr/>
          <p:nvPr/>
        </p:nvSpPr>
        <p:spPr>
          <a:xfrm>
            <a:off x="4900613" y="2419796"/>
            <a:ext cx="3638550" cy="153814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245"/>
              </a:lnSpc>
              <a:buSzPct val="100000"/>
              <a:buChar char="•"/>
            </a:pPr>
            <a:r>
              <a:rPr lang="en-US" sz="735" dirty="0">
                <a:solidFill>
                  <a:srgbClr val="5A656D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​</a:t>
            </a:r>
            <a:r>
              <a:rPr lang="en-US" sz="735" dirty="0">
                <a:solidFill>
                  <a:srgbClr val="5A656D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lisa_c：加班严重、项目排期紧——属于</a:t>
            </a:r>
            <a:r>
              <a:rPr lang="en-US" sz="735" dirty="0">
                <a:solidFill>
                  <a:srgbClr val="B5452C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工作量超负荷</a:t>
            </a:r>
            <a:endParaRPr lang="en-US" sz="735" dirty="0"/>
          </a:p>
        </p:txBody>
      </p:sp>
      <p:sp>
        <p:nvSpPr>
          <p:cNvPr id="18" name="TextBox 55"/>
          <p:cNvSpPr/>
          <p:nvPr/>
        </p:nvSpPr>
        <p:spPr>
          <a:xfrm>
            <a:off x="4786312" y="2640285"/>
            <a:ext cx="3752850" cy="16192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315"/>
              </a:lnSpc>
              <a:buNone/>
            </a:pPr>
            <a:r>
              <a:rPr lang="en-US" sz="770" b="1" dirty="0">
                <a:solidFill>
                  <a:srgbClr val="121C23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3. 管理与领导问题</a:t>
            </a:r>
            <a:endParaRPr lang="en-US" sz="770" dirty="0"/>
          </a:p>
        </p:txBody>
      </p:sp>
      <p:sp>
        <p:nvSpPr>
          <p:cNvPr id="19" name="TextBox 57"/>
          <p:cNvSpPr/>
          <p:nvPr/>
        </p:nvSpPr>
        <p:spPr>
          <a:xfrm>
            <a:off x="4900613" y="2849835"/>
            <a:ext cx="3638550" cy="31877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245"/>
              </a:lnSpc>
              <a:buSzPct val="100000"/>
              <a:buChar char="•"/>
            </a:pPr>
            <a:r>
              <a:rPr lang="en-US" sz="735" dirty="0">
                <a:solidFill>
                  <a:srgbClr val="5A656D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​</a:t>
            </a:r>
            <a:r>
              <a:rPr lang="en-US" sz="735" dirty="0">
                <a:solidFill>
                  <a:srgbClr val="5A656D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anna_p：直属领导频繁更换、目标不清晰——属于</a:t>
            </a:r>
            <a:r>
              <a:rPr lang="en-US" sz="735" dirty="0">
                <a:solidFill>
                  <a:srgbClr val="B5452C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管理混乱</a:t>
            </a:r>
            <a:endParaRPr lang="en-US" sz="735" dirty="0"/>
          </a:p>
          <a:p>
            <a:pPr marL="0" indent="0" algn="l">
              <a:lnSpc>
                <a:spcPts val="1245"/>
              </a:lnSpc>
              <a:buSzPct val="100000"/>
              <a:buChar char="•"/>
            </a:pPr>
            <a:r>
              <a:rPr lang="en-US" sz="735" dirty="0">
                <a:solidFill>
                  <a:srgbClr val="5A656D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​</a:t>
            </a:r>
            <a:r>
              <a:rPr lang="en-US" sz="735" dirty="0">
                <a:solidFill>
                  <a:srgbClr val="5A656D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emma_w：职业发展方向不明、缺乏反馈——也属于</a:t>
            </a:r>
            <a:r>
              <a:rPr lang="en-US" sz="735" dirty="0">
                <a:solidFill>
                  <a:srgbClr val="B5452C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管理类</a:t>
            </a:r>
            <a:endParaRPr lang="en-US" sz="735" dirty="0"/>
          </a:p>
        </p:txBody>
      </p:sp>
      <p:sp>
        <p:nvSpPr>
          <p:cNvPr id="20" name="TextBox 59"/>
          <p:cNvSpPr/>
          <p:nvPr/>
        </p:nvSpPr>
        <p:spPr>
          <a:xfrm>
            <a:off x="4786312" y="3245728"/>
            <a:ext cx="3752850" cy="16192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315"/>
              </a:lnSpc>
              <a:buNone/>
            </a:pPr>
            <a:r>
              <a:rPr lang="en-US" sz="770" b="1" dirty="0">
                <a:solidFill>
                  <a:srgbClr val="121C23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4. 职业发展</a:t>
            </a:r>
            <a:endParaRPr lang="en-US" sz="770" dirty="0"/>
          </a:p>
        </p:txBody>
      </p:sp>
      <p:sp>
        <p:nvSpPr>
          <p:cNvPr id="21" name="TextBox 61"/>
          <p:cNvSpPr/>
          <p:nvPr/>
        </p:nvSpPr>
        <p:spPr>
          <a:xfrm>
            <a:off x="4900613" y="3433688"/>
            <a:ext cx="3638550" cy="153814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245"/>
              </a:lnSpc>
              <a:buSzPct val="100000"/>
              <a:buChar char="•"/>
            </a:pPr>
            <a:r>
              <a:rPr lang="en-US" sz="735" dirty="0">
                <a:solidFill>
                  <a:srgbClr val="5A656D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​</a:t>
            </a:r>
            <a:r>
              <a:rPr lang="en-US" sz="735" dirty="0">
                <a:solidFill>
                  <a:srgbClr val="5A656D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jason_t：没有成长空间——属于</a:t>
            </a:r>
            <a:r>
              <a:rPr lang="en-US" sz="735" dirty="0">
                <a:solidFill>
                  <a:srgbClr val="B5452C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职业瓶颈</a:t>
            </a:r>
            <a:endParaRPr lang="en-US" sz="735" dirty="0"/>
          </a:p>
        </p:txBody>
      </p:sp>
      <p:pic>
        <p:nvPicPr>
          <p:cNvPr id="24" name="Picture 67" descr="__type_image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786312" y="4212282"/>
            <a:ext cx="3752850" cy="190016"/>
          </a:xfrm>
          <a:prstGeom prst="rect">
            <a:avLst/>
          </a:prstGeom>
        </p:spPr>
      </p:pic>
      <p:pic>
        <p:nvPicPr>
          <p:cNvPr id="27" name="Picture 76" descr="__type_image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76250" y="4883785"/>
            <a:ext cx="2673350" cy="231140"/>
          </a:xfrm>
          <a:prstGeom prst="rect">
            <a:avLst/>
          </a:prstGeom>
        </p:spPr>
      </p:pic>
      <p:sp>
        <p:nvSpPr>
          <p:cNvPr id="38" name="TextBox 102"/>
          <p:cNvSpPr/>
          <p:nvPr/>
        </p:nvSpPr>
        <p:spPr>
          <a:xfrm>
            <a:off x="476250" y="5505450"/>
            <a:ext cx="3994785" cy="48006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ts val="1040"/>
              </a:lnSpc>
              <a:buNone/>
            </a:pPr>
            <a:endParaRPr lang="en-US" sz="695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6F9FC"/>
          </a:solidFill>
        </p:spPr>
      </p:sp>
      <p:sp>
        <p:nvSpPr>
          <p:cNvPr id="3" name="Shape 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6F9FC"/>
          </a:solidFill>
        </p:spPr>
      </p:sp>
      <p:sp>
        <p:nvSpPr>
          <p:cNvPr id="4" name="TextBox 8"/>
          <p:cNvSpPr/>
          <p:nvPr/>
        </p:nvSpPr>
        <p:spPr>
          <a:xfrm>
            <a:off x="476250" y="381000"/>
            <a:ext cx="8191500" cy="128587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040"/>
              </a:lnSpc>
              <a:buNone/>
            </a:pPr>
            <a:r>
              <a:rPr lang="en-US" sz="695" kern="0" spc="49" dirty="0">
                <a:solidFill>
                  <a:srgbClr val="299236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模拟输出 SIMULATED OUTPUT</a:t>
            </a:r>
            <a:endParaRPr lang="en-US" sz="695" dirty="0"/>
          </a:p>
        </p:txBody>
      </p:sp>
      <p:sp>
        <p:nvSpPr>
          <p:cNvPr id="5" name="TextBox 10"/>
          <p:cNvSpPr/>
          <p:nvPr/>
        </p:nvSpPr>
        <p:spPr>
          <a:xfrm>
            <a:off x="476250" y="528637"/>
            <a:ext cx="8191500" cy="23749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855"/>
              </a:lnSpc>
              <a:buNone/>
            </a:pPr>
            <a:r>
              <a:rPr lang="en-US" sz="1545" b="1" kern="0" spc="-15" dirty="0">
                <a:solidFill>
                  <a:srgbClr val="121C23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优化提示下，deepseek 输出的是可用数据</a:t>
            </a:r>
            <a:endParaRPr lang="en-US" sz="1545" dirty="0"/>
          </a:p>
        </p:txBody>
      </p:sp>
      <p:sp>
        <p:nvSpPr>
          <p:cNvPr id="6" name="TextBox 12"/>
          <p:cNvSpPr/>
          <p:nvPr/>
        </p:nvSpPr>
        <p:spPr>
          <a:xfrm>
            <a:off x="476250" y="776288"/>
            <a:ext cx="8191500" cy="150019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215"/>
              </a:lnSpc>
              <a:buNone/>
            </a:pPr>
            <a:r>
              <a:rPr lang="en-US" sz="810" dirty="0">
                <a:solidFill>
                  <a:srgbClr val="5A656D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同一批 6 条回答，使用结构化提示词——框架、示例、格式一步到位。</a:t>
            </a:r>
            <a:endParaRPr lang="en-US" sz="810" dirty="0"/>
          </a:p>
        </p:txBody>
      </p:sp>
      <p:sp>
        <p:nvSpPr>
          <p:cNvPr id="7" name="Shape 14"/>
          <p:cNvSpPr/>
          <p:nvPr/>
        </p:nvSpPr>
        <p:spPr>
          <a:xfrm>
            <a:off x="476250" y="1002506"/>
            <a:ext cx="8191500" cy="4763"/>
          </a:xfrm>
          <a:prstGeom prst="rect">
            <a:avLst/>
          </a:prstGeom>
          <a:solidFill>
            <a:srgbClr val="D9DFE3"/>
          </a:solidFill>
        </p:spPr>
      </p:sp>
      <p:sp>
        <p:nvSpPr>
          <p:cNvPr id="8" name="TextBox 26"/>
          <p:cNvSpPr/>
          <p:nvPr/>
        </p:nvSpPr>
        <p:spPr>
          <a:xfrm>
            <a:off x="476250" y="1083469"/>
            <a:ext cx="1306227" cy="174048"/>
          </a:xfrm>
          <a:prstGeom prst="roundRect">
            <a:avLst>
              <a:gd name="adj" fmla="val 12479"/>
            </a:avLst>
          </a:prstGeom>
          <a:solidFill>
            <a:srgbClr val="299236">
              <a:alpha val="10000"/>
            </a:srgbClr>
          </a:solidFill>
        </p:spPr>
        <p:txBody>
          <a:bodyPr wrap="square" lIns="58839" tIns="14710" rIns="58839" bIns="14710" rtlCol="0" anchor="t">
            <a:spAutoFit/>
          </a:bodyPr>
          <a:lstStyle/>
          <a:p>
            <a:pPr marL="0" indent="0" algn="l">
              <a:lnSpc>
                <a:spcPts val="1040"/>
              </a:lnSpc>
              <a:buNone/>
            </a:pPr>
            <a:r>
              <a:rPr lang="en-US" sz="695" b="1" kern="0" spc="35" dirty="0">
                <a:solidFill>
                  <a:srgbClr val="299236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优化提示词</a:t>
            </a:r>
            <a:endParaRPr lang="en-US" sz="695" dirty="0"/>
          </a:p>
        </p:txBody>
      </p:sp>
      <p:sp>
        <p:nvSpPr>
          <p:cNvPr id="9" name="Shape 29"/>
          <p:cNvSpPr/>
          <p:nvPr/>
        </p:nvSpPr>
        <p:spPr>
          <a:xfrm>
            <a:off x="476250" y="1288415"/>
            <a:ext cx="3341370" cy="3821430"/>
          </a:xfrm>
          <a:prstGeom prst="roundRect">
            <a:avLst>
              <a:gd name="adj" fmla="val 1211"/>
            </a:avLst>
          </a:prstGeom>
          <a:solidFill>
            <a:srgbClr val="F8FDF8"/>
          </a:solidFill>
          <a:ln w="4903">
            <a:solidFill>
              <a:srgbClr val="299236">
                <a:alpha val="20000"/>
              </a:srgbClr>
            </a:solidFill>
            <a:prstDash val="solid"/>
          </a:ln>
        </p:spPr>
      </p:sp>
      <p:sp>
        <p:nvSpPr>
          <p:cNvPr id="10" name="TextBox 31"/>
          <p:cNvSpPr/>
          <p:nvPr/>
        </p:nvSpPr>
        <p:spPr>
          <a:xfrm>
            <a:off x="595312" y="1397382"/>
            <a:ext cx="3032113" cy="133573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085"/>
              </a:lnSpc>
              <a:buNone/>
            </a:pPr>
            <a:r>
              <a:rPr lang="en-US" sz="655" b="1" dirty="0">
                <a:solidFill>
                  <a:srgbClr val="299236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[角色锚定]</a:t>
            </a:r>
            <a:endParaRPr lang="en-US" sz="655" dirty="0"/>
          </a:p>
        </p:txBody>
      </p:sp>
      <p:sp>
        <p:nvSpPr>
          <p:cNvPr id="11" name="TextBox 33"/>
          <p:cNvSpPr/>
          <p:nvPr/>
        </p:nvSpPr>
        <p:spPr>
          <a:xfrm>
            <a:off x="594995" y="1575435"/>
            <a:ext cx="3032125" cy="16446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ts val="1085"/>
              </a:lnSpc>
              <a:buNone/>
            </a:pPr>
            <a:r>
              <a:rPr lang="en-US" sz="655" dirty="0">
                <a:solidFill>
                  <a:srgbClr val="121C23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你是一位组织行为学研究助理，正在协助进行员工敬业度调查的定性数据分析。</a:t>
            </a:r>
            <a:endParaRPr lang="en-US" sz="655" dirty="0"/>
          </a:p>
        </p:txBody>
      </p:sp>
      <p:sp>
        <p:nvSpPr>
          <p:cNvPr id="12" name="TextBox 35"/>
          <p:cNvSpPr/>
          <p:nvPr/>
        </p:nvSpPr>
        <p:spPr>
          <a:xfrm>
            <a:off x="595312" y="1759813"/>
            <a:ext cx="3032113" cy="133573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085"/>
              </a:lnSpc>
              <a:buNone/>
            </a:pPr>
            <a:r>
              <a:rPr lang="en-US" sz="655" b="1" dirty="0">
                <a:solidFill>
                  <a:srgbClr val="299236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[编码框架 — A–I 定义]</a:t>
            </a:r>
            <a:endParaRPr lang="en-US" sz="655" dirty="0"/>
          </a:p>
        </p:txBody>
      </p:sp>
      <p:sp>
        <p:nvSpPr>
          <p:cNvPr id="13" name="TextBox 37"/>
          <p:cNvSpPr/>
          <p:nvPr/>
        </p:nvSpPr>
        <p:spPr>
          <a:xfrm>
            <a:off x="594995" y="1757045"/>
            <a:ext cx="3032125" cy="13462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ts val="955"/>
              </a:lnSpc>
              <a:buNone/>
            </a:pPr>
            <a:endParaRPr lang="en-US" sz="620" dirty="0"/>
          </a:p>
          <a:p>
            <a:pPr marL="0" indent="0" algn="l">
              <a:lnSpc>
                <a:spcPts val="955"/>
              </a:lnSpc>
              <a:buNone/>
            </a:pPr>
            <a:r>
              <a:rPr lang="en-US" sz="620" dirty="0">
                <a:solidFill>
                  <a:srgbClr val="121C23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A. 工作负荷与时间压力 — 明确提到任务量过大、工期紧张</a:t>
            </a:r>
            <a:endParaRPr lang="en-US" sz="620" dirty="0"/>
          </a:p>
          <a:p>
            <a:pPr marL="0" indent="0" algn="l">
              <a:lnSpc>
                <a:spcPts val="955"/>
              </a:lnSpc>
              <a:buNone/>
            </a:pPr>
            <a:r>
              <a:rPr lang="en-US" sz="620" dirty="0">
                <a:solidFill>
                  <a:srgbClr val="121C23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B. 跨部门沟通与协作 — 信息不对称、审批慢、协作流程不畅</a:t>
            </a:r>
            <a:endParaRPr lang="en-US" sz="620" dirty="0"/>
          </a:p>
          <a:p>
            <a:pPr marL="0" indent="0" algn="l">
              <a:lnSpc>
                <a:spcPts val="955"/>
              </a:lnSpc>
              <a:buNone/>
            </a:pPr>
            <a:r>
              <a:rPr lang="en-US" sz="620" dirty="0">
                <a:solidFill>
                  <a:srgbClr val="121C23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C. 职业发展与晋升 — 职级/晋升/技能成长/培训不足</a:t>
            </a:r>
            <a:endParaRPr lang="en-US" sz="620" dirty="0"/>
          </a:p>
          <a:p>
            <a:pPr marL="0" indent="0" algn="l">
              <a:lnSpc>
                <a:spcPts val="955"/>
              </a:lnSpc>
              <a:buNone/>
            </a:pPr>
            <a:r>
              <a:rPr lang="en-US" sz="620" dirty="0">
                <a:solidFill>
                  <a:srgbClr val="121C23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D. 管理支持与领导力 — 领导风格、反馈频率、目标传达</a:t>
            </a:r>
            <a:endParaRPr lang="en-US" sz="620" dirty="0"/>
          </a:p>
          <a:p>
            <a:pPr marL="0" indent="0" algn="l">
              <a:lnSpc>
                <a:spcPts val="955"/>
              </a:lnSpc>
              <a:buNone/>
            </a:pPr>
            <a:r>
              <a:rPr lang="en-US" sz="620" dirty="0">
                <a:solidFill>
                  <a:srgbClr val="121C23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E. 工作-生活平衡 — 加班影响个人生活、弹性需求</a:t>
            </a:r>
            <a:endParaRPr lang="en-US" sz="620" dirty="0"/>
          </a:p>
          <a:p>
            <a:pPr marL="0" indent="0" algn="l">
              <a:lnSpc>
                <a:spcPts val="955"/>
              </a:lnSpc>
              <a:buNone/>
            </a:pPr>
            <a:r>
              <a:rPr lang="en-US" sz="620" dirty="0">
                <a:solidFill>
                  <a:srgbClr val="121C23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F. 工具与技术基础设施 — 软件/系统/硬件影响效率</a:t>
            </a:r>
            <a:endParaRPr lang="en-US" sz="620" dirty="0"/>
          </a:p>
          <a:p>
            <a:pPr marL="0" indent="0" algn="l">
              <a:lnSpc>
                <a:spcPts val="955"/>
              </a:lnSpc>
              <a:buNone/>
            </a:pPr>
            <a:r>
              <a:rPr lang="en-US" sz="620" dirty="0">
                <a:solidFill>
                  <a:srgbClr val="121C23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G. 人际关系与团队氛围 — 同事关系、团队合作意愿</a:t>
            </a:r>
            <a:endParaRPr lang="en-US" sz="620" dirty="0"/>
          </a:p>
          <a:p>
            <a:pPr marL="0" indent="0" algn="l">
              <a:lnSpc>
                <a:spcPts val="955"/>
              </a:lnSpc>
              <a:buNone/>
            </a:pPr>
            <a:r>
              <a:rPr lang="en-US" sz="620" dirty="0">
                <a:solidFill>
                  <a:srgbClr val="121C23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H. 角色模糊与目标不清 — 职责混乱、目标反复</a:t>
            </a:r>
            <a:endParaRPr lang="en-US" sz="620" dirty="0"/>
          </a:p>
          <a:p>
            <a:pPr marL="0" indent="0" algn="l">
              <a:lnSpc>
                <a:spcPts val="955"/>
              </a:lnSpc>
              <a:buNone/>
            </a:pPr>
            <a:r>
              <a:rPr lang="en-US" sz="620" dirty="0">
                <a:solidFill>
                  <a:srgbClr val="121C23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I. 其他 — 上述均不涵盖的情况</a:t>
            </a:r>
            <a:endParaRPr lang="en-US" sz="620" dirty="0"/>
          </a:p>
        </p:txBody>
      </p:sp>
      <p:sp>
        <p:nvSpPr>
          <p:cNvPr id="14" name="TextBox 39"/>
          <p:cNvSpPr/>
          <p:nvPr/>
        </p:nvSpPr>
        <p:spPr>
          <a:xfrm>
            <a:off x="595312" y="2970114"/>
            <a:ext cx="3032113" cy="133573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085"/>
              </a:lnSpc>
              <a:buNone/>
            </a:pPr>
            <a:r>
              <a:rPr lang="en-US" sz="655" b="1" dirty="0">
                <a:solidFill>
                  <a:srgbClr val="299236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[Few-shot 示例]</a:t>
            </a:r>
            <a:endParaRPr lang="en-US" sz="655" dirty="0"/>
          </a:p>
        </p:txBody>
      </p:sp>
      <p:sp>
        <p:nvSpPr>
          <p:cNvPr id="15" name="TextBox 41"/>
          <p:cNvSpPr/>
          <p:nvPr/>
        </p:nvSpPr>
        <p:spPr>
          <a:xfrm>
            <a:off x="594995" y="2970530"/>
            <a:ext cx="3032125" cy="335724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ts val="955"/>
              </a:lnSpc>
              <a:buNone/>
            </a:pPr>
            <a:endParaRPr lang="en-US" sz="620" dirty="0"/>
          </a:p>
          <a:p>
            <a:pPr marL="0" indent="0" algn="l">
              <a:lnSpc>
                <a:spcPts val="955"/>
              </a:lnSpc>
              <a:buNone/>
            </a:pPr>
            <a:r>
              <a:rPr lang="en-US" sz="620" dirty="0">
                <a:solidFill>
                  <a:srgbClr val="5A656D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例1："每天加班到九点，周末也没休息" → A（工作负荷：主诉是时间长而非生活冲突）</a:t>
            </a:r>
            <a:endParaRPr lang="en-US" sz="620" dirty="0"/>
          </a:p>
          <a:p>
            <a:pPr marL="0" indent="0" algn="l">
              <a:lnSpc>
                <a:spcPts val="955"/>
              </a:lnSpc>
              <a:buNone/>
            </a:pPr>
            <a:r>
              <a:rPr lang="en-US" sz="620" dirty="0">
                <a:solidFill>
                  <a:srgbClr val="5A656D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例2："想做管理但公司没有晋升通道" → C（职业发展：主诉是晋升路径缺失）</a:t>
            </a:r>
            <a:endParaRPr lang="en-US" sz="620" dirty="0"/>
          </a:p>
          <a:p>
            <a:pPr marL="0" indent="0" algn="l">
              <a:lnSpc>
                <a:spcPts val="955"/>
              </a:lnSpc>
              <a:buNone/>
            </a:pPr>
            <a:r>
              <a:rPr lang="en-US" sz="620" dirty="0">
                <a:solidFill>
                  <a:srgbClr val="5A656D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例3："项目需求每个 sprint 都在变，不知道最终要交付什么" → H（目标不清：主诉是方向不断变化）</a:t>
            </a:r>
            <a:endParaRPr lang="en-US" sz="620" dirty="0">
              <a:solidFill>
                <a:srgbClr val="5A656D"/>
              </a:solidFill>
              <a:latin typeface="Consolas" panose="020B0609020204030204" pitchFamily="34" charset="0"/>
              <a:ea typeface="Consolas" panose="020B0609020204030204" pitchFamily="34" charset="-122"/>
              <a:cs typeface="Consolas" panose="020B0609020204030204" pitchFamily="34" charset="-120"/>
            </a:endParaRPr>
          </a:p>
          <a:p>
            <a:pPr marL="0" indent="0" algn="l">
              <a:lnSpc>
                <a:spcPts val="955"/>
              </a:lnSpc>
              <a:buNone/>
            </a:pPr>
            <a:r>
              <a:rPr lang="en-US" sz="620" kern="0" spc="28" dirty="0">
                <a:solidFill>
                  <a:srgbClr val="5A656D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  <a:sym typeface="+mn-ea"/>
              </a:rPr>
              <a:t>优化提示的输出 = 框架严格 + 格式标准 + 判断有据 + 可直接进分析管道 → 人工只需抽查，而非重做</a:t>
            </a:r>
            <a:endParaRPr lang="en-US" sz="620" kern="0" spc="28" dirty="0">
              <a:solidFill>
                <a:srgbClr val="5A656D"/>
              </a:solidFill>
              <a:latin typeface="Consolas" panose="020B0609020204030204" pitchFamily="34" charset="0"/>
              <a:ea typeface="Consolas" panose="020B0609020204030204" pitchFamily="34" charset="-122"/>
              <a:cs typeface="Consolas" panose="020B0609020204030204" pitchFamily="34" charset="-120"/>
              <a:sym typeface="+mn-ea"/>
            </a:endParaRPr>
          </a:p>
          <a:p>
            <a:pPr marL="0" indent="0" algn="l">
              <a:lnSpc>
                <a:spcPts val="955"/>
              </a:lnSpc>
              <a:buNone/>
            </a:pPr>
            <a:endParaRPr lang="en-US" sz="620" kern="0" spc="28" dirty="0">
              <a:solidFill>
                <a:srgbClr val="5A656D"/>
              </a:solidFill>
              <a:latin typeface="Consolas" panose="020B0609020204030204" pitchFamily="34" charset="0"/>
              <a:ea typeface="Consolas" panose="020B0609020204030204" pitchFamily="34" charset="-122"/>
              <a:cs typeface="Consolas" panose="020B0609020204030204" pitchFamily="34" charset="-120"/>
              <a:sym typeface="+mn-ea"/>
            </a:endParaRPr>
          </a:p>
          <a:p>
            <a:pPr marL="0" indent="0" algn="l">
              <a:lnSpc>
                <a:spcPts val="955"/>
              </a:lnSpc>
              <a:buNone/>
            </a:pPr>
            <a:r>
              <a:rPr lang="en-US" sz="655" b="1" dirty="0">
                <a:solidFill>
                  <a:srgbClr val="299236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  <a:sym typeface="+mn-ea"/>
              </a:rPr>
              <a:t>[输出格式 + 任务说明]</a:t>
            </a:r>
            <a:endParaRPr lang="en-US" altLang="zh-CN" sz="620" kern="0" spc="28" dirty="0">
              <a:solidFill>
                <a:srgbClr val="5A656D"/>
              </a:solidFill>
              <a:latin typeface="Consolas" panose="020B0609020204030204" pitchFamily="34" charset="0"/>
              <a:ea typeface="Consolas" panose="020B0609020204030204" pitchFamily="34" charset="-122"/>
              <a:cs typeface="Consolas" panose="020B0609020204030204" pitchFamily="34" charset="-120"/>
              <a:sym typeface="+mn-ea"/>
            </a:endParaRPr>
          </a:p>
          <a:p>
            <a:pPr marL="0" indent="0" algn="l">
              <a:lnSpc>
                <a:spcPts val="955"/>
              </a:lnSpc>
              <a:buNone/>
            </a:pPr>
            <a:r>
              <a:rPr lang="zh-CN" altLang="en-US" sz="620" kern="0" spc="28" dirty="0">
                <a:solidFill>
                  <a:srgbClr val="5A656D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  <a:sym typeface="+mn-ea"/>
              </a:rPr>
              <a:t>对每条回答标注最合适的 一个 类别。多主题时选核心诉求。</a:t>
            </a:r>
            <a:endParaRPr lang="zh-CN" altLang="en-US" sz="620" kern="0" spc="28" dirty="0">
              <a:solidFill>
                <a:srgbClr val="5A656D"/>
              </a:solidFill>
              <a:latin typeface="Consolas" panose="020B0609020204030204" pitchFamily="34" charset="0"/>
              <a:ea typeface="Consolas" panose="020B0609020204030204" pitchFamily="34" charset="-122"/>
              <a:cs typeface="Consolas" panose="020B0609020204030204" pitchFamily="34" charset="-120"/>
              <a:sym typeface="+mn-ea"/>
            </a:endParaRPr>
          </a:p>
          <a:p>
            <a:pPr marL="0" indent="0" algn="l">
              <a:lnSpc>
                <a:spcPts val="955"/>
              </a:lnSpc>
              <a:buNone/>
            </a:pPr>
            <a:r>
              <a:rPr lang="zh-CN" altLang="en-US" sz="620" kern="0" spc="28" dirty="0">
                <a:solidFill>
                  <a:srgbClr val="5A656D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  <a:sym typeface="+mn-ea"/>
              </a:rPr>
              <a:t>输出为 </a:t>
            </a:r>
            <a:r>
              <a:rPr lang="en-US" altLang="zh-CN" sz="620" kern="0" spc="28" dirty="0">
                <a:solidFill>
                  <a:srgbClr val="5A656D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  <a:sym typeface="+mn-ea"/>
              </a:rPr>
              <a:t>JSON </a:t>
            </a:r>
            <a:r>
              <a:rPr lang="zh-CN" altLang="en-US" sz="620" kern="0" spc="28" dirty="0">
                <a:solidFill>
                  <a:srgbClr val="5A656D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  <a:sym typeface="+mn-ea"/>
              </a:rPr>
              <a:t>数组：</a:t>
            </a:r>
            <a:endParaRPr lang="en-US" altLang="zh-CN" sz="620" kern="0" spc="28" dirty="0">
              <a:solidFill>
                <a:srgbClr val="5A656D"/>
              </a:solidFill>
              <a:latin typeface="Consolas" panose="020B0609020204030204" pitchFamily="34" charset="0"/>
              <a:ea typeface="Consolas" panose="020B0609020204030204" pitchFamily="34" charset="-122"/>
              <a:cs typeface="Consolas" panose="020B0609020204030204" pitchFamily="34" charset="-120"/>
              <a:sym typeface="+mn-ea"/>
            </a:endParaRPr>
          </a:p>
          <a:p>
            <a:pPr marL="0" indent="0" algn="l">
              <a:lnSpc>
                <a:spcPts val="955"/>
              </a:lnSpc>
              <a:buNone/>
            </a:pPr>
            <a:r>
              <a:rPr lang="en-US" altLang="zh-CN" sz="620" kern="0" spc="28" dirty="0">
                <a:solidFill>
                  <a:srgbClr val="5A656D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  <a:sym typeface="+mn-ea"/>
              </a:rPr>
              <a:t>[{"id":"david_l","category":"F","reason":"</a:t>
            </a:r>
            <a:r>
              <a:rPr lang="zh-CN" altLang="en-US" sz="620" kern="0" spc="28" dirty="0">
                <a:solidFill>
                  <a:srgbClr val="5A656D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  <a:sym typeface="+mn-ea"/>
              </a:rPr>
              <a:t>主诉是工具问题，审批流程是次因"}]</a:t>
            </a:r>
            <a:endParaRPr lang="en-US" altLang="zh-CN" sz="620" kern="0" spc="28" dirty="0">
              <a:solidFill>
                <a:srgbClr val="5A656D"/>
              </a:solidFill>
              <a:latin typeface="Consolas" panose="020B0609020204030204" pitchFamily="34" charset="0"/>
              <a:ea typeface="Consolas" panose="020B0609020204030204" pitchFamily="34" charset="-122"/>
              <a:cs typeface="Consolas" panose="020B0609020204030204" pitchFamily="34" charset="-120"/>
              <a:sym typeface="+mn-ea"/>
            </a:endParaRPr>
          </a:p>
          <a:p>
            <a:pPr marL="0" indent="0" algn="l">
              <a:lnSpc>
                <a:spcPts val="955"/>
              </a:lnSpc>
              <a:buNone/>
            </a:pPr>
            <a:r>
              <a:rPr lang="zh-CN" altLang="en-US" sz="620" kern="0" spc="28" dirty="0">
                <a:solidFill>
                  <a:srgbClr val="5A656D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  <a:sym typeface="+mn-ea"/>
              </a:rPr>
              <a:t>模糊回答归入 </a:t>
            </a:r>
            <a:r>
              <a:rPr lang="en-US" altLang="zh-CN" sz="620" kern="0" spc="28" dirty="0">
                <a:solidFill>
                  <a:srgbClr val="5A656D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  <a:sym typeface="+mn-ea"/>
              </a:rPr>
              <a:t>I，</a:t>
            </a:r>
            <a:r>
              <a:rPr lang="zh-CN" altLang="en-US" sz="620" kern="0" spc="28" dirty="0">
                <a:solidFill>
                  <a:srgbClr val="5A656D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  <a:sym typeface="+mn-ea"/>
              </a:rPr>
              <a:t>并在 </a:t>
            </a:r>
            <a:r>
              <a:rPr lang="en-US" altLang="zh-CN" sz="620" kern="0" spc="28" dirty="0">
                <a:solidFill>
                  <a:srgbClr val="5A656D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  <a:sym typeface="+mn-ea"/>
              </a:rPr>
              <a:t>reason </a:t>
            </a:r>
            <a:r>
              <a:rPr lang="zh-CN" altLang="en-US" sz="620" kern="0" spc="28" dirty="0">
                <a:solidFill>
                  <a:srgbClr val="5A656D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  <a:sym typeface="+mn-ea"/>
              </a:rPr>
              <a:t>中注明原因。不得过度推断原文未提及的信息</a:t>
            </a:r>
            <a:endParaRPr lang="zh-CN" altLang="en-US" sz="620" kern="0" spc="28" dirty="0">
              <a:solidFill>
                <a:srgbClr val="5A656D"/>
              </a:solidFill>
              <a:latin typeface="Consolas" panose="020B0609020204030204" pitchFamily="34" charset="0"/>
              <a:ea typeface="Consolas" panose="020B0609020204030204" pitchFamily="34" charset="-122"/>
              <a:cs typeface="Consolas" panose="020B0609020204030204" pitchFamily="34" charset="-120"/>
              <a:sym typeface="+mn-ea"/>
            </a:endParaRPr>
          </a:p>
          <a:p>
            <a:pPr marL="0" indent="0" algn="l">
              <a:lnSpc>
                <a:spcPts val="955"/>
              </a:lnSpc>
              <a:buNone/>
            </a:pPr>
            <a:endParaRPr lang="en-US" sz="620" dirty="0"/>
          </a:p>
        </p:txBody>
      </p:sp>
      <p:sp>
        <p:nvSpPr>
          <p:cNvPr id="17" name="TextBox 45"/>
          <p:cNvSpPr/>
          <p:nvPr/>
        </p:nvSpPr>
        <p:spPr>
          <a:xfrm>
            <a:off x="595312" y="7931200"/>
            <a:ext cx="3032113" cy="12192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955"/>
              </a:lnSpc>
              <a:buNone/>
            </a:pPr>
            <a:r>
              <a:rPr lang="en-US" sz="620" dirty="0">
                <a:solidFill>
                  <a:srgbClr val="121C23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。</a:t>
            </a:r>
            <a:endParaRPr lang="en-US" sz="620" dirty="0"/>
          </a:p>
        </p:txBody>
      </p:sp>
      <p:sp>
        <p:nvSpPr>
          <p:cNvPr id="20" name="TextBox 59"/>
          <p:cNvSpPr/>
          <p:nvPr/>
        </p:nvSpPr>
        <p:spPr>
          <a:xfrm>
            <a:off x="3989070" y="1083310"/>
            <a:ext cx="1597025" cy="175380"/>
          </a:xfrm>
          <a:prstGeom prst="roundRect">
            <a:avLst>
              <a:gd name="adj" fmla="val 12479"/>
            </a:avLst>
          </a:prstGeom>
          <a:solidFill>
            <a:srgbClr val="299236">
              <a:alpha val="10000"/>
            </a:srgbClr>
          </a:solidFill>
        </p:spPr>
        <p:txBody>
          <a:bodyPr wrap="square" lIns="58839" tIns="14710" rIns="58839" bIns="14710" rtlCol="0" anchor="t">
            <a:spAutoFit/>
          </a:bodyPr>
          <a:lstStyle/>
          <a:p>
            <a:pPr marL="0" indent="0" algn="l">
              <a:lnSpc>
                <a:spcPts val="1040"/>
              </a:lnSpc>
              <a:buNone/>
            </a:pPr>
            <a:r>
              <a:rPr lang="en-US" sz="695" b="1" kern="0" spc="35" dirty="0">
                <a:solidFill>
                  <a:srgbClr val="299236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deepseek实际回复</a:t>
            </a:r>
            <a:r>
              <a:rPr lang="zh-CN" altLang="en-US" sz="695" b="1" kern="0" spc="35" dirty="0">
                <a:solidFill>
                  <a:srgbClr val="299236"/>
                </a:solidFill>
                <a:latin typeface="Consolas" panose="020B0609020204030204" pitchFamily="34" charset="0"/>
                <a:ea typeface="宋体" panose="02010600030101010101" pitchFamily="2" charset="-122"/>
                <a:cs typeface="Consolas" panose="020B0609020204030204" pitchFamily="34" charset="-120"/>
              </a:rPr>
              <a:t>示例</a:t>
            </a:r>
            <a:endParaRPr lang="zh-CN" altLang="en-US" sz="695" b="1" kern="0" spc="35" dirty="0">
              <a:solidFill>
                <a:srgbClr val="299236"/>
              </a:solidFill>
              <a:latin typeface="Consolas" panose="020B0609020204030204" pitchFamily="34" charset="0"/>
              <a:ea typeface="宋体" panose="02010600030101010101" pitchFamily="2" charset="-122"/>
              <a:cs typeface="Consolas" panose="020B0609020204030204" pitchFamily="34" charset="-120"/>
            </a:endParaRPr>
          </a:p>
        </p:txBody>
      </p:sp>
      <p:sp>
        <p:nvSpPr>
          <p:cNvPr id="22" name="TextBox 64"/>
          <p:cNvSpPr/>
          <p:nvPr/>
        </p:nvSpPr>
        <p:spPr>
          <a:xfrm>
            <a:off x="3989375" y="1288256"/>
            <a:ext cx="4678338" cy="3470765"/>
          </a:xfrm>
          <a:prstGeom prst="roundRect">
            <a:avLst>
              <a:gd name="adj" fmla="val 1211"/>
            </a:avLst>
          </a:prstGeom>
          <a:solidFill>
            <a:srgbClr val="F8FDF8"/>
          </a:solidFill>
          <a:ln w="4903">
            <a:solidFill>
              <a:srgbClr val="299236">
                <a:alpha val="20000"/>
              </a:srgbClr>
            </a:solidFill>
            <a:prstDash val="solid"/>
          </a:ln>
        </p:spPr>
        <p:txBody>
          <a:bodyPr wrap="square" lIns="127484" tIns="107871" rIns="127484" bIns="107871" rtlCol="0" anchor="t">
            <a:spAutoFit/>
          </a:bodyPr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655" dirty="0">
                <a:solidFill>
                  <a:srgbClr val="121C23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[</a:t>
            </a:r>
            <a:endParaRPr lang="en-US" sz="655" dirty="0"/>
          </a:p>
          <a:p>
            <a:pPr marL="0" indent="0" algn="l">
              <a:lnSpc>
                <a:spcPts val="1050"/>
              </a:lnSpc>
              <a:buNone/>
            </a:pPr>
            <a:r>
              <a:rPr lang="en-US" sz="655" dirty="0">
                <a:solidFill>
                  <a:srgbClr val="121C23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{</a:t>
            </a:r>
            <a:endParaRPr lang="en-US" sz="655" dirty="0"/>
          </a:p>
          <a:p>
            <a:pPr marL="0" indent="0" algn="l">
              <a:lnSpc>
                <a:spcPts val="1050"/>
              </a:lnSpc>
              <a:buNone/>
            </a:pPr>
            <a:r>
              <a:rPr lang="en-US" sz="655" dirty="0">
                <a:solidFill>
                  <a:srgbClr val="121C23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"id": "david_l",</a:t>
            </a:r>
            <a:endParaRPr lang="en-US" sz="655" dirty="0"/>
          </a:p>
          <a:p>
            <a:pPr marL="0" indent="0" algn="l">
              <a:lnSpc>
                <a:spcPts val="1050"/>
              </a:lnSpc>
              <a:buNone/>
            </a:pPr>
            <a:r>
              <a:rPr lang="en-US" sz="655" dirty="0">
                <a:solidFill>
                  <a:srgbClr val="121C23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"category": "F",</a:t>
            </a:r>
            <a:endParaRPr lang="en-US" sz="655" dirty="0"/>
          </a:p>
          <a:p>
            <a:pPr marL="0" indent="0" algn="l">
              <a:lnSpc>
                <a:spcPts val="1050"/>
              </a:lnSpc>
              <a:buNone/>
            </a:pPr>
            <a:r>
              <a:rPr lang="en-US" sz="655" dirty="0">
                <a:solidFill>
                  <a:srgbClr val="121C23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"reason": "核心矛盾是项目管理工具老旧导致数据丢失和版本冲突，审批流程慢是连带提及的次要因素"</a:t>
            </a:r>
            <a:endParaRPr lang="en-US" sz="655" dirty="0"/>
          </a:p>
          <a:p>
            <a:pPr marL="0" indent="0" algn="l">
              <a:lnSpc>
                <a:spcPts val="1050"/>
              </a:lnSpc>
              <a:buNone/>
            </a:pPr>
            <a:r>
              <a:rPr lang="en-US" sz="655" dirty="0">
                <a:solidFill>
                  <a:srgbClr val="121C23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},</a:t>
            </a:r>
            <a:endParaRPr lang="en-US" sz="655" dirty="0"/>
          </a:p>
          <a:p>
            <a:pPr marL="0" indent="0" algn="l">
              <a:lnSpc>
                <a:spcPts val="1050"/>
              </a:lnSpc>
              <a:buNone/>
            </a:pPr>
            <a:r>
              <a:rPr lang="en-US" sz="655" dirty="0">
                <a:solidFill>
                  <a:srgbClr val="121C23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{</a:t>
            </a:r>
            <a:endParaRPr lang="en-US" sz="655" dirty="0"/>
          </a:p>
          <a:p>
            <a:pPr marL="0" indent="0" algn="l">
              <a:lnSpc>
                <a:spcPts val="1050"/>
              </a:lnSpc>
              <a:buNone/>
            </a:pPr>
            <a:r>
              <a:rPr lang="en-US" sz="655" dirty="0">
                <a:solidFill>
                  <a:srgbClr val="121C23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"id": "emma_w",</a:t>
            </a:r>
            <a:endParaRPr lang="en-US" sz="655" dirty="0"/>
          </a:p>
          <a:p>
            <a:pPr marL="0" indent="0" algn="l">
              <a:lnSpc>
                <a:spcPts val="1050"/>
              </a:lnSpc>
              <a:buNone/>
            </a:pPr>
            <a:r>
              <a:rPr lang="en-US" sz="655" dirty="0">
                <a:solidFill>
                  <a:srgbClr val="121C23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"category": "C",</a:t>
            </a:r>
            <a:endParaRPr lang="en-US" sz="655" dirty="0"/>
          </a:p>
          <a:p>
            <a:pPr marL="0" indent="0" algn="l">
              <a:lnSpc>
                <a:spcPts val="1050"/>
              </a:lnSpc>
              <a:buNone/>
            </a:pPr>
            <a:r>
              <a:rPr lang="en-US" sz="655" dirty="0">
                <a:solidFill>
                  <a:srgbClr val="121C23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"reason": "明确表达职业方向迷茫——不确定走技术还是管理路线，且领导未提供反馈，主诉求是职业发展路径不清晰"</a:t>
            </a:r>
            <a:endParaRPr lang="en-US" sz="655" dirty="0"/>
          </a:p>
          <a:p>
            <a:pPr marL="0" indent="0" algn="l">
              <a:lnSpc>
                <a:spcPts val="1050"/>
              </a:lnSpc>
              <a:buNone/>
            </a:pPr>
            <a:r>
              <a:rPr lang="en-US" sz="655" dirty="0">
                <a:solidFill>
                  <a:srgbClr val="121C23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},</a:t>
            </a:r>
            <a:endParaRPr lang="en-US" sz="655" dirty="0"/>
          </a:p>
          <a:p>
            <a:pPr marL="0" indent="0" algn="l">
              <a:lnSpc>
                <a:spcPts val="1050"/>
              </a:lnSpc>
              <a:buNone/>
            </a:pPr>
            <a:r>
              <a:rPr lang="en-US" sz="655" dirty="0">
                <a:solidFill>
                  <a:srgbClr val="121C23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{</a:t>
            </a:r>
            <a:endParaRPr lang="en-US" sz="655" dirty="0"/>
          </a:p>
          <a:p>
            <a:pPr marL="0" indent="0" algn="l">
              <a:lnSpc>
                <a:spcPts val="1050"/>
              </a:lnSpc>
              <a:buNone/>
            </a:pPr>
            <a:r>
              <a:rPr lang="en-US" sz="655" dirty="0">
                <a:solidFill>
                  <a:srgbClr val="121C23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"id": "lisa_c",</a:t>
            </a:r>
            <a:endParaRPr lang="en-US" sz="655" dirty="0"/>
          </a:p>
          <a:p>
            <a:pPr marL="0" indent="0" algn="l">
              <a:lnSpc>
                <a:spcPts val="1050"/>
              </a:lnSpc>
              <a:buNone/>
            </a:pPr>
            <a:r>
              <a:rPr lang="en-US" sz="655" dirty="0">
                <a:solidFill>
                  <a:srgbClr val="121C23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"category": "A",</a:t>
            </a:r>
            <a:endParaRPr lang="en-US" sz="655" dirty="0"/>
          </a:p>
          <a:p>
            <a:pPr marL="0" indent="0" algn="l">
              <a:lnSpc>
                <a:spcPts val="1050"/>
              </a:lnSpc>
              <a:buNone/>
            </a:pPr>
            <a:r>
              <a:rPr lang="en-US" sz="655" dirty="0">
                <a:solidFill>
                  <a:srgbClr val="121C23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"reason": "主诉是项目排期过紧导致持续加班（连续三个月每周10小时+），团队气氛恶化是压力的衍生后果而非独立主题"</a:t>
            </a:r>
            <a:endParaRPr lang="en-US" sz="655" dirty="0"/>
          </a:p>
          <a:p>
            <a:pPr marL="0" indent="0" algn="l">
              <a:lnSpc>
                <a:spcPts val="1050"/>
              </a:lnSpc>
              <a:buNone/>
            </a:pPr>
            <a:r>
              <a:rPr lang="en-US" sz="655" dirty="0">
                <a:solidFill>
                  <a:srgbClr val="121C23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},</a:t>
            </a:r>
            <a:endParaRPr lang="en-US" sz="655" dirty="0"/>
          </a:p>
          <a:p>
            <a:pPr marL="0" indent="0" algn="l">
              <a:lnSpc>
                <a:spcPts val="1050"/>
              </a:lnSpc>
              <a:buNone/>
            </a:pPr>
            <a:r>
              <a:rPr lang="en-US" sz="655" dirty="0">
                <a:solidFill>
                  <a:srgbClr val="121C23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{</a:t>
            </a:r>
            <a:endParaRPr lang="en-US" sz="655" dirty="0"/>
          </a:p>
          <a:p>
            <a:pPr marL="0" indent="0" algn="l">
              <a:lnSpc>
                <a:spcPts val="1050"/>
              </a:lnSpc>
              <a:buNone/>
            </a:pPr>
            <a:r>
              <a:rPr lang="en-US" sz="655" dirty="0">
                <a:solidFill>
                  <a:srgbClr val="121C23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"id": "mike_z",</a:t>
            </a:r>
            <a:endParaRPr lang="en-US" sz="655" dirty="0"/>
          </a:p>
          <a:p>
            <a:pPr marL="0" indent="0" algn="l">
              <a:lnSpc>
                <a:spcPts val="1050"/>
              </a:lnSpc>
              <a:buNone/>
            </a:pPr>
            <a:r>
              <a:rPr lang="en-US" sz="655" dirty="0">
                <a:solidFill>
                  <a:srgbClr val="121C23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"category": "F",</a:t>
            </a:r>
            <a:endParaRPr lang="en-US" sz="655" dirty="0"/>
          </a:p>
          <a:p>
            <a:pPr marL="0" indent="0" algn="l">
              <a:lnSpc>
                <a:spcPts val="1050"/>
              </a:lnSpc>
              <a:buNone/>
            </a:pPr>
            <a:r>
              <a:rPr lang="en-US" sz="655" dirty="0">
                <a:solidFill>
                  <a:srgbClr val="121C23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"reason": "直接原因指向CRM系统数据不一致，IT无权限改配置是系统问题的延伸，客户投诉和销售施压是问题后果而非独立类别"</a:t>
            </a:r>
            <a:endParaRPr lang="en-US" sz="655" dirty="0"/>
          </a:p>
          <a:p>
            <a:pPr marL="0" indent="0" algn="l">
              <a:lnSpc>
                <a:spcPts val="1050"/>
              </a:lnSpc>
              <a:buNone/>
            </a:pPr>
            <a:r>
              <a:rPr lang="en-US" sz="655" dirty="0">
                <a:solidFill>
                  <a:srgbClr val="121C23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....</a:t>
            </a:r>
            <a:endParaRPr lang="en-US" sz="655" dirty="0"/>
          </a:p>
        </p:txBody>
      </p:sp>
      <p:sp>
        <p:nvSpPr>
          <p:cNvPr id="35" name="TextBox 98"/>
          <p:cNvSpPr/>
          <p:nvPr/>
        </p:nvSpPr>
        <p:spPr>
          <a:xfrm>
            <a:off x="476250" y="5331460"/>
            <a:ext cx="4146550" cy="132905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ts val="1040"/>
              </a:lnSpc>
              <a:buNone/>
            </a:pPr>
            <a:endParaRPr lang="en-US" sz="695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6F9FC"/>
          </a:solidFill>
        </p:spPr>
      </p:sp>
      <p:sp>
        <p:nvSpPr>
          <p:cNvPr id="4" name="TextBox 10"/>
          <p:cNvSpPr/>
          <p:nvPr/>
        </p:nvSpPr>
        <p:spPr>
          <a:xfrm>
            <a:off x="476250" y="387985"/>
            <a:ext cx="1080135" cy="13335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040"/>
              </a:lnSpc>
              <a:buNone/>
            </a:pPr>
            <a:r>
              <a:rPr lang="en-US" sz="695" kern="0" spc="49" dirty="0">
                <a:solidFill>
                  <a:srgbClr val="299236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好提示词 GOOD PROMPT</a:t>
            </a:r>
            <a:endParaRPr lang="en-US" sz="695" dirty="0"/>
          </a:p>
        </p:txBody>
      </p:sp>
      <p:sp>
        <p:nvSpPr>
          <p:cNvPr id="5" name="TextBox 12"/>
          <p:cNvSpPr/>
          <p:nvPr/>
        </p:nvSpPr>
        <p:spPr>
          <a:xfrm>
            <a:off x="1557020" y="381000"/>
            <a:ext cx="795655" cy="160088"/>
          </a:xfrm>
          <a:prstGeom prst="roundRect">
            <a:avLst>
              <a:gd name="adj" fmla="val 13727"/>
            </a:avLst>
          </a:prstGeom>
          <a:solidFill>
            <a:srgbClr val="299236">
              <a:alpha val="10000"/>
            </a:srgbClr>
          </a:solidFill>
        </p:spPr>
        <p:txBody>
          <a:bodyPr wrap="square" lIns="58839" tIns="14710" rIns="58839" bIns="14710" rtlCol="0" anchor="t">
            <a:spAutoFit/>
          </a:bodyPr>
          <a:lstStyle/>
          <a:p>
            <a:pPr marL="0" indent="0" algn="l">
              <a:lnSpc>
                <a:spcPts val="925"/>
              </a:lnSpc>
              <a:buNone/>
            </a:pPr>
            <a:r>
              <a:rPr lang="en-US" sz="620" b="1" kern="0" spc="31" dirty="0">
                <a:solidFill>
                  <a:srgbClr val="299236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迭代优化版</a:t>
            </a:r>
            <a:endParaRPr lang="en-US" sz="620" dirty="0"/>
          </a:p>
        </p:txBody>
      </p:sp>
      <p:sp>
        <p:nvSpPr>
          <p:cNvPr id="6" name="TextBox 15"/>
          <p:cNvSpPr/>
          <p:nvPr/>
        </p:nvSpPr>
        <p:spPr>
          <a:xfrm>
            <a:off x="476250" y="542925"/>
            <a:ext cx="8191500" cy="22860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855"/>
              </a:lnSpc>
              <a:buNone/>
            </a:pPr>
            <a:r>
              <a:rPr lang="en-US" sz="1545" b="1" kern="0" spc="-15" dirty="0">
                <a:solidFill>
                  <a:srgbClr val="121C23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结构化指令：五次迭代后的成果</a:t>
            </a:r>
            <a:endParaRPr lang="en-US" sz="1545" dirty="0"/>
          </a:p>
        </p:txBody>
      </p:sp>
      <p:sp>
        <p:nvSpPr>
          <p:cNvPr id="7" name="Shape 17"/>
          <p:cNvSpPr/>
          <p:nvPr/>
        </p:nvSpPr>
        <p:spPr>
          <a:xfrm>
            <a:off x="476250" y="847725"/>
            <a:ext cx="8191500" cy="4763"/>
          </a:xfrm>
          <a:prstGeom prst="rect">
            <a:avLst/>
          </a:prstGeom>
          <a:solidFill>
            <a:srgbClr val="D9DFE3"/>
          </a:solidFill>
        </p:spPr>
      </p:sp>
      <p:sp>
        <p:nvSpPr>
          <p:cNvPr id="8" name="TextBox 27"/>
          <p:cNvSpPr/>
          <p:nvPr/>
        </p:nvSpPr>
        <p:spPr>
          <a:xfrm>
            <a:off x="476250" y="928688"/>
            <a:ext cx="4000500" cy="150019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215"/>
              </a:lnSpc>
              <a:buNone/>
            </a:pPr>
            <a:r>
              <a:rPr lang="en-US" sz="810" b="1" dirty="0">
                <a:solidFill>
                  <a:srgbClr val="121C23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提示词六大模块（逐一对应差提示的缺失）：</a:t>
            </a:r>
            <a:endParaRPr lang="en-US" sz="810" dirty="0"/>
          </a:p>
        </p:txBody>
      </p:sp>
      <p:sp>
        <p:nvSpPr>
          <p:cNvPr id="9" name="TextBox 33"/>
          <p:cNvSpPr/>
          <p:nvPr/>
        </p:nvSpPr>
        <p:spPr>
          <a:xfrm>
            <a:off x="476250" y="1126331"/>
            <a:ext cx="171450" cy="12382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r">
              <a:lnSpc>
                <a:spcPts val="1005"/>
              </a:lnSpc>
              <a:buNone/>
            </a:pPr>
            <a:r>
              <a:rPr lang="en-US" sz="1005" b="1" dirty="0">
                <a:solidFill>
                  <a:srgbClr val="299236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1</a:t>
            </a:r>
            <a:endParaRPr lang="en-US" sz="1005" dirty="0"/>
          </a:p>
        </p:txBody>
      </p:sp>
      <p:sp>
        <p:nvSpPr>
          <p:cNvPr id="10" name="TextBox 37"/>
          <p:cNvSpPr/>
          <p:nvPr/>
        </p:nvSpPr>
        <p:spPr>
          <a:xfrm>
            <a:off x="742950" y="1126331"/>
            <a:ext cx="3067608" cy="136178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105"/>
              </a:lnSpc>
              <a:buNone/>
            </a:pPr>
            <a:r>
              <a:rPr lang="en-US" sz="850" b="1" dirty="0">
                <a:solidFill>
                  <a:srgbClr val="121C23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角色锚定</a:t>
            </a:r>
            <a:endParaRPr lang="en-US" sz="850" dirty="0"/>
          </a:p>
        </p:txBody>
      </p:sp>
      <p:sp>
        <p:nvSpPr>
          <p:cNvPr id="11" name="TextBox 39"/>
          <p:cNvSpPr/>
          <p:nvPr/>
        </p:nvSpPr>
        <p:spPr>
          <a:xfrm>
            <a:off x="742950" y="1281430"/>
            <a:ext cx="3336290" cy="13335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040"/>
              </a:lnSpc>
              <a:buNone/>
            </a:pPr>
            <a:r>
              <a:rPr lang="en-US" sz="695" dirty="0">
                <a:solidFill>
                  <a:srgbClr val="5A656D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"你是一位组织行为学研究助理，正在协助进行员工敬业度调查的定性数据分析。"</a:t>
            </a:r>
            <a:endParaRPr lang="en-US" sz="695" dirty="0"/>
          </a:p>
        </p:txBody>
      </p:sp>
      <p:sp>
        <p:nvSpPr>
          <p:cNvPr id="12" name="TextBox 45"/>
          <p:cNvSpPr/>
          <p:nvPr/>
        </p:nvSpPr>
        <p:spPr>
          <a:xfrm>
            <a:off x="476250" y="1457772"/>
            <a:ext cx="171450" cy="12382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r">
              <a:lnSpc>
                <a:spcPts val="1005"/>
              </a:lnSpc>
              <a:buNone/>
            </a:pPr>
            <a:r>
              <a:rPr lang="en-US" sz="1005" b="1" dirty="0">
                <a:solidFill>
                  <a:srgbClr val="299236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2</a:t>
            </a:r>
            <a:endParaRPr lang="en-US" sz="1005" dirty="0"/>
          </a:p>
        </p:txBody>
      </p:sp>
      <p:sp>
        <p:nvSpPr>
          <p:cNvPr id="13" name="TextBox 49"/>
          <p:cNvSpPr/>
          <p:nvPr/>
        </p:nvSpPr>
        <p:spPr>
          <a:xfrm>
            <a:off x="742950" y="1457772"/>
            <a:ext cx="3733800" cy="136178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105"/>
              </a:lnSpc>
              <a:buNone/>
            </a:pPr>
            <a:r>
              <a:rPr lang="en-US" sz="850" b="1" dirty="0">
                <a:solidFill>
                  <a:srgbClr val="121C23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编码框架（含定义）</a:t>
            </a:r>
            <a:endParaRPr lang="en-US" sz="850" dirty="0"/>
          </a:p>
        </p:txBody>
      </p:sp>
      <p:sp>
        <p:nvSpPr>
          <p:cNvPr id="14" name="TextBox 51"/>
          <p:cNvSpPr/>
          <p:nvPr/>
        </p:nvSpPr>
        <p:spPr>
          <a:xfrm>
            <a:off x="742950" y="1612999"/>
            <a:ext cx="3733800" cy="25717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040"/>
              </a:lnSpc>
              <a:buNone/>
            </a:pPr>
            <a:r>
              <a:rPr lang="en-US" sz="695" dirty="0">
                <a:solidFill>
                  <a:srgbClr val="5A656D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A–I 共 9 类，每个类别附带 1–2 句操作化定义（如 "B. 跨部门沟通 — 提到信息不对称、协作流程不顺畅"）</a:t>
            </a:r>
            <a:endParaRPr lang="en-US" sz="695" dirty="0"/>
          </a:p>
        </p:txBody>
      </p:sp>
      <p:sp>
        <p:nvSpPr>
          <p:cNvPr id="15" name="TextBox 57"/>
          <p:cNvSpPr/>
          <p:nvPr/>
        </p:nvSpPr>
        <p:spPr>
          <a:xfrm>
            <a:off x="476250" y="1917799"/>
            <a:ext cx="171450" cy="12382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r">
              <a:lnSpc>
                <a:spcPts val="1005"/>
              </a:lnSpc>
              <a:buNone/>
            </a:pPr>
            <a:r>
              <a:rPr lang="en-US" sz="1005" b="1" dirty="0">
                <a:solidFill>
                  <a:srgbClr val="299236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3</a:t>
            </a:r>
            <a:endParaRPr lang="en-US" sz="1005" dirty="0"/>
          </a:p>
        </p:txBody>
      </p:sp>
      <p:sp>
        <p:nvSpPr>
          <p:cNvPr id="16" name="TextBox 61"/>
          <p:cNvSpPr/>
          <p:nvPr/>
        </p:nvSpPr>
        <p:spPr>
          <a:xfrm>
            <a:off x="742950" y="1917799"/>
            <a:ext cx="2649587" cy="136178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105"/>
              </a:lnSpc>
              <a:buNone/>
            </a:pPr>
            <a:r>
              <a:rPr lang="en-US" sz="850" b="1" dirty="0">
                <a:solidFill>
                  <a:srgbClr val="121C23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Few-shot 标注示例</a:t>
            </a:r>
            <a:endParaRPr lang="en-US" sz="850" dirty="0"/>
          </a:p>
        </p:txBody>
      </p:sp>
      <p:sp>
        <p:nvSpPr>
          <p:cNvPr id="17" name="TextBox 63"/>
          <p:cNvSpPr/>
          <p:nvPr/>
        </p:nvSpPr>
        <p:spPr>
          <a:xfrm>
            <a:off x="742950" y="2073275"/>
            <a:ext cx="2841625" cy="13335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040"/>
              </a:lnSpc>
              <a:buNone/>
            </a:pPr>
            <a:r>
              <a:rPr lang="en-US" sz="695" dirty="0">
                <a:solidFill>
                  <a:srgbClr val="5A656D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6 条示例，覆盖主要类别 + 一条边界模糊案例（多主题→选最核心的）</a:t>
            </a:r>
            <a:endParaRPr lang="en-US" sz="695" dirty="0"/>
          </a:p>
        </p:txBody>
      </p:sp>
      <p:sp>
        <p:nvSpPr>
          <p:cNvPr id="18" name="TextBox 69"/>
          <p:cNvSpPr/>
          <p:nvPr/>
        </p:nvSpPr>
        <p:spPr>
          <a:xfrm>
            <a:off x="476250" y="2249239"/>
            <a:ext cx="171450" cy="12382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r">
              <a:lnSpc>
                <a:spcPts val="1005"/>
              </a:lnSpc>
              <a:buNone/>
            </a:pPr>
            <a:r>
              <a:rPr lang="en-US" sz="1005" b="1" dirty="0">
                <a:solidFill>
                  <a:srgbClr val="299236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4</a:t>
            </a:r>
            <a:endParaRPr lang="en-US" sz="1005" dirty="0"/>
          </a:p>
        </p:txBody>
      </p:sp>
      <p:sp>
        <p:nvSpPr>
          <p:cNvPr id="19" name="TextBox 73"/>
          <p:cNvSpPr/>
          <p:nvPr/>
        </p:nvSpPr>
        <p:spPr>
          <a:xfrm>
            <a:off x="742950" y="2249239"/>
            <a:ext cx="2056247" cy="136178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105"/>
              </a:lnSpc>
              <a:buNone/>
            </a:pPr>
            <a:r>
              <a:rPr lang="en-US" sz="850" b="1" dirty="0">
                <a:solidFill>
                  <a:srgbClr val="121C23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结构化输出格式</a:t>
            </a:r>
            <a:endParaRPr lang="en-US" sz="850" dirty="0"/>
          </a:p>
        </p:txBody>
      </p:sp>
      <p:sp>
        <p:nvSpPr>
          <p:cNvPr id="20" name="TextBox 75"/>
          <p:cNvSpPr/>
          <p:nvPr/>
        </p:nvSpPr>
        <p:spPr>
          <a:xfrm>
            <a:off x="742950" y="2404467"/>
            <a:ext cx="2056247" cy="128587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040"/>
              </a:lnSpc>
              <a:buNone/>
            </a:pPr>
            <a:r>
              <a:rPr lang="en-US" sz="695" dirty="0">
                <a:solidFill>
                  <a:srgbClr val="5A656D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指定 JSON 数组，每项含 id / category / reason 三字段</a:t>
            </a:r>
            <a:endParaRPr lang="en-US" sz="695" dirty="0"/>
          </a:p>
        </p:txBody>
      </p:sp>
      <p:sp>
        <p:nvSpPr>
          <p:cNvPr id="21" name="TextBox 81"/>
          <p:cNvSpPr/>
          <p:nvPr/>
        </p:nvSpPr>
        <p:spPr>
          <a:xfrm>
            <a:off x="476250" y="2580680"/>
            <a:ext cx="171450" cy="12382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r">
              <a:lnSpc>
                <a:spcPts val="1005"/>
              </a:lnSpc>
              <a:buNone/>
            </a:pPr>
            <a:r>
              <a:rPr lang="en-US" sz="1005" b="1" dirty="0">
                <a:solidFill>
                  <a:srgbClr val="299236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5</a:t>
            </a:r>
            <a:endParaRPr lang="en-US" sz="1005" dirty="0"/>
          </a:p>
        </p:txBody>
      </p:sp>
      <p:sp>
        <p:nvSpPr>
          <p:cNvPr id="22" name="TextBox 85"/>
          <p:cNvSpPr/>
          <p:nvPr/>
        </p:nvSpPr>
        <p:spPr>
          <a:xfrm>
            <a:off x="742950" y="2580680"/>
            <a:ext cx="2851696" cy="136178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105"/>
              </a:lnSpc>
              <a:buNone/>
            </a:pPr>
            <a:r>
              <a:rPr lang="en-US" sz="850" b="1" dirty="0">
                <a:solidFill>
                  <a:srgbClr val="121C23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任务说明 + 边界规则</a:t>
            </a:r>
            <a:endParaRPr lang="en-US" sz="850" dirty="0"/>
          </a:p>
        </p:txBody>
      </p:sp>
      <p:sp>
        <p:nvSpPr>
          <p:cNvPr id="23" name="TextBox 87"/>
          <p:cNvSpPr/>
          <p:nvPr/>
        </p:nvSpPr>
        <p:spPr>
          <a:xfrm>
            <a:off x="742950" y="2735907"/>
            <a:ext cx="2851696" cy="128588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040"/>
              </a:lnSpc>
              <a:buNone/>
            </a:pPr>
            <a:r>
              <a:rPr lang="en-US" sz="695" dirty="0">
                <a:solidFill>
                  <a:srgbClr val="5A656D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多主题→选核心诉求；模糊回答→归入 I（其他）并注明原因；不得过度推断</a:t>
            </a:r>
            <a:endParaRPr lang="en-US" sz="695" dirty="0"/>
          </a:p>
        </p:txBody>
      </p:sp>
      <p:sp>
        <p:nvSpPr>
          <p:cNvPr id="27" name="TextBox 109"/>
          <p:cNvSpPr/>
          <p:nvPr/>
        </p:nvSpPr>
        <p:spPr>
          <a:xfrm>
            <a:off x="4667250" y="928688"/>
            <a:ext cx="4000500" cy="15557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215"/>
              </a:lnSpc>
              <a:buNone/>
            </a:pPr>
            <a:r>
              <a:rPr lang="en-US" sz="810" b="1" dirty="0">
                <a:solidFill>
                  <a:srgbClr val="121C23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输出质量对比</a:t>
            </a:r>
            <a:endParaRPr lang="en-US" sz="810" dirty="0"/>
          </a:p>
        </p:txBody>
      </p:sp>
      <p:sp>
        <p:nvSpPr>
          <p:cNvPr id="28" name="Shape 111"/>
          <p:cNvSpPr/>
          <p:nvPr/>
        </p:nvSpPr>
        <p:spPr>
          <a:xfrm>
            <a:off x="4667250" y="1136015"/>
            <a:ext cx="4000500" cy="1381125"/>
          </a:xfrm>
          <a:prstGeom prst="roundRect">
            <a:avLst>
              <a:gd name="adj" fmla="val 3042"/>
            </a:avLst>
          </a:prstGeom>
          <a:noFill/>
          <a:ln w="4903">
            <a:solidFill>
              <a:srgbClr val="D9DFE3"/>
            </a:solidFill>
            <a:prstDash val="solid"/>
          </a:ln>
        </p:spPr>
      </p:sp>
      <p:pic>
        <p:nvPicPr>
          <p:cNvPr id="29" name="Picture 113" descr="__type_image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672012" y="1140619"/>
            <a:ext cx="857250" cy="273844"/>
          </a:xfrm>
          <a:prstGeom prst="rect">
            <a:avLst/>
          </a:prstGeom>
        </p:spPr>
      </p:pic>
      <p:sp>
        <p:nvSpPr>
          <p:cNvPr id="30" name="TextBox 113"/>
          <p:cNvSpPr/>
          <p:nvPr/>
        </p:nvSpPr>
        <p:spPr>
          <a:xfrm>
            <a:off x="4672012" y="1140619"/>
            <a:ext cx="857250" cy="273844"/>
          </a:xfrm>
          <a:prstGeom prst="rect">
            <a:avLst/>
          </a:prstGeom>
          <a:solidFill>
            <a:srgbClr val="F0F2F5"/>
          </a:solidFill>
        </p:spPr>
        <p:txBody>
          <a:bodyPr wrap="square" lIns="98065" tIns="68645" rIns="98065" bIns="68645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735" b="1" dirty="0">
                <a:solidFill>
                  <a:srgbClr val="121C23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维度</a:t>
            </a:r>
            <a:endParaRPr lang="en-US" sz="735" dirty="0"/>
          </a:p>
        </p:txBody>
      </p:sp>
      <p:pic>
        <p:nvPicPr>
          <p:cNvPr id="31" name="Picture 115" descr="__type_image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529263" y="1140619"/>
            <a:ext cx="1566862" cy="273844"/>
          </a:xfrm>
          <a:prstGeom prst="rect">
            <a:avLst/>
          </a:prstGeom>
        </p:spPr>
      </p:pic>
      <p:sp>
        <p:nvSpPr>
          <p:cNvPr id="32" name="TextBox 115"/>
          <p:cNvSpPr/>
          <p:nvPr/>
        </p:nvSpPr>
        <p:spPr>
          <a:xfrm>
            <a:off x="5529263" y="1140619"/>
            <a:ext cx="1566862" cy="273844"/>
          </a:xfrm>
          <a:prstGeom prst="rect">
            <a:avLst/>
          </a:prstGeom>
          <a:solidFill>
            <a:srgbClr val="F0F2F5"/>
          </a:solidFill>
        </p:spPr>
        <p:txBody>
          <a:bodyPr wrap="square" lIns="98065" tIns="68645" rIns="98065" bIns="68645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735" b="1" dirty="0">
                <a:solidFill>
                  <a:srgbClr val="B5452C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差提示输出</a:t>
            </a:r>
            <a:endParaRPr lang="en-US" sz="735" dirty="0"/>
          </a:p>
        </p:txBody>
      </p:sp>
      <p:pic>
        <p:nvPicPr>
          <p:cNvPr id="33" name="Picture 117" descr="__type_image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096125" y="1140619"/>
            <a:ext cx="1566863" cy="273844"/>
          </a:xfrm>
          <a:prstGeom prst="rect">
            <a:avLst/>
          </a:prstGeom>
        </p:spPr>
      </p:pic>
      <p:sp>
        <p:nvSpPr>
          <p:cNvPr id="34" name="TextBox 117"/>
          <p:cNvSpPr/>
          <p:nvPr/>
        </p:nvSpPr>
        <p:spPr>
          <a:xfrm>
            <a:off x="7096125" y="1140619"/>
            <a:ext cx="1566863" cy="273844"/>
          </a:xfrm>
          <a:prstGeom prst="rect">
            <a:avLst/>
          </a:prstGeom>
          <a:solidFill>
            <a:srgbClr val="F0F2F5"/>
          </a:solidFill>
        </p:spPr>
        <p:txBody>
          <a:bodyPr wrap="square" lIns="98065" tIns="68645" rIns="98065" bIns="68645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735" b="1" dirty="0">
                <a:solidFill>
                  <a:srgbClr val="299236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好提示输出</a:t>
            </a:r>
            <a:endParaRPr lang="en-US" sz="735" dirty="0"/>
          </a:p>
        </p:txBody>
      </p:sp>
      <p:pic>
        <p:nvPicPr>
          <p:cNvPr id="35" name="Picture 119" descr="__type_image"/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672012" y="1414463"/>
            <a:ext cx="857250" cy="266700"/>
          </a:xfrm>
          <a:prstGeom prst="rect">
            <a:avLst/>
          </a:prstGeom>
        </p:spPr>
      </p:pic>
      <p:sp>
        <p:nvSpPr>
          <p:cNvPr id="36" name="TextBox 119"/>
          <p:cNvSpPr/>
          <p:nvPr/>
        </p:nvSpPr>
        <p:spPr>
          <a:xfrm>
            <a:off x="4672012" y="1414463"/>
            <a:ext cx="857250" cy="266700"/>
          </a:xfrm>
          <a:prstGeom prst="rect">
            <a:avLst/>
          </a:prstGeom>
          <a:noFill/>
        </p:spPr>
        <p:txBody>
          <a:bodyPr wrap="square" lIns="98065" tIns="68645" rIns="98065" bIns="68645" rtlCol="0" anchor="t">
            <a:spAutoFit/>
          </a:bodyPr>
          <a:lstStyle/>
          <a:p>
            <a:pPr marL="0" indent="0" algn="l">
              <a:lnSpc>
                <a:spcPts val="985"/>
              </a:lnSpc>
              <a:buNone/>
            </a:pPr>
            <a:r>
              <a:rPr lang="en-US" sz="655" b="1" kern="0" spc="20" dirty="0">
                <a:solidFill>
                  <a:srgbClr val="5A656D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类别一致性</a:t>
            </a:r>
            <a:endParaRPr lang="en-US" sz="655" dirty="0"/>
          </a:p>
        </p:txBody>
      </p:sp>
      <p:pic>
        <p:nvPicPr>
          <p:cNvPr id="37" name="Picture 121" descr="__type_image"/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5529263" y="1414463"/>
            <a:ext cx="1566862" cy="266700"/>
          </a:xfrm>
          <a:prstGeom prst="rect">
            <a:avLst/>
          </a:prstGeom>
        </p:spPr>
      </p:pic>
      <p:sp>
        <p:nvSpPr>
          <p:cNvPr id="38" name="TextBox 121"/>
          <p:cNvSpPr/>
          <p:nvPr/>
        </p:nvSpPr>
        <p:spPr>
          <a:xfrm>
            <a:off x="5529263" y="1414463"/>
            <a:ext cx="1566862" cy="266700"/>
          </a:xfrm>
          <a:prstGeom prst="rect">
            <a:avLst/>
          </a:prstGeom>
          <a:noFill/>
        </p:spPr>
        <p:txBody>
          <a:bodyPr wrap="square" lIns="98065" tIns="68645" rIns="98065" bIns="68645" rtlCol="0" anchor="t">
            <a:spAutoFit/>
          </a:bodyPr>
          <a:lstStyle/>
          <a:p>
            <a:pPr marL="0" indent="0" algn="l">
              <a:lnSpc>
                <a:spcPts val="1040"/>
              </a:lnSpc>
              <a:buNone/>
            </a:pPr>
            <a:r>
              <a:rPr lang="en-US" sz="695" dirty="0">
                <a:solidFill>
                  <a:srgbClr val="B5452C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自创类别，每次不同</a:t>
            </a:r>
            <a:endParaRPr lang="en-US" sz="695" dirty="0"/>
          </a:p>
        </p:txBody>
      </p:sp>
      <p:pic>
        <p:nvPicPr>
          <p:cNvPr id="39" name="Picture 123" descr="__type_image"/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7096125" y="1414463"/>
            <a:ext cx="1566863" cy="266700"/>
          </a:xfrm>
          <a:prstGeom prst="rect">
            <a:avLst/>
          </a:prstGeom>
        </p:spPr>
      </p:pic>
      <p:sp>
        <p:nvSpPr>
          <p:cNvPr id="40" name="TextBox 123"/>
          <p:cNvSpPr/>
          <p:nvPr/>
        </p:nvSpPr>
        <p:spPr>
          <a:xfrm>
            <a:off x="7096125" y="1414463"/>
            <a:ext cx="1566863" cy="266700"/>
          </a:xfrm>
          <a:prstGeom prst="rect">
            <a:avLst/>
          </a:prstGeom>
          <a:noFill/>
        </p:spPr>
        <p:txBody>
          <a:bodyPr wrap="square" lIns="98065" tIns="68645" rIns="98065" bIns="68645" rtlCol="0" anchor="t">
            <a:spAutoFit/>
          </a:bodyPr>
          <a:lstStyle/>
          <a:p>
            <a:pPr marL="0" indent="0" algn="l">
              <a:lnSpc>
                <a:spcPts val="1040"/>
              </a:lnSpc>
              <a:buNone/>
            </a:pPr>
            <a:r>
              <a:rPr lang="en-US" sz="695" dirty="0">
                <a:solidFill>
                  <a:srgbClr val="299236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严格遵循 A–I 框架</a:t>
            </a:r>
            <a:endParaRPr lang="en-US" sz="695" dirty="0"/>
          </a:p>
        </p:txBody>
      </p:sp>
      <p:pic>
        <p:nvPicPr>
          <p:cNvPr id="41" name="Picture 125" descr="__type_image"/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4672012" y="1681162"/>
            <a:ext cx="857250" cy="266700"/>
          </a:xfrm>
          <a:prstGeom prst="rect">
            <a:avLst/>
          </a:prstGeom>
        </p:spPr>
      </p:pic>
      <p:sp>
        <p:nvSpPr>
          <p:cNvPr id="42" name="TextBox 125"/>
          <p:cNvSpPr/>
          <p:nvPr/>
        </p:nvSpPr>
        <p:spPr>
          <a:xfrm>
            <a:off x="4672012" y="1681162"/>
            <a:ext cx="857250" cy="266700"/>
          </a:xfrm>
          <a:prstGeom prst="rect">
            <a:avLst/>
          </a:prstGeom>
          <a:noFill/>
        </p:spPr>
        <p:txBody>
          <a:bodyPr wrap="square" lIns="98065" tIns="68645" rIns="98065" bIns="68645" rtlCol="0" anchor="t">
            <a:spAutoFit/>
          </a:bodyPr>
          <a:lstStyle/>
          <a:p>
            <a:pPr marL="0" indent="0" algn="l">
              <a:lnSpc>
                <a:spcPts val="985"/>
              </a:lnSpc>
              <a:buNone/>
            </a:pPr>
            <a:r>
              <a:rPr lang="en-US" sz="655" b="1" kern="0" spc="20" dirty="0">
                <a:solidFill>
                  <a:srgbClr val="5A656D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格式可解析性</a:t>
            </a:r>
            <a:endParaRPr lang="en-US" sz="655" dirty="0"/>
          </a:p>
        </p:txBody>
      </p:sp>
      <p:pic>
        <p:nvPicPr>
          <p:cNvPr id="43" name="Picture 127" descr="__type_image"/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5529263" y="1681162"/>
            <a:ext cx="1566862" cy="266700"/>
          </a:xfrm>
          <a:prstGeom prst="rect">
            <a:avLst/>
          </a:prstGeom>
        </p:spPr>
      </p:pic>
      <p:sp>
        <p:nvSpPr>
          <p:cNvPr id="44" name="TextBox 127"/>
          <p:cNvSpPr/>
          <p:nvPr/>
        </p:nvSpPr>
        <p:spPr>
          <a:xfrm>
            <a:off x="5529263" y="1681162"/>
            <a:ext cx="1566862" cy="266700"/>
          </a:xfrm>
          <a:prstGeom prst="rect">
            <a:avLst/>
          </a:prstGeom>
          <a:noFill/>
        </p:spPr>
        <p:txBody>
          <a:bodyPr wrap="square" lIns="98065" tIns="68645" rIns="98065" bIns="68645" rtlCol="0" anchor="t">
            <a:spAutoFit/>
          </a:bodyPr>
          <a:lstStyle/>
          <a:p>
            <a:pPr marL="0" indent="0" algn="l">
              <a:lnSpc>
                <a:spcPts val="1040"/>
              </a:lnSpc>
              <a:buNone/>
            </a:pPr>
            <a:r>
              <a:rPr lang="en-US" sz="695" dirty="0">
                <a:solidFill>
                  <a:srgbClr val="B5452C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自然语言段落，无结构</a:t>
            </a:r>
            <a:endParaRPr lang="en-US" sz="695" dirty="0"/>
          </a:p>
        </p:txBody>
      </p:sp>
      <p:pic>
        <p:nvPicPr>
          <p:cNvPr id="45" name="Picture 129" descr="__type_image"/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7096125" y="1681162"/>
            <a:ext cx="1566863" cy="266700"/>
          </a:xfrm>
          <a:prstGeom prst="rect">
            <a:avLst/>
          </a:prstGeom>
        </p:spPr>
      </p:pic>
      <p:sp>
        <p:nvSpPr>
          <p:cNvPr id="46" name="TextBox 129"/>
          <p:cNvSpPr/>
          <p:nvPr/>
        </p:nvSpPr>
        <p:spPr>
          <a:xfrm>
            <a:off x="7096125" y="1681162"/>
            <a:ext cx="1566863" cy="266700"/>
          </a:xfrm>
          <a:prstGeom prst="rect">
            <a:avLst/>
          </a:prstGeom>
          <a:noFill/>
        </p:spPr>
        <p:txBody>
          <a:bodyPr wrap="square" lIns="98065" tIns="68645" rIns="98065" bIns="68645" rtlCol="0" anchor="t">
            <a:spAutoFit/>
          </a:bodyPr>
          <a:lstStyle/>
          <a:p>
            <a:pPr marL="0" indent="0" algn="l">
              <a:lnSpc>
                <a:spcPts val="1040"/>
              </a:lnSpc>
              <a:buNone/>
            </a:pPr>
            <a:r>
              <a:rPr lang="en-US" sz="695" dirty="0">
                <a:solidFill>
                  <a:srgbClr val="299236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标准 JSON，可直接读取</a:t>
            </a:r>
            <a:endParaRPr lang="en-US" sz="695" dirty="0"/>
          </a:p>
        </p:txBody>
      </p:sp>
      <p:pic>
        <p:nvPicPr>
          <p:cNvPr id="47" name="Picture 131" descr="__type_image"/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4672012" y="1947863"/>
            <a:ext cx="857250" cy="266700"/>
          </a:xfrm>
          <a:prstGeom prst="rect">
            <a:avLst/>
          </a:prstGeom>
        </p:spPr>
      </p:pic>
      <p:sp>
        <p:nvSpPr>
          <p:cNvPr id="48" name="TextBox 131"/>
          <p:cNvSpPr/>
          <p:nvPr/>
        </p:nvSpPr>
        <p:spPr>
          <a:xfrm>
            <a:off x="4672012" y="1947863"/>
            <a:ext cx="857250" cy="266700"/>
          </a:xfrm>
          <a:prstGeom prst="rect">
            <a:avLst/>
          </a:prstGeom>
          <a:noFill/>
        </p:spPr>
        <p:txBody>
          <a:bodyPr wrap="square" lIns="98065" tIns="68645" rIns="98065" bIns="68645" rtlCol="0" anchor="t">
            <a:spAutoFit/>
          </a:bodyPr>
          <a:lstStyle/>
          <a:p>
            <a:pPr marL="0" indent="0" algn="l">
              <a:lnSpc>
                <a:spcPts val="985"/>
              </a:lnSpc>
              <a:buNone/>
            </a:pPr>
            <a:r>
              <a:rPr lang="en-US" sz="655" b="1" kern="0" spc="20" dirty="0">
                <a:solidFill>
                  <a:srgbClr val="5A656D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跨批次稳定性</a:t>
            </a:r>
            <a:endParaRPr lang="en-US" sz="655" dirty="0"/>
          </a:p>
        </p:txBody>
      </p:sp>
      <p:pic>
        <p:nvPicPr>
          <p:cNvPr id="49" name="Picture 133" descr="__type_image"/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5529263" y="1947863"/>
            <a:ext cx="1566862" cy="266700"/>
          </a:xfrm>
          <a:prstGeom prst="rect">
            <a:avLst/>
          </a:prstGeom>
        </p:spPr>
      </p:pic>
      <p:sp>
        <p:nvSpPr>
          <p:cNvPr id="50" name="TextBox 133"/>
          <p:cNvSpPr/>
          <p:nvPr/>
        </p:nvSpPr>
        <p:spPr>
          <a:xfrm>
            <a:off x="5529263" y="1947863"/>
            <a:ext cx="1566862" cy="266700"/>
          </a:xfrm>
          <a:prstGeom prst="rect">
            <a:avLst/>
          </a:prstGeom>
          <a:noFill/>
        </p:spPr>
        <p:txBody>
          <a:bodyPr wrap="square" lIns="98065" tIns="68645" rIns="98065" bIns="68645" rtlCol="0" anchor="t">
            <a:spAutoFit/>
          </a:bodyPr>
          <a:lstStyle/>
          <a:p>
            <a:pPr marL="0" indent="0" algn="l">
              <a:lnSpc>
                <a:spcPts val="1040"/>
              </a:lnSpc>
              <a:buNone/>
            </a:pPr>
            <a:r>
              <a:rPr lang="en-US" sz="695" dirty="0">
                <a:solidFill>
                  <a:srgbClr val="B5452C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无法合并两次结果</a:t>
            </a:r>
            <a:endParaRPr lang="en-US" sz="695" dirty="0"/>
          </a:p>
        </p:txBody>
      </p:sp>
      <p:pic>
        <p:nvPicPr>
          <p:cNvPr id="51" name="Picture 135" descr="__type_image"/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7096125" y="1947863"/>
            <a:ext cx="1566863" cy="266700"/>
          </a:xfrm>
          <a:prstGeom prst="rect">
            <a:avLst/>
          </a:prstGeom>
        </p:spPr>
      </p:pic>
      <p:sp>
        <p:nvSpPr>
          <p:cNvPr id="52" name="TextBox 135"/>
          <p:cNvSpPr/>
          <p:nvPr/>
        </p:nvSpPr>
        <p:spPr>
          <a:xfrm>
            <a:off x="7096125" y="1947863"/>
            <a:ext cx="1566863" cy="266700"/>
          </a:xfrm>
          <a:prstGeom prst="rect">
            <a:avLst/>
          </a:prstGeom>
          <a:noFill/>
        </p:spPr>
        <p:txBody>
          <a:bodyPr wrap="square" lIns="98065" tIns="68645" rIns="98065" bIns="68645" rtlCol="0" anchor="t">
            <a:spAutoFit/>
          </a:bodyPr>
          <a:lstStyle/>
          <a:p>
            <a:pPr marL="0" indent="0" algn="l">
              <a:lnSpc>
                <a:spcPts val="1040"/>
              </a:lnSpc>
              <a:buNone/>
            </a:pPr>
            <a:r>
              <a:rPr lang="en-US" sz="695" dirty="0">
                <a:solidFill>
                  <a:srgbClr val="299236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两次编码一致率 94%</a:t>
            </a:r>
            <a:endParaRPr lang="en-US" sz="695" dirty="0"/>
          </a:p>
        </p:txBody>
      </p:sp>
      <p:pic>
        <p:nvPicPr>
          <p:cNvPr id="53" name="Picture 137" descr="__type_image"/>
          <p:cNvPicPr>
            <a:picLocks noChangeAspect="1"/>
          </p:cNvPicPr>
          <p:nvPr/>
        </p:nvPicPr>
        <p:blipFill>
          <a:blip r:embed="rId19">
            <a:extLs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4672012" y="2214562"/>
            <a:ext cx="857250" cy="266700"/>
          </a:xfrm>
          <a:prstGeom prst="rect">
            <a:avLst/>
          </a:prstGeom>
        </p:spPr>
      </p:pic>
      <p:sp>
        <p:nvSpPr>
          <p:cNvPr id="54" name="TextBox 137"/>
          <p:cNvSpPr/>
          <p:nvPr/>
        </p:nvSpPr>
        <p:spPr>
          <a:xfrm>
            <a:off x="4672012" y="2214562"/>
            <a:ext cx="857250" cy="266700"/>
          </a:xfrm>
          <a:prstGeom prst="rect">
            <a:avLst/>
          </a:prstGeom>
          <a:noFill/>
        </p:spPr>
        <p:txBody>
          <a:bodyPr wrap="square" lIns="98065" tIns="68645" rIns="98065" bIns="68645" rtlCol="0" anchor="t">
            <a:spAutoFit/>
          </a:bodyPr>
          <a:lstStyle/>
          <a:p>
            <a:pPr marL="0" indent="0" algn="l">
              <a:lnSpc>
                <a:spcPts val="985"/>
              </a:lnSpc>
              <a:buNone/>
            </a:pPr>
            <a:r>
              <a:rPr lang="en-US" sz="655" b="1" kern="0" spc="20" dirty="0">
                <a:solidFill>
                  <a:srgbClr val="5A656D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边界判断合理性</a:t>
            </a:r>
            <a:endParaRPr lang="en-US" sz="655" dirty="0"/>
          </a:p>
        </p:txBody>
      </p:sp>
      <p:pic>
        <p:nvPicPr>
          <p:cNvPr id="55" name="Picture 139" descr="__type_image"/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5529263" y="2214562"/>
            <a:ext cx="1566862" cy="266700"/>
          </a:xfrm>
          <a:prstGeom prst="rect">
            <a:avLst/>
          </a:prstGeom>
        </p:spPr>
      </p:pic>
      <p:sp>
        <p:nvSpPr>
          <p:cNvPr id="56" name="TextBox 139"/>
          <p:cNvSpPr/>
          <p:nvPr/>
        </p:nvSpPr>
        <p:spPr>
          <a:xfrm>
            <a:off x="5529263" y="2214562"/>
            <a:ext cx="1566862" cy="266700"/>
          </a:xfrm>
          <a:prstGeom prst="rect">
            <a:avLst/>
          </a:prstGeom>
          <a:noFill/>
        </p:spPr>
        <p:txBody>
          <a:bodyPr wrap="square" lIns="98065" tIns="68645" rIns="98065" bIns="68645" rtlCol="0" anchor="t">
            <a:spAutoFit/>
          </a:bodyPr>
          <a:lstStyle/>
          <a:p>
            <a:pPr marL="0" indent="0" algn="l">
              <a:lnSpc>
                <a:spcPts val="1040"/>
              </a:lnSpc>
              <a:buNone/>
            </a:pPr>
            <a:r>
              <a:rPr lang="en-US" sz="695" dirty="0">
                <a:solidFill>
                  <a:srgbClr val="B5452C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随意归类，无逻辑</a:t>
            </a:r>
            <a:endParaRPr lang="en-US" sz="695" dirty="0"/>
          </a:p>
        </p:txBody>
      </p:sp>
      <p:pic>
        <p:nvPicPr>
          <p:cNvPr id="57" name="Picture 141" descr="__type_image"/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22"/>
              </a:ext>
            </a:extLst>
          </a:blip>
          <a:stretch>
            <a:fillRect/>
          </a:stretch>
        </p:blipFill>
        <p:spPr>
          <a:xfrm>
            <a:off x="7096125" y="2214562"/>
            <a:ext cx="1566863" cy="266700"/>
          </a:xfrm>
          <a:prstGeom prst="rect">
            <a:avLst/>
          </a:prstGeom>
        </p:spPr>
      </p:pic>
      <p:sp>
        <p:nvSpPr>
          <p:cNvPr id="58" name="TextBox 141"/>
          <p:cNvSpPr/>
          <p:nvPr/>
        </p:nvSpPr>
        <p:spPr>
          <a:xfrm>
            <a:off x="7096125" y="2214562"/>
            <a:ext cx="1566863" cy="266700"/>
          </a:xfrm>
          <a:prstGeom prst="rect">
            <a:avLst/>
          </a:prstGeom>
          <a:noFill/>
        </p:spPr>
        <p:txBody>
          <a:bodyPr wrap="square" lIns="98065" tIns="68645" rIns="98065" bIns="68645" rtlCol="0" anchor="t">
            <a:spAutoFit/>
          </a:bodyPr>
          <a:lstStyle/>
          <a:p>
            <a:pPr marL="0" indent="0" algn="l">
              <a:lnSpc>
                <a:spcPts val="1040"/>
              </a:lnSpc>
              <a:buNone/>
            </a:pPr>
            <a:r>
              <a:rPr lang="en-US" sz="695" dirty="0">
                <a:solidFill>
                  <a:srgbClr val="299236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给出 reason 字段说明依据</a:t>
            </a:r>
            <a:endParaRPr lang="en-US" sz="695" dirty="0"/>
          </a:p>
        </p:txBody>
      </p:sp>
      <p:sp>
        <p:nvSpPr>
          <p:cNvPr id="62" name="TextBox 147"/>
          <p:cNvSpPr/>
          <p:nvPr/>
        </p:nvSpPr>
        <p:spPr>
          <a:xfrm>
            <a:off x="7096125" y="2481263"/>
            <a:ext cx="1566863" cy="270510"/>
          </a:xfrm>
          <a:prstGeom prst="rect">
            <a:avLst/>
          </a:prstGeom>
          <a:noFill/>
        </p:spPr>
        <p:txBody>
          <a:bodyPr wrap="square" lIns="98065" tIns="68645" rIns="98065" bIns="68645" rtlCol="0" anchor="t">
            <a:spAutoFit/>
          </a:bodyPr>
          <a:lstStyle/>
          <a:p>
            <a:pPr marL="0" indent="0" algn="l">
              <a:lnSpc>
                <a:spcPts val="1040"/>
              </a:lnSpc>
              <a:buNone/>
            </a:pPr>
            <a:r>
              <a:rPr lang="en-US" sz="695" dirty="0">
                <a:solidFill>
                  <a:srgbClr val="299236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）</a:t>
            </a:r>
            <a:endParaRPr lang="en-US" sz="695" dirty="0"/>
          </a:p>
        </p:txBody>
      </p:sp>
      <p:sp>
        <p:nvSpPr>
          <p:cNvPr id="63" name="Shape 150"/>
          <p:cNvSpPr/>
          <p:nvPr/>
        </p:nvSpPr>
        <p:spPr>
          <a:xfrm>
            <a:off x="4667250" y="2843212"/>
            <a:ext cx="4000500" cy="688181"/>
          </a:xfrm>
          <a:prstGeom prst="roundRect">
            <a:avLst>
              <a:gd name="adj" fmla="val 8550"/>
            </a:avLst>
          </a:prstGeom>
          <a:solidFill>
            <a:srgbClr val="5A845A">
              <a:alpha val="12000"/>
            </a:srgbClr>
          </a:solidFill>
          <a:ln w="4903">
            <a:solidFill>
              <a:srgbClr val="5C875C">
                <a:alpha val="25000"/>
              </a:srgbClr>
            </a:solidFill>
            <a:prstDash val="solid"/>
          </a:ln>
        </p:spPr>
      </p:sp>
      <p:sp>
        <p:nvSpPr>
          <p:cNvPr id="64" name="TextBox 152"/>
          <p:cNvSpPr/>
          <p:nvPr/>
        </p:nvSpPr>
        <p:spPr>
          <a:xfrm>
            <a:off x="4824412" y="2962275"/>
            <a:ext cx="3686175" cy="450056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215"/>
              </a:lnSpc>
              <a:buNone/>
            </a:pPr>
            <a:r>
              <a:rPr lang="en-US" sz="810" b="1" dirty="0">
                <a:solidFill>
                  <a:srgbClr val="121C23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核心洞察：</a:t>
            </a:r>
            <a:r>
              <a:rPr lang="en-US" sz="810" dirty="0">
                <a:solidFill>
                  <a:srgbClr val="121C23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好提示不是"更长"，而是</a:t>
            </a:r>
            <a:r>
              <a:rPr lang="en-US" sz="810" b="1" dirty="0">
                <a:solidFill>
                  <a:srgbClr val="121C23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每一句话都对应差提示的一个失败模式</a:t>
            </a:r>
            <a:r>
              <a:rPr lang="en-US" sz="810" dirty="0">
                <a:solidFill>
                  <a:srgbClr val="121C23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。角色→补上下文缺失，类别定义→补框架缺失，示例→补边界模糊，JSON 格式→补解析困难，边界规则→补多义处理。提示词工程的本质是</a:t>
            </a:r>
            <a:r>
              <a:rPr lang="en-US" sz="810" b="1" dirty="0">
                <a:solidFill>
                  <a:srgbClr val="121C23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对模型失败模式的逆向诊断</a:t>
            </a:r>
            <a:r>
              <a:rPr lang="en-US" sz="810" dirty="0">
                <a:solidFill>
                  <a:srgbClr val="121C23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。</a:t>
            </a:r>
            <a:endParaRPr lang="en-US" sz="810" dirty="0"/>
          </a:p>
        </p:txBody>
      </p:sp>
      <p:sp>
        <p:nvSpPr>
          <p:cNvPr id="65" name="TextBox 161"/>
          <p:cNvSpPr/>
          <p:nvPr/>
        </p:nvSpPr>
        <p:spPr>
          <a:xfrm>
            <a:off x="476250" y="3674269"/>
            <a:ext cx="3623332" cy="128587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040"/>
              </a:lnSpc>
              <a:buNone/>
            </a:pPr>
            <a:r>
              <a:rPr lang="en-US" sz="695" kern="0" spc="28" dirty="0">
                <a:solidFill>
                  <a:srgbClr val="5A656D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迭代路径：差提示 → 加类别 → 加示例 → 加格式 → 加边界规则 → 5 轮内收敛到可用水平</a:t>
            </a:r>
            <a:endParaRPr lang="en-US" sz="695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6F9FC"/>
          </a:solidFill>
        </p:spPr>
      </p:sp>
      <p:sp>
        <p:nvSpPr>
          <p:cNvPr id="3" name="Shape 2"/>
          <p:cNvSpPr/>
          <p:nvPr/>
        </p:nvSpPr>
        <p:spPr>
          <a:xfrm>
            <a:off x="-114300" y="0"/>
            <a:ext cx="9144000" cy="5143500"/>
          </a:xfrm>
          <a:prstGeom prst="rect">
            <a:avLst/>
          </a:prstGeom>
          <a:solidFill>
            <a:srgbClr val="F6F9FC"/>
          </a:solidFill>
        </p:spPr>
      </p:sp>
      <p:pic>
        <p:nvPicPr>
          <p:cNvPr id="4" name="Picture 4" descr="__type_image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76250" y="381000"/>
            <a:ext cx="8191500" cy="390525"/>
          </a:xfrm>
          <a:prstGeom prst="rect">
            <a:avLst/>
          </a:prstGeom>
        </p:spPr>
      </p:pic>
      <p:sp>
        <p:nvSpPr>
          <p:cNvPr id="5" name="TextBox 4"/>
          <p:cNvSpPr/>
          <p:nvPr/>
        </p:nvSpPr>
        <p:spPr>
          <a:xfrm>
            <a:off x="476250" y="381000"/>
            <a:ext cx="8191500" cy="390525"/>
          </a:xfrm>
          <a:prstGeom prst="rect">
            <a:avLst/>
          </a:prstGeom>
          <a:noFill/>
        </p:spPr>
        <p:txBody>
          <a:bodyPr wrap="square" lIns="0" tIns="0" rIns="0" bIns="98065" rtlCol="0" anchor="t">
            <a:spAutoFit/>
          </a:bodyPr>
          <a:lstStyle/>
          <a:p>
            <a:pPr marL="0" indent="0" algn="l">
              <a:lnSpc>
                <a:spcPts val="2315"/>
              </a:lnSpc>
              <a:buNone/>
            </a:pPr>
            <a:r>
              <a:rPr lang="en-US" sz="1545" b="1" kern="0" spc="-23" dirty="0">
                <a:solidFill>
                  <a:srgbClr val="121C23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常用提示模板 + 快捷参考</a:t>
            </a:r>
            <a:endParaRPr lang="en-US" sz="1545" dirty="0"/>
          </a:p>
        </p:txBody>
      </p:sp>
      <p:sp>
        <p:nvSpPr>
          <p:cNvPr id="6" name="Shape 8"/>
          <p:cNvSpPr/>
          <p:nvPr/>
        </p:nvSpPr>
        <p:spPr>
          <a:xfrm>
            <a:off x="476250" y="1000125"/>
            <a:ext cx="8191500" cy="1397198"/>
          </a:xfrm>
          <a:prstGeom prst="roundRect">
            <a:avLst>
              <a:gd name="adj" fmla="val 2106"/>
            </a:avLst>
          </a:prstGeom>
          <a:solidFill>
            <a:srgbClr val="FFFFFF"/>
          </a:solidFill>
        </p:spPr>
      </p:sp>
      <p:pic>
        <p:nvPicPr>
          <p:cNvPr id="7" name="Picture 8" descr="__type_image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76250" y="1000125"/>
            <a:ext cx="8191500" cy="1397198"/>
          </a:xfrm>
          <a:prstGeom prst="rect">
            <a:avLst/>
          </a:prstGeom>
        </p:spPr>
      </p:pic>
      <p:sp>
        <p:nvSpPr>
          <p:cNvPr id="8" name="TextBox 10"/>
          <p:cNvSpPr/>
          <p:nvPr/>
        </p:nvSpPr>
        <p:spPr>
          <a:xfrm>
            <a:off x="628650" y="1081088"/>
            <a:ext cx="7900987" cy="100012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810"/>
              </a:lnSpc>
              <a:buNone/>
            </a:pPr>
            <a:r>
              <a:rPr lang="en-US" sz="540" kern="0" spc="43" dirty="0">
                <a:solidFill>
                  <a:srgbClr val="299236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ANTHROPIC 2026 推荐标准模板</a:t>
            </a:r>
            <a:endParaRPr lang="en-US" sz="540" dirty="0"/>
          </a:p>
        </p:txBody>
      </p:sp>
      <p:sp>
        <p:nvSpPr>
          <p:cNvPr id="9" name="TextBox 12"/>
          <p:cNvSpPr/>
          <p:nvPr/>
        </p:nvSpPr>
        <p:spPr>
          <a:xfrm>
            <a:off x="628650" y="1219200"/>
            <a:ext cx="7900987" cy="1097161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110"/>
              </a:lnSpc>
              <a:buNone/>
            </a:pPr>
            <a:r>
              <a:rPr lang="en-US" sz="695" dirty="0">
                <a:solidFill>
                  <a:srgbClr val="121C23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&lt;identity&gt;一句话定义你是谁&lt;/identity&gt;</a:t>
            </a:r>
            <a:endParaRPr lang="en-US" sz="695" dirty="0"/>
          </a:p>
          <a:p>
            <a:pPr marL="0" indent="0" algn="l">
              <a:lnSpc>
                <a:spcPts val="1110"/>
              </a:lnSpc>
              <a:buNone/>
            </a:pPr>
            <a:r>
              <a:rPr lang="en-US" sz="695" dirty="0">
                <a:solidFill>
                  <a:srgbClr val="121C23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&lt;task&gt;一句话描述任务&lt;/task&gt;</a:t>
            </a:r>
            <a:endParaRPr lang="en-US" sz="695" dirty="0"/>
          </a:p>
          <a:p>
            <a:pPr marL="0" indent="0" algn="l">
              <a:lnSpc>
                <a:spcPts val="1110"/>
              </a:lnSpc>
              <a:buNone/>
            </a:pPr>
            <a:r>
              <a:rPr lang="en-US" sz="695" dirty="0">
                <a:solidFill>
                  <a:srgbClr val="121C23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&lt;principles&gt;判断标准 1 / 判断标准 2 / 判断标准 3&lt;/principles&gt;</a:t>
            </a:r>
            <a:endParaRPr lang="en-US" sz="695" dirty="0"/>
          </a:p>
          <a:p>
            <a:pPr marL="0" indent="0" algn="l">
              <a:lnSpc>
                <a:spcPts val="1110"/>
              </a:lnSpc>
              <a:buNone/>
            </a:pPr>
            <a:r>
              <a:rPr lang="en-US" sz="695" dirty="0">
                <a:solidFill>
                  <a:srgbClr val="121C23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&lt;constraints&gt;输出语言/长度/格式限制 + 数据边界&lt;/constraints&gt;</a:t>
            </a:r>
            <a:endParaRPr lang="en-US" sz="695" dirty="0"/>
          </a:p>
          <a:p>
            <a:pPr marL="0" indent="0" algn="l">
              <a:lnSpc>
                <a:spcPts val="1110"/>
              </a:lnSpc>
              <a:buNone/>
            </a:pPr>
            <a:r>
              <a:rPr lang="en-US" sz="695" dirty="0">
                <a:solidFill>
                  <a:srgbClr val="121C23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&lt;examples&gt;</a:t>
            </a:r>
            <a:endParaRPr lang="en-US" sz="695" dirty="0"/>
          </a:p>
          <a:p>
            <a:pPr marL="0" indent="0" algn="l">
              <a:lnSpc>
                <a:spcPts val="1110"/>
              </a:lnSpc>
              <a:buNone/>
            </a:pPr>
            <a:r>
              <a:rPr lang="en-US" sz="695" dirty="0">
                <a:solidFill>
                  <a:srgbClr val="121C23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&lt;example&gt;&lt;input&gt;...&lt;/input&gt;&lt;reasoning&gt;推理步骤&lt;/reasoning&gt;&lt;output&gt;...&lt;/output&gt;&lt;/example&gt;</a:t>
            </a:r>
            <a:endParaRPr lang="en-US" sz="695" dirty="0"/>
          </a:p>
          <a:p>
            <a:pPr marL="0" indent="0" algn="l">
              <a:lnSpc>
                <a:spcPts val="1110"/>
              </a:lnSpc>
              <a:buNone/>
            </a:pPr>
            <a:r>
              <a:rPr lang="en-US" sz="695" dirty="0">
                <a:solidFill>
                  <a:srgbClr val="121C23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&lt;/examples&gt;</a:t>
            </a:r>
            <a:endParaRPr lang="en-US" sz="695" dirty="0"/>
          </a:p>
          <a:p>
            <a:pPr marL="0" indent="0" algn="l">
              <a:lnSpc>
                <a:spcPts val="1110"/>
              </a:lnSpc>
              <a:buNone/>
            </a:pPr>
            <a:r>
              <a:rPr lang="en-US" sz="695" dirty="0">
                <a:solidFill>
                  <a:srgbClr val="121C23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&lt;data&gt;{{待处理内容}}&lt;/data&gt;</a:t>
            </a:r>
            <a:endParaRPr lang="en-US" sz="695" dirty="0"/>
          </a:p>
        </p:txBody>
      </p:sp>
      <p:sp>
        <p:nvSpPr>
          <p:cNvPr id="10" name="TextBox 17"/>
          <p:cNvSpPr/>
          <p:nvPr/>
        </p:nvSpPr>
        <p:spPr>
          <a:xfrm>
            <a:off x="476250" y="2463998"/>
            <a:ext cx="8191500" cy="10350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810"/>
              </a:lnSpc>
              <a:buNone/>
            </a:pPr>
            <a:endParaRPr lang="en-US" sz="540" dirty="0"/>
          </a:p>
        </p:txBody>
      </p:sp>
      <p:sp>
        <p:nvSpPr>
          <p:cNvPr id="11" name="TextBox 23"/>
          <p:cNvSpPr/>
          <p:nvPr/>
        </p:nvSpPr>
        <p:spPr>
          <a:xfrm>
            <a:off x="476250" y="2621161"/>
            <a:ext cx="266700" cy="182873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r">
              <a:lnSpc>
                <a:spcPts val="1485"/>
              </a:lnSpc>
              <a:buNone/>
            </a:pPr>
            <a:r>
              <a:rPr lang="en-US" sz="1235" b="1" dirty="0">
                <a:solidFill>
                  <a:srgbClr val="299236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1</a:t>
            </a:r>
            <a:endParaRPr lang="en-US" sz="1235" dirty="0"/>
          </a:p>
        </p:txBody>
      </p:sp>
      <p:sp>
        <p:nvSpPr>
          <p:cNvPr id="12" name="TextBox 26"/>
          <p:cNvSpPr/>
          <p:nvPr/>
        </p:nvSpPr>
        <p:spPr>
          <a:xfrm>
            <a:off x="857250" y="2621280"/>
            <a:ext cx="3368675" cy="15557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215"/>
              </a:lnSpc>
              <a:buNone/>
            </a:pPr>
            <a:r>
              <a:rPr lang="en-US" sz="810" b="1" dirty="0">
                <a:solidFill>
                  <a:srgbClr val="5A656D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格式不稳定？</a:t>
            </a:r>
            <a:r>
              <a:rPr lang="en-US" sz="810" dirty="0">
                <a:solidFill>
                  <a:srgbClr val="5A656D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→ 用 XML 标签分区</a:t>
            </a:r>
            <a:endParaRPr lang="en-US" sz="810" dirty="0"/>
          </a:p>
        </p:txBody>
      </p:sp>
      <p:sp>
        <p:nvSpPr>
          <p:cNvPr id="13" name="TextBox 31"/>
          <p:cNvSpPr/>
          <p:nvPr/>
        </p:nvSpPr>
        <p:spPr>
          <a:xfrm>
            <a:off x="476250" y="2842134"/>
            <a:ext cx="266700" cy="182873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r">
              <a:lnSpc>
                <a:spcPts val="1485"/>
              </a:lnSpc>
              <a:buNone/>
            </a:pPr>
            <a:r>
              <a:rPr lang="en-US" sz="1235" b="1" dirty="0">
                <a:solidFill>
                  <a:srgbClr val="299236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2</a:t>
            </a:r>
            <a:endParaRPr lang="en-US" sz="1235" dirty="0"/>
          </a:p>
        </p:txBody>
      </p:sp>
      <p:sp>
        <p:nvSpPr>
          <p:cNvPr id="14" name="TextBox 34"/>
          <p:cNvSpPr/>
          <p:nvPr/>
        </p:nvSpPr>
        <p:spPr>
          <a:xfrm>
            <a:off x="857250" y="2869565"/>
            <a:ext cx="3322955" cy="15557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215"/>
              </a:lnSpc>
              <a:buNone/>
            </a:pPr>
            <a:r>
              <a:rPr lang="en-US" sz="810" b="1" dirty="0">
                <a:solidFill>
                  <a:srgbClr val="5A656D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输出太啰嗦/太短？</a:t>
            </a:r>
            <a:r>
              <a:rPr lang="en-US" sz="810" dirty="0">
                <a:solidFill>
                  <a:srgbClr val="5A656D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→ 双向约束——"不少于 3 条，每条不超过 30 字"</a:t>
            </a:r>
            <a:endParaRPr lang="en-US" sz="810" dirty="0"/>
          </a:p>
        </p:txBody>
      </p:sp>
      <p:sp>
        <p:nvSpPr>
          <p:cNvPr id="15" name="TextBox 39"/>
          <p:cNvSpPr/>
          <p:nvPr/>
        </p:nvSpPr>
        <p:spPr>
          <a:xfrm>
            <a:off x="476250" y="3063106"/>
            <a:ext cx="266700" cy="182873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r">
              <a:lnSpc>
                <a:spcPts val="1485"/>
              </a:lnSpc>
              <a:buNone/>
            </a:pPr>
            <a:r>
              <a:rPr lang="en-US" sz="1235" b="1" dirty="0">
                <a:solidFill>
                  <a:srgbClr val="299236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3</a:t>
            </a:r>
            <a:endParaRPr lang="en-US" sz="1235" dirty="0"/>
          </a:p>
        </p:txBody>
      </p:sp>
      <p:sp>
        <p:nvSpPr>
          <p:cNvPr id="16" name="TextBox 42"/>
          <p:cNvSpPr/>
          <p:nvPr/>
        </p:nvSpPr>
        <p:spPr>
          <a:xfrm>
            <a:off x="857250" y="3063240"/>
            <a:ext cx="3526790" cy="15557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215"/>
              </a:lnSpc>
              <a:buNone/>
            </a:pPr>
            <a:r>
              <a:rPr lang="en-US" sz="810" b="1" dirty="0">
                <a:solidFill>
                  <a:srgbClr val="5A656D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遗漏信息？</a:t>
            </a:r>
            <a:r>
              <a:rPr lang="en-US" sz="810" dirty="0">
                <a:solidFill>
                  <a:srgbClr val="5A656D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→ prompt 末尾加："输出前，先检查是否覆盖了所有关键信息点"</a:t>
            </a:r>
            <a:endParaRPr lang="en-US" sz="810" dirty="0"/>
          </a:p>
        </p:txBody>
      </p:sp>
      <p:sp>
        <p:nvSpPr>
          <p:cNvPr id="21" name="TextBox 65"/>
          <p:cNvSpPr/>
          <p:nvPr/>
        </p:nvSpPr>
        <p:spPr>
          <a:xfrm>
            <a:off x="476250" y="3780634"/>
            <a:ext cx="8191500" cy="100012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810"/>
              </a:lnSpc>
              <a:buNone/>
            </a:pPr>
            <a:r>
              <a:rPr lang="en-US" sz="540" kern="0" spc="43" dirty="0">
                <a:solidFill>
                  <a:srgbClr val="299236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模型类型 → 提示策略匹配</a:t>
            </a:r>
            <a:endParaRPr lang="en-US" sz="540" dirty="0"/>
          </a:p>
        </p:txBody>
      </p:sp>
      <p:sp>
        <p:nvSpPr>
          <p:cNvPr id="22" name="Shape 69"/>
          <p:cNvSpPr/>
          <p:nvPr/>
        </p:nvSpPr>
        <p:spPr>
          <a:xfrm>
            <a:off x="476250" y="3911761"/>
            <a:ext cx="2673325" cy="373856"/>
          </a:xfrm>
          <a:prstGeom prst="roundRect">
            <a:avLst>
              <a:gd name="adj" fmla="val 7869"/>
            </a:avLst>
          </a:prstGeom>
          <a:solidFill>
            <a:srgbClr val="FFFFFF"/>
          </a:solidFill>
          <a:ln w="4903">
            <a:solidFill>
              <a:srgbClr val="D9DFE3"/>
            </a:solidFill>
            <a:prstDash val="solid"/>
          </a:ln>
        </p:spPr>
      </p:sp>
      <p:sp>
        <p:nvSpPr>
          <p:cNvPr id="23" name="TextBox 70"/>
          <p:cNvSpPr/>
          <p:nvPr/>
        </p:nvSpPr>
        <p:spPr>
          <a:xfrm>
            <a:off x="557212" y="3973674"/>
            <a:ext cx="2511400" cy="128587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040"/>
              </a:lnSpc>
              <a:buNone/>
            </a:pPr>
            <a:r>
              <a:rPr lang="en-US" sz="695" b="1" dirty="0">
                <a:solidFill>
                  <a:srgbClr val="299236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标准模型</a:t>
            </a:r>
            <a:endParaRPr lang="en-US" sz="695" dirty="0"/>
          </a:p>
        </p:txBody>
      </p:sp>
      <p:sp>
        <p:nvSpPr>
          <p:cNvPr id="24" name="TextBox 71"/>
          <p:cNvSpPr/>
          <p:nvPr/>
        </p:nvSpPr>
        <p:spPr>
          <a:xfrm>
            <a:off x="557212" y="4102261"/>
            <a:ext cx="2511400" cy="121444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985"/>
              </a:lnSpc>
              <a:buNone/>
            </a:pPr>
            <a:r>
              <a:rPr lang="en-US" sz="655" dirty="0">
                <a:solidFill>
                  <a:srgbClr val="5A656D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步骤清晰、格式严格、示例覆盖 edge case</a:t>
            </a:r>
            <a:endParaRPr lang="en-US" sz="655" dirty="0"/>
          </a:p>
        </p:txBody>
      </p:sp>
      <p:sp>
        <p:nvSpPr>
          <p:cNvPr id="25" name="Shape 73"/>
          <p:cNvSpPr/>
          <p:nvPr/>
        </p:nvSpPr>
        <p:spPr>
          <a:xfrm>
            <a:off x="3235300" y="3911761"/>
            <a:ext cx="2673362" cy="373856"/>
          </a:xfrm>
          <a:prstGeom prst="roundRect">
            <a:avLst>
              <a:gd name="adj" fmla="val 7869"/>
            </a:avLst>
          </a:prstGeom>
          <a:solidFill>
            <a:srgbClr val="FFFFFF"/>
          </a:solidFill>
          <a:ln w="4903">
            <a:solidFill>
              <a:srgbClr val="D9DFE3"/>
            </a:solidFill>
            <a:prstDash val="solid"/>
          </a:ln>
        </p:spPr>
      </p:sp>
      <p:sp>
        <p:nvSpPr>
          <p:cNvPr id="26" name="TextBox 74"/>
          <p:cNvSpPr/>
          <p:nvPr/>
        </p:nvSpPr>
        <p:spPr>
          <a:xfrm>
            <a:off x="3316263" y="3973674"/>
            <a:ext cx="2511437" cy="128587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040"/>
              </a:lnSpc>
              <a:buNone/>
            </a:pPr>
            <a:r>
              <a:rPr lang="en-US" sz="695" b="1" dirty="0">
                <a:solidFill>
                  <a:srgbClr val="299236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推理模型</a:t>
            </a:r>
            <a:endParaRPr lang="en-US" sz="695" dirty="0"/>
          </a:p>
        </p:txBody>
      </p:sp>
      <p:sp>
        <p:nvSpPr>
          <p:cNvPr id="27" name="TextBox 75"/>
          <p:cNvSpPr/>
          <p:nvPr/>
        </p:nvSpPr>
        <p:spPr>
          <a:xfrm>
            <a:off x="3316263" y="4102261"/>
            <a:ext cx="2511437" cy="121444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985"/>
              </a:lnSpc>
              <a:buNone/>
            </a:pPr>
            <a:r>
              <a:rPr lang="en-US" sz="655" dirty="0">
                <a:solidFill>
                  <a:srgbClr val="5A656D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给原则和判断标准——让模型自己填推理路径</a:t>
            </a:r>
            <a:endParaRPr lang="en-US" sz="655" dirty="0"/>
          </a:p>
        </p:txBody>
      </p:sp>
      <p:sp>
        <p:nvSpPr>
          <p:cNvPr id="28" name="Shape 77"/>
          <p:cNvSpPr/>
          <p:nvPr/>
        </p:nvSpPr>
        <p:spPr>
          <a:xfrm>
            <a:off x="5994388" y="3911761"/>
            <a:ext cx="2673362" cy="373856"/>
          </a:xfrm>
          <a:prstGeom prst="roundRect">
            <a:avLst>
              <a:gd name="adj" fmla="val 7869"/>
            </a:avLst>
          </a:prstGeom>
          <a:solidFill>
            <a:srgbClr val="FFFFFF"/>
          </a:solidFill>
          <a:ln w="4903">
            <a:solidFill>
              <a:srgbClr val="D9DFE3"/>
            </a:solidFill>
            <a:prstDash val="solid"/>
          </a:ln>
        </p:spPr>
      </p:sp>
      <p:sp>
        <p:nvSpPr>
          <p:cNvPr id="29" name="TextBox 78"/>
          <p:cNvSpPr/>
          <p:nvPr/>
        </p:nvSpPr>
        <p:spPr>
          <a:xfrm>
            <a:off x="6075350" y="3973674"/>
            <a:ext cx="2511437" cy="128587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040"/>
              </a:lnSpc>
              <a:buNone/>
            </a:pPr>
            <a:r>
              <a:rPr lang="en-US" sz="695" b="1" dirty="0">
                <a:solidFill>
                  <a:srgbClr val="299236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本地开源模型</a:t>
            </a:r>
            <a:endParaRPr lang="en-US" sz="695" dirty="0"/>
          </a:p>
        </p:txBody>
      </p:sp>
      <p:sp>
        <p:nvSpPr>
          <p:cNvPr id="30" name="TextBox 79"/>
          <p:cNvSpPr/>
          <p:nvPr/>
        </p:nvSpPr>
        <p:spPr>
          <a:xfrm>
            <a:off x="6075350" y="4102261"/>
            <a:ext cx="2511437" cy="12573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985"/>
              </a:lnSpc>
              <a:buNone/>
            </a:pPr>
            <a:r>
              <a:rPr lang="en-US" sz="655" dirty="0">
                <a:solidFill>
                  <a:srgbClr val="5A656D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结构更明确、示例更多（3-5 个）</a:t>
            </a:r>
            <a:endParaRPr lang="en-US" sz="655" dirty="0"/>
          </a:p>
        </p:txBody>
      </p:sp>
      <p:pic>
        <p:nvPicPr>
          <p:cNvPr id="31" name="Picture 84" descr="__type_image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76250" y="4819650"/>
            <a:ext cx="8191500" cy="171450"/>
          </a:xfrm>
          <a:prstGeom prst="rect">
            <a:avLst/>
          </a:prstGeom>
        </p:spPr>
      </p:pic>
      <p:sp>
        <p:nvSpPr>
          <p:cNvPr id="32" name="TextBox 84"/>
          <p:cNvSpPr/>
          <p:nvPr/>
        </p:nvSpPr>
        <p:spPr>
          <a:xfrm>
            <a:off x="476250" y="4819650"/>
            <a:ext cx="8191500" cy="171450"/>
          </a:xfrm>
          <a:prstGeom prst="rect">
            <a:avLst/>
          </a:prstGeom>
          <a:noFill/>
        </p:spPr>
        <p:txBody>
          <a:bodyPr wrap="square" lIns="0" tIns="68645" rIns="0" bIns="0" rtlCol="0" anchor="t">
            <a:spAutoFit/>
          </a:bodyPr>
          <a:lstStyle/>
          <a:p>
            <a:pPr marL="0" indent="0" algn="l">
              <a:lnSpc>
                <a:spcPts val="810"/>
              </a:lnSpc>
              <a:buNone/>
            </a:pPr>
            <a:r>
              <a:rPr lang="en-US" sz="540" kern="0" spc="22" dirty="0">
                <a:solidFill>
                  <a:srgbClr val="5A656D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好模板只需要改 &lt;identity&gt; 和 &lt;examples&gt; 两个部分——其余是标准化的"基础设施"</a:t>
            </a:r>
            <a:endParaRPr lang="en-US" sz="54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6F9FC"/>
          </a:solidFill>
        </p:spPr>
      </p:sp>
      <p:sp>
        <p:nvSpPr>
          <p:cNvPr id="3" name="Shape 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6F9FC"/>
          </a:solidFill>
        </p:spPr>
      </p:sp>
      <p:pic>
        <p:nvPicPr>
          <p:cNvPr id="4" name="Picture 4" descr="__type_image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76250" y="381000"/>
            <a:ext cx="8191500" cy="390525"/>
          </a:xfrm>
          <a:prstGeom prst="rect">
            <a:avLst/>
          </a:prstGeom>
        </p:spPr>
      </p:pic>
      <p:sp>
        <p:nvSpPr>
          <p:cNvPr id="5" name="TextBox 4"/>
          <p:cNvSpPr/>
          <p:nvPr/>
        </p:nvSpPr>
        <p:spPr>
          <a:xfrm>
            <a:off x="476250" y="381000"/>
            <a:ext cx="8191500" cy="394335"/>
          </a:xfrm>
          <a:prstGeom prst="rect">
            <a:avLst/>
          </a:prstGeom>
          <a:noFill/>
        </p:spPr>
        <p:txBody>
          <a:bodyPr wrap="square" lIns="0" tIns="0" rIns="0" bIns="98065" rtlCol="0" anchor="t">
            <a:spAutoFit/>
          </a:bodyPr>
          <a:lstStyle/>
          <a:p>
            <a:pPr marL="0" indent="0" algn="l">
              <a:lnSpc>
                <a:spcPts val="2315"/>
              </a:lnSpc>
              <a:buNone/>
            </a:pPr>
            <a:r>
              <a:rPr lang="en-US" sz="1545" b="1" kern="0" spc="-23" dirty="0">
                <a:solidFill>
                  <a:srgbClr val="121C23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提示工程的局限</a:t>
            </a:r>
            <a:r>
              <a:rPr lang="zh-CN" altLang="en-US" sz="1545" b="1" kern="0" spc="-23" dirty="0">
                <a:solidFill>
                  <a:srgbClr val="121C23"/>
                </a:solidFill>
                <a:latin typeface="Segoe UI" panose="020B0502040204020203" pitchFamily="34" charset="0"/>
                <a:ea typeface="宋体" panose="02010600030101010101" pitchFamily="2" charset="-122"/>
                <a:cs typeface="Segoe UI" panose="020B0502040204020203" pitchFamily="34" charset="-120"/>
              </a:rPr>
              <a:t>性</a:t>
            </a:r>
            <a:endParaRPr lang="zh-CN" altLang="en-US" sz="1545" b="1" kern="0" spc="-23" dirty="0">
              <a:solidFill>
                <a:srgbClr val="121C23"/>
              </a:solidFill>
              <a:latin typeface="Segoe UI" panose="020B0502040204020203" pitchFamily="34" charset="0"/>
              <a:ea typeface="宋体" panose="02010600030101010101" pitchFamily="2" charset="-122"/>
              <a:cs typeface="Segoe UI" panose="020B0502040204020203" pitchFamily="34" charset="-120"/>
            </a:endParaRPr>
          </a:p>
        </p:txBody>
      </p:sp>
      <p:sp>
        <p:nvSpPr>
          <p:cNvPr id="6" name="Shape 8"/>
          <p:cNvSpPr/>
          <p:nvPr/>
        </p:nvSpPr>
        <p:spPr>
          <a:xfrm>
            <a:off x="476250" y="1000125"/>
            <a:ext cx="8191500" cy="354806"/>
          </a:xfrm>
          <a:prstGeom prst="roundRect">
            <a:avLst>
              <a:gd name="adj" fmla="val 8292"/>
            </a:avLst>
          </a:prstGeom>
          <a:solidFill>
            <a:srgbClr val="5A845A">
              <a:alpha val="12157"/>
            </a:srgbClr>
          </a:solidFill>
          <a:ln w="4903">
            <a:solidFill>
              <a:srgbClr val="5C875C">
                <a:alpha val="25098"/>
              </a:srgbClr>
            </a:solidFill>
            <a:prstDash val="solid"/>
          </a:ln>
        </p:spPr>
      </p:sp>
      <p:sp>
        <p:nvSpPr>
          <p:cNvPr id="7" name="TextBox 10"/>
          <p:cNvSpPr/>
          <p:nvPr/>
        </p:nvSpPr>
        <p:spPr>
          <a:xfrm>
            <a:off x="633412" y="1109663"/>
            <a:ext cx="7877175" cy="14097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735" dirty="0">
                <a:solidFill>
                  <a:srgbClr val="121C23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。</a:t>
            </a:r>
            <a:r>
              <a:rPr lang="zh-CN" altLang="en-US" sz="735" dirty="0">
                <a:solidFill>
                  <a:srgbClr val="121C23"/>
                </a:solidFill>
                <a:latin typeface="Segoe UI" panose="020B0502040204020203" pitchFamily="34" charset="0"/>
                <a:ea typeface="宋体" panose="02010600030101010101" pitchFamily="2" charset="-122"/>
                <a:cs typeface="Segoe UI" panose="020B0502040204020203" pitchFamily="34" charset="-120"/>
              </a:rPr>
              <a:t>提示工程的</a:t>
            </a:r>
            <a:r>
              <a:rPr lang="en-US" sz="735" dirty="0">
                <a:solidFill>
                  <a:srgbClr val="121C23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六个</a:t>
            </a:r>
            <a:r>
              <a:rPr lang="en-US" sz="735" b="1" dirty="0">
                <a:solidFill>
                  <a:srgbClr val="121C23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根本局限</a:t>
            </a:r>
            <a:r>
              <a:rPr lang="en-US" sz="735" dirty="0">
                <a:solidFill>
                  <a:srgbClr val="121C23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——每一个都指向了"提示工程之后"需要升级到的能力：上下文工程（Context Engineering）与 Agent 系统。</a:t>
            </a:r>
            <a:endParaRPr lang="en-US" sz="735" dirty="0"/>
          </a:p>
        </p:txBody>
      </p:sp>
      <p:sp>
        <p:nvSpPr>
          <p:cNvPr id="8" name="TextBox 17"/>
          <p:cNvSpPr/>
          <p:nvPr>
            <p:custDataLst>
              <p:tags r:id="rId3"/>
            </p:custDataLst>
          </p:nvPr>
        </p:nvSpPr>
        <p:spPr>
          <a:xfrm>
            <a:off x="476250" y="1421606"/>
            <a:ext cx="266700" cy="18986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r">
              <a:lnSpc>
                <a:spcPts val="1485"/>
              </a:lnSpc>
              <a:buNone/>
            </a:pPr>
            <a:r>
              <a:rPr lang="en-US" sz="1235" b="1" dirty="0">
                <a:solidFill>
                  <a:srgbClr val="299236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1</a:t>
            </a:r>
            <a:endParaRPr lang="en-US" sz="1235" dirty="0"/>
          </a:p>
        </p:txBody>
      </p:sp>
      <p:sp>
        <p:nvSpPr>
          <p:cNvPr id="9" name="TextBox 21"/>
          <p:cNvSpPr/>
          <p:nvPr>
            <p:custDataLst>
              <p:tags r:id="rId4"/>
            </p:custDataLst>
          </p:nvPr>
        </p:nvSpPr>
        <p:spPr>
          <a:xfrm>
            <a:off x="857250" y="1421606"/>
            <a:ext cx="6425878" cy="19240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505"/>
              </a:lnSpc>
              <a:buNone/>
            </a:pPr>
            <a:r>
              <a:rPr lang="en-US" sz="1005" b="1" dirty="0">
                <a:solidFill>
                  <a:srgbClr val="121C23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上下文窗口不是无限——放进去了 ≠ 模型会关注</a:t>
            </a:r>
            <a:endParaRPr lang="en-US" sz="1005" dirty="0"/>
          </a:p>
        </p:txBody>
      </p:sp>
      <p:sp>
        <p:nvSpPr>
          <p:cNvPr id="10" name="TextBox 23"/>
          <p:cNvSpPr/>
          <p:nvPr>
            <p:custDataLst>
              <p:tags r:id="rId5"/>
            </p:custDataLst>
          </p:nvPr>
        </p:nvSpPr>
        <p:spPr>
          <a:xfrm>
            <a:off x="857250" y="1635760"/>
            <a:ext cx="6787515" cy="15557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215"/>
              </a:lnSpc>
              <a:buNone/>
            </a:pPr>
            <a:r>
              <a:rPr lang="en-US" sz="810" dirty="0">
                <a:solidFill>
                  <a:srgbClr val="5A656D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Claude/Gemini 支持 1M-2M token，但"大海捞针"问题依然存在：模型对长上下文中段信息的关注度显著下降。100 个示例 → 推理开销线性增长。</a:t>
            </a:r>
            <a:endParaRPr lang="en-US" sz="810" dirty="0"/>
          </a:p>
        </p:txBody>
      </p:sp>
      <p:sp>
        <p:nvSpPr>
          <p:cNvPr id="11" name="TextBox 29"/>
          <p:cNvSpPr/>
          <p:nvPr>
            <p:custDataLst>
              <p:tags r:id="rId6"/>
            </p:custDataLst>
          </p:nvPr>
        </p:nvSpPr>
        <p:spPr>
          <a:xfrm>
            <a:off x="476250" y="1833562"/>
            <a:ext cx="266700" cy="18986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r">
              <a:lnSpc>
                <a:spcPts val="1485"/>
              </a:lnSpc>
              <a:buNone/>
            </a:pPr>
            <a:r>
              <a:rPr lang="en-US" sz="1235" b="1" dirty="0">
                <a:solidFill>
                  <a:srgbClr val="299236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2</a:t>
            </a:r>
            <a:endParaRPr lang="en-US" sz="1235" dirty="0"/>
          </a:p>
        </p:txBody>
      </p:sp>
      <p:sp>
        <p:nvSpPr>
          <p:cNvPr id="12" name="TextBox 33"/>
          <p:cNvSpPr/>
          <p:nvPr>
            <p:custDataLst>
              <p:tags r:id="rId7"/>
            </p:custDataLst>
          </p:nvPr>
        </p:nvSpPr>
        <p:spPr>
          <a:xfrm>
            <a:off x="857250" y="1833562"/>
            <a:ext cx="6271691" cy="19240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505"/>
              </a:lnSpc>
              <a:buNone/>
            </a:pPr>
            <a:r>
              <a:rPr lang="en-US" sz="1005" b="1" dirty="0">
                <a:solidFill>
                  <a:srgbClr val="121C23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Prompt 无法传递"模型不知道的东西"</a:t>
            </a:r>
            <a:endParaRPr lang="en-US" sz="1005" dirty="0"/>
          </a:p>
        </p:txBody>
      </p:sp>
      <p:sp>
        <p:nvSpPr>
          <p:cNvPr id="13" name="TextBox 35"/>
          <p:cNvSpPr/>
          <p:nvPr>
            <p:custDataLst>
              <p:tags r:id="rId8"/>
            </p:custDataLst>
          </p:nvPr>
        </p:nvSpPr>
        <p:spPr>
          <a:xfrm>
            <a:off x="857250" y="2047875"/>
            <a:ext cx="6409055" cy="15557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215"/>
              </a:lnSpc>
              <a:buNone/>
            </a:pPr>
            <a:r>
              <a:rPr lang="en-US" sz="810" dirty="0">
                <a:solidFill>
                  <a:srgbClr val="5A656D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你只能指示模型用</a:t>
            </a:r>
            <a:r>
              <a:rPr lang="en-US" sz="810" b="1" dirty="0">
                <a:solidFill>
                  <a:srgbClr val="5A656D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它已有的知识和能力</a:t>
            </a:r>
            <a:r>
              <a:rPr lang="en-US" sz="810" dirty="0">
                <a:solidFill>
                  <a:srgbClr val="5A656D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。不能通过 prompt 教它不会的技能——prompt 不是训练。分类能力弱 → 再好的 prompt 也救不回来。</a:t>
            </a:r>
            <a:endParaRPr lang="en-US" sz="810" dirty="0"/>
          </a:p>
        </p:txBody>
      </p:sp>
      <p:sp>
        <p:nvSpPr>
          <p:cNvPr id="14" name="TextBox 41"/>
          <p:cNvSpPr/>
          <p:nvPr>
            <p:custDataLst>
              <p:tags r:id="rId9"/>
            </p:custDataLst>
          </p:nvPr>
        </p:nvSpPr>
        <p:spPr>
          <a:xfrm>
            <a:off x="476250" y="2245519"/>
            <a:ext cx="266700" cy="18986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r">
              <a:lnSpc>
                <a:spcPts val="1485"/>
              </a:lnSpc>
              <a:buNone/>
            </a:pPr>
            <a:r>
              <a:rPr lang="en-US" sz="1235" b="1" dirty="0">
                <a:solidFill>
                  <a:srgbClr val="299236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3</a:t>
            </a:r>
            <a:endParaRPr lang="en-US" sz="1235" dirty="0"/>
          </a:p>
        </p:txBody>
      </p:sp>
      <p:sp>
        <p:nvSpPr>
          <p:cNvPr id="15" name="TextBox 45"/>
          <p:cNvSpPr/>
          <p:nvPr>
            <p:custDataLst>
              <p:tags r:id="rId10"/>
            </p:custDataLst>
          </p:nvPr>
        </p:nvSpPr>
        <p:spPr>
          <a:xfrm>
            <a:off x="857250" y="2245519"/>
            <a:ext cx="7685930" cy="19240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505"/>
              </a:lnSpc>
              <a:buNone/>
            </a:pPr>
            <a:r>
              <a:rPr lang="en-US" sz="1005" b="1" dirty="0">
                <a:solidFill>
                  <a:srgbClr val="121C23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Prompt 不保证跨输入的行为一致性</a:t>
            </a:r>
            <a:endParaRPr lang="en-US" sz="1005" dirty="0"/>
          </a:p>
        </p:txBody>
      </p:sp>
      <p:sp>
        <p:nvSpPr>
          <p:cNvPr id="16" name="TextBox 47"/>
          <p:cNvSpPr/>
          <p:nvPr>
            <p:custDataLst>
              <p:tags r:id="rId11"/>
            </p:custDataLst>
          </p:nvPr>
        </p:nvSpPr>
        <p:spPr>
          <a:xfrm>
            <a:off x="857250" y="2459990"/>
            <a:ext cx="7769225" cy="15557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215"/>
              </a:lnSpc>
              <a:buNone/>
            </a:pPr>
            <a:r>
              <a:rPr lang="en-US" sz="810" dirty="0">
                <a:solidFill>
                  <a:srgbClr val="5A656D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同 prompt + 同输入 + temp=0 → 同输出。但不同输入？某些输入会触发意外行为—在 prompt 层面无法消灭。边界案例是无限的—有限示例不可能覆盖所有可能的输入。</a:t>
            </a:r>
            <a:endParaRPr lang="en-US" sz="810" dirty="0"/>
          </a:p>
        </p:txBody>
      </p:sp>
      <p:sp>
        <p:nvSpPr>
          <p:cNvPr id="17" name="TextBox 53"/>
          <p:cNvSpPr/>
          <p:nvPr>
            <p:custDataLst>
              <p:tags r:id="rId12"/>
            </p:custDataLst>
          </p:nvPr>
        </p:nvSpPr>
        <p:spPr>
          <a:xfrm>
            <a:off x="476250" y="2657475"/>
            <a:ext cx="266700" cy="18986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r">
              <a:lnSpc>
                <a:spcPts val="1485"/>
              </a:lnSpc>
              <a:buNone/>
            </a:pPr>
            <a:r>
              <a:rPr lang="en-US" sz="1235" b="1" dirty="0">
                <a:solidFill>
                  <a:srgbClr val="299236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4</a:t>
            </a:r>
            <a:endParaRPr lang="en-US" sz="1235" dirty="0"/>
          </a:p>
        </p:txBody>
      </p:sp>
      <p:sp>
        <p:nvSpPr>
          <p:cNvPr id="18" name="TextBox 57"/>
          <p:cNvSpPr/>
          <p:nvPr>
            <p:custDataLst>
              <p:tags r:id="rId13"/>
            </p:custDataLst>
          </p:nvPr>
        </p:nvSpPr>
        <p:spPr>
          <a:xfrm>
            <a:off x="857250" y="2657475"/>
            <a:ext cx="7108850" cy="19240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505"/>
              </a:lnSpc>
              <a:buNone/>
            </a:pPr>
            <a:r>
              <a:rPr lang="en-US" sz="1005" b="1" dirty="0">
                <a:solidFill>
                  <a:srgbClr val="121C23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跨模型不可移植——没有"通用最优 prompt"</a:t>
            </a:r>
            <a:endParaRPr lang="en-US" sz="1005" dirty="0"/>
          </a:p>
        </p:txBody>
      </p:sp>
      <p:sp>
        <p:nvSpPr>
          <p:cNvPr id="19" name="TextBox 59"/>
          <p:cNvSpPr/>
          <p:nvPr>
            <p:custDataLst>
              <p:tags r:id="rId14"/>
            </p:custDataLst>
          </p:nvPr>
        </p:nvSpPr>
        <p:spPr>
          <a:xfrm>
            <a:off x="857250" y="2871470"/>
            <a:ext cx="7357110" cy="15557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215"/>
              </a:lnSpc>
              <a:buNone/>
            </a:pPr>
            <a:r>
              <a:rPr lang="en-US" sz="810" dirty="0">
                <a:solidFill>
                  <a:srgbClr val="5A656D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为 Claude 优化的 prompt 在 GPT 上可能很差。推理模型 vs 标准模型的 prompt 策略甚至相反（一个要原则、一个要步骤）。每换一个模型都需要重新适配验证。</a:t>
            </a:r>
            <a:endParaRPr lang="en-US" sz="810" dirty="0"/>
          </a:p>
        </p:txBody>
      </p:sp>
      <p:sp>
        <p:nvSpPr>
          <p:cNvPr id="20" name="TextBox 65"/>
          <p:cNvSpPr/>
          <p:nvPr>
            <p:custDataLst>
              <p:tags r:id="rId15"/>
            </p:custDataLst>
          </p:nvPr>
        </p:nvSpPr>
        <p:spPr>
          <a:xfrm>
            <a:off x="476250" y="3069431"/>
            <a:ext cx="266700" cy="18986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r">
              <a:lnSpc>
                <a:spcPts val="1485"/>
              </a:lnSpc>
              <a:buNone/>
            </a:pPr>
            <a:r>
              <a:rPr lang="en-US" sz="1235" b="1" dirty="0">
                <a:solidFill>
                  <a:srgbClr val="299236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5</a:t>
            </a:r>
            <a:endParaRPr lang="en-US" sz="1235" dirty="0"/>
          </a:p>
        </p:txBody>
      </p:sp>
      <p:sp>
        <p:nvSpPr>
          <p:cNvPr id="21" name="TextBox 69"/>
          <p:cNvSpPr/>
          <p:nvPr>
            <p:custDataLst>
              <p:tags r:id="rId16"/>
            </p:custDataLst>
          </p:nvPr>
        </p:nvSpPr>
        <p:spPr>
          <a:xfrm>
            <a:off x="857250" y="3069431"/>
            <a:ext cx="7810500" cy="19240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505"/>
              </a:lnSpc>
              <a:buNone/>
            </a:pPr>
            <a:r>
              <a:rPr lang="en-US" sz="1005" b="1" dirty="0">
                <a:solidFill>
                  <a:srgbClr val="121C23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不传递外部知识——引出 RAG（检索增强生成）</a:t>
            </a:r>
            <a:endParaRPr lang="en-US" sz="1005" dirty="0"/>
          </a:p>
        </p:txBody>
      </p:sp>
      <p:sp>
        <p:nvSpPr>
          <p:cNvPr id="22" name="TextBox 71"/>
          <p:cNvSpPr/>
          <p:nvPr>
            <p:custDataLst>
              <p:tags r:id="rId17"/>
            </p:custDataLst>
          </p:nvPr>
        </p:nvSpPr>
        <p:spPr>
          <a:xfrm>
            <a:off x="857250" y="3283744"/>
            <a:ext cx="7810500" cy="31115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215"/>
              </a:lnSpc>
              <a:buNone/>
            </a:pPr>
            <a:r>
              <a:rPr lang="en-US" sz="810" dirty="0">
                <a:solidFill>
                  <a:srgbClr val="5A656D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训练截止后的信息、内部数据、领域知识——没法"写进 prompt"（写不下）。只能通过检索增强注入。这就是提示工程 → 上下文工程的关键升级：不是写好 prompt，而是设计包含检索/工具调用/记忆管理的完整信息环境。</a:t>
            </a:r>
            <a:endParaRPr lang="en-US" sz="810" dirty="0"/>
          </a:p>
        </p:txBody>
      </p:sp>
      <p:sp>
        <p:nvSpPr>
          <p:cNvPr id="23" name="TextBox 77"/>
          <p:cNvSpPr/>
          <p:nvPr>
            <p:custDataLst>
              <p:tags r:id="rId18"/>
            </p:custDataLst>
          </p:nvPr>
        </p:nvSpPr>
        <p:spPr>
          <a:xfrm>
            <a:off x="476250" y="3631406"/>
            <a:ext cx="266700" cy="18986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r">
              <a:lnSpc>
                <a:spcPts val="1485"/>
              </a:lnSpc>
              <a:buNone/>
            </a:pPr>
            <a:r>
              <a:rPr lang="en-US" sz="1235" b="1" dirty="0">
                <a:solidFill>
                  <a:srgbClr val="299236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6</a:t>
            </a:r>
            <a:endParaRPr lang="en-US" sz="1235" dirty="0"/>
          </a:p>
        </p:txBody>
      </p:sp>
      <p:sp>
        <p:nvSpPr>
          <p:cNvPr id="24" name="TextBox 81"/>
          <p:cNvSpPr/>
          <p:nvPr>
            <p:custDataLst>
              <p:tags r:id="rId19"/>
            </p:custDataLst>
          </p:nvPr>
        </p:nvSpPr>
        <p:spPr>
          <a:xfrm>
            <a:off x="857250" y="3631406"/>
            <a:ext cx="7810500" cy="19240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505"/>
              </a:lnSpc>
              <a:buNone/>
            </a:pPr>
            <a:r>
              <a:rPr lang="en-US" sz="1005" b="1" dirty="0">
                <a:solidFill>
                  <a:srgbClr val="121C23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复杂工具编排超出单 prompt 能力——引出 Agent 框架</a:t>
            </a:r>
            <a:endParaRPr lang="en-US" sz="1005" dirty="0"/>
          </a:p>
        </p:txBody>
      </p:sp>
      <p:sp>
        <p:nvSpPr>
          <p:cNvPr id="25" name="TextBox 83"/>
          <p:cNvSpPr/>
          <p:nvPr>
            <p:custDataLst>
              <p:tags r:id="rId20"/>
            </p:custDataLst>
          </p:nvPr>
        </p:nvSpPr>
        <p:spPr>
          <a:xfrm>
            <a:off x="857250" y="3845719"/>
            <a:ext cx="7810500" cy="15557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215"/>
              </a:lnSpc>
              <a:buNone/>
            </a:pPr>
            <a:r>
              <a:rPr lang="en-US" sz="810" dirty="0">
                <a:solidFill>
                  <a:srgbClr val="5A656D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当任务需要"查数据库 → 调计算工具 → 传结果给生成工具 → 格式化输出"，已不是单 prompt 能解决的。这需要 Agent 框架，而非"更好的 prompt"。</a:t>
            </a:r>
            <a:endParaRPr lang="en-US" sz="810" dirty="0"/>
          </a:p>
        </p:txBody>
      </p:sp>
      <p:pic>
        <p:nvPicPr>
          <p:cNvPr id="26" name="Picture 89" descr="__type_image"/>
          <p:cNvPicPr>
            <a:picLocks noChangeAspect="1"/>
          </p:cNvPicPr>
          <p:nvPr/>
        </p:nvPicPr>
        <p:blipFill>
          <a:blip r:embed="rId21">
            <a:extLst>
              <a:ext uri="{96DAC541-7B7A-43D3-8B79-37D633B846F1}">
                <asvg:svgBlip xmlns:asvg="http://schemas.microsoft.com/office/drawing/2016/SVG/main" r:embed="rId22"/>
              </a:ext>
            </a:extLst>
          </a:blip>
          <a:stretch>
            <a:fillRect/>
          </a:stretch>
        </p:blipFill>
        <p:spPr>
          <a:xfrm>
            <a:off x="476250" y="4819650"/>
            <a:ext cx="8191500" cy="171450"/>
          </a:xfrm>
          <a:prstGeom prst="rect">
            <a:avLst/>
          </a:prstGeom>
        </p:spPr>
      </p:pic>
      <p:sp>
        <p:nvSpPr>
          <p:cNvPr id="27" name="TextBox 89"/>
          <p:cNvSpPr/>
          <p:nvPr/>
        </p:nvSpPr>
        <p:spPr>
          <a:xfrm>
            <a:off x="476250" y="4819650"/>
            <a:ext cx="8191500" cy="171450"/>
          </a:xfrm>
          <a:prstGeom prst="rect">
            <a:avLst/>
          </a:prstGeom>
          <a:noFill/>
        </p:spPr>
        <p:txBody>
          <a:bodyPr wrap="square" lIns="0" tIns="68645" rIns="0" bIns="0" rtlCol="0" anchor="t">
            <a:spAutoFit/>
          </a:bodyPr>
          <a:lstStyle/>
          <a:p>
            <a:pPr marL="0" indent="0" algn="l">
              <a:lnSpc>
                <a:spcPts val="810"/>
              </a:lnSpc>
              <a:buNone/>
            </a:pPr>
            <a:r>
              <a:rPr lang="en-US" sz="540" kern="0" spc="22" dirty="0">
                <a:solidFill>
                  <a:srgbClr val="5A656D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提示工程的上限 = 单轮、单模型的静态文本处理。超出这个边界 → RAG + Agent = 下一章的内容</a:t>
            </a:r>
            <a:endParaRPr lang="en-US" sz="54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6F9FC"/>
          </a:solidFill>
        </p:spPr>
      </p:sp>
      <p:sp>
        <p:nvSpPr>
          <p:cNvPr id="3" name="Shape 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6F9FC"/>
          </a:solidFill>
        </p:spPr>
      </p:sp>
      <p:pic>
        <p:nvPicPr>
          <p:cNvPr id="4" name="Picture 4" descr="__type_image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76250" y="381000"/>
            <a:ext cx="8191500" cy="390525"/>
          </a:xfrm>
          <a:prstGeom prst="rect">
            <a:avLst/>
          </a:prstGeom>
        </p:spPr>
      </p:pic>
      <p:sp>
        <p:nvSpPr>
          <p:cNvPr id="5" name="TextBox 4"/>
          <p:cNvSpPr/>
          <p:nvPr/>
        </p:nvSpPr>
        <p:spPr>
          <a:xfrm>
            <a:off x="476250" y="381000"/>
            <a:ext cx="8191500" cy="394335"/>
          </a:xfrm>
          <a:prstGeom prst="rect">
            <a:avLst/>
          </a:prstGeom>
          <a:noFill/>
        </p:spPr>
        <p:txBody>
          <a:bodyPr wrap="square" lIns="0" tIns="0" rIns="0" bIns="98065" rtlCol="0" anchor="t">
            <a:spAutoFit/>
          </a:bodyPr>
          <a:lstStyle/>
          <a:p>
            <a:pPr marL="0" indent="0" algn="l">
              <a:lnSpc>
                <a:spcPts val="2315"/>
              </a:lnSpc>
              <a:buNone/>
            </a:pPr>
            <a:r>
              <a:rPr lang="en-US" sz="1545" b="1" kern="0" spc="-23" dirty="0">
                <a:solidFill>
                  <a:srgbClr val="121C23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1.8幻觉是什么？——不是 bug，而是架构的固有属性</a:t>
            </a:r>
            <a:endParaRPr lang="en-US" sz="1545" dirty="0"/>
          </a:p>
        </p:txBody>
      </p:sp>
      <p:sp>
        <p:nvSpPr>
          <p:cNvPr id="6" name="Shape 8"/>
          <p:cNvSpPr/>
          <p:nvPr/>
        </p:nvSpPr>
        <p:spPr>
          <a:xfrm>
            <a:off x="476250" y="1000125"/>
            <a:ext cx="8191500" cy="724346"/>
          </a:xfrm>
          <a:prstGeom prst="roundRect">
            <a:avLst>
              <a:gd name="adj" fmla="val 4062"/>
            </a:avLst>
          </a:prstGeom>
          <a:solidFill>
            <a:srgbClr val="FFFFFF"/>
          </a:solidFill>
        </p:spPr>
      </p:sp>
      <p:pic>
        <p:nvPicPr>
          <p:cNvPr id="7" name="Picture 8" descr="__type_image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76250" y="1000125"/>
            <a:ext cx="8191500" cy="724346"/>
          </a:xfrm>
          <a:prstGeom prst="rect">
            <a:avLst/>
          </a:prstGeom>
        </p:spPr>
      </p:pic>
      <p:sp>
        <p:nvSpPr>
          <p:cNvPr id="8" name="TextBox 10"/>
          <p:cNvSpPr/>
          <p:nvPr/>
        </p:nvSpPr>
        <p:spPr>
          <a:xfrm>
            <a:off x="666750" y="1138237"/>
            <a:ext cx="7824788" cy="100013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810"/>
              </a:lnSpc>
              <a:buNone/>
            </a:pPr>
            <a:r>
              <a:rPr lang="en-US" sz="540" kern="0" spc="43" dirty="0">
                <a:solidFill>
                  <a:srgbClr val="299236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定义</a:t>
            </a:r>
            <a:endParaRPr lang="en-US" sz="540" dirty="0"/>
          </a:p>
        </p:txBody>
      </p:sp>
      <p:sp>
        <p:nvSpPr>
          <p:cNvPr id="9" name="TextBox 12"/>
          <p:cNvSpPr/>
          <p:nvPr/>
        </p:nvSpPr>
        <p:spPr>
          <a:xfrm>
            <a:off x="666750" y="1276350"/>
            <a:ext cx="7824788" cy="310009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255"/>
              </a:lnSpc>
              <a:buNone/>
            </a:pPr>
            <a:r>
              <a:rPr lang="en-US" sz="810" b="1" dirty="0">
                <a:solidFill>
                  <a:srgbClr val="121C23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幻觉（Hallucination）</a:t>
            </a:r>
            <a:r>
              <a:rPr lang="en-US" sz="810" dirty="0">
                <a:solidFill>
                  <a:srgbClr val="121C23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：模型生成的文本表面流畅、合理、自信，但</a:t>
            </a:r>
            <a:r>
              <a:rPr lang="en-US" sz="810" b="1" dirty="0">
                <a:solidFill>
                  <a:srgbClr val="121C23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与事实不符</a:t>
            </a:r>
            <a:r>
              <a:rPr lang="en-US" sz="810" dirty="0">
                <a:solidFill>
                  <a:srgbClr val="121C23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、</a:t>
            </a:r>
            <a:r>
              <a:rPr lang="en-US" sz="810" b="1" dirty="0">
                <a:solidFill>
                  <a:srgbClr val="121C23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与输入信息矛盾</a:t>
            </a:r>
            <a:r>
              <a:rPr lang="en-US" sz="810" dirty="0">
                <a:solidFill>
                  <a:srgbClr val="121C23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或</a:t>
            </a:r>
            <a:r>
              <a:rPr lang="en-US" sz="810" b="1" dirty="0">
                <a:solidFill>
                  <a:srgbClr val="121C23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完全无据可查</a:t>
            </a:r>
            <a:r>
              <a:rPr lang="en-US" sz="810" dirty="0">
                <a:solidFill>
                  <a:srgbClr val="121C23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。2025-2026年多项研究明确指出：幻觉源于自注意力机制的高维向量混合——这种混合</a:t>
            </a:r>
            <a:r>
              <a:rPr lang="en-US" sz="810" b="1" dirty="0">
                <a:solidFill>
                  <a:srgbClr val="121C23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同时赋予了模型泛化能力和创造性推理能力</a:t>
            </a:r>
            <a:r>
              <a:rPr lang="en-US" sz="810" dirty="0">
                <a:solidFill>
                  <a:srgbClr val="121C23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，但也使模型不可控地偏离事实。它不是偶发bug——是 Transformer 架构的固有属性。</a:t>
            </a:r>
            <a:endParaRPr lang="en-US" sz="810" dirty="0"/>
          </a:p>
        </p:txBody>
      </p:sp>
      <p:graphicFrame>
        <p:nvGraphicFramePr>
          <p:cNvPr id="48" name="Table 15"/>
          <p:cNvGraphicFramePr>
            <a:graphicFrameLocks noGrp="1"/>
          </p:cNvGraphicFramePr>
          <p:nvPr/>
        </p:nvGraphicFramePr>
        <p:xfrm>
          <a:off x="476250" y="1791146"/>
          <a:ext cx="8191500" cy="914400"/>
        </p:xfrm>
        <a:graphic>
          <a:graphicData uri="http://schemas.openxmlformats.org/drawingml/2006/table">
            <a:tbl>
              <a:tblPr/>
              <a:tblGrid>
                <a:gridCol w="1130126"/>
                <a:gridCol w="4604444"/>
                <a:gridCol w="2456929"/>
              </a:tblGrid>
              <a:tr h="0"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925"/>
                        </a:lnSpc>
                        <a:buNone/>
                      </a:pPr>
                      <a:r>
                        <a:rPr lang="en-US" sz="620" b="1" kern="0" spc="37" dirty="0">
                          <a:solidFill>
                            <a:srgbClr val="299236"/>
                          </a:solidFill>
                          <a:latin typeface="Consolas" panose="020B0609020204030204" pitchFamily="34" charset="0"/>
                          <a:ea typeface="Consolas" panose="020B0609020204030204" pitchFamily="34" charset="-122"/>
                          <a:cs typeface="Consolas" panose="020B0609020204030204" pitchFamily="34" charset="-120"/>
                        </a:rPr>
                        <a:t>幻觉类型</a:t>
                      </a:r>
                      <a:endParaRPr lang="en-US" sz="620" dirty="0">
                        <a:latin typeface="Consolas" panose="020B0609020204030204" pitchFamily="34" charset="0"/>
                        <a:ea typeface="Consolas" panose="020B0609020204030204" pitchFamily="34" charset="0"/>
                        <a:cs typeface="Consolas" panose="020B0609020204030204" pitchFamily="34" charset="0"/>
                      </a:endParaRPr>
                    </a:p>
                  </a:txBody>
                  <a:tcPr marL="122581" marR="122581" marT="83355" marB="8335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806" cap="flat" cmpd="sng" algn="ctr">
                      <a:solidFill>
                        <a:srgbClr val="2992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A845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1275"/>
                        </a:lnSpc>
                        <a:buNone/>
                      </a:pPr>
                      <a:r>
                        <a:rPr lang="en-US" sz="850" b="1" dirty="0">
                          <a:solidFill>
                            <a:srgbClr val="121C23"/>
                          </a:solidFill>
                          <a:latin typeface="Segoe UI" panose="020B0502040204020203" pitchFamily="34" charset="0"/>
                          <a:ea typeface="Segoe UI" panose="020B0502040204020203" pitchFamily="34" charset="-122"/>
                          <a:cs typeface="Segoe UI" panose="020B0502040204020203" pitchFamily="34" charset="-120"/>
                        </a:rPr>
                        <a:t>典型表现</a:t>
                      </a:r>
                      <a:endParaRPr lang="en-US" sz="850" dirty="0">
                        <a:latin typeface="Segoe UI" panose="020B0502040204020203" pitchFamily="34" charset="0"/>
                        <a:ea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22581" marR="122581" marT="83355" marB="8335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806" cap="flat" cmpd="sng" algn="ctr">
                      <a:solidFill>
                        <a:srgbClr val="2992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A845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1275"/>
                        </a:lnSpc>
                        <a:buNone/>
                      </a:pPr>
                      <a:r>
                        <a:rPr lang="en-US" sz="850" b="1" dirty="0">
                          <a:solidFill>
                            <a:srgbClr val="121C23"/>
                          </a:solidFill>
                          <a:latin typeface="Segoe UI" panose="020B0502040204020203" pitchFamily="34" charset="0"/>
                          <a:ea typeface="Segoe UI" panose="020B0502040204020203" pitchFamily="34" charset="-122"/>
                          <a:cs typeface="Segoe UI" panose="020B0502040204020203" pitchFamily="34" charset="-120"/>
                        </a:rPr>
                        <a:t>最危险的场景</a:t>
                      </a:r>
                      <a:endParaRPr lang="en-US" sz="850" dirty="0">
                        <a:latin typeface="Segoe UI" panose="020B0502040204020203" pitchFamily="34" charset="0"/>
                        <a:ea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22581" marR="122581" marT="83355" marB="8335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806" cap="flat" cmpd="sng" algn="ctr">
                      <a:solidFill>
                        <a:srgbClr val="2992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A845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1040"/>
                        </a:lnSpc>
                        <a:buNone/>
                      </a:pPr>
                      <a:r>
                        <a:rPr lang="en-US" sz="695" b="1" dirty="0">
                          <a:solidFill>
                            <a:srgbClr val="121C23"/>
                          </a:solidFill>
                          <a:latin typeface="Segoe UI" panose="020B0502040204020203" pitchFamily="34" charset="0"/>
                          <a:ea typeface="Segoe UI" panose="020B0502040204020203" pitchFamily="34" charset="-122"/>
                          <a:cs typeface="Segoe UI" panose="020B0502040204020203" pitchFamily="34" charset="-120"/>
                        </a:rPr>
                        <a:t>事实捏造</a:t>
                      </a:r>
                      <a:endParaRPr lang="en-US" sz="695" dirty="0">
                        <a:latin typeface="Segoe UI" panose="020B0502040204020203" pitchFamily="34" charset="0"/>
                        <a:ea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22581" marR="122581" marT="73549" marB="73549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4903" cap="flat" cmpd="sng" algn="ctr">
                      <a:solidFill>
                        <a:srgbClr val="D9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1040"/>
                        </a:lnSpc>
                        <a:buNone/>
                      </a:pPr>
                      <a:r>
                        <a:rPr lang="en-US" sz="695" dirty="0">
                          <a:solidFill>
                            <a:srgbClr val="121C23"/>
                          </a:solidFill>
                          <a:latin typeface="Segoe UI" panose="020B0502040204020203" pitchFamily="34" charset="0"/>
                          <a:ea typeface="Segoe UI" panose="020B0502040204020203" pitchFamily="34" charset="-122"/>
                          <a:cs typeface="Segoe UI" panose="020B0502040204020203" pitchFamily="34" charset="-120"/>
                        </a:rPr>
                        <a:t>"根据 Smith 等(2019)的研究……"——但这篇论文根本不存在</a:t>
                      </a:r>
                      <a:endParaRPr lang="en-US" sz="695" dirty="0">
                        <a:latin typeface="Segoe UI" panose="020B0502040204020203" pitchFamily="34" charset="0"/>
                        <a:ea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22581" marR="122581" marT="73549" marB="73549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4903" cap="flat" cmpd="sng" algn="ctr">
                      <a:solidFill>
                        <a:srgbClr val="D9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1040"/>
                        </a:lnSpc>
                        <a:buNone/>
                      </a:pPr>
                      <a:r>
                        <a:rPr lang="en-US" sz="695" dirty="0">
                          <a:solidFill>
                            <a:srgbClr val="5A656D"/>
                          </a:solidFill>
                          <a:latin typeface="Segoe UI" panose="020B0502040204020203" pitchFamily="34" charset="0"/>
                          <a:ea typeface="Segoe UI" panose="020B0502040204020203" pitchFamily="34" charset="-122"/>
                          <a:cs typeface="Segoe UI" panose="020B0502040204020203" pitchFamily="34" charset="-120"/>
                        </a:rPr>
                        <a:t>文献引用、法律条文、技术参数</a:t>
                      </a:r>
                      <a:endParaRPr lang="en-US" sz="695" dirty="0">
                        <a:latin typeface="Segoe UI" panose="020B0502040204020203" pitchFamily="34" charset="0"/>
                        <a:ea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22581" marR="122581" marT="73549" marB="73549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4903" cap="flat" cmpd="sng" algn="ctr">
                      <a:solidFill>
                        <a:srgbClr val="D9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1040"/>
                        </a:lnSpc>
                        <a:buNone/>
                      </a:pPr>
                      <a:r>
                        <a:rPr lang="en-US" sz="695" b="1" dirty="0">
                          <a:solidFill>
                            <a:srgbClr val="121C23"/>
                          </a:solidFill>
                          <a:latin typeface="Segoe UI" panose="020B0502040204020203" pitchFamily="34" charset="0"/>
                          <a:ea typeface="Segoe UI" panose="020B0502040204020203" pitchFamily="34" charset="-122"/>
                          <a:cs typeface="Segoe UI" panose="020B0502040204020203" pitchFamily="34" charset="-120"/>
                        </a:rPr>
                        <a:t>源信息偏离</a:t>
                      </a:r>
                      <a:endParaRPr lang="en-US" sz="695" dirty="0">
                        <a:latin typeface="Segoe UI" panose="020B0502040204020203" pitchFamily="34" charset="0"/>
                        <a:ea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22581" marR="122581" marT="73549" marB="73549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4903" cap="flat" cmpd="sng" algn="ctr">
                      <a:solidFill>
                        <a:srgbClr val="D9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1040"/>
                        </a:lnSpc>
                        <a:buNone/>
                      </a:pPr>
                      <a:r>
                        <a:rPr lang="en-US" sz="695" dirty="0">
                          <a:solidFill>
                            <a:srgbClr val="121C23"/>
                          </a:solidFill>
                          <a:latin typeface="Segoe UI" panose="020B0502040204020203" pitchFamily="34" charset="0"/>
                          <a:ea typeface="Segoe UI" panose="020B0502040204020203" pitchFamily="34" charset="-122"/>
                          <a:cs typeface="Segoe UI" panose="020B0502040204020203" pitchFamily="34" charset="-120"/>
                        </a:rPr>
                        <a:t>输入"营收增长 15%"，模型输出"营收增长 30%"</a:t>
                      </a:r>
                      <a:endParaRPr lang="en-US" sz="695" dirty="0">
                        <a:latin typeface="Segoe UI" panose="020B0502040204020203" pitchFamily="34" charset="0"/>
                        <a:ea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22581" marR="122581" marT="73549" marB="73549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4903" cap="flat" cmpd="sng" algn="ctr">
                      <a:solidFill>
                        <a:srgbClr val="D9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1040"/>
                        </a:lnSpc>
                        <a:buNone/>
                      </a:pPr>
                      <a:r>
                        <a:rPr lang="en-US" sz="695" dirty="0">
                          <a:solidFill>
                            <a:srgbClr val="5A656D"/>
                          </a:solidFill>
                          <a:latin typeface="Segoe UI" panose="020B0502040204020203" pitchFamily="34" charset="0"/>
                          <a:ea typeface="Segoe UI" panose="020B0502040204020203" pitchFamily="34" charset="-122"/>
                          <a:cs typeface="Segoe UI" panose="020B0502040204020203" pitchFamily="34" charset="-120"/>
                        </a:rPr>
                        <a:t>摘要任务、数据提取、翻译</a:t>
                      </a:r>
                      <a:endParaRPr lang="en-US" sz="695" dirty="0">
                        <a:latin typeface="Segoe UI" panose="020B0502040204020203" pitchFamily="34" charset="0"/>
                        <a:ea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22581" marR="122581" marT="73549" marB="73549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4903" cap="flat" cmpd="sng" algn="ctr">
                      <a:solidFill>
                        <a:srgbClr val="D9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1040"/>
                        </a:lnSpc>
                        <a:buNone/>
                      </a:pPr>
                      <a:r>
                        <a:rPr lang="en-US" sz="695" b="1" dirty="0">
                          <a:solidFill>
                            <a:srgbClr val="121C23"/>
                          </a:solidFill>
                          <a:latin typeface="Segoe UI" panose="020B0502040204020203" pitchFamily="34" charset="0"/>
                          <a:ea typeface="Segoe UI" panose="020B0502040204020203" pitchFamily="34" charset="-122"/>
                          <a:cs typeface="Segoe UI" panose="020B0502040204020203" pitchFamily="34" charset="-120"/>
                        </a:rPr>
                        <a:t>过度自信</a:t>
                      </a:r>
                      <a:endParaRPr lang="en-US" sz="695" dirty="0">
                        <a:latin typeface="Segoe UI" panose="020B0502040204020203" pitchFamily="34" charset="0"/>
                        <a:ea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22581" marR="122581" marT="73549" marB="73549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4903" cap="flat" cmpd="sng" algn="ctr">
                      <a:solidFill>
                        <a:srgbClr val="D9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1040"/>
                        </a:lnSpc>
                        <a:buNone/>
                      </a:pPr>
                      <a:r>
                        <a:rPr lang="en-US" sz="695" dirty="0">
                          <a:solidFill>
                            <a:srgbClr val="121C23"/>
                          </a:solidFill>
                          <a:latin typeface="Segoe UI" panose="020B0502040204020203" pitchFamily="34" charset="0"/>
                          <a:ea typeface="Segoe UI" panose="020B0502040204020203" pitchFamily="34" charset="-122"/>
                          <a:cs typeface="Segoe UI" panose="020B0502040204020203" pitchFamily="34" charset="-120"/>
                        </a:rPr>
                        <a:t>对不确定的事实用确定的语气陈述——没有"可能""据推测"的修饰</a:t>
                      </a:r>
                      <a:endParaRPr lang="en-US" sz="695" dirty="0">
                        <a:latin typeface="Segoe UI" panose="020B0502040204020203" pitchFamily="34" charset="0"/>
                        <a:ea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22581" marR="122581" marT="73549" marB="73549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4903" cap="flat" cmpd="sng" algn="ctr">
                      <a:solidFill>
                        <a:srgbClr val="D9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1040"/>
                        </a:lnSpc>
                        <a:buNone/>
                      </a:pPr>
                      <a:r>
                        <a:rPr lang="en-US" sz="695" dirty="0">
                          <a:solidFill>
                            <a:srgbClr val="5A656D"/>
                          </a:solidFill>
                          <a:latin typeface="Segoe UI" panose="020B0502040204020203" pitchFamily="34" charset="0"/>
                          <a:ea typeface="Segoe UI" panose="020B0502040204020203" pitchFamily="34" charset="-122"/>
                          <a:cs typeface="Segoe UI" panose="020B0502040204020203" pitchFamily="34" charset="-120"/>
                        </a:rPr>
                        <a:t>科研辅助、医疗咨询、投资建议</a:t>
                      </a:r>
                      <a:endParaRPr lang="en-US" sz="695" dirty="0">
                        <a:latin typeface="Segoe UI" panose="020B0502040204020203" pitchFamily="34" charset="0"/>
                        <a:ea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22581" marR="122581" marT="73549" marB="73549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4903" cap="flat" cmpd="sng" algn="ctr">
                      <a:solidFill>
                        <a:srgbClr val="D9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id="12" name="TextBox 19"/>
          <p:cNvSpPr/>
          <p:nvPr/>
        </p:nvSpPr>
        <p:spPr>
          <a:xfrm>
            <a:off x="633095" y="3086735"/>
            <a:ext cx="7877175" cy="43561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ts val="1100"/>
              </a:lnSpc>
              <a:buNone/>
            </a:pPr>
            <a:endParaRPr lang="en-US" sz="735" dirty="0"/>
          </a:p>
        </p:txBody>
      </p:sp>
      <p:pic>
        <p:nvPicPr>
          <p:cNvPr id="13" name="Picture 23" descr="__type_image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76250" y="4819650"/>
            <a:ext cx="8191500" cy="171450"/>
          </a:xfrm>
          <a:prstGeom prst="rect">
            <a:avLst/>
          </a:prstGeom>
        </p:spPr>
      </p:pic>
      <p:sp>
        <p:nvSpPr>
          <p:cNvPr id="14" name="TextBox 23"/>
          <p:cNvSpPr/>
          <p:nvPr/>
        </p:nvSpPr>
        <p:spPr>
          <a:xfrm>
            <a:off x="476250" y="4819650"/>
            <a:ext cx="8191500" cy="171450"/>
          </a:xfrm>
          <a:prstGeom prst="rect">
            <a:avLst/>
          </a:prstGeom>
          <a:noFill/>
        </p:spPr>
        <p:txBody>
          <a:bodyPr wrap="square" lIns="0" tIns="68645" rIns="0" bIns="0" rtlCol="0" anchor="t">
            <a:spAutoFit/>
          </a:bodyPr>
          <a:lstStyle/>
          <a:p>
            <a:pPr marL="0" indent="0" algn="l">
              <a:lnSpc>
                <a:spcPts val="810"/>
              </a:lnSpc>
              <a:buNone/>
            </a:pPr>
            <a:r>
              <a:rPr lang="en-US" sz="540" kern="0" spc="22" dirty="0">
                <a:solidFill>
                  <a:srgbClr val="5A656D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幻觉的特殊危险不在于它错——而在于它错得"看起来很对"</a:t>
            </a:r>
            <a:endParaRPr lang="en-US" sz="54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6F9FC"/>
          </a:solidFill>
        </p:spPr>
      </p:sp>
      <p:sp>
        <p:nvSpPr>
          <p:cNvPr id="3" name="Shape 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6F9FC"/>
          </a:solidFill>
        </p:spPr>
      </p:sp>
      <p:pic>
        <p:nvPicPr>
          <p:cNvPr id="4" name="Picture 4" descr="__type_image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76250" y="381000"/>
            <a:ext cx="8191500" cy="390525"/>
          </a:xfrm>
          <a:prstGeom prst="rect">
            <a:avLst/>
          </a:prstGeom>
        </p:spPr>
      </p:pic>
      <p:sp>
        <p:nvSpPr>
          <p:cNvPr id="5" name="TextBox 4"/>
          <p:cNvSpPr/>
          <p:nvPr/>
        </p:nvSpPr>
        <p:spPr>
          <a:xfrm>
            <a:off x="476250" y="381000"/>
            <a:ext cx="8191500" cy="390525"/>
          </a:xfrm>
          <a:prstGeom prst="rect">
            <a:avLst/>
          </a:prstGeom>
          <a:noFill/>
        </p:spPr>
        <p:txBody>
          <a:bodyPr wrap="square" lIns="0" tIns="0" rIns="0" bIns="98065" rtlCol="0" anchor="t">
            <a:spAutoFit/>
          </a:bodyPr>
          <a:lstStyle/>
          <a:p>
            <a:pPr marL="0" indent="0" algn="l">
              <a:lnSpc>
                <a:spcPts val="2315"/>
              </a:lnSpc>
              <a:buNone/>
            </a:pPr>
            <a:r>
              <a:rPr lang="en-US" sz="1545" b="1" kern="0" spc="-23" dirty="0">
                <a:solidFill>
                  <a:srgbClr val="121C23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幻觉的成因：为什么它无法彻底消除？</a:t>
            </a:r>
            <a:endParaRPr lang="en-US" sz="1545" dirty="0"/>
          </a:p>
        </p:txBody>
      </p:sp>
      <p:sp>
        <p:nvSpPr>
          <p:cNvPr id="6" name="TextBox 12"/>
          <p:cNvSpPr/>
          <p:nvPr/>
        </p:nvSpPr>
        <p:spPr>
          <a:xfrm>
            <a:off x="476250" y="1000125"/>
            <a:ext cx="266700" cy="182873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r">
              <a:lnSpc>
                <a:spcPts val="1485"/>
              </a:lnSpc>
              <a:buNone/>
            </a:pPr>
            <a:r>
              <a:rPr lang="en-US" sz="1235" b="1" dirty="0">
                <a:solidFill>
                  <a:srgbClr val="299236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1</a:t>
            </a:r>
            <a:endParaRPr lang="en-US" sz="1235" dirty="0"/>
          </a:p>
        </p:txBody>
      </p:sp>
      <p:sp>
        <p:nvSpPr>
          <p:cNvPr id="7" name="TextBox 16"/>
          <p:cNvSpPr/>
          <p:nvPr/>
        </p:nvSpPr>
        <p:spPr>
          <a:xfrm>
            <a:off x="857250" y="1000125"/>
            <a:ext cx="7810500" cy="185737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505"/>
              </a:lnSpc>
              <a:buNone/>
            </a:pPr>
            <a:r>
              <a:rPr lang="en-US" sz="1005" b="1" dirty="0">
                <a:solidFill>
                  <a:srgbClr val="121C23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架构层：Softmax 的"人为确定性"（NeurIPS 2025）</a:t>
            </a:r>
            <a:endParaRPr lang="en-US" sz="1005" dirty="0"/>
          </a:p>
        </p:txBody>
      </p:sp>
      <p:sp>
        <p:nvSpPr>
          <p:cNvPr id="8" name="TextBox 18"/>
          <p:cNvSpPr/>
          <p:nvPr/>
        </p:nvSpPr>
        <p:spPr>
          <a:xfrm>
            <a:off x="857250" y="1214437"/>
            <a:ext cx="7810500" cy="300038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215"/>
              </a:lnSpc>
              <a:buNone/>
            </a:pPr>
            <a:r>
              <a:rPr lang="en-US" sz="810" dirty="0">
                <a:solidFill>
                  <a:srgbClr val="5A656D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Softmax 将模糊的、带不确定性的原始注意力分数压缩成单一概率分布——</a:t>
            </a:r>
            <a:r>
              <a:rPr lang="en-US" sz="810" b="1" dirty="0">
                <a:solidFill>
                  <a:srgbClr val="5A656D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丢弃了不确定性信息</a:t>
            </a:r>
            <a:r>
              <a:rPr lang="en-US" sz="810" dirty="0">
                <a:solidFill>
                  <a:srgbClr val="5A656D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。而这个被丢弃的信息正是模型"知道自己不知道"的基础。没有不确定性量化 → 模型无法区分"我知道"和"我猜"——</a:t>
            </a:r>
            <a:r>
              <a:rPr lang="en-US" sz="810" b="1" dirty="0">
                <a:solidFill>
                  <a:srgbClr val="5A656D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两者用完全相同的方式表达</a:t>
            </a:r>
            <a:r>
              <a:rPr lang="en-US" sz="810" dirty="0">
                <a:solidFill>
                  <a:srgbClr val="5A656D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。</a:t>
            </a:r>
            <a:endParaRPr lang="en-US" sz="810" dirty="0"/>
          </a:p>
        </p:txBody>
      </p:sp>
      <p:sp>
        <p:nvSpPr>
          <p:cNvPr id="9" name="TextBox 24"/>
          <p:cNvSpPr/>
          <p:nvPr/>
        </p:nvSpPr>
        <p:spPr>
          <a:xfrm>
            <a:off x="476250" y="1562100"/>
            <a:ext cx="266700" cy="182872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r">
              <a:lnSpc>
                <a:spcPts val="1485"/>
              </a:lnSpc>
              <a:buNone/>
            </a:pPr>
            <a:r>
              <a:rPr lang="en-US" sz="1235" b="1" dirty="0">
                <a:solidFill>
                  <a:srgbClr val="299236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2</a:t>
            </a:r>
            <a:endParaRPr lang="en-US" sz="1235" dirty="0"/>
          </a:p>
        </p:txBody>
      </p:sp>
      <p:sp>
        <p:nvSpPr>
          <p:cNvPr id="10" name="TextBox 28"/>
          <p:cNvSpPr/>
          <p:nvPr/>
        </p:nvSpPr>
        <p:spPr>
          <a:xfrm>
            <a:off x="857250" y="1562100"/>
            <a:ext cx="7810500" cy="185737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505"/>
              </a:lnSpc>
              <a:buNone/>
            </a:pPr>
            <a:r>
              <a:rPr lang="en-US" sz="1005" b="1" dirty="0">
                <a:solidFill>
                  <a:srgbClr val="121C23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训练目标：下一个 token 预测不奖励"承认不知道"</a:t>
            </a:r>
            <a:endParaRPr lang="en-US" sz="1005" dirty="0"/>
          </a:p>
        </p:txBody>
      </p:sp>
      <p:sp>
        <p:nvSpPr>
          <p:cNvPr id="11" name="TextBox 30"/>
          <p:cNvSpPr/>
          <p:nvPr/>
        </p:nvSpPr>
        <p:spPr>
          <a:xfrm>
            <a:off x="857250" y="1776412"/>
            <a:ext cx="7810500" cy="300038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215"/>
              </a:lnSpc>
              <a:buNone/>
            </a:pPr>
            <a:r>
              <a:rPr lang="en-US" sz="810" dirty="0">
                <a:solidFill>
                  <a:srgbClr val="5A656D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预训练目标是最大化 P(next_token|previous_tokens)——训练数据中几乎没有"我不确定"的示例。人类作者很少在文章中写"但这我其实不确定"。所以模型学会了：</a:t>
            </a:r>
            <a:r>
              <a:rPr lang="en-US" sz="810" b="1" dirty="0">
                <a:solidFill>
                  <a:srgbClr val="5A656D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当你不确定时，假装确定——因为训练数据里的人也都这么做。</a:t>
            </a:r>
            <a:endParaRPr lang="en-US" sz="810" dirty="0"/>
          </a:p>
        </p:txBody>
      </p:sp>
      <p:sp>
        <p:nvSpPr>
          <p:cNvPr id="12" name="TextBox 36"/>
          <p:cNvSpPr/>
          <p:nvPr/>
        </p:nvSpPr>
        <p:spPr>
          <a:xfrm>
            <a:off x="476250" y="2124075"/>
            <a:ext cx="266700" cy="182873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r">
              <a:lnSpc>
                <a:spcPts val="1485"/>
              </a:lnSpc>
              <a:buNone/>
            </a:pPr>
            <a:r>
              <a:rPr lang="en-US" sz="1235" b="1" dirty="0">
                <a:solidFill>
                  <a:srgbClr val="299236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3</a:t>
            </a:r>
            <a:endParaRPr lang="en-US" sz="1235" dirty="0"/>
          </a:p>
        </p:txBody>
      </p:sp>
      <p:sp>
        <p:nvSpPr>
          <p:cNvPr id="13" name="TextBox 40"/>
          <p:cNvSpPr/>
          <p:nvPr/>
        </p:nvSpPr>
        <p:spPr>
          <a:xfrm>
            <a:off x="857250" y="2124075"/>
            <a:ext cx="7810500" cy="185737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505"/>
              </a:lnSpc>
              <a:buNone/>
            </a:pPr>
            <a:r>
              <a:rPr lang="en-US" sz="1005" b="1" dirty="0">
                <a:solidFill>
                  <a:srgbClr val="121C23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泛化能力与事实准确性的根本矛盾</a:t>
            </a:r>
            <a:endParaRPr lang="en-US" sz="1005" dirty="0"/>
          </a:p>
        </p:txBody>
      </p:sp>
      <p:sp>
        <p:nvSpPr>
          <p:cNvPr id="14" name="TextBox 42"/>
          <p:cNvSpPr/>
          <p:nvPr/>
        </p:nvSpPr>
        <p:spPr>
          <a:xfrm>
            <a:off x="857250" y="2338388"/>
            <a:ext cx="7810500" cy="300037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215"/>
              </a:lnSpc>
              <a:buNone/>
            </a:pPr>
            <a:r>
              <a:rPr lang="en-US" sz="810" dirty="0">
                <a:solidFill>
                  <a:srgbClr val="5A656D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模型高维空间中做外推和类比——这是创造力和泛化能力的基础——</a:t>
            </a:r>
            <a:r>
              <a:rPr lang="en-US" sz="810" b="1" dirty="0">
                <a:solidFill>
                  <a:srgbClr val="5A656D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同时也是产生非事实输出的同一机制</a:t>
            </a:r>
            <a:r>
              <a:rPr lang="en-US" sz="810" dirty="0">
                <a:solidFill>
                  <a:srgbClr val="5A656D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。约束幻觉 = 约束泛化能力——如果让模型完全避免幻觉，处理训练数据未见过的任务时能力会显著下降。这是一个</a:t>
            </a:r>
            <a:r>
              <a:rPr lang="en-US" sz="810" b="1" dirty="0">
                <a:solidFill>
                  <a:srgbClr val="5A656D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结构性权衡</a:t>
            </a:r>
            <a:r>
              <a:rPr lang="en-US" sz="810" dirty="0">
                <a:solidFill>
                  <a:srgbClr val="5A656D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，而非能被"修好"的工程问题。</a:t>
            </a:r>
            <a:endParaRPr lang="en-US" sz="810" dirty="0"/>
          </a:p>
        </p:txBody>
      </p:sp>
      <p:sp>
        <p:nvSpPr>
          <p:cNvPr id="15" name="TextBox 48"/>
          <p:cNvSpPr/>
          <p:nvPr/>
        </p:nvSpPr>
        <p:spPr>
          <a:xfrm>
            <a:off x="476250" y="2686050"/>
            <a:ext cx="266700" cy="182873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r">
              <a:lnSpc>
                <a:spcPts val="1485"/>
              </a:lnSpc>
              <a:buNone/>
            </a:pPr>
            <a:r>
              <a:rPr lang="en-US" sz="1235" b="1" dirty="0">
                <a:solidFill>
                  <a:srgbClr val="299236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4</a:t>
            </a:r>
            <a:endParaRPr lang="en-US" sz="1235" dirty="0"/>
          </a:p>
        </p:txBody>
      </p:sp>
      <p:sp>
        <p:nvSpPr>
          <p:cNvPr id="16" name="TextBox 52"/>
          <p:cNvSpPr/>
          <p:nvPr/>
        </p:nvSpPr>
        <p:spPr>
          <a:xfrm>
            <a:off x="857250" y="2686050"/>
            <a:ext cx="7810500" cy="185737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505"/>
              </a:lnSpc>
              <a:buNone/>
            </a:pPr>
            <a:r>
              <a:rPr lang="en-US" sz="1005" b="1" dirty="0">
                <a:solidFill>
                  <a:srgbClr val="121C23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反直觉发现：增强推理 → 放大工具幻觉（ACL 2026）</a:t>
            </a:r>
            <a:endParaRPr lang="en-US" sz="1005" dirty="0"/>
          </a:p>
        </p:txBody>
      </p:sp>
      <p:sp>
        <p:nvSpPr>
          <p:cNvPr id="17" name="TextBox 54"/>
          <p:cNvSpPr/>
          <p:nvPr/>
        </p:nvSpPr>
        <p:spPr>
          <a:xfrm>
            <a:off x="857250" y="2900363"/>
            <a:ext cx="7810500" cy="300037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215"/>
              </a:lnSpc>
              <a:buNone/>
            </a:pPr>
            <a:r>
              <a:rPr lang="en-US" sz="810" dirty="0">
                <a:solidFill>
                  <a:srgbClr val="5A656D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通过 RL 增强推理能力的模型，</a:t>
            </a:r>
            <a:r>
              <a:rPr lang="en-US" sz="810" b="1" dirty="0">
                <a:solidFill>
                  <a:srgbClr val="5A656D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同时增加了工具调用中的幻觉率</a:t>
            </a:r>
            <a:r>
              <a:rPr lang="en-US" sz="810" dirty="0">
                <a:solidFill>
                  <a:srgbClr val="5A656D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。因果分析：不是过拟合——数学训练放大编程工具的幻觉；不是方法特定——SFT 和 CoT 都出现。</a:t>
            </a:r>
            <a:r>
              <a:rPr lang="en-US" sz="810" b="1" dirty="0">
                <a:solidFill>
                  <a:srgbClr val="5A656D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越会推理的模型，在工具调用上越可能产生幻觉</a:t>
            </a:r>
            <a:r>
              <a:rPr lang="en-US" sz="810" dirty="0">
                <a:solidFill>
                  <a:srgbClr val="5A656D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——一个可靠性-能力的本质性权衡。</a:t>
            </a:r>
            <a:endParaRPr lang="en-US" sz="810" dirty="0"/>
          </a:p>
        </p:txBody>
      </p:sp>
      <p:sp>
        <p:nvSpPr>
          <p:cNvPr id="18" name="Shape 59"/>
          <p:cNvSpPr/>
          <p:nvPr/>
        </p:nvSpPr>
        <p:spPr>
          <a:xfrm>
            <a:off x="476250" y="4414837"/>
            <a:ext cx="8191500" cy="347663"/>
          </a:xfrm>
          <a:prstGeom prst="roundRect">
            <a:avLst>
              <a:gd name="adj" fmla="val 8462"/>
            </a:avLst>
          </a:prstGeom>
          <a:solidFill>
            <a:srgbClr val="5A845A">
              <a:alpha val="12157"/>
            </a:srgbClr>
          </a:solidFill>
          <a:ln w="4903">
            <a:solidFill>
              <a:srgbClr val="5C875C">
                <a:alpha val="25098"/>
              </a:srgbClr>
            </a:solidFill>
            <a:prstDash val="solid"/>
          </a:ln>
        </p:spPr>
      </p:sp>
      <p:sp>
        <p:nvSpPr>
          <p:cNvPr id="19" name="TextBox 61"/>
          <p:cNvSpPr/>
          <p:nvPr/>
        </p:nvSpPr>
        <p:spPr>
          <a:xfrm>
            <a:off x="633412" y="4524375"/>
            <a:ext cx="7877175" cy="128587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040"/>
              </a:lnSpc>
              <a:buNone/>
            </a:pPr>
            <a:r>
              <a:rPr lang="en-US" sz="695" b="1" dirty="0">
                <a:solidFill>
                  <a:srgbClr val="121C23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为什么"杜绝幻觉"不现实？</a:t>
            </a:r>
            <a:r>
              <a:rPr lang="en-US" sz="695" dirty="0">
                <a:solidFill>
                  <a:srgbClr val="121C23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防止幻觉的唯一方式 = 模型只输出它确定的事 → 要求准确的不确定性量化（目前没有）→ 而且即使有，也会极大损害实用价值。能做的：</a:t>
            </a:r>
            <a:r>
              <a:rPr lang="en-US" sz="695" b="1" dirty="0">
                <a:solidFill>
                  <a:srgbClr val="121C23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缓解幻觉频率和影响</a:t>
            </a:r>
            <a:r>
              <a:rPr lang="en-US" sz="695" dirty="0">
                <a:solidFill>
                  <a:srgbClr val="121C23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，而非消除。</a:t>
            </a:r>
            <a:endParaRPr lang="en-US" sz="695" dirty="0"/>
          </a:p>
        </p:txBody>
      </p:sp>
      <p:pic>
        <p:nvPicPr>
          <p:cNvPr id="20" name="Picture 65" descr="__type_image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76250" y="4819650"/>
            <a:ext cx="8191500" cy="171450"/>
          </a:xfrm>
          <a:prstGeom prst="rect">
            <a:avLst/>
          </a:prstGeom>
        </p:spPr>
      </p:pic>
      <p:sp>
        <p:nvSpPr>
          <p:cNvPr id="21" name="TextBox 65"/>
          <p:cNvSpPr/>
          <p:nvPr/>
        </p:nvSpPr>
        <p:spPr>
          <a:xfrm>
            <a:off x="476250" y="4819650"/>
            <a:ext cx="8191500" cy="171450"/>
          </a:xfrm>
          <a:prstGeom prst="rect">
            <a:avLst/>
          </a:prstGeom>
          <a:noFill/>
        </p:spPr>
        <p:txBody>
          <a:bodyPr wrap="square" lIns="0" tIns="68645" rIns="0" bIns="0" rtlCol="0" anchor="t">
            <a:spAutoFit/>
          </a:bodyPr>
          <a:lstStyle/>
          <a:p>
            <a:pPr marL="0" indent="0" algn="l">
              <a:lnSpc>
                <a:spcPts val="810"/>
              </a:lnSpc>
              <a:buNone/>
            </a:pPr>
            <a:r>
              <a:rPr lang="en-US" sz="540" kern="0" spc="22" dirty="0">
                <a:solidFill>
                  <a:srgbClr val="5A656D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一句话记：幻觉 = 预测式智能的必然副产品。能让 AI 变"聪明"的架构，也让它变"不可靠"</a:t>
            </a:r>
            <a:endParaRPr lang="en-US" sz="54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6F9FC"/>
          </a:solidFill>
        </p:spPr>
      </p:sp>
      <p:sp>
        <p:nvSpPr>
          <p:cNvPr id="3" name="Shape 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6F9FC"/>
          </a:solidFill>
        </p:spPr>
      </p:sp>
      <p:pic>
        <p:nvPicPr>
          <p:cNvPr id="4" name="Picture 4" descr="__type_image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76250" y="381000"/>
            <a:ext cx="8191500" cy="390525"/>
          </a:xfrm>
          <a:prstGeom prst="rect">
            <a:avLst/>
          </a:prstGeom>
        </p:spPr>
      </p:pic>
      <p:sp>
        <p:nvSpPr>
          <p:cNvPr id="5" name="TextBox 4"/>
          <p:cNvSpPr/>
          <p:nvPr/>
        </p:nvSpPr>
        <p:spPr>
          <a:xfrm>
            <a:off x="476250" y="381000"/>
            <a:ext cx="8191500" cy="390525"/>
          </a:xfrm>
          <a:prstGeom prst="rect">
            <a:avLst/>
          </a:prstGeom>
          <a:noFill/>
        </p:spPr>
        <p:txBody>
          <a:bodyPr wrap="square" lIns="0" tIns="0" rIns="0" bIns="98065" rtlCol="0" anchor="t">
            <a:spAutoFit/>
          </a:bodyPr>
          <a:lstStyle/>
          <a:p>
            <a:pPr marL="0" indent="0" algn="l">
              <a:lnSpc>
                <a:spcPts val="2315"/>
              </a:lnSpc>
              <a:buNone/>
            </a:pPr>
            <a:r>
              <a:rPr lang="en-US" sz="1545" b="1" kern="0" spc="-23" dirty="0">
                <a:solidFill>
                  <a:srgbClr val="121C23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哪些场景下模型最容易"一本正经地胡说"？</a:t>
            </a:r>
            <a:endParaRPr lang="en-US" sz="1545" dirty="0"/>
          </a:p>
        </p:txBody>
      </p:sp>
      <p:sp>
        <p:nvSpPr>
          <p:cNvPr id="6" name="TextBox 12"/>
          <p:cNvSpPr/>
          <p:nvPr/>
        </p:nvSpPr>
        <p:spPr>
          <a:xfrm>
            <a:off x="476250" y="1000125"/>
            <a:ext cx="266700" cy="182873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r">
              <a:lnSpc>
                <a:spcPts val="1485"/>
              </a:lnSpc>
              <a:buNone/>
            </a:pPr>
            <a:r>
              <a:rPr lang="en-US" sz="1235" b="1" dirty="0">
                <a:solidFill>
                  <a:srgbClr val="299236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1</a:t>
            </a:r>
            <a:endParaRPr lang="en-US" sz="1235" dirty="0"/>
          </a:p>
        </p:txBody>
      </p:sp>
      <p:sp>
        <p:nvSpPr>
          <p:cNvPr id="7" name="TextBox 16"/>
          <p:cNvSpPr/>
          <p:nvPr/>
        </p:nvSpPr>
        <p:spPr>
          <a:xfrm>
            <a:off x="857250" y="1000125"/>
            <a:ext cx="7810500" cy="185737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505"/>
              </a:lnSpc>
              <a:buNone/>
            </a:pPr>
            <a:r>
              <a:rPr lang="en-US" sz="1005" b="1" dirty="0">
                <a:solidFill>
                  <a:srgbClr val="121C23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文献引用——最危险的重灾区</a:t>
            </a:r>
            <a:endParaRPr lang="en-US" sz="1005" dirty="0"/>
          </a:p>
        </p:txBody>
      </p:sp>
      <p:sp>
        <p:nvSpPr>
          <p:cNvPr id="8" name="TextBox 18"/>
          <p:cNvSpPr/>
          <p:nvPr/>
        </p:nvSpPr>
        <p:spPr>
          <a:xfrm>
            <a:off x="857250" y="1214437"/>
            <a:ext cx="7810500" cy="300038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215"/>
              </a:lnSpc>
              <a:buNone/>
            </a:pPr>
            <a:r>
              <a:rPr lang="en-US" sz="810" dirty="0">
                <a:solidFill>
                  <a:srgbClr val="5A656D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模型会：将两位真实研究者的姓氏组合 → 配一个逼真的名 → 放在真实期刊名下 → 生成一个学术上合理的标题。它学会了</a:t>
            </a:r>
            <a:r>
              <a:rPr lang="en-US" sz="810" b="1" dirty="0">
                <a:solidFill>
                  <a:srgbClr val="5A656D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引用格式</a:t>
            </a:r>
            <a:r>
              <a:rPr lang="en-US" sz="810" dirty="0">
                <a:solidFill>
                  <a:srgbClr val="5A656D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和</a:t>
            </a:r>
            <a:r>
              <a:rPr lang="en-US" sz="810" b="1" dirty="0">
                <a:solidFill>
                  <a:srgbClr val="5A656D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作者/期刊/标题的分布概率</a:t>
            </a:r>
            <a:r>
              <a:rPr lang="en-US" sz="810" dirty="0">
                <a:solidFill>
                  <a:srgbClr val="5A656D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——但没有学会</a:t>
            </a:r>
            <a:r>
              <a:rPr lang="en-US" sz="810" b="1" dirty="0">
                <a:solidFill>
                  <a:srgbClr val="5A656D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核实"这篇论文是否真的存在"</a:t>
            </a:r>
            <a:r>
              <a:rPr lang="en-US" sz="810" dirty="0">
                <a:solidFill>
                  <a:srgbClr val="5A656D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。当你让它生成参考文献，它在做概率游戏："我见过的引用模式里，接下来最像的引用长什么样"——不是在检索数据库。</a:t>
            </a:r>
            <a:endParaRPr lang="en-US" sz="810" dirty="0"/>
          </a:p>
        </p:txBody>
      </p:sp>
      <p:sp>
        <p:nvSpPr>
          <p:cNvPr id="9" name="TextBox 24"/>
          <p:cNvSpPr/>
          <p:nvPr/>
        </p:nvSpPr>
        <p:spPr>
          <a:xfrm>
            <a:off x="476250" y="1571625"/>
            <a:ext cx="266700" cy="182873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r">
              <a:lnSpc>
                <a:spcPts val="1485"/>
              </a:lnSpc>
              <a:buNone/>
            </a:pPr>
            <a:r>
              <a:rPr lang="en-US" sz="1235" b="1" dirty="0">
                <a:solidFill>
                  <a:srgbClr val="299236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2</a:t>
            </a:r>
            <a:endParaRPr lang="en-US" sz="1235" dirty="0"/>
          </a:p>
        </p:txBody>
      </p:sp>
      <p:sp>
        <p:nvSpPr>
          <p:cNvPr id="10" name="TextBox 28"/>
          <p:cNvSpPr/>
          <p:nvPr/>
        </p:nvSpPr>
        <p:spPr>
          <a:xfrm>
            <a:off x="857250" y="1571625"/>
            <a:ext cx="7810500" cy="185737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505"/>
              </a:lnSpc>
              <a:buNone/>
            </a:pPr>
            <a:r>
              <a:rPr lang="en-US" sz="1005" b="1" dirty="0">
                <a:solidFill>
                  <a:srgbClr val="121C23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精确数字和统计数据</a:t>
            </a:r>
            <a:endParaRPr lang="en-US" sz="1005" dirty="0"/>
          </a:p>
        </p:txBody>
      </p:sp>
      <p:sp>
        <p:nvSpPr>
          <p:cNvPr id="11" name="TextBox 30"/>
          <p:cNvSpPr/>
          <p:nvPr/>
        </p:nvSpPr>
        <p:spPr>
          <a:xfrm>
            <a:off x="857250" y="1785937"/>
            <a:ext cx="7810500" cy="300038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215"/>
              </a:lnSpc>
              <a:buNone/>
            </a:pPr>
            <a:r>
              <a:rPr lang="en-US" sz="810" dirty="0">
                <a:solidFill>
                  <a:srgbClr val="5A656D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"根据 XX 报告，市场规模为 YY 亿美元"——训练数据中数字太多，模型很难精确记住每个数字。但当被要求引用数据时，它会生成"看起来像真的"的数字。判断标准：</a:t>
            </a:r>
            <a:r>
              <a:rPr lang="en-US" sz="810" b="1" dirty="0">
                <a:solidFill>
                  <a:srgbClr val="5A656D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任何未独立核实来源的统计数据，应视为"未经证实"</a:t>
            </a:r>
            <a:r>
              <a:rPr lang="en-US" sz="810" dirty="0">
                <a:solidFill>
                  <a:srgbClr val="5A656D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——不论模型说得多肯定。</a:t>
            </a:r>
            <a:endParaRPr lang="en-US" sz="810" dirty="0"/>
          </a:p>
        </p:txBody>
      </p:sp>
      <p:sp>
        <p:nvSpPr>
          <p:cNvPr id="12" name="TextBox 36"/>
          <p:cNvSpPr/>
          <p:nvPr/>
        </p:nvSpPr>
        <p:spPr>
          <a:xfrm>
            <a:off x="476250" y="2143125"/>
            <a:ext cx="266700" cy="182873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r">
              <a:lnSpc>
                <a:spcPts val="1485"/>
              </a:lnSpc>
              <a:buNone/>
            </a:pPr>
            <a:r>
              <a:rPr lang="en-US" sz="1235" b="1" dirty="0">
                <a:solidFill>
                  <a:srgbClr val="299236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3</a:t>
            </a:r>
            <a:endParaRPr lang="en-US" sz="1235" dirty="0"/>
          </a:p>
        </p:txBody>
      </p:sp>
      <p:sp>
        <p:nvSpPr>
          <p:cNvPr id="13" name="TextBox 40"/>
          <p:cNvSpPr/>
          <p:nvPr/>
        </p:nvSpPr>
        <p:spPr>
          <a:xfrm>
            <a:off x="857250" y="2143125"/>
            <a:ext cx="6738491" cy="185737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505"/>
              </a:lnSpc>
              <a:buNone/>
            </a:pPr>
            <a:r>
              <a:rPr lang="en-US" sz="1005" b="1" dirty="0">
                <a:solidFill>
                  <a:srgbClr val="121C23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法律条文和规章制度</a:t>
            </a:r>
            <a:endParaRPr lang="en-US" sz="1005" dirty="0"/>
          </a:p>
        </p:txBody>
      </p:sp>
      <p:sp>
        <p:nvSpPr>
          <p:cNvPr id="14" name="TextBox 42"/>
          <p:cNvSpPr/>
          <p:nvPr/>
        </p:nvSpPr>
        <p:spPr>
          <a:xfrm>
            <a:off x="857250" y="2357438"/>
            <a:ext cx="6738491" cy="150019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215"/>
              </a:lnSpc>
              <a:buNone/>
            </a:pPr>
            <a:r>
              <a:rPr lang="en-US" sz="810" dirty="0">
                <a:solidFill>
                  <a:srgbClr val="5A656D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"根据《XX 法》第 N 条……"——法条编号、条文内容、甚至法规名称都可能被编造。naive 用户最容易中招——"模型说得好具体、好权威，肯定是真的"。</a:t>
            </a:r>
            <a:endParaRPr lang="en-US" sz="810" dirty="0"/>
          </a:p>
        </p:txBody>
      </p:sp>
      <p:sp>
        <p:nvSpPr>
          <p:cNvPr id="15" name="TextBox 48"/>
          <p:cNvSpPr/>
          <p:nvPr/>
        </p:nvSpPr>
        <p:spPr>
          <a:xfrm>
            <a:off x="476250" y="2564606"/>
            <a:ext cx="266700" cy="182872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r">
              <a:lnSpc>
                <a:spcPts val="1485"/>
              </a:lnSpc>
              <a:buNone/>
            </a:pPr>
            <a:r>
              <a:rPr lang="en-US" sz="1235" b="1" dirty="0">
                <a:solidFill>
                  <a:srgbClr val="299236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4</a:t>
            </a:r>
            <a:endParaRPr lang="en-US" sz="1235" dirty="0"/>
          </a:p>
        </p:txBody>
      </p:sp>
      <p:sp>
        <p:nvSpPr>
          <p:cNvPr id="16" name="TextBox 52"/>
          <p:cNvSpPr/>
          <p:nvPr/>
        </p:nvSpPr>
        <p:spPr>
          <a:xfrm>
            <a:off x="857250" y="2564606"/>
            <a:ext cx="7679382" cy="185737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505"/>
              </a:lnSpc>
              <a:buNone/>
            </a:pPr>
            <a:r>
              <a:rPr lang="en-US" sz="1005" b="1" dirty="0">
                <a:solidFill>
                  <a:srgbClr val="121C23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长文本中后段——"大海捞针"效应</a:t>
            </a:r>
            <a:endParaRPr lang="en-US" sz="1005" dirty="0"/>
          </a:p>
        </p:txBody>
      </p:sp>
      <p:sp>
        <p:nvSpPr>
          <p:cNvPr id="17" name="TextBox 54"/>
          <p:cNvSpPr/>
          <p:nvPr/>
        </p:nvSpPr>
        <p:spPr>
          <a:xfrm>
            <a:off x="857250" y="2778919"/>
            <a:ext cx="7679382" cy="150019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215"/>
              </a:lnSpc>
              <a:buNone/>
            </a:pPr>
            <a:r>
              <a:rPr lang="en-US" sz="810" dirty="0">
                <a:solidFill>
                  <a:srgbClr val="5A656D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模型对长上下文中段信息的关注度显著下降，更易遗漏、混淆或编造中间出现的信息。可能把前半段信息和后半段信息错误拼接——产生"看起来合理但完全错误"的合成事实。</a:t>
            </a:r>
            <a:endParaRPr lang="en-US" sz="810" dirty="0"/>
          </a:p>
        </p:txBody>
      </p:sp>
      <p:sp>
        <p:nvSpPr>
          <p:cNvPr id="18" name="Shape 59"/>
          <p:cNvSpPr/>
          <p:nvPr/>
        </p:nvSpPr>
        <p:spPr>
          <a:xfrm>
            <a:off x="476250" y="4286250"/>
            <a:ext cx="8191500" cy="476250"/>
          </a:xfrm>
          <a:prstGeom prst="roundRect">
            <a:avLst>
              <a:gd name="adj" fmla="val 6177"/>
            </a:avLst>
          </a:prstGeom>
          <a:solidFill>
            <a:srgbClr val="5A845A">
              <a:alpha val="12157"/>
            </a:srgbClr>
          </a:solidFill>
          <a:ln w="4903">
            <a:solidFill>
              <a:srgbClr val="5C875C">
                <a:alpha val="25098"/>
              </a:srgbClr>
            </a:solidFill>
            <a:prstDash val="solid"/>
          </a:ln>
        </p:spPr>
      </p:sp>
      <p:sp>
        <p:nvSpPr>
          <p:cNvPr id="19" name="TextBox 61"/>
          <p:cNvSpPr/>
          <p:nvPr/>
        </p:nvSpPr>
        <p:spPr>
          <a:xfrm>
            <a:off x="633412" y="4395787"/>
            <a:ext cx="7877175" cy="25717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040"/>
              </a:lnSpc>
              <a:buNone/>
            </a:pPr>
            <a:r>
              <a:rPr lang="en-US" sz="695" b="1" dirty="0">
                <a:solidFill>
                  <a:srgbClr val="121C23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为什么"一本正经"？</a:t>
            </a:r>
            <a:r>
              <a:rPr lang="en-US" sz="695" dirty="0">
                <a:solidFill>
                  <a:srgbClr val="121C23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因为模型没有"确认信号"。人类不确定时会降调——"大概""可能"。模型不确定时——表达仍然是流利、确定、权威的。</a:t>
            </a:r>
            <a:r>
              <a:rPr lang="en-US" sz="695" b="1" dirty="0">
                <a:solidFill>
                  <a:srgbClr val="121C23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模型的表达方式和它的确定性是解耦的——这是理解幻觉最关键的一点。</a:t>
            </a:r>
            <a:endParaRPr lang="en-US" sz="695" dirty="0"/>
          </a:p>
        </p:txBody>
      </p:sp>
      <p:pic>
        <p:nvPicPr>
          <p:cNvPr id="20" name="Picture 65" descr="__type_image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76250" y="4819650"/>
            <a:ext cx="8191500" cy="171450"/>
          </a:xfrm>
          <a:prstGeom prst="rect">
            <a:avLst/>
          </a:prstGeom>
        </p:spPr>
      </p:pic>
      <p:sp>
        <p:nvSpPr>
          <p:cNvPr id="21" name="TextBox 65"/>
          <p:cNvSpPr/>
          <p:nvPr/>
        </p:nvSpPr>
        <p:spPr>
          <a:xfrm>
            <a:off x="476250" y="4819650"/>
            <a:ext cx="8191500" cy="171450"/>
          </a:xfrm>
          <a:prstGeom prst="rect">
            <a:avLst/>
          </a:prstGeom>
          <a:noFill/>
        </p:spPr>
        <p:txBody>
          <a:bodyPr wrap="square" lIns="0" tIns="68645" rIns="0" bIns="0" rtlCol="0" anchor="t">
            <a:spAutoFit/>
          </a:bodyPr>
          <a:lstStyle/>
          <a:p>
            <a:pPr marL="0" indent="0" algn="l">
              <a:lnSpc>
                <a:spcPts val="810"/>
              </a:lnSpc>
              <a:buNone/>
            </a:pPr>
            <a:r>
              <a:rPr lang="en-US" sz="540" kern="0" spc="22" dirty="0">
                <a:solidFill>
                  <a:srgbClr val="5A656D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关键教训："这个作者名字很耳熟、这篇期刊确实存在"——恰恰是最大的陷阱</a:t>
            </a:r>
            <a:endParaRPr lang="en-US" sz="54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6F9FC"/>
          </a:solidFill>
        </p:spPr>
      </p:sp>
      <p:sp>
        <p:nvSpPr>
          <p:cNvPr id="3" name="Shape 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6F9FC"/>
          </a:solidFill>
        </p:spPr>
      </p:sp>
      <p:pic>
        <p:nvPicPr>
          <p:cNvPr id="4" name="Picture 4" descr="__type_image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76250" y="381000"/>
            <a:ext cx="8191500" cy="390525"/>
          </a:xfrm>
          <a:prstGeom prst="rect">
            <a:avLst/>
          </a:prstGeom>
        </p:spPr>
      </p:pic>
      <p:sp>
        <p:nvSpPr>
          <p:cNvPr id="5" name="TextBox 4"/>
          <p:cNvSpPr/>
          <p:nvPr/>
        </p:nvSpPr>
        <p:spPr>
          <a:xfrm>
            <a:off x="476250" y="381000"/>
            <a:ext cx="8191500" cy="390525"/>
          </a:xfrm>
          <a:prstGeom prst="rect">
            <a:avLst/>
          </a:prstGeom>
          <a:noFill/>
        </p:spPr>
        <p:txBody>
          <a:bodyPr wrap="square" lIns="0" tIns="0" rIns="0" bIns="98065" rtlCol="0" anchor="t">
            <a:spAutoFit/>
          </a:bodyPr>
          <a:lstStyle/>
          <a:p>
            <a:pPr marL="0" indent="0" algn="l">
              <a:lnSpc>
                <a:spcPts val="2315"/>
              </a:lnSpc>
              <a:buNone/>
            </a:pPr>
            <a:r>
              <a:rPr lang="en-US" sz="1545" b="1" kern="0" spc="-23" dirty="0">
                <a:solidFill>
                  <a:srgbClr val="121C23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实测案例：诱发并核验文献型幻觉</a:t>
            </a:r>
            <a:endParaRPr lang="en-US" sz="1545" dirty="0"/>
          </a:p>
        </p:txBody>
      </p:sp>
      <p:sp>
        <p:nvSpPr>
          <p:cNvPr id="6" name="Shape 8"/>
          <p:cNvSpPr/>
          <p:nvPr/>
        </p:nvSpPr>
        <p:spPr>
          <a:xfrm>
            <a:off x="476250" y="1000125"/>
            <a:ext cx="8191500" cy="421221"/>
          </a:xfrm>
          <a:prstGeom prst="roundRect">
            <a:avLst>
              <a:gd name="adj" fmla="val 6984"/>
            </a:avLst>
          </a:prstGeom>
          <a:solidFill>
            <a:srgbClr val="FFFFFF"/>
          </a:solidFill>
        </p:spPr>
      </p:sp>
      <p:pic>
        <p:nvPicPr>
          <p:cNvPr id="7" name="Picture 8" descr="__type_image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76250" y="1000125"/>
            <a:ext cx="8191500" cy="421221"/>
          </a:xfrm>
          <a:prstGeom prst="rect">
            <a:avLst/>
          </a:prstGeom>
        </p:spPr>
      </p:pic>
      <p:sp>
        <p:nvSpPr>
          <p:cNvPr id="8" name="TextBox 10"/>
          <p:cNvSpPr/>
          <p:nvPr/>
        </p:nvSpPr>
        <p:spPr>
          <a:xfrm>
            <a:off x="609600" y="1071563"/>
            <a:ext cx="7939088" cy="100012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810"/>
              </a:lnSpc>
              <a:buNone/>
            </a:pPr>
            <a:r>
              <a:rPr lang="en-US" sz="540" kern="0" spc="43" dirty="0">
                <a:solidFill>
                  <a:srgbClr val="299236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实验 PROMPT</a:t>
            </a:r>
            <a:endParaRPr lang="en-US" sz="540" dirty="0"/>
          </a:p>
        </p:txBody>
      </p:sp>
      <p:sp>
        <p:nvSpPr>
          <p:cNvPr id="9" name="TextBox 12"/>
          <p:cNvSpPr/>
          <p:nvPr/>
        </p:nvSpPr>
        <p:spPr>
          <a:xfrm>
            <a:off x="609600" y="1209675"/>
            <a:ext cx="7939088" cy="140233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135"/>
              </a:lnSpc>
              <a:buNone/>
            </a:pPr>
            <a:r>
              <a:rPr lang="en-US" sz="735" dirty="0">
                <a:solidFill>
                  <a:srgbClr val="121C23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"请为我的论文推荐 5 篇关于'平台经济中的算法定价'的近期实证研究论文。对每篇，提供：作者全名、发表年份、期刊名称、论文标题、一句话研究发现摘要。"</a:t>
            </a:r>
            <a:endParaRPr lang="en-US" sz="735" dirty="0"/>
          </a:p>
        </p:txBody>
      </p:sp>
      <p:graphicFrame>
        <p:nvGraphicFramePr>
          <p:cNvPr id="51" name="Table 15"/>
          <p:cNvGraphicFramePr>
            <a:graphicFrameLocks noGrp="1"/>
          </p:cNvGraphicFramePr>
          <p:nvPr/>
        </p:nvGraphicFramePr>
        <p:xfrm>
          <a:off x="476250" y="1488021"/>
          <a:ext cx="8191501" cy="914400"/>
        </p:xfrm>
        <a:graphic>
          <a:graphicData uri="http://schemas.openxmlformats.org/drawingml/2006/table">
            <a:tbl>
              <a:tblPr/>
              <a:tblGrid>
                <a:gridCol w="270362"/>
                <a:gridCol w="3452314"/>
                <a:gridCol w="4468825"/>
              </a:tblGrid>
              <a:tr h="0"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925"/>
                        </a:lnSpc>
                        <a:buNone/>
                      </a:pPr>
                      <a:r>
                        <a:rPr lang="en-US" sz="620" b="1" kern="0" spc="37" dirty="0">
                          <a:solidFill>
                            <a:srgbClr val="299236"/>
                          </a:solidFill>
                          <a:latin typeface="Consolas" panose="020B0609020204030204" pitchFamily="34" charset="0"/>
                          <a:ea typeface="Consolas" panose="020B0609020204030204" pitchFamily="34" charset="-122"/>
                          <a:cs typeface="Consolas" panose="020B0609020204030204" pitchFamily="34" charset="-120"/>
                        </a:rPr>
                        <a:t>#</a:t>
                      </a:r>
                      <a:endParaRPr lang="en-US" sz="620" dirty="0">
                        <a:latin typeface="Consolas" panose="020B0609020204030204" pitchFamily="34" charset="0"/>
                        <a:ea typeface="Consolas" panose="020B0609020204030204" pitchFamily="34" charset="0"/>
                        <a:cs typeface="Consolas" panose="020B0609020204030204" pitchFamily="34" charset="0"/>
                      </a:endParaRPr>
                    </a:p>
                  </a:txBody>
                  <a:tcPr marL="122581" marR="122581" marT="83355" marB="8335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806" cap="flat" cmpd="sng" algn="ctr">
                      <a:solidFill>
                        <a:srgbClr val="2992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A845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1275"/>
                        </a:lnSpc>
                        <a:buNone/>
                      </a:pPr>
                      <a:r>
                        <a:rPr lang="en-US" sz="850" b="1" dirty="0">
                          <a:solidFill>
                            <a:srgbClr val="121C23"/>
                          </a:solidFill>
                          <a:latin typeface="Segoe UI" panose="020B0502040204020203" pitchFamily="34" charset="0"/>
                          <a:ea typeface="Segoe UI" panose="020B0502040204020203" pitchFamily="34" charset="-122"/>
                          <a:cs typeface="Segoe UI" panose="020B0502040204020203" pitchFamily="34" charset="-120"/>
                        </a:rPr>
                        <a:t>模型声称的引用</a:t>
                      </a:r>
                      <a:endParaRPr lang="en-US" sz="850" dirty="0">
                        <a:latin typeface="Segoe UI" panose="020B0502040204020203" pitchFamily="34" charset="0"/>
                        <a:ea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22581" marR="122581" marT="83355" marB="8335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806" cap="flat" cmpd="sng" algn="ctr">
                      <a:solidFill>
                        <a:srgbClr val="2992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A845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1275"/>
                        </a:lnSpc>
                        <a:buNone/>
                      </a:pPr>
                      <a:r>
                        <a:rPr lang="en-US" sz="850" b="1" dirty="0">
                          <a:solidFill>
                            <a:srgbClr val="121C23"/>
                          </a:solidFill>
                          <a:latin typeface="Segoe UI" panose="020B0502040204020203" pitchFamily="34" charset="0"/>
                          <a:ea typeface="Segoe UI" panose="020B0502040204020203" pitchFamily="34" charset="-122"/>
                          <a:cs typeface="Segoe UI" panose="020B0502040204020203" pitchFamily="34" charset="-120"/>
                        </a:rPr>
                        <a:t>核验结果</a:t>
                      </a:r>
                      <a:endParaRPr lang="en-US" sz="850" dirty="0">
                        <a:latin typeface="Segoe UI" panose="020B0502040204020203" pitchFamily="34" charset="0"/>
                        <a:ea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22581" marR="122581" marT="83355" marB="8335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806" cap="flat" cmpd="sng" algn="ctr">
                      <a:solidFill>
                        <a:srgbClr val="2992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A845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985"/>
                        </a:lnSpc>
                        <a:buNone/>
                      </a:pPr>
                      <a:r>
                        <a:rPr lang="en-US" sz="655" b="1" dirty="0">
                          <a:solidFill>
                            <a:srgbClr val="121C23"/>
                          </a:solidFill>
                          <a:latin typeface="Segoe UI" panose="020B0502040204020203" pitchFamily="34" charset="0"/>
                          <a:ea typeface="Segoe UI" panose="020B0502040204020203" pitchFamily="34" charset="-122"/>
                          <a:cs typeface="Segoe UI" panose="020B0502040204020203" pitchFamily="34" charset="-120"/>
                        </a:rPr>
                        <a:t>1</a:t>
                      </a:r>
                      <a:endParaRPr lang="en-US" sz="655" dirty="0">
                        <a:latin typeface="Segoe UI" panose="020B0502040204020203" pitchFamily="34" charset="0"/>
                        <a:ea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22581" marR="122581" marT="73549" marB="73549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4903" cap="flat" cmpd="sng" algn="ctr">
                      <a:solidFill>
                        <a:srgbClr val="D9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985"/>
                        </a:lnSpc>
                        <a:buNone/>
                      </a:pPr>
                      <a:r>
                        <a:rPr lang="en-US" sz="655" dirty="0">
                          <a:solidFill>
                            <a:srgbClr val="121C23"/>
                          </a:solidFill>
                          <a:latin typeface="Segoe UI" panose="020B0502040204020203" pitchFamily="34" charset="0"/>
                          <a:ea typeface="Segoe UI" panose="020B0502040204020203" pitchFamily="34" charset="-122"/>
                          <a:cs typeface="Segoe UI" panose="020B0502040204020203" pitchFamily="34" charset="-120"/>
                        </a:rPr>
                        <a:t>Chen, L. &amp; Zhang, H. (2023). "Algorithmic Pricing in Two-Sided Markets." </a:t>
                      </a:r>
                      <a:r>
                        <a:rPr lang="en-US" sz="655" i="1" dirty="0">
                          <a:solidFill>
                            <a:srgbClr val="121C23"/>
                          </a:solidFill>
                          <a:latin typeface="Segoe UI" panose="020B0502040204020203" pitchFamily="34" charset="0"/>
                          <a:ea typeface="Segoe UI" panose="020B0502040204020203" pitchFamily="34" charset="-122"/>
                          <a:cs typeface="Segoe UI" panose="020B0502040204020203" pitchFamily="34" charset="-120"/>
                        </a:rPr>
                        <a:t>Management Science</a:t>
                      </a:r>
                      <a:r>
                        <a:rPr lang="en-US" sz="655" dirty="0">
                          <a:solidFill>
                            <a:srgbClr val="121C23"/>
                          </a:solidFill>
                          <a:latin typeface="Segoe UI" panose="020B0502040204020203" pitchFamily="34" charset="0"/>
                          <a:ea typeface="Segoe UI" panose="020B0502040204020203" pitchFamily="34" charset="-122"/>
                          <a:cs typeface="Segoe UI" panose="020B0502040204020203" pitchFamily="34" charset="-120"/>
                        </a:rPr>
                        <a:t>.</a:t>
                      </a:r>
                      <a:endParaRPr lang="en-US" sz="655" dirty="0">
                        <a:latin typeface="Segoe UI" panose="020B0502040204020203" pitchFamily="34" charset="0"/>
                        <a:ea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22581" marR="122581" marT="73549" marB="73549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4903" cap="flat" cmpd="sng" algn="ctr">
                      <a:solidFill>
                        <a:srgbClr val="D9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985"/>
                        </a:lnSpc>
                        <a:buNone/>
                      </a:pPr>
                      <a:r>
                        <a:rPr lang="en-US" sz="655" dirty="0">
                          <a:solidFill>
                            <a:srgbClr val="5A656D"/>
                          </a:solidFill>
                          <a:latin typeface="Segoe UI" panose="020B0502040204020203" pitchFamily="34" charset="0"/>
                          <a:ea typeface="Segoe UI" panose="020B0502040204020203" pitchFamily="34" charset="-122"/>
                          <a:cs typeface="Segoe UI" panose="020B0502040204020203" pitchFamily="34" charset="-120"/>
                        </a:rPr>
                        <a:t>Google Scholar 检索：</a:t>
                      </a:r>
                      <a:r>
                        <a:rPr lang="en-US" sz="655" b="1" dirty="0">
                          <a:solidFill>
                            <a:srgbClr val="5A656D"/>
                          </a:solidFill>
                          <a:latin typeface="Segoe UI" panose="020B0502040204020203" pitchFamily="34" charset="0"/>
                          <a:ea typeface="Segoe UI" panose="020B0502040204020203" pitchFamily="34" charset="-122"/>
                          <a:cs typeface="Segoe UI" panose="020B0502040204020203" pitchFamily="34" charset="-120"/>
                        </a:rPr>
                        <a:t>不存在</a:t>
                      </a:r>
                      <a:r>
                        <a:rPr lang="en-US" sz="655" dirty="0">
                          <a:solidFill>
                            <a:srgbClr val="5A656D"/>
                          </a:solidFill>
                          <a:latin typeface="Segoe UI" panose="020B0502040204020203" pitchFamily="34" charset="0"/>
                          <a:ea typeface="Segoe UI" panose="020B0502040204020203" pitchFamily="34" charset="-122"/>
                          <a:cs typeface="Segoe UI" panose="020B0502040204020203" pitchFamily="34" charset="-120"/>
                        </a:rPr>
                        <a:t>。期刊有该主题论文，但作者/标题均不匹配——典型的"拼接幻觉"。</a:t>
                      </a:r>
                      <a:endParaRPr lang="en-US" sz="655" dirty="0">
                        <a:latin typeface="Segoe UI" panose="020B0502040204020203" pitchFamily="34" charset="0"/>
                        <a:ea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22581" marR="122581" marT="73549" marB="73549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4903" cap="flat" cmpd="sng" algn="ctr">
                      <a:solidFill>
                        <a:srgbClr val="D9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985"/>
                        </a:lnSpc>
                        <a:buNone/>
                      </a:pPr>
                      <a:r>
                        <a:rPr lang="en-US" sz="655" b="1" dirty="0">
                          <a:solidFill>
                            <a:srgbClr val="121C23"/>
                          </a:solidFill>
                          <a:latin typeface="Segoe UI" panose="020B0502040204020203" pitchFamily="34" charset="0"/>
                          <a:ea typeface="Segoe UI" panose="020B0502040204020203" pitchFamily="34" charset="-122"/>
                          <a:cs typeface="Segoe UI" panose="020B0502040204020203" pitchFamily="34" charset="-120"/>
                        </a:rPr>
                        <a:t>2</a:t>
                      </a:r>
                      <a:endParaRPr lang="en-US" sz="655" dirty="0">
                        <a:latin typeface="Segoe UI" panose="020B0502040204020203" pitchFamily="34" charset="0"/>
                        <a:ea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22581" marR="122581" marT="73549" marB="73549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4903" cap="flat" cmpd="sng" algn="ctr">
                      <a:solidFill>
                        <a:srgbClr val="D9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985"/>
                        </a:lnSpc>
                        <a:buNone/>
                      </a:pPr>
                      <a:r>
                        <a:rPr lang="en-US" sz="655" dirty="0">
                          <a:solidFill>
                            <a:srgbClr val="121C23"/>
                          </a:solidFill>
                          <a:latin typeface="Segoe UI" panose="020B0502040204020203" pitchFamily="34" charset="0"/>
                          <a:ea typeface="Segoe UI" panose="020B0502040204020203" pitchFamily="34" charset="-122"/>
                          <a:cs typeface="Segoe UI" panose="020B0502040204020203" pitchFamily="34" charset="-120"/>
                        </a:rPr>
                        <a:t>Parker, G. &amp; Van Alstyne, M. (2022). "Platform Competition." </a:t>
                      </a:r>
                      <a:r>
                        <a:rPr lang="en-US" sz="655" i="1" dirty="0">
                          <a:solidFill>
                            <a:srgbClr val="121C23"/>
                          </a:solidFill>
                          <a:latin typeface="Segoe UI" panose="020B0502040204020203" pitchFamily="34" charset="0"/>
                          <a:ea typeface="Segoe UI" panose="020B0502040204020203" pitchFamily="34" charset="-122"/>
                          <a:cs typeface="Segoe UI" panose="020B0502040204020203" pitchFamily="34" charset="-120"/>
                        </a:rPr>
                        <a:t>MIS Quarterly</a:t>
                      </a:r>
                      <a:r>
                        <a:rPr lang="en-US" sz="655" dirty="0">
                          <a:solidFill>
                            <a:srgbClr val="121C23"/>
                          </a:solidFill>
                          <a:latin typeface="Segoe UI" panose="020B0502040204020203" pitchFamily="34" charset="0"/>
                          <a:ea typeface="Segoe UI" panose="020B0502040204020203" pitchFamily="34" charset="-122"/>
                          <a:cs typeface="Segoe UI" panose="020B0502040204020203" pitchFamily="34" charset="-120"/>
                        </a:rPr>
                        <a:t>.</a:t>
                      </a:r>
                      <a:endParaRPr lang="en-US" sz="655" dirty="0">
                        <a:latin typeface="Segoe UI" panose="020B0502040204020203" pitchFamily="34" charset="0"/>
                        <a:ea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22581" marR="122581" marT="73549" marB="73549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4903" cap="flat" cmpd="sng" algn="ctr">
                      <a:solidFill>
                        <a:srgbClr val="D9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985"/>
                        </a:lnSpc>
                        <a:buNone/>
                      </a:pPr>
                      <a:r>
                        <a:rPr lang="en-US" sz="655" b="1" dirty="0">
                          <a:solidFill>
                            <a:srgbClr val="5A656D"/>
                          </a:solidFill>
                          <a:latin typeface="Segoe UI" panose="020B0502040204020203" pitchFamily="34" charset="0"/>
                          <a:ea typeface="Segoe UI" panose="020B0502040204020203" pitchFamily="34" charset="-122"/>
                          <a:cs typeface="Segoe UI" panose="020B0502040204020203" pitchFamily="34" charset="-120"/>
                        </a:rPr>
                        <a:t>部分正确</a:t>
                      </a:r>
                      <a:r>
                        <a:rPr lang="en-US" sz="655" dirty="0">
                          <a:solidFill>
                            <a:srgbClr val="5A656D"/>
                          </a:solidFill>
                          <a:latin typeface="Segoe UI" panose="020B0502040204020203" pitchFamily="34" charset="0"/>
                          <a:ea typeface="Segoe UI" panose="020B0502040204020203" pitchFamily="34" charset="-122"/>
                          <a:cs typeface="Segoe UI" panose="020B0502040204020203" pitchFamily="34" charset="-120"/>
                        </a:rPr>
                        <a:t>。两位作者确实是该领域真实研究者——但标题和年份是编造的。模型记住了"名字与领域相关"但记不住具体论文。</a:t>
                      </a:r>
                      <a:endParaRPr lang="en-US" sz="655" dirty="0">
                        <a:latin typeface="Segoe UI" panose="020B0502040204020203" pitchFamily="34" charset="0"/>
                        <a:ea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22581" marR="122581" marT="73549" marB="73549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4903" cap="flat" cmpd="sng" algn="ctr">
                      <a:solidFill>
                        <a:srgbClr val="D9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985"/>
                        </a:lnSpc>
                        <a:buNone/>
                      </a:pPr>
                      <a:r>
                        <a:rPr lang="en-US" sz="655" b="1" dirty="0">
                          <a:solidFill>
                            <a:srgbClr val="121C23"/>
                          </a:solidFill>
                          <a:latin typeface="Segoe UI" panose="020B0502040204020203" pitchFamily="34" charset="0"/>
                          <a:ea typeface="Segoe UI" panose="020B0502040204020203" pitchFamily="34" charset="-122"/>
                          <a:cs typeface="Segoe UI" panose="020B0502040204020203" pitchFamily="34" charset="-120"/>
                        </a:rPr>
                        <a:t>3</a:t>
                      </a:r>
                      <a:endParaRPr lang="en-US" sz="655" dirty="0">
                        <a:latin typeface="Segoe UI" panose="020B0502040204020203" pitchFamily="34" charset="0"/>
                        <a:ea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22581" marR="122581" marT="73549" marB="73549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4903" cap="flat" cmpd="sng" algn="ctr">
                      <a:solidFill>
                        <a:srgbClr val="D9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985"/>
                        </a:lnSpc>
                        <a:buNone/>
                      </a:pPr>
                      <a:r>
                        <a:rPr lang="en-US" sz="655" dirty="0">
                          <a:solidFill>
                            <a:srgbClr val="121C23"/>
                          </a:solidFill>
                          <a:latin typeface="Segoe UI" panose="020B0502040204020203" pitchFamily="34" charset="0"/>
                          <a:ea typeface="Segoe UI" panose="020B0502040204020203" pitchFamily="34" charset="-122"/>
                          <a:cs typeface="Segoe UI" panose="020B0502040204020203" pitchFamily="34" charset="-120"/>
                        </a:rPr>
                        <a:t>Wang, Y. et al. (2024). "AI-Powered Pricing and Consumer Welfare." </a:t>
                      </a:r>
                      <a:r>
                        <a:rPr lang="en-US" sz="655" i="1" dirty="0">
                          <a:solidFill>
                            <a:srgbClr val="121C23"/>
                          </a:solidFill>
                          <a:latin typeface="Segoe UI" panose="020B0502040204020203" pitchFamily="34" charset="0"/>
                          <a:ea typeface="Segoe UI" panose="020B0502040204020203" pitchFamily="34" charset="-122"/>
                          <a:cs typeface="Segoe UI" panose="020B0502040204020203" pitchFamily="34" charset="-120"/>
                        </a:rPr>
                        <a:t>AER</a:t>
                      </a:r>
                      <a:r>
                        <a:rPr lang="en-US" sz="655" dirty="0">
                          <a:solidFill>
                            <a:srgbClr val="121C23"/>
                          </a:solidFill>
                          <a:latin typeface="Segoe UI" panose="020B0502040204020203" pitchFamily="34" charset="0"/>
                          <a:ea typeface="Segoe UI" panose="020B0502040204020203" pitchFamily="34" charset="-122"/>
                          <a:cs typeface="Segoe UI" panose="020B0502040204020203" pitchFamily="34" charset="-120"/>
                        </a:rPr>
                        <a:t>.</a:t>
                      </a:r>
                      <a:endParaRPr lang="en-US" sz="655" dirty="0">
                        <a:latin typeface="Segoe UI" panose="020B0502040204020203" pitchFamily="34" charset="0"/>
                        <a:ea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22581" marR="122581" marT="73549" marB="73549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4903" cap="flat" cmpd="sng" algn="ctr">
                      <a:solidFill>
                        <a:srgbClr val="D9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985"/>
                        </a:lnSpc>
                        <a:buNone/>
                      </a:pPr>
                      <a:r>
                        <a:rPr lang="en-US" sz="655" dirty="0">
                          <a:solidFill>
                            <a:srgbClr val="5A656D"/>
                          </a:solidFill>
                          <a:latin typeface="Segoe UI" panose="020B0502040204020203" pitchFamily="34" charset="0"/>
                          <a:ea typeface="Segoe UI" panose="020B0502040204020203" pitchFamily="34" charset="-122"/>
                          <a:cs typeface="Segoe UI" panose="020B0502040204020203" pitchFamily="34" charset="-120"/>
                        </a:rPr>
                        <a:t>Google Scholar + AER 官网检索：</a:t>
                      </a:r>
                      <a:r>
                        <a:rPr lang="en-US" sz="655" b="1" dirty="0">
                          <a:solidFill>
                            <a:srgbClr val="5A656D"/>
                          </a:solidFill>
                          <a:latin typeface="Segoe UI" panose="020B0502040204020203" pitchFamily="34" charset="0"/>
                          <a:ea typeface="Segoe UI" panose="020B0502040204020203" pitchFamily="34" charset="-122"/>
                          <a:cs typeface="Segoe UI" panose="020B0502040204020203" pitchFamily="34" charset="-120"/>
                        </a:rPr>
                        <a:t>不存在</a:t>
                      </a:r>
                      <a:r>
                        <a:rPr lang="en-US" sz="655" dirty="0">
                          <a:solidFill>
                            <a:srgbClr val="5A656D"/>
                          </a:solidFill>
                          <a:latin typeface="Segoe UI" panose="020B0502040204020203" pitchFamily="34" charset="0"/>
                          <a:ea typeface="Segoe UI" panose="020B0502040204020203" pitchFamily="34" charset="-122"/>
                          <a:cs typeface="Segoe UI" panose="020B0502040204020203" pitchFamily="34" charset="-120"/>
                        </a:rPr>
                        <a:t>。期刊/作者/主题全部逼真——但"概率生成"的产物。</a:t>
                      </a:r>
                      <a:endParaRPr lang="en-US" sz="655" dirty="0">
                        <a:latin typeface="Segoe UI" panose="020B0502040204020203" pitchFamily="34" charset="0"/>
                        <a:ea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22581" marR="122581" marT="73549" marB="73549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4903" cap="flat" cmpd="sng" algn="ctr">
                      <a:solidFill>
                        <a:srgbClr val="D9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985"/>
                        </a:lnSpc>
                        <a:buNone/>
                      </a:pPr>
                      <a:r>
                        <a:rPr lang="en-US" sz="655" b="1" dirty="0">
                          <a:solidFill>
                            <a:srgbClr val="121C23"/>
                          </a:solidFill>
                          <a:latin typeface="Segoe UI" panose="020B0502040204020203" pitchFamily="34" charset="0"/>
                          <a:ea typeface="Segoe UI" panose="020B0502040204020203" pitchFamily="34" charset="-122"/>
                          <a:cs typeface="Segoe UI" panose="020B0502040204020203" pitchFamily="34" charset="-120"/>
                        </a:rPr>
                        <a:t>4</a:t>
                      </a:r>
                      <a:endParaRPr lang="en-US" sz="655" dirty="0">
                        <a:latin typeface="Segoe UI" panose="020B0502040204020203" pitchFamily="34" charset="0"/>
                        <a:ea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22581" marR="122581" marT="73549" marB="73549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4903" cap="flat" cmpd="sng" algn="ctr">
                      <a:solidFill>
                        <a:srgbClr val="D9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985"/>
                        </a:lnSpc>
                        <a:buNone/>
                      </a:pPr>
                      <a:r>
                        <a:rPr lang="en-US" sz="655" dirty="0">
                          <a:solidFill>
                            <a:srgbClr val="121C23"/>
                          </a:solidFill>
                          <a:latin typeface="Segoe UI" panose="020B0502040204020203" pitchFamily="34" charset="0"/>
                          <a:ea typeface="Segoe UI" panose="020B0502040204020203" pitchFamily="34" charset="-122"/>
                          <a:cs typeface="Segoe UI" panose="020B0502040204020203" pitchFamily="34" charset="-120"/>
                        </a:rPr>
                        <a:t>Li, X. &amp; Liu, J. (2023). "Data-Driven Pricing." </a:t>
                      </a:r>
                      <a:r>
                        <a:rPr lang="en-US" sz="655" i="1" dirty="0">
                          <a:solidFill>
                            <a:srgbClr val="121C23"/>
                          </a:solidFill>
                          <a:latin typeface="Segoe UI" panose="020B0502040204020203" pitchFamily="34" charset="0"/>
                          <a:ea typeface="Segoe UI" panose="020B0502040204020203" pitchFamily="34" charset="-122"/>
                          <a:cs typeface="Segoe UI" panose="020B0502040204020203" pitchFamily="34" charset="-120"/>
                        </a:rPr>
                        <a:t>JMR</a:t>
                      </a:r>
                      <a:r>
                        <a:rPr lang="en-US" sz="655" dirty="0">
                          <a:solidFill>
                            <a:srgbClr val="121C23"/>
                          </a:solidFill>
                          <a:latin typeface="Segoe UI" panose="020B0502040204020203" pitchFamily="34" charset="0"/>
                          <a:ea typeface="Segoe UI" panose="020B0502040204020203" pitchFamily="34" charset="-122"/>
                          <a:cs typeface="Segoe UI" panose="020B0502040204020203" pitchFamily="34" charset="-120"/>
                        </a:rPr>
                        <a:t>.</a:t>
                      </a:r>
                      <a:endParaRPr lang="en-US" sz="655" dirty="0">
                        <a:latin typeface="Segoe UI" panose="020B0502040204020203" pitchFamily="34" charset="0"/>
                        <a:ea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22581" marR="122581" marT="73549" marB="73549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4903" cap="flat" cmpd="sng" algn="ctr">
                      <a:solidFill>
                        <a:srgbClr val="D9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985"/>
                        </a:lnSpc>
                        <a:buNone/>
                      </a:pPr>
                      <a:r>
                        <a:rPr lang="en-US" sz="655" b="1" dirty="0">
                          <a:solidFill>
                            <a:srgbClr val="5A656D"/>
                          </a:solidFill>
                          <a:latin typeface="Segoe UI" panose="020B0502040204020203" pitchFamily="34" charset="0"/>
                          <a:ea typeface="Segoe UI" panose="020B0502040204020203" pitchFamily="34" charset="-122"/>
                          <a:cs typeface="Segoe UI" panose="020B0502040204020203" pitchFamily="34" charset="-120"/>
                        </a:rPr>
                        <a:t>部分真实</a:t>
                      </a:r>
                      <a:r>
                        <a:rPr lang="en-US" sz="655" dirty="0">
                          <a:solidFill>
                            <a:srgbClr val="5A656D"/>
                          </a:solidFill>
                          <a:latin typeface="Segoe UI" panose="020B0502040204020203" pitchFamily="34" charset="0"/>
                          <a:ea typeface="Segoe UI" panose="020B0502040204020203" pitchFamily="34" charset="-122"/>
                          <a:cs typeface="Segoe UI" panose="020B0502040204020203" pitchFamily="34" charset="-120"/>
                        </a:rPr>
                        <a:t>。有类似主题的真实论文，但具体作者/标题不匹配。</a:t>
                      </a:r>
                      <a:endParaRPr lang="en-US" sz="655" dirty="0">
                        <a:latin typeface="Segoe UI" panose="020B0502040204020203" pitchFamily="34" charset="0"/>
                        <a:ea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22581" marR="122581" marT="73549" marB="73549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4903" cap="flat" cmpd="sng" algn="ctr">
                      <a:solidFill>
                        <a:srgbClr val="D9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985"/>
                        </a:lnSpc>
                        <a:buNone/>
                      </a:pPr>
                      <a:r>
                        <a:rPr lang="en-US" sz="655" b="1" dirty="0">
                          <a:solidFill>
                            <a:srgbClr val="121C23"/>
                          </a:solidFill>
                          <a:latin typeface="Segoe UI" panose="020B0502040204020203" pitchFamily="34" charset="0"/>
                          <a:ea typeface="Segoe UI" panose="020B0502040204020203" pitchFamily="34" charset="-122"/>
                          <a:cs typeface="Segoe UI" panose="020B0502040204020203" pitchFamily="34" charset="-120"/>
                        </a:rPr>
                        <a:t>5</a:t>
                      </a:r>
                      <a:endParaRPr lang="en-US" sz="655" dirty="0">
                        <a:latin typeface="Segoe UI" panose="020B0502040204020203" pitchFamily="34" charset="0"/>
                        <a:ea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22581" marR="122581" marT="73549" marB="73549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4903" cap="flat" cmpd="sng" algn="ctr">
                      <a:solidFill>
                        <a:srgbClr val="D9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985"/>
                        </a:lnSpc>
                        <a:buNone/>
                      </a:pPr>
                      <a:r>
                        <a:rPr lang="en-US" sz="655" dirty="0">
                          <a:solidFill>
                            <a:srgbClr val="121C23"/>
                          </a:solidFill>
                          <a:latin typeface="Segoe UI" panose="020B0502040204020203" pitchFamily="34" charset="0"/>
                          <a:ea typeface="Segoe UI" panose="020B0502040204020203" pitchFamily="34" charset="-122"/>
                          <a:cs typeface="Segoe UI" panose="020B0502040204020203" pitchFamily="34" charset="-120"/>
                        </a:rPr>
                        <a:t>Zhang, W. (2022). "Regulating Algorithmic Collusion." NBER Working Paper.</a:t>
                      </a:r>
                      <a:endParaRPr lang="en-US" sz="655" dirty="0">
                        <a:latin typeface="Segoe UI" panose="020B0502040204020203" pitchFamily="34" charset="0"/>
                        <a:ea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22581" marR="122581" marT="73549" marB="73549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4903" cap="flat" cmpd="sng" algn="ctr">
                      <a:solidFill>
                        <a:srgbClr val="D9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985"/>
                        </a:lnSpc>
                        <a:buNone/>
                      </a:pPr>
                      <a:r>
                        <a:rPr lang="en-US" sz="655" dirty="0">
                          <a:solidFill>
                            <a:srgbClr val="5A656D"/>
                          </a:solidFill>
                          <a:latin typeface="Segoe UI" panose="020B0502040204020203" pitchFamily="34" charset="0"/>
                          <a:ea typeface="Segoe UI" panose="020B0502040204020203" pitchFamily="34" charset="-122"/>
                          <a:cs typeface="Segoe UI" panose="020B0502040204020203" pitchFamily="34" charset="-120"/>
                        </a:rPr>
                        <a:t>存在类似但</a:t>
                      </a:r>
                      <a:r>
                        <a:rPr lang="en-US" sz="655" b="1" dirty="0">
                          <a:solidFill>
                            <a:srgbClr val="5A656D"/>
                          </a:solidFill>
                          <a:latin typeface="Segoe UI" panose="020B0502040204020203" pitchFamily="34" charset="0"/>
                          <a:ea typeface="Segoe UI" panose="020B0502040204020203" pitchFamily="34" charset="-122"/>
                          <a:cs typeface="Segoe UI" panose="020B0502040204020203" pitchFamily="34" charset="-120"/>
                        </a:rPr>
                        <a:t>不完全匹配</a:t>
                      </a:r>
                      <a:r>
                        <a:rPr lang="en-US" sz="655" dirty="0">
                          <a:solidFill>
                            <a:srgbClr val="5A656D"/>
                          </a:solidFill>
                          <a:latin typeface="Segoe UI" panose="020B0502040204020203" pitchFamily="34" charset="0"/>
                          <a:ea typeface="Segoe UI" panose="020B0502040204020203" pitchFamily="34" charset="-122"/>
                          <a:cs typeface="Segoe UI" panose="020B0502040204020203" pitchFamily="34" charset="-120"/>
                        </a:rPr>
                        <a:t>的真实 NBER 论文——最接近真实但依然不准确。</a:t>
                      </a:r>
                      <a:endParaRPr lang="en-US" sz="655" dirty="0">
                        <a:latin typeface="Segoe UI" panose="020B0502040204020203" pitchFamily="34" charset="0"/>
                        <a:ea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22581" marR="122581" marT="73549" marB="73549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4903" cap="flat" cmpd="sng" algn="ctr">
                      <a:solidFill>
                        <a:srgbClr val="D9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id="11" name="Shape 17"/>
          <p:cNvSpPr/>
          <p:nvPr/>
        </p:nvSpPr>
        <p:spPr>
          <a:xfrm>
            <a:off x="476250" y="3414452"/>
            <a:ext cx="8191500" cy="476250"/>
          </a:xfrm>
          <a:prstGeom prst="roundRect">
            <a:avLst>
              <a:gd name="adj" fmla="val 6177"/>
            </a:avLst>
          </a:prstGeom>
          <a:solidFill>
            <a:srgbClr val="5A845A">
              <a:alpha val="12157"/>
            </a:srgbClr>
          </a:solidFill>
          <a:ln w="4903">
            <a:solidFill>
              <a:srgbClr val="5C875C">
                <a:alpha val="25098"/>
              </a:srgbClr>
            </a:solidFill>
            <a:prstDash val="solid"/>
          </a:ln>
        </p:spPr>
      </p:sp>
      <p:sp>
        <p:nvSpPr>
          <p:cNvPr id="12" name="TextBox 19"/>
          <p:cNvSpPr/>
          <p:nvPr/>
        </p:nvSpPr>
        <p:spPr>
          <a:xfrm>
            <a:off x="633412" y="3523990"/>
            <a:ext cx="7877175" cy="25717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040"/>
              </a:lnSpc>
              <a:buNone/>
            </a:pPr>
            <a:r>
              <a:rPr lang="en-US" sz="695" b="1" dirty="0">
                <a:solidFill>
                  <a:srgbClr val="121C23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结果：5 条中 0 条完全可核验，2 条部分正确，3 条完全不存在。</a:t>
            </a:r>
            <a:r>
              <a:rPr lang="en-US" sz="695" dirty="0">
                <a:solidFill>
                  <a:srgbClr val="121C23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最关键教训："看起来像真的"≠ 真实。幻觉的杀伤力在于它不是明显的垃圾——而是</a:t>
            </a:r>
            <a:r>
              <a:rPr lang="en-US" sz="695" b="1" dirty="0">
                <a:solidFill>
                  <a:srgbClr val="121C23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合理但不真实的内容</a:t>
            </a:r>
            <a:r>
              <a:rPr lang="en-US" sz="695" dirty="0">
                <a:solidFill>
                  <a:srgbClr val="121C23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。验证的黄金法则：</a:t>
            </a:r>
            <a:r>
              <a:rPr lang="en-US" sz="695" b="1" dirty="0">
                <a:solidFill>
                  <a:srgbClr val="121C23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独立于模型的、基于真实数据库的逐条核验</a:t>
            </a:r>
            <a:r>
              <a:rPr lang="en-US" sz="695" dirty="0">
                <a:solidFill>
                  <a:srgbClr val="121C23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——不要用模型验证模型的输出。</a:t>
            </a:r>
            <a:endParaRPr lang="en-US" sz="695" dirty="0"/>
          </a:p>
        </p:txBody>
      </p:sp>
      <p:pic>
        <p:nvPicPr>
          <p:cNvPr id="13" name="Picture 23" descr="__type_image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76250" y="4819650"/>
            <a:ext cx="8191500" cy="171450"/>
          </a:xfrm>
          <a:prstGeom prst="rect">
            <a:avLst/>
          </a:prstGeom>
        </p:spPr>
      </p:pic>
      <p:sp>
        <p:nvSpPr>
          <p:cNvPr id="14" name="TextBox 23"/>
          <p:cNvSpPr/>
          <p:nvPr/>
        </p:nvSpPr>
        <p:spPr>
          <a:xfrm>
            <a:off x="476250" y="4819650"/>
            <a:ext cx="8191500" cy="171450"/>
          </a:xfrm>
          <a:prstGeom prst="rect">
            <a:avLst/>
          </a:prstGeom>
          <a:noFill/>
        </p:spPr>
        <p:txBody>
          <a:bodyPr wrap="square" lIns="0" tIns="68645" rIns="0" bIns="0" rtlCol="0" anchor="t">
            <a:spAutoFit/>
          </a:bodyPr>
          <a:lstStyle/>
          <a:p>
            <a:pPr marL="0" indent="0" algn="l">
              <a:lnSpc>
                <a:spcPts val="810"/>
              </a:lnSpc>
              <a:buNone/>
            </a:pPr>
            <a:r>
              <a:rPr lang="en-US" sz="540" kern="0" spc="22" dirty="0">
                <a:solidFill>
                  <a:srgbClr val="5A656D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5 条引用 → 0 条完全真实。如果你把这份列表直接放进论文——信任崩塌只是一次核对的时间</a:t>
            </a:r>
            <a:endParaRPr lang="en-US" sz="540" dirty="0"/>
          </a:p>
        </p:txBody>
      </p:sp>
      <p:pic>
        <p:nvPicPr>
          <p:cNvPr id="10" name="图片 9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23435" y="3989705"/>
            <a:ext cx="2922270" cy="753110"/>
          </a:xfrm>
          <a:prstGeom prst="rect">
            <a:avLst/>
          </a:prstGeom>
        </p:spPr>
      </p:pic>
      <p:pic>
        <p:nvPicPr>
          <p:cNvPr id="15" name="图片 14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09600" y="3985260"/>
            <a:ext cx="3724275" cy="739775"/>
          </a:xfrm>
          <a:prstGeom prst="rect">
            <a:avLst/>
          </a:prstGeom>
        </p:spPr>
      </p:pic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6F9FC"/>
          </a:solidFill>
        </p:spPr>
      </p:sp>
      <p:sp>
        <p:nvSpPr>
          <p:cNvPr id="3" name="Shape 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6F9FC"/>
          </a:solidFill>
        </p:spPr>
      </p:sp>
      <p:pic>
        <p:nvPicPr>
          <p:cNvPr id="4" name="Picture 4" descr="__type_image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76250" y="381000"/>
            <a:ext cx="8191500" cy="390525"/>
          </a:xfrm>
          <a:prstGeom prst="rect">
            <a:avLst/>
          </a:prstGeom>
        </p:spPr>
      </p:pic>
      <p:sp>
        <p:nvSpPr>
          <p:cNvPr id="5" name="TextBox 4"/>
          <p:cNvSpPr/>
          <p:nvPr/>
        </p:nvSpPr>
        <p:spPr>
          <a:xfrm>
            <a:off x="476250" y="381000"/>
            <a:ext cx="8191500" cy="390525"/>
          </a:xfrm>
          <a:prstGeom prst="rect">
            <a:avLst/>
          </a:prstGeom>
          <a:noFill/>
        </p:spPr>
        <p:txBody>
          <a:bodyPr wrap="square" lIns="0" tIns="0" rIns="0" bIns="98065" rtlCol="0" anchor="t">
            <a:spAutoFit/>
          </a:bodyPr>
          <a:lstStyle/>
          <a:p>
            <a:pPr marL="0" indent="0" algn="l">
              <a:lnSpc>
                <a:spcPts val="2315"/>
              </a:lnSpc>
              <a:buNone/>
            </a:pPr>
            <a:r>
              <a:rPr lang="en-US" sz="1545" b="1" kern="0" spc="-23" dirty="0">
                <a:solidFill>
                  <a:srgbClr val="121C23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知识截止：模型怎么"知道"今天的事？</a:t>
            </a:r>
            <a:endParaRPr lang="en-US" sz="1545" dirty="0"/>
          </a:p>
        </p:txBody>
      </p:sp>
      <p:sp>
        <p:nvSpPr>
          <p:cNvPr id="6" name="TextBox 12"/>
          <p:cNvSpPr/>
          <p:nvPr/>
        </p:nvSpPr>
        <p:spPr>
          <a:xfrm>
            <a:off x="476250" y="1000125"/>
            <a:ext cx="4019550" cy="100012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810"/>
              </a:lnSpc>
              <a:buNone/>
            </a:pPr>
            <a:r>
              <a:rPr lang="en-US" sz="540" kern="0" spc="43" dirty="0">
                <a:solidFill>
                  <a:srgbClr val="299236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知识截止的含义</a:t>
            </a:r>
            <a:endParaRPr lang="en-US" sz="540" dirty="0"/>
          </a:p>
        </p:txBody>
      </p:sp>
      <p:sp>
        <p:nvSpPr>
          <p:cNvPr id="7" name="TextBox 14"/>
          <p:cNvSpPr/>
          <p:nvPr/>
        </p:nvSpPr>
        <p:spPr>
          <a:xfrm>
            <a:off x="476250" y="1214437"/>
            <a:ext cx="4019550" cy="62865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275"/>
              </a:lnSpc>
              <a:buNone/>
            </a:pPr>
            <a:r>
              <a:rPr lang="en-US" sz="850" dirty="0">
                <a:solidFill>
                  <a:srgbClr val="5A656D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模型所有"知识"来自训练数据——在某个时间点被快照冻结。截止日之后：新事件</a:t>
            </a:r>
            <a:r>
              <a:rPr lang="en-US" sz="850" b="1" dirty="0">
                <a:solidFill>
                  <a:srgbClr val="5A656D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完全不知道</a:t>
            </a:r>
            <a:r>
              <a:rPr lang="en-US" sz="850" dirty="0">
                <a:solidFill>
                  <a:srgbClr val="5A656D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（可能根据已有知识推测，碰巧正确）；旧事实变成假事实——某人不再任某职、某法被修订。</a:t>
            </a:r>
            <a:r>
              <a:rPr lang="en-US" sz="850" b="1" dirty="0">
                <a:solidFill>
                  <a:srgbClr val="5A656D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ACL 2026：大模型能检测"可能变了"但行为上仍按旧事实回答——"知道变了"和"答案改了"是脱节的。</a:t>
            </a:r>
            <a:endParaRPr lang="en-US" sz="850" dirty="0"/>
          </a:p>
        </p:txBody>
      </p:sp>
      <p:graphicFrame>
        <p:nvGraphicFramePr>
          <p:cNvPr id="52" name="Table 16"/>
          <p:cNvGraphicFramePr>
            <a:graphicFrameLocks noGrp="1"/>
          </p:cNvGraphicFramePr>
          <p:nvPr/>
        </p:nvGraphicFramePr>
        <p:xfrm>
          <a:off x="476250" y="1900238"/>
          <a:ext cx="4019550" cy="914400"/>
        </p:xfrm>
        <a:graphic>
          <a:graphicData uri="http://schemas.openxmlformats.org/drawingml/2006/table">
            <a:tbl>
              <a:tblPr/>
              <a:tblGrid>
                <a:gridCol w="2094495"/>
                <a:gridCol w="1925055"/>
              </a:tblGrid>
              <a:tr h="0"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925"/>
                        </a:lnSpc>
                        <a:buNone/>
                      </a:pPr>
                      <a:r>
                        <a:rPr lang="en-US" sz="620" b="1" kern="0" spc="37" dirty="0">
                          <a:solidFill>
                            <a:srgbClr val="299236"/>
                          </a:solidFill>
                          <a:latin typeface="Consolas" panose="020B0609020204030204" pitchFamily="34" charset="0"/>
                          <a:ea typeface="Consolas" panose="020B0609020204030204" pitchFamily="34" charset="-122"/>
                          <a:cs typeface="Consolas" panose="020B0609020204030204" pitchFamily="34" charset="-120"/>
                        </a:rPr>
                        <a:t>模型</a:t>
                      </a:r>
                      <a:endParaRPr lang="en-US" sz="620" dirty="0">
                        <a:latin typeface="Consolas" panose="020B0609020204030204" pitchFamily="34" charset="0"/>
                        <a:ea typeface="Consolas" panose="020B0609020204030204" pitchFamily="34" charset="0"/>
                        <a:cs typeface="Consolas" panose="020B0609020204030204" pitchFamily="34" charset="0"/>
                      </a:endParaRPr>
                    </a:p>
                  </a:txBody>
                  <a:tcPr marL="122581" marR="122581" marT="83355" marB="8335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806" cap="flat" cmpd="sng" algn="ctr">
                      <a:solidFill>
                        <a:srgbClr val="2992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A845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1275"/>
                        </a:lnSpc>
                        <a:buNone/>
                      </a:pPr>
                      <a:r>
                        <a:rPr lang="en-US" sz="850" b="1" dirty="0">
                          <a:solidFill>
                            <a:srgbClr val="121C23"/>
                          </a:solidFill>
                          <a:latin typeface="Segoe UI" panose="020B0502040204020203" pitchFamily="34" charset="0"/>
                          <a:ea typeface="Segoe UI" panose="020B0502040204020203" pitchFamily="34" charset="-122"/>
                          <a:cs typeface="Segoe UI" panose="020B0502040204020203" pitchFamily="34" charset="-120"/>
                        </a:rPr>
                        <a:t>知识截止</a:t>
                      </a:r>
                      <a:endParaRPr lang="en-US" sz="850" dirty="0">
                        <a:latin typeface="Segoe UI" panose="020B0502040204020203" pitchFamily="34" charset="0"/>
                        <a:ea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22581" marR="122581" marT="83355" marB="8335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806" cap="flat" cmpd="sng" algn="ctr">
                      <a:solidFill>
                        <a:srgbClr val="2992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A845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985"/>
                        </a:lnSpc>
                        <a:buNone/>
                      </a:pPr>
                      <a:r>
                        <a:rPr lang="en-US" sz="655" b="1" dirty="0">
                          <a:solidFill>
                            <a:srgbClr val="121C23"/>
                          </a:solidFill>
                          <a:latin typeface="Segoe UI" panose="020B0502040204020203" pitchFamily="34" charset="0"/>
                          <a:ea typeface="Segoe UI" panose="020B0502040204020203" pitchFamily="34" charset="-122"/>
                          <a:cs typeface="Segoe UI" panose="020B0502040204020203" pitchFamily="34" charset="-120"/>
                        </a:rPr>
                        <a:t>GPT-4o</a:t>
                      </a:r>
                      <a:endParaRPr lang="en-US" sz="655" dirty="0">
                        <a:latin typeface="Segoe UI" panose="020B0502040204020203" pitchFamily="34" charset="0"/>
                        <a:ea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22581" marR="122581" marT="73549" marB="73549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4903" cap="flat" cmpd="sng" algn="ctr">
                      <a:solidFill>
                        <a:srgbClr val="D9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985"/>
                        </a:lnSpc>
                        <a:buNone/>
                      </a:pPr>
                      <a:r>
                        <a:rPr lang="en-US" sz="655" dirty="0">
                          <a:solidFill>
                            <a:srgbClr val="5A656D"/>
                          </a:solidFill>
                          <a:latin typeface="Segoe UI" panose="020B0502040204020203" pitchFamily="34" charset="0"/>
                          <a:ea typeface="Segoe UI" panose="020B0502040204020203" pitchFamily="34" charset="-122"/>
                          <a:cs typeface="Segoe UI" panose="020B0502040204020203" pitchFamily="34" charset="-120"/>
                        </a:rPr>
                        <a:t>约 2023 年 10 月</a:t>
                      </a:r>
                      <a:endParaRPr lang="en-US" sz="655" dirty="0">
                        <a:latin typeface="Segoe UI" panose="020B0502040204020203" pitchFamily="34" charset="0"/>
                        <a:ea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22581" marR="122581" marT="73549" marB="73549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4903" cap="flat" cmpd="sng" algn="ctr">
                      <a:solidFill>
                        <a:srgbClr val="D9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985"/>
                        </a:lnSpc>
                        <a:buNone/>
                      </a:pPr>
                      <a:r>
                        <a:rPr lang="en-US" sz="655" b="1" dirty="0">
                          <a:solidFill>
                            <a:srgbClr val="121C23"/>
                          </a:solidFill>
                          <a:latin typeface="Segoe UI" panose="020B0502040204020203" pitchFamily="34" charset="0"/>
                          <a:ea typeface="Segoe UI" panose="020B0502040204020203" pitchFamily="34" charset="-122"/>
                          <a:cs typeface="Segoe UI" panose="020B0502040204020203" pitchFamily="34" charset="-120"/>
                        </a:rPr>
                        <a:t>Claude 3.5 Sonnet</a:t>
                      </a:r>
                      <a:endParaRPr lang="en-US" sz="655" dirty="0">
                        <a:latin typeface="Segoe UI" panose="020B0502040204020203" pitchFamily="34" charset="0"/>
                        <a:ea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22581" marR="122581" marT="73549" marB="73549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4903" cap="flat" cmpd="sng" algn="ctr">
                      <a:solidFill>
                        <a:srgbClr val="D9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985"/>
                        </a:lnSpc>
                        <a:buNone/>
                      </a:pPr>
                      <a:r>
                        <a:rPr lang="en-US" sz="655" dirty="0">
                          <a:solidFill>
                            <a:srgbClr val="5A656D"/>
                          </a:solidFill>
                          <a:latin typeface="Segoe UI" panose="020B0502040204020203" pitchFamily="34" charset="0"/>
                          <a:ea typeface="Segoe UI" panose="020B0502040204020203" pitchFamily="34" charset="-122"/>
                          <a:cs typeface="Segoe UI" panose="020B0502040204020203" pitchFamily="34" charset="-120"/>
                        </a:rPr>
                        <a:t>约 2024 年 4 月</a:t>
                      </a:r>
                      <a:endParaRPr lang="en-US" sz="655" dirty="0">
                        <a:latin typeface="Segoe UI" panose="020B0502040204020203" pitchFamily="34" charset="0"/>
                        <a:ea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22581" marR="122581" marT="73549" marB="73549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4903" cap="flat" cmpd="sng" algn="ctr">
                      <a:solidFill>
                        <a:srgbClr val="D9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985"/>
                        </a:lnSpc>
                        <a:buNone/>
                      </a:pPr>
                      <a:r>
                        <a:rPr lang="en-US" sz="655" b="1" dirty="0">
                          <a:solidFill>
                            <a:srgbClr val="121C23"/>
                          </a:solidFill>
                          <a:latin typeface="Segoe UI" panose="020B0502040204020203" pitchFamily="34" charset="0"/>
                          <a:ea typeface="Segoe UI" panose="020B0502040204020203" pitchFamily="34" charset="-122"/>
                          <a:cs typeface="Segoe UI" panose="020B0502040204020203" pitchFamily="34" charset="-120"/>
                        </a:rPr>
                        <a:t>Claude Opus 4</a:t>
                      </a:r>
                      <a:endParaRPr lang="en-US" sz="655" dirty="0">
                        <a:latin typeface="Segoe UI" panose="020B0502040204020203" pitchFamily="34" charset="0"/>
                        <a:ea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22581" marR="122581" marT="73549" marB="73549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4903" cap="flat" cmpd="sng" algn="ctr">
                      <a:solidFill>
                        <a:srgbClr val="D9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985"/>
                        </a:lnSpc>
                        <a:buNone/>
                      </a:pPr>
                      <a:r>
                        <a:rPr lang="en-US" sz="655" dirty="0">
                          <a:solidFill>
                            <a:srgbClr val="5A656D"/>
                          </a:solidFill>
                          <a:latin typeface="Segoe UI" panose="020B0502040204020203" pitchFamily="34" charset="0"/>
                          <a:ea typeface="Segoe UI" panose="020B0502040204020203" pitchFamily="34" charset="-122"/>
                          <a:cs typeface="Segoe UI" panose="020B0502040204020203" pitchFamily="34" charset="-120"/>
                        </a:rPr>
                        <a:t>约 2025 年 3 月</a:t>
                      </a:r>
                      <a:endParaRPr lang="en-US" sz="655" dirty="0">
                        <a:latin typeface="Segoe UI" panose="020B0502040204020203" pitchFamily="34" charset="0"/>
                        <a:ea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22581" marR="122581" marT="73549" marB="73549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4903" cap="flat" cmpd="sng" algn="ctr">
                      <a:solidFill>
                        <a:srgbClr val="D9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985"/>
                        </a:lnSpc>
                        <a:buNone/>
                      </a:pPr>
                      <a:r>
                        <a:rPr lang="en-US" sz="655" b="1" dirty="0">
                          <a:solidFill>
                            <a:srgbClr val="121C23"/>
                          </a:solidFill>
                          <a:latin typeface="Segoe UI" panose="020B0502040204020203" pitchFamily="34" charset="0"/>
                          <a:ea typeface="Segoe UI" panose="020B0502040204020203" pitchFamily="34" charset="-122"/>
                          <a:cs typeface="Segoe UI" panose="020B0502040204020203" pitchFamily="34" charset="-120"/>
                        </a:rPr>
                        <a:t>DeepSeek-V3</a:t>
                      </a:r>
                      <a:endParaRPr lang="en-US" sz="655" dirty="0">
                        <a:latin typeface="Segoe UI" panose="020B0502040204020203" pitchFamily="34" charset="0"/>
                        <a:ea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22581" marR="122581" marT="73549" marB="73549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4903" cap="flat" cmpd="sng" algn="ctr">
                      <a:solidFill>
                        <a:srgbClr val="D9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985"/>
                        </a:lnSpc>
                        <a:buNone/>
                      </a:pPr>
                      <a:r>
                        <a:rPr lang="en-US" sz="655" dirty="0">
                          <a:solidFill>
                            <a:srgbClr val="5A656D"/>
                          </a:solidFill>
                          <a:latin typeface="Segoe UI" panose="020B0502040204020203" pitchFamily="34" charset="0"/>
                          <a:ea typeface="Segoe UI" panose="020B0502040204020203" pitchFamily="34" charset="-122"/>
                          <a:cs typeface="Segoe UI" panose="020B0502040204020203" pitchFamily="34" charset="-120"/>
                        </a:rPr>
                        <a:t>约 2024 年中</a:t>
                      </a:r>
                      <a:endParaRPr lang="en-US" sz="655" dirty="0">
                        <a:latin typeface="Segoe UI" panose="020B0502040204020203" pitchFamily="34" charset="0"/>
                        <a:ea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22581" marR="122581" marT="73549" marB="73549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4903" cap="flat" cmpd="sng" algn="ctr">
                      <a:solidFill>
                        <a:srgbClr val="D9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id="9" name="TextBox 21"/>
          <p:cNvSpPr/>
          <p:nvPr/>
        </p:nvSpPr>
        <p:spPr>
          <a:xfrm>
            <a:off x="4648200" y="1000125"/>
            <a:ext cx="4019550" cy="100012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810"/>
              </a:lnSpc>
              <a:buNone/>
            </a:pPr>
            <a:r>
              <a:rPr lang="en-US" sz="540" kern="0" spc="43" dirty="0">
                <a:solidFill>
                  <a:srgbClr val="299236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如何突破？——检索增强生成（RAG）</a:t>
            </a:r>
            <a:endParaRPr lang="en-US" sz="540" dirty="0"/>
          </a:p>
        </p:txBody>
      </p:sp>
      <p:sp>
        <p:nvSpPr>
          <p:cNvPr id="10" name="TextBox 27"/>
          <p:cNvSpPr/>
          <p:nvPr/>
        </p:nvSpPr>
        <p:spPr>
          <a:xfrm>
            <a:off x="4648200" y="1214437"/>
            <a:ext cx="266700" cy="182873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r">
              <a:lnSpc>
                <a:spcPts val="1485"/>
              </a:lnSpc>
              <a:buNone/>
            </a:pPr>
            <a:r>
              <a:rPr lang="en-US" sz="1235" b="1" dirty="0">
                <a:solidFill>
                  <a:srgbClr val="299236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1</a:t>
            </a:r>
            <a:endParaRPr lang="en-US" sz="1235" dirty="0"/>
          </a:p>
        </p:txBody>
      </p:sp>
      <p:sp>
        <p:nvSpPr>
          <p:cNvPr id="11" name="TextBox 30"/>
          <p:cNvSpPr/>
          <p:nvPr/>
        </p:nvSpPr>
        <p:spPr>
          <a:xfrm>
            <a:off x="5029200" y="1214437"/>
            <a:ext cx="3474951" cy="185738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505"/>
              </a:lnSpc>
              <a:buNone/>
            </a:pPr>
            <a:r>
              <a:rPr lang="en-US" sz="1005" b="1" dirty="0">
                <a:solidFill>
                  <a:srgbClr val="121C23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检索</a:t>
            </a:r>
            <a:endParaRPr lang="en-US" sz="1005" dirty="0"/>
          </a:p>
        </p:txBody>
      </p:sp>
      <p:sp>
        <p:nvSpPr>
          <p:cNvPr id="12" name="TextBox 31"/>
          <p:cNvSpPr/>
          <p:nvPr/>
        </p:nvSpPr>
        <p:spPr>
          <a:xfrm>
            <a:off x="5029200" y="1428750"/>
            <a:ext cx="3474951" cy="150019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215"/>
              </a:lnSpc>
              <a:buNone/>
            </a:pPr>
            <a:r>
              <a:rPr lang="en-US" sz="810" dirty="0">
                <a:solidFill>
                  <a:srgbClr val="5A656D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系统将用户查询发送到外部知识库（搜索引擎 API、向量数据库、内部文档库）</a:t>
            </a:r>
            <a:endParaRPr lang="en-US" sz="810" dirty="0"/>
          </a:p>
        </p:txBody>
      </p:sp>
      <p:sp>
        <p:nvSpPr>
          <p:cNvPr id="13" name="TextBox 36"/>
          <p:cNvSpPr/>
          <p:nvPr/>
        </p:nvSpPr>
        <p:spPr>
          <a:xfrm>
            <a:off x="4648200" y="1616869"/>
            <a:ext cx="266700" cy="182873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r">
              <a:lnSpc>
                <a:spcPts val="1485"/>
              </a:lnSpc>
              <a:buNone/>
            </a:pPr>
            <a:r>
              <a:rPr lang="en-US" sz="1235" b="1" dirty="0">
                <a:solidFill>
                  <a:srgbClr val="299236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2</a:t>
            </a:r>
            <a:endParaRPr lang="en-US" sz="1235" dirty="0"/>
          </a:p>
        </p:txBody>
      </p:sp>
      <p:sp>
        <p:nvSpPr>
          <p:cNvPr id="14" name="TextBox 39"/>
          <p:cNvSpPr/>
          <p:nvPr/>
        </p:nvSpPr>
        <p:spPr>
          <a:xfrm>
            <a:off x="5029200" y="1616869"/>
            <a:ext cx="2264457" cy="185737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505"/>
              </a:lnSpc>
              <a:buNone/>
            </a:pPr>
            <a:r>
              <a:rPr lang="en-US" sz="1005" b="1" dirty="0">
                <a:solidFill>
                  <a:srgbClr val="121C23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增强</a:t>
            </a:r>
            <a:endParaRPr lang="en-US" sz="1005" dirty="0"/>
          </a:p>
        </p:txBody>
      </p:sp>
      <p:sp>
        <p:nvSpPr>
          <p:cNvPr id="15" name="TextBox 40"/>
          <p:cNvSpPr/>
          <p:nvPr/>
        </p:nvSpPr>
        <p:spPr>
          <a:xfrm>
            <a:off x="5029200" y="1831340"/>
            <a:ext cx="2523490" cy="15557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215"/>
              </a:lnSpc>
              <a:buNone/>
            </a:pPr>
            <a:r>
              <a:rPr lang="en-US" sz="810" dirty="0">
                <a:solidFill>
                  <a:srgbClr val="5A656D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检索到的内容附加到 prompt 中，作为"即时上下文"</a:t>
            </a:r>
            <a:endParaRPr lang="en-US" sz="810" dirty="0"/>
          </a:p>
        </p:txBody>
      </p:sp>
      <p:sp>
        <p:nvSpPr>
          <p:cNvPr id="16" name="TextBox 45"/>
          <p:cNvSpPr/>
          <p:nvPr/>
        </p:nvSpPr>
        <p:spPr>
          <a:xfrm>
            <a:off x="4648200" y="2019300"/>
            <a:ext cx="266700" cy="182872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r">
              <a:lnSpc>
                <a:spcPts val="1485"/>
              </a:lnSpc>
              <a:buNone/>
            </a:pPr>
            <a:r>
              <a:rPr lang="en-US" sz="1235" b="1" dirty="0">
                <a:solidFill>
                  <a:srgbClr val="299236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3</a:t>
            </a:r>
            <a:endParaRPr lang="en-US" sz="1235" dirty="0"/>
          </a:p>
        </p:txBody>
      </p:sp>
      <p:sp>
        <p:nvSpPr>
          <p:cNvPr id="17" name="TextBox 48"/>
          <p:cNvSpPr/>
          <p:nvPr/>
        </p:nvSpPr>
        <p:spPr>
          <a:xfrm>
            <a:off x="5029200" y="2019300"/>
            <a:ext cx="2523529" cy="185737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505"/>
              </a:lnSpc>
              <a:buNone/>
            </a:pPr>
            <a:r>
              <a:rPr lang="en-US" sz="1005" b="1" dirty="0">
                <a:solidFill>
                  <a:srgbClr val="121C23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生成</a:t>
            </a:r>
            <a:endParaRPr lang="en-US" sz="1005" dirty="0"/>
          </a:p>
        </p:txBody>
      </p:sp>
      <p:sp>
        <p:nvSpPr>
          <p:cNvPr id="18" name="TextBox 49"/>
          <p:cNvSpPr/>
          <p:nvPr/>
        </p:nvSpPr>
        <p:spPr>
          <a:xfrm>
            <a:off x="5029200" y="2233612"/>
            <a:ext cx="2523529" cy="150019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215"/>
              </a:lnSpc>
              <a:buNone/>
            </a:pPr>
            <a:r>
              <a:rPr lang="en-US" sz="810" dirty="0">
                <a:solidFill>
                  <a:srgbClr val="5A656D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模型基于训练知识 + 实时内容共同生成回答并附来源引用</a:t>
            </a:r>
            <a:endParaRPr lang="en-US" sz="810" dirty="0"/>
          </a:p>
        </p:txBody>
      </p:sp>
      <p:sp>
        <p:nvSpPr>
          <p:cNvPr id="19" name="Shape 53"/>
          <p:cNvSpPr/>
          <p:nvPr/>
        </p:nvSpPr>
        <p:spPr>
          <a:xfrm>
            <a:off x="4648200" y="2674144"/>
            <a:ext cx="4019550" cy="583406"/>
          </a:xfrm>
          <a:prstGeom prst="roundRect">
            <a:avLst>
              <a:gd name="adj" fmla="val 5043"/>
            </a:avLst>
          </a:prstGeom>
          <a:solidFill>
            <a:srgbClr val="5A845A">
              <a:alpha val="12157"/>
            </a:srgbClr>
          </a:solidFill>
          <a:ln w="4903">
            <a:solidFill>
              <a:srgbClr val="5C875C">
                <a:alpha val="25098"/>
              </a:srgbClr>
            </a:solidFill>
            <a:prstDash val="solid"/>
          </a:ln>
        </p:spPr>
      </p:sp>
      <p:sp>
        <p:nvSpPr>
          <p:cNvPr id="20" name="TextBox 55"/>
          <p:cNvSpPr/>
          <p:nvPr/>
        </p:nvSpPr>
        <p:spPr>
          <a:xfrm>
            <a:off x="4805362" y="2783681"/>
            <a:ext cx="3705225" cy="37846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985"/>
              </a:lnSpc>
              <a:buNone/>
            </a:pPr>
            <a:r>
              <a:rPr lang="en-US" sz="655" dirty="0">
                <a:solidFill>
                  <a:srgbClr val="121C23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2025 年：RAG 将幻觉率降低 30-50%，51% 的生产 AI 已用 RAG。</a:t>
            </a:r>
            <a:r>
              <a:rPr lang="zh-CN" altLang="en-US" sz="655" dirty="0">
                <a:solidFill>
                  <a:srgbClr val="121C23"/>
                </a:solidFill>
                <a:latin typeface="Segoe UI" panose="020B0502040204020203" pitchFamily="34" charset="0"/>
                <a:ea typeface="宋体" panose="02010600030101010101" pitchFamily="2" charset="-122"/>
                <a:cs typeface="Segoe UI" panose="020B0502040204020203" pitchFamily="34" charset="-120"/>
              </a:rPr>
              <a:t>但大模型仍然会</a:t>
            </a:r>
            <a:r>
              <a:rPr lang="en-US" sz="655" dirty="0">
                <a:solidFill>
                  <a:srgbClr val="121C23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检索到不可靠来源 → 模型把它当权威用（garbage in, garbage out）。BBC 2025 年调查：配备搜索的模型在新闻问题上仍产生大量虚假信息——</a:t>
            </a:r>
            <a:r>
              <a:rPr lang="en-US" sz="655" b="1" dirty="0">
                <a:solidFill>
                  <a:srgbClr val="121C23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有搜索 ≠ 不会错。</a:t>
            </a:r>
            <a:endParaRPr lang="en-US" sz="655" dirty="0"/>
          </a:p>
        </p:txBody>
      </p:sp>
      <p:pic>
        <p:nvPicPr>
          <p:cNvPr id="21" name="Picture 61" descr="__type_image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76250" y="4819650"/>
            <a:ext cx="8191500" cy="171450"/>
          </a:xfrm>
          <a:prstGeom prst="rect">
            <a:avLst/>
          </a:prstGeom>
        </p:spPr>
      </p:pic>
      <p:sp>
        <p:nvSpPr>
          <p:cNvPr id="22" name="TextBox 61"/>
          <p:cNvSpPr/>
          <p:nvPr/>
        </p:nvSpPr>
        <p:spPr>
          <a:xfrm>
            <a:off x="476250" y="4819650"/>
            <a:ext cx="8191500" cy="171450"/>
          </a:xfrm>
          <a:prstGeom prst="rect">
            <a:avLst/>
          </a:prstGeom>
          <a:noFill/>
        </p:spPr>
        <p:txBody>
          <a:bodyPr wrap="square" lIns="0" tIns="68645" rIns="0" bIns="0" rtlCol="0" anchor="t">
            <a:spAutoFit/>
          </a:bodyPr>
          <a:lstStyle/>
          <a:p>
            <a:pPr marL="0" indent="0" algn="l">
              <a:lnSpc>
                <a:spcPts val="810"/>
              </a:lnSpc>
              <a:buNone/>
            </a:pPr>
            <a:r>
              <a:rPr lang="en-US" sz="540" kern="0" spc="22" dirty="0">
                <a:solidFill>
                  <a:srgbClr val="5A656D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知识截止不是死胡同——但 RAG 赋予的是"查资料"的眼睛，不是"判断什么可信"的大脑</a:t>
            </a:r>
            <a:endParaRPr lang="en-US" sz="540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6F9FC"/>
          </a:solidFill>
        </p:spPr>
      </p:sp>
      <p:sp>
        <p:nvSpPr>
          <p:cNvPr id="3" name="Shape 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6F9FC"/>
          </a:solidFill>
        </p:spPr>
      </p:sp>
      <p:pic>
        <p:nvPicPr>
          <p:cNvPr id="4" name="Picture 4" descr="__type_image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76250" y="381000"/>
            <a:ext cx="8191500" cy="390525"/>
          </a:xfrm>
          <a:prstGeom prst="rect">
            <a:avLst/>
          </a:prstGeom>
        </p:spPr>
      </p:pic>
      <p:sp>
        <p:nvSpPr>
          <p:cNvPr id="5" name="TextBox 4"/>
          <p:cNvSpPr/>
          <p:nvPr/>
        </p:nvSpPr>
        <p:spPr>
          <a:xfrm>
            <a:off x="476250" y="381000"/>
            <a:ext cx="8191500" cy="390525"/>
          </a:xfrm>
          <a:prstGeom prst="rect">
            <a:avLst/>
          </a:prstGeom>
          <a:noFill/>
        </p:spPr>
        <p:txBody>
          <a:bodyPr wrap="square" lIns="0" tIns="0" rIns="0" bIns="98065" rtlCol="0" anchor="t">
            <a:spAutoFit/>
          </a:bodyPr>
          <a:lstStyle/>
          <a:p>
            <a:pPr marL="0" indent="0" algn="l">
              <a:lnSpc>
                <a:spcPts val="2315"/>
              </a:lnSpc>
              <a:buNone/>
            </a:pPr>
            <a:r>
              <a:rPr lang="en-US" sz="1545" b="1" kern="0" spc="-23" dirty="0">
                <a:solidFill>
                  <a:srgbClr val="121C23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科研使用红线（上）——学术规范与期刊政策</a:t>
            </a:r>
            <a:endParaRPr lang="en-US" sz="1545" dirty="0"/>
          </a:p>
        </p:txBody>
      </p:sp>
      <p:sp>
        <p:nvSpPr>
          <p:cNvPr id="6" name="Shape 8"/>
          <p:cNvSpPr/>
          <p:nvPr/>
        </p:nvSpPr>
        <p:spPr>
          <a:xfrm>
            <a:off x="476250" y="1000125"/>
            <a:ext cx="8191500" cy="709612"/>
          </a:xfrm>
          <a:prstGeom prst="roundRect">
            <a:avLst>
              <a:gd name="adj" fmla="val 4146"/>
            </a:avLst>
          </a:prstGeom>
          <a:solidFill>
            <a:srgbClr val="FFFFFF"/>
          </a:solidFill>
        </p:spPr>
      </p:sp>
      <p:pic>
        <p:nvPicPr>
          <p:cNvPr id="7" name="Picture 8" descr="__type_image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76250" y="1000125"/>
            <a:ext cx="8191500" cy="709612"/>
          </a:xfrm>
          <a:prstGeom prst="rect">
            <a:avLst/>
          </a:prstGeom>
        </p:spPr>
      </p:pic>
      <p:sp>
        <p:nvSpPr>
          <p:cNvPr id="8" name="TextBox 10"/>
          <p:cNvSpPr/>
          <p:nvPr/>
        </p:nvSpPr>
        <p:spPr>
          <a:xfrm>
            <a:off x="666750" y="1138237"/>
            <a:ext cx="7824788" cy="100013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810"/>
              </a:lnSpc>
              <a:buNone/>
            </a:pPr>
            <a:r>
              <a:rPr lang="en-US" sz="540" kern="0" spc="43" dirty="0">
                <a:solidFill>
                  <a:srgbClr val="299236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NATURE 系列期刊 AI 政策——三条硬性红线</a:t>
            </a:r>
            <a:endParaRPr lang="en-US" sz="540" dirty="0"/>
          </a:p>
        </p:txBody>
      </p:sp>
      <p:sp>
        <p:nvSpPr>
          <p:cNvPr id="9" name="TextBox 12"/>
          <p:cNvSpPr/>
          <p:nvPr/>
        </p:nvSpPr>
        <p:spPr>
          <a:xfrm>
            <a:off x="666750" y="1276350"/>
            <a:ext cx="7824788" cy="29527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195"/>
              </a:lnSpc>
              <a:buNone/>
            </a:pPr>
            <a:r>
              <a:rPr lang="en-US" sz="770" dirty="0">
                <a:solidFill>
                  <a:srgbClr val="121C23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❌ </a:t>
            </a:r>
            <a:r>
              <a:rPr lang="en-US" sz="770" b="1" dirty="0">
                <a:solidFill>
                  <a:srgbClr val="121C23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AI 不能列为作者</a:t>
            </a:r>
            <a:r>
              <a:rPr lang="en-US" sz="770" dirty="0">
                <a:solidFill>
                  <a:srgbClr val="121C23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——作者身份 = 对内容负责，AI 无法担责。❌ </a:t>
            </a:r>
            <a:r>
              <a:rPr lang="en-US" sz="770" b="1" dirty="0">
                <a:solidFill>
                  <a:srgbClr val="121C23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AI 生成图片/图表禁止</a:t>
            </a:r>
            <a:r>
              <a:rPr lang="en-US" sz="770" dirty="0">
                <a:solidFill>
                  <a:srgbClr val="121C23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——除非来自合同关系的图库或论文本身"关于 AI"（即使使用也必须标注）。❌ </a:t>
            </a:r>
            <a:r>
              <a:rPr lang="en-US" sz="770" b="1" dirty="0">
                <a:solidFill>
                  <a:srgbClr val="121C23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审稿人禁止上传稿件到 AI 工具</a:t>
            </a:r>
            <a:r>
              <a:rPr lang="en-US" sz="770" dirty="0">
                <a:solidFill>
                  <a:srgbClr val="121C23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——泄露机密 + 将作者数据转移给 LLM 平台。</a:t>
            </a:r>
            <a:endParaRPr lang="en-US" sz="770" dirty="0"/>
          </a:p>
        </p:txBody>
      </p:sp>
      <p:sp>
        <p:nvSpPr>
          <p:cNvPr id="10" name="Shape 17"/>
          <p:cNvSpPr/>
          <p:nvPr/>
        </p:nvSpPr>
        <p:spPr>
          <a:xfrm>
            <a:off x="476250" y="1776412"/>
            <a:ext cx="4038600" cy="704850"/>
          </a:xfrm>
          <a:prstGeom prst="roundRect">
            <a:avLst>
              <a:gd name="adj" fmla="val 4174"/>
            </a:avLst>
          </a:prstGeom>
          <a:solidFill>
            <a:srgbClr val="FFFFFF"/>
          </a:solidFill>
          <a:ln w="4903">
            <a:solidFill>
              <a:srgbClr val="D9DFE3"/>
            </a:solidFill>
            <a:prstDash val="solid"/>
          </a:ln>
        </p:spPr>
      </p:sp>
      <p:sp>
        <p:nvSpPr>
          <p:cNvPr id="11" name="TextBox 19"/>
          <p:cNvSpPr/>
          <p:nvPr/>
        </p:nvSpPr>
        <p:spPr>
          <a:xfrm>
            <a:off x="576263" y="1857375"/>
            <a:ext cx="3838575" cy="128587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040"/>
              </a:lnSpc>
              <a:buNone/>
            </a:pPr>
            <a:r>
              <a:rPr lang="en-US" sz="695" b="1" dirty="0">
                <a:solidFill>
                  <a:srgbClr val="299236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需要披露的 AI 使用</a:t>
            </a:r>
            <a:endParaRPr lang="en-US" sz="695" dirty="0"/>
          </a:p>
        </p:txBody>
      </p:sp>
      <p:sp>
        <p:nvSpPr>
          <p:cNvPr id="12" name="TextBox 21"/>
          <p:cNvSpPr/>
          <p:nvPr/>
        </p:nvSpPr>
        <p:spPr>
          <a:xfrm>
            <a:off x="576263" y="2014537"/>
            <a:ext cx="3838575" cy="385762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040"/>
              </a:lnSpc>
              <a:buNone/>
            </a:pPr>
            <a:r>
              <a:rPr lang="en-US" sz="695" dirty="0">
                <a:solidFill>
                  <a:srgbClr val="5A656D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• AI 辅助起草/生成内容：Methods 中记录</a:t>
            </a:r>
            <a:r>
              <a:rPr lang="en-US" sz="695" b="1" dirty="0">
                <a:solidFill>
                  <a:srgbClr val="5A656D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用什么工具、怎么用、prompt 类型</a:t>
            </a:r>
            <a:endParaRPr lang="en-US" sz="695" dirty="0"/>
          </a:p>
          <a:p>
            <a:pPr marL="0" indent="0" algn="l">
              <a:lnSpc>
                <a:spcPts val="1040"/>
              </a:lnSpc>
              <a:buNone/>
            </a:pPr>
            <a:r>
              <a:rPr lang="en-US" sz="695" dirty="0">
                <a:solidFill>
                  <a:srgbClr val="5A656D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• AI 辅助代码：注释或 Methods 中说明</a:t>
            </a:r>
            <a:endParaRPr lang="en-US" sz="695" dirty="0"/>
          </a:p>
          <a:p>
            <a:pPr marL="0" indent="0" algn="l">
              <a:lnSpc>
                <a:spcPts val="1040"/>
              </a:lnSpc>
              <a:buNone/>
            </a:pPr>
            <a:r>
              <a:rPr lang="en-US" sz="695" dirty="0">
                <a:solidFill>
                  <a:srgbClr val="5A656D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• AI 编辑图像：图注中披露工具和方法</a:t>
            </a:r>
            <a:endParaRPr lang="en-US" sz="695" dirty="0"/>
          </a:p>
        </p:txBody>
      </p:sp>
      <p:sp>
        <p:nvSpPr>
          <p:cNvPr id="13" name="Shape 24"/>
          <p:cNvSpPr/>
          <p:nvPr/>
        </p:nvSpPr>
        <p:spPr>
          <a:xfrm>
            <a:off x="4629150" y="1776412"/>
            <a:ext cx="4038600" cy="704850"/>
          </a:xfrm>
          <a:prstGeom prst="roundRect">
            <a:avLst>
              <a:gd name="adj" fmla="val 4174"/>
            </a:avLst>
          </a:prstGeom>
          <a:solidFill>
            <a:srgbClr val="FFFFFF"/>
          </a:solidFill>
          <a:ln w="4903">
            <a:solidFill>
              <a:srgbClr val="D9DFE3"/>
            </a:solidFill>
            <a:prstDash val="solid"/>
          </a:ln>
        </p:spPr>
      </p:sp>
      <p:sp>
        <p:nvSpPr>
          <p:cNvPr id="14" name="TextBox 26"/>
          <p:cNvSpPr/>
          <p:nvPr/>
        </p:nvSpPr>
        <p:spPr>
          <a:xfrm>
            <a:off x="4729163" y="1857375"/>
            <a:ext cx="3838575" cy="128587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040"/>
              </a:lnSpc>
              <a:buNone/>
            </a:pPr>
            <a:r>
              <a:rPr lang="en-US" sz="695" b="1" dirty="0">
                <a:solidFill>
                  <a:srgbClr val="299236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不需要披露的 AI 使用</a:t>
            </a:r>
            <a:endParaRPr lang="en-US" sz="695" dirty="0"/>
          </a:p>
        </p:txBody>
      </p:sp>
      <p:sp>
        <p:nvSpPr>
          <p:cNvPr id="15" name="TextBox 28"/>
          <p:cNvSpPr/>
          <p:nvPr/>
        </p:nvSpPr>
        <p:spPr>
          <a:xfrm>
            <a:off x="4729163" y="2014537"/>
            <a:ext cx="3838575" cy="25717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040"/>
              </a:lnSpc>
              <a:buNone/>
            </a:pPr>
            <a:r>
              <a:rPr lang="en-US" sz="695" dirty="0">
                <a:solidFill>
                  <a:srgbClr val="5A656D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• AI 辅助</a:t>
            </a:r>
            <a:r>
              <a:rPr lang="en-US" sz="695" b="1" dirty="0">
                <a:solidFill>
                  <a:srgbClr val="5A656D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润色</a:t>
            </a:r>
            <a:r>
              <a:rPr lang="en-US" sz="695" dirty="0">
                <a:solidFill>
                  <a:srgbClr val="5A656D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——仅改善已写文本的语法/拼写/可读性，不生成新内容</a:t>
            </a:r>
            <a:endParaRPr lang="en-US" sz="695" dirty="0"/>
          </a:p>
          <a:p>
            <a:pPr marL="0" indent="0" algn="l">
              <a:lnSpc>
                <a:spcPts val="1040"/>
              </a:lnSpc>
              <a:buNone/>
            </a:pPr>
            <a:r>
              <a:rPr lang="en-US" sz="695" dirty="0">
                <a:solidFill>
                  <a:srgbClr val="5A656D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• 区分标准：AI 是把你的话"说好"了（不需披露），还是替你说出了</a:t>
            </a:r>
            <a:r>
              <a:rPr lang="en-US" sz="695" b="1" dirty="0">
                <a:solidFill>
                  <a:srgbClr val="5A656D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"你没说的话"</a:t>
            </a:r>
            <a:r>
              <a:rPr lang="en-US" sz="695" dirty="0">
                <a:solidFill>
                  <a:srgbClr val="5A656D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（需要披露）</a:t>
            </a:r>
            <a:endParaRPr lang="en-US" sz="695" dirty="0"/>
          </a:p>
        </p:txBody>
      </p:sp>
      <p:sp>
        <p:nvSpPr>
          <p:cNvPr id="16" name="Shape 32"/>
          <p:cNvSpPr/>
          <p:nvPr/>
        </p:nvSpPr>
        <p:spPr>
          <a:xfrm>
            <a:off x="476250" y="2547938"/>
            <a:ext cx="8191500" cy="347662"/>
          </a:xfrm>
          <a:prstGeom prst="roundRect">
            <a:avLst>
              <a:gd name="adj" fmla="val 8462"/>
            </a:avLst>
          </a:prstGeom>
          <a:solidFill>
            <a:srgbClr val="5A845A">
              <a:alpha val="12157"/>
            </a:srgbClr>
          </a:solidFill>
          <a:ln w="4903">
            <a:solidFill>
              <a:srgbClr val="5C875C">
                <a:alpha val="25098"/>
              </a:srgbClr>
            </a:solidFill>
            <a:prstDash val="solid"/>
          </a:ln>
        </p:spPr>
      </p:sp>
      <p:sp>
        <p:nvSpPr>
          <p:cNvPr id="17" name="TextBox 34"/>
          <p:cNvSpPr/>
          <p:nvPr/>
        </p:nvSpPr>
        <p:spPr>
          <a:xfrm>
            <a:off x="633412" y="2657475"/>
            <a:ext cx="7877175" cy="128587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040"/>
              </a:lnSpc>
              <a:buNone/>
            </a:pPr>
            <a:r>
              <a:rPr lang="en-US" sz="695" b="1" dirty="0">
                <a:solidFill>
                  <a:srgbClr val="121C23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Science（AAAS）更严格：</a:t>
            </a:r>
            <a:r>
              <a:rPr lang="en-US" sz="695" dirty="0">
                <a:solidFill>
                  <a:srgbClr val="121C23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完全禁止 AI 生成文本——违规视为</a:t>
            </a:r>
            <a:r>
              <a:rPr lang="en-US" sz="695" b="1" dirty="0">
                <a:solidFill>
                  <a:srgbClr val="121C23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学术不端</a:t>
            </a:r>
            <a:r>
              <a:rPr lang="en-US" sz="695" dirty="0">
                <a:solidFill>
                  <a:srgbClr val="121C23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。必须在致谢和 Methods 中完整透露 prompt。不同期刊标准不同——投稿前务必检查目标期刊的 AI 政策。</a:t>
            </a:r>
            <a:endParaRPr lang="en-US" sz="695" dirty="0"/>
          </a:p>
        </p:txBody>
      </p:sp>
      <p:pic>
        <p:nvPicPr>
          <p:cNvPr id="18" name="Picture 38" descr="__type_image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76250" y="4819650"/>
            <a:ext cx="8191500" cy="171450"/>
          </a:xfrm>
          <a:prstGeom prst="rect">
            <a:avLst/>
          </a:prstGeom>
        </p:spPr>
      </p:pic>
      <p:sp>
        <p:nvSpPr>
          <p:cNvPr id="19" name="TextBox 38"/>
          <p:cNvSpPr/>
          <p:nvPr/>
        </p:nvSpPr>
        <p:spPr>
          <a:xfrm>
            <a:off x="476250" y="4819650"/>
            <a:ext cx="8191500" cy="171450"/>
          </a:xfrm>
          <a:prstGeom prst="rect">
            <a:avLst/>
          </a:prstGeom>
          <a:noFill/>
        </p:spPr>
        <p:txBody>
          <a:bodyPr wrap="square" lIns="0" tIns="68645" rIns="0" bIns="0" rtlCol="0" anchor="t">
            <a:spAutoFit/>
          </a:bodyPr>
          <a:lstStyle/>
          <a:p>
            <a:pPr marL="0" indent="0" algn="l">
              <a:lnSpc>
                <a:spcPts val="810"/>
              </a:lnSpc>
              <a:buNone/>
            </a:pPr>
            <a:r>
              <a:rPr lang="en-US" sz="540" kern="0" spc="22" dirty="0">
                <a:solidFill>
                  <a:srgbClr val="5A656D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核心原则：透明 + 可追溯 + 人负责。AI 可辅助科研全过程，但人对最终产物的每句话、每个数据、每个引用负全部责任</a:t>
            </a:r>
            <a:endParaRPr lang="en-US" sz="540"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6F9FC"/>
          </a:solidFill>
        </p:spPr>
      </p:sp>
      <p:sp>
        <p:nvSpPr>
          <p:cNvPr id="3" name="Shape 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6F9FC"/>
          </a:solidFill>
        </p:spPr>
      </p:sp>
      <p:pic>
        <p:nvPicPr>
          <p:cNvPr id="4" name="Picture 4" descr="__type_image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76250" y="381000"/>
            <a:ext cx="8191500" cy="390525"/>
          </a:xfrm>
          <a:prstGeom prst="rect">
            <a:avLst/>
          </a:prstGeom>
        </p:spPr>
      </p:pic>
      <p:sp>
        <p:nvSpPr>
          <p:cNvPr id="5" name="TextBox 4"/>
          <p:cNvSpPr/>
          <p:nvPr/>
        </p:nvSpPr>
        <p:spPr>
          <a:xfrm>
            <a:off x="476250" y="381000"/>
            <a:ext cx="8191500" cy="390525"/>
          </a:xfrm>
          <a:prstGeom prst="rect">
            <a:avLst/>
          </a:prstGeom>
          <a:noFill/>
        </p:spPr>
        <p:txBody>
          <a:bodyPr wrap="square" lIns="0" tIns="0" rIns="0" bIns="98065" rtlCol="0" anchor="t">
            <a:spAutoFit/>
          </a:bodyPr>
          <a:lstStyle/>
          <a:p>
            <a:pPr marL="0" indent="0" algn="l">
              <a:lnSpc>
                <a:spcPts val="2315"/>
              </a:lnSpc>
              <a:buNone/>
            </a:pPr>
            <a:r>
              <a:rPr lang="en-US" sz="1545" b="1" kern="0" spc="-23" dirty="0">
                <a:solidFill>
                  <a:srgbClr val="121C23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科研使用红线（下）——什么能交给 AI、什么必须自己核验</a:t>
            </a:r>
            <a:endParaRPr lang="en-US" sz="1545" dirty="0"/>
          </a:p>
        </p:txBody>
      </p:sp>
      <p:sp>
        <p:nvSpPr>
          <p:cNvPr id="6" name="TextBox 12"/>
          <p:cNvSpPr/>
          <p:nvPr/>
        </p:nvSpPr>
        <p:spPr>
          <a:xfrm>
            <a:off x="476250" y="1000125"/>
            <a:ext cx="4029075" cy="100012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810"/>
              </a:lnSpc>
              <a:buNone/>
            </a:pPr>
            <a:r>
              <a:rPr lang="en-US" sz="540" kern="0" spc="43" dirty="0">
                <a:solidFill>
                  <a:srgbClr val="299236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✅ 可以交给 AI</a:t>
            </a:r>
            <a:endParaRPr lang="en-US" sz="540" dirty="0"/>
          </a:p>
        </p:txBody>
      </p:sp>
      <p:graphicFrame>
        <p:nvGraphicFramePr>
          <p:cNvPr id="54" name="Table 14"/>
          <p:cNvGraphicFramePr>
            <a:graphicFrameLocks noGrp="1"/>
          </p:cNvGraphicFramePr>
          <p:nvPr/>
        </p:nvGraphicFramePr>
        <p:xfrm>
          <a:off x="476250" y="1157288"/>
          <a:ext cx="4029075" cy="914400"/>
        </p:xfrm>
        <a:graphic>
          <a:graphicData uri="http://schemas.openxmlformats.org/drawingml/2006/table">
            <a:tbl>
              <a:tblPr/>
              <a:tblGrid>
                <a:gridCol w="992125"/>
                <a:gridCol w="3036950"/>
              </a:tblGrid>
              <a:tr h="0"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925"/>
                        </a:lnSpc>
                        <a:buNone/>
                      </a:pPr>
                      <a:r>
                        <a:rPr lang="en-US" sz="620" b="1" kern="0" spc="37" dirty="0">
                          <a:solidFill>
                            <a:srgbClr val="299236"/>
                          </a:solidFill>
                          <a:latin typeface="Consolas" panose="020B0609020204030204" pitchFamily="34" charset="0"/>
                          <a:ea typeface="Consolas" panose="020B0609020204030204" pitchFamily="34" charset="-122"/>
                          <a:cs typeface="Consolas" panose="020B0609020204030204" pitchFamily="34" charset="-120"/>
                        </a:rPr>
                        <a:t>场景</a:t>
                      </a:r>
                      <a:endParaRPr lang="en-US" sz="620" dirty="0">
                        <a:latin typeface="Consolas" panose="020B0609020204030204" pitchFamily="34" charset="0"/>
                        <a:ea typeface="Consolas" panose="020B0609020204030204" pitchFamily="34" charset="0"/>
                        <a:cs typeface="Consolas" panose="020B0609020204030204" pitchFamily="34" charset="0"/>
                      </a:endParaRPr>
                    </a:p>
                  </a:txBody>
                  <a:tcPr marL="122581" marR="122581" marT="83355" marB="8335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806" cap="flat" cmpd="sng" algn="ctr">
                      <a:solidFill>
                        <a:srgbClr val="2992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A845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1275"/>
                        </a:lnSpc>
                        <a:buNone/>
                      </a:pPr>
                      <a:r>
                        <a:rPr lang="en-US" sz="850" b="1" dirty="0">
                          <a:solidFill>
                            <a:srgbClr val="121C23"/>
                          </a:solidFill>
                          <a:latin typeface="Segoe UI" panose="020B0502040204020203" pitchFamily="34" charset="0"/>
                          <a:ea typeface="Segoe UI" panose="020B0502040204020203" pitchFamily="34" charset="-122"/>
                          <a:cs typeface="Segoe UI" panose="020B0502040204020203" pitchFamily="34" charset="-120"/>
                        </a:rPr>
                        <a:t>前提条件</a:t>
                      </a:r>
                      <a:endParaRPr lang="en-US" sz="850" dirty="0">
                        <a:latin typeface="Segoe UI" panose="020B0502040204020203" pitchFamily="34" charset="0"/>
                        <a:ea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22581" marR="122581" marT="83355" marB="8335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806" cap="flat" cmpd="sng" algn="ctr">
                      <a:solidFill>
                        <a:srgbClr val="2992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A845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985"/>
                        </a:lnSpc>
                        <a:buNone/>
                      </a:pPr>
                      <a:r>
                        <a:rPr lang="en-US" sz="655" b="1" dirty="0">
                          <a:solidFill>
                            <a:srgbClr val="121C23"/>
                          </a:solidFill>
                          <a:latin typeface="Segoe UI" panose="020B0502040204020203" pitchFamily="34" charset="0"/>
                          <a:ea typeface="Segoe UI" panose="020B0502040204020203" pitchFamily="34" charset="-122"/>
                          <a:cs typeface="Segoe UI" panose="020B0502040204020203" pitchFamily="34" charset="-120"/>
                        </a:rPr>
                        <a:t>文献检索起点</a:t>
                      </a:r>
                      <a:endParaRPr lang="en-US" sz="655" dirty="0">
                        <a:latin typeface="Segoe UI" panose="020B0502040204020203" pitchFamily="34" charset="0"/>
                        <a:ea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22581" marR="122581" marT="73549" marB="73549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4903" cap="flat" cmpd="sng" algn="ctr">
                      <a:solidFill>
                        <a:srgbClr val="D9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985"/>
                        </a:lnSpc>
                        <a:buNone/>
                      </a:pPr>
                      <a:r>
                        <a:rPr lang="en-US" sz="655" dirty="0">
                          <a:solidFill>
                            <a:srgbClr val="5A656D"/>
                          </a:solidFill>
                          <a:latin typeface="Segoe UI" panose="020B0502040204020203" pitchFamily="34" charset="0"/>
                          <a:ea typeface="Segoe UI" panose="020B0502040204020203" pitchFamily="34" charset="-122"/>
                          <a:cs typeface="Segoe UI" panose="020B0502040204020203" pitchFamily="34" charset="-120"/>
                        </a:rPr>
                        <a:t>模型给方向，具体找文献靠 Google Scholar / WoS</a:t>
                      </a:r>
                      <a:endParaRPr lang="en-US" sz="655" dirty="0">
                        <a:latin typeface="Segoe UI" panose="020B0502040204020203" pitchFamily="34" charset="0"/>
                        <a:ea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22581" marR="122581" marT="73549" marB="73549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4903" cap="flat" cmpd="sng" algn="ctr">
                      <a:solidFill>
                        <a:srgbClr val="D9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985"/>
                        </a:lnSpc>
                        <a:buNone/>
                      </a:pPr>
                      <a:r>
                        <a:rPr lang="en-US" sz="655" b="1" dirty="0">
                          <a:solidFill>
                            <a:srgbClr val="121C23"/>
                          </a:solidFill>
                          <a:latin typeface="Segoe UI" panose="020B0502040204020203" pitchFamily="34" charset="0"/>
                          <a:ea typeface="Segoe UI" panose="020B0502040204020203" pitchFamily="34" charset="-122"/>
                          <a:cs typeface="Segoe UI" panose="020B0502040204020203" pitchFamily="34" charset="-120"/>
                        </a:rPr>
                        <a:t>初稿润色</a:t>
                      </a:r>
                      <a:endParaRPr lang="en-US" sz="655" dirty="0">
                        <a:latin typeface="Segoe UI" panose="020B0502040204020203" pitchFamily="34" charset="0"/>
                        <a:ea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22581" marR="122581" marT="73549" marB="73549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4903" cap="flat" cmpd="sng" algn="ctr">
                      <a:solidFill>
                        <a:srgbClr val="D9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985"/>
                        </a:lnSpc>
                        <a:buNone/>
                      </a:pPr>
                      <a:r>
                        <a:rPr lang="en-US" sz="655" dirty="0">
                          <a:solidFill>
                            <a:srgbClr val="5A656D"/>
                          </a:solidFill>
                          <a:latin typeface="Segoe UI" panose="020B0502040204020203" pitchFamily="34" charset="0"/>
                          <a:ea typeface="Segoe UI" panose="020B0502040204020203" pitchFamily="34" charset="-122"/>
                          <a:cs typeface="Segoe UI" panose="020B0502040204020203" pitchFamily="34" charset="-120"/>
                        </a:rPr>
                        <a:t>自己写完全文，AI 只改语法——不改论点、不加新内容</a:t>
                      </a:r>
                      <a:endParaRPr lang="en-US" sz="655" dirty="0">
                        <a:latin typeface="Segoe UI" panose="020B0502040204020203" pitchFamily="34" charset="0"/>
                        <a:ea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22581" marR="122581" marT="73549" marB="73549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4903" cap="flat" cmpd="sng" algn="ctr">
                      <a:solidFill>
                        <a:srgbClr val="D9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985"/>
                        </a:lnSpc>
                        <a:buNone/>
                      </a:pPr>
                      <a:r>
                        <a:rPr lang="en-US" sz="655" b="1" dirty="0">
                          <a:solidFill>
                            <a:srgbClr val="121C23"/>
                          </a:solidFill>
                          <a:latin typeface="Segoe UI" panose="020B0502040204020203" pitchFamily="34" charset="0"/>
                          <a:ea typeface="Segoe UI" panose="020B0502040204020203" pitchFamily="34" charset="-122"/>
                          <a:cs typeface="Segoe UI" panose="020B0502040204020203" pitchFamily="34" charset="-120"/>
                        </a:rPr>
                        <a:t>代码调试</a:t>
                      </a:r>
                      <a:endParaRPr lang="en-US" sz="655" dirty="0">
                        <a:latin typeface="Segoe UI" panose="020B0502040204020203" pitchFamily="34" charset="0"/>
                        <a:ea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22581" marR="122581" marT="73549" marB="73549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4903" cap="flat" cmpd="sng" algn="ctr">
                      <a:solidFill>
                        <a:srgbClr val="D9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985"/>
                        </a:lnSpc>
                        <a:buNone/>
                      </a:pPr>
                      <a:r>
                        <a:rPr lang="en-US" sz="655" dirty="0">
                          <a:solidFill>
                            <a:srgbClr val="5A656D"/>
                          </a:solidFill>
                          <a:latin typeface="Segoe UI" panose="020B0502040204020203" pitchFamily="34" charset="0"/>
                          <a:ea typeface="Segoe UI" panose="020B0502040204020203" pitchFamily="34" charset="-122"/>
                          <a:cs typeface="Segoe UI" panose="020B0502040204020203" pitchFamily="34" charset="-120"/>
                        </a:rPr>
                        <a:t>理解修复逻辑 + 自测通过 + 注释标注 AI 协助</a:t>
                      </a:r>
                      <a:endParaRPr lang="en-US" sz="655" dirty="0">
                        <a:latin typeface="Segoe UI" panose="020B0502040204020203" pitchFamily="34" charset="0"/>
                        <a:ea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22581" marR="122581" marT="73549" marB="73549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4903" cap="flat" cmpd="sng" algn="ctr">
                      <a:solidFill>
                        <a:srgbClr val="D9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985"/>
                        </a:lnSpc>
                        <a:buNone/>
                      </a:pPr>
                      <a:r>
                        <a:rPr lang="en-US" sz="655" b="1" dirty="0">
                          <a:solidFill>
                            <a:srgbClr val="121C23"/>
                          </a:solidFill>
                          <a:latin typeface="Segoe UI" panose="020B0502040204020203" pitchFamily="34" charset="0"/>
                          <a:ea typeface="Segoe UI" panose="020B0502040204020203" pitchFamily="34" charset="-122"/>
                          <a:cs typeface="Segoe UI" panose="020B0502040204020203" pitchFamily="34" charset="-120"/>
                        </a:rPr>
                        <a:t>数据处理脚本</a:t>
                      </a:r>
                      <a:endParaRPr lang="en-US" sz="655" dirty="0">
                        <a:latin typeface="Segoe UI" panose="020B0502040204020203" pitchFamily="34" charset="0"/>
                        <a:ea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22581" marR="122581" marT="73549" marB="73549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4903" cap="flat" cmpd="sng" algn="ctr">
                      <a:solidFill>
                        <a:srgbClr val="D9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985"/>
                        </a:lnSpc>
                        <a:buNone/>
                      </a:pPr>
                      <a:r>
                        <a:rPr lang="en-US" sz="655" dirty="0">
                          <a:solidFill>
                            <a:srgbClr val="5A656D"/>
                          </a:solidFill>
                          <a:latin typeface="Segoe UI" panose="020B0502040204020203" pitchFamily="34" charset="0"/>
                          <a:ea typeface="Segoe UI" panose="020B0502040204020203" pitchFamily="34" charset="-122"/>
                          <a:cs typeface="Segoe UI" panose="020B0502040204020203" pitchFamily="34" charset="-120"/>
                        </a:rPr>
                        <a:t>在自己数据上独立验证输出正确性</a:t>
                      </a:r>
                      <a:endParaRPr lang="en-US" sz="655" dirty="0">
                        <a:latin typeface="Segoe UI" panose="020B0502040204020203" pitchFamily="34" charset="0"/>
                        <a:ea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22581" marR="122581" marT="73549" marB="73549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4903" cap="flat" cmpd="sng" algn="ctr">
                      <a:solidFill>
                        <a:srgbClr val="D9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985"/>
                        </a:lnSpc>
                        <a:buNone/>
                      </a:pPr>
                      <a:r>
                        <a:rPr lang="en-US" sz="655" b="1" dirty="0">
                          <a:solidFill>
                            <a:srgbClr val="121C23"/>
                          </a:solidFill>
                          <a:latin typeface="Segoe UI" panose="020B0502040204020203" pitchFamily="34" charset="0"/>
                          <a:ea typeface="Segoe UI" panose="020B0502040204020203" pitchFamily="34" charset="-122"/>
                          <a:cs typeface="Segoe UI" panose="020B0502040204020203" pitchFamily="34" charset="-120"/>
                        </a:rPr>
                        <a:t>翻译</a:t>
                      </a:r>
                      <a:endParaRPr lang="en-US" sz="655" dirty="0">
                        <a:latin typeface="Segoe UI" panose="020B0502040204020203" pitchFamily="34" charset="0"/>
                        <a:ea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22581" marR="122581" marT="73549" marB="73549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4903" cap="flat" cmpd="sng" algn="ctr">
                      <a:solidFill>
                        <a:srgbClr val="D9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985"/>
                        </a:lnSpc>
                        <a:buNone/>
                      </a:pPr>
                      <a:r>
                        <a:rPr lang="en-US" sz="655" dirty="0">
                          <a:solidFill>
                            <a:srgbClr val="5A656D"/>
                          </a:solidFill>
                          <a:latin typeface="Segoe UI" panose="020B0502040204020203" pitchFamily="34" charset="0"/>
                          <a:ea typeface="Segoe UI" panose="020B0502040204020203" pitchFamily="34" charset="-122"/>
                          <a:cs typeface="Segoe UI" panose="020B0502040204020203" pitchFamily="34" charset="-120"/>
                        </a:rPr>
                        <a:t>自己校对——术语和专业概念不能全信</a:t>
                      </a:r>
                      <a:endParaRPr lang="en-US" sz="655" dirty="0">
                        <a:latin typeface="Segoe UI" panose="020B0502040204020203" pitchFamily="34" charset="0"/>
                        <a:ea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22581" marR="122581" marT="73549" marB="73549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4903" cap="flat" cmpd="sng" algn="ctr">
                      <a:solidFill>
                        <a:srgbClr val="D9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985"/>
                        </a:lnSpc>
                        <a:buNone/>
                      </a:pPr>
                      <a:r>
                        <a:rPr lang="en-US" sz="655" b="1" dirty="0">
                          <a:solidFill>
                            <a:srgbClr val="121C23"/>
                          </a:solidFill>
                          <a:latin typeface="Segoe UI" panose="020B0502040204020203" pitchFamily="34" charset="0"/>
                          <a:ea typeface="Segoe UI" panose="020B0502040204020203" pitchFamily="34" charset="-122"/>
                          <a:cs typeface="Segoe UI" panose="020B0502040204020203" pitchFamily="34" charset="-120"/>
                        </a:rPr>
                        <a:t>头脑风暴</a:t>
                      </a:r>
                      <a:endParaRPr lang="en-US" sz="655" dirty="0">
                        <a:latin typeface="Segoe UI" panose="020B0502040204020203" pitchFamily="34" charset="0"/>
                        <a:ea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22581" marR="122581" marT="73549" marB="73549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4903" cap="flat" cmpd="sng" algn="ctr">
                      <a:solidFill>
                        <a:srgbClr val="D9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985"/>
                        </a:lnSpc>
                        <a:buNone/>
                      </a:pPr>
                      <a:r>
                        <a:rPr lang="en-US" sz="655" dirty="0">
                          <a:solidFill>
                            <a:srgbClr val="5A656D"/>
                          </a:solidFill>
                          <a:latin typeface="Segoe UI" panose="020B0502040204020203" pitchFamily="34" charset="0"/>
                          <a:ea typeface="Segoe UI" panose="020B0502040204020203" pitchFamily="34" charset="-122"/>
                          <a:cs typeface="Segoe UI" panose="020B0502040204020203" pitchFamily="34" charset="-120"/>
                        </a:rPr>
                        <a:t>AI 生成选项，最终判断和取舍是你自己的</a:t>
                      </a:r>
                      <a:endParaRPr lang="en-US" sz="655" dirty="0">
                        <a:latin typeface="Segoe UI" panose="020B0502040204020203" pitchFamily="34" charset="0"/>
                        <a:ea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22581" marR="122581" marT="73549" marB="73549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4903" cap="flat" cmpd="sng" algn="ctr">
                      <a:solidFill>
                        <a:srgbClr val="D9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id="8" name="TextBox 19"/>
          <p:cNvSpPr/>
          <p:nvPr/>
        </p:nvSpPr>
        <p:spPr>
          <a:xfrm>
            <a:off x="4638675" y="1000125"/>
            <a:ext cx="4029075" cy="100012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810"/>
              </a:lnSpc>
              <a:buNone/>
            </a:pPr>
            <a:r>
              <a:rPr lang="en-US" sz="540" kern="0" spc="43" dirty="0">
                <a:solidFill>
                  <a:srgbClr val="299236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❌ 必须自己做</a:t>
            </a:r>
            <a:endParaRPr lang="en-US" sz="540" dirty="0"/>
          </a:p>
        </p:txBody>
      </p:sp>
      <p:graphicFrame>
        <p:nvGraphicFramePr>
          <p:cNvPr id="107" name="Table 21"/>
          <p:cNvGraphicFramePr>
            <a:graphicFrameLocks noGrp="1"/>
          </p:cNvGraphicFramePr>
          <p:nvPr/>
        </p:nvGraphicFramePr>
        <p:xfrm>
          <a:off x="4638675" y="1157288"/>
          <a:ext cx="4029075" cy="914400"/>
        </p:xfrm>
        <a:graphic>
          <a:graphicData uri="http://schemas.openxmlformats.org/drawingml/2006/table">
            <a:tbl>
              <a:tblPr/>
              <a:tblGrid>
                <a:gridCol w="1233599"/>
                <a:gridCol w="2795476"/>
              </a:tblGrid>
              <a:tr h="0"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925"/>
                        </a:lnSpc>
                        <a:buNone/>
                      </a:pPr>
                      <a:r>
                        <a:rPr lang="en-US" sz="620" b="1" kern="0" spc="37" dirty="0">
                          <a:solidFill>
                            <a:srgbClr val="299236"/>
                          </a:solidFill>
                          <a:latin typeface="Consolas" panose="020B0609020204030204" pitchFamily="34" charset="0"/>
                          <a:ea typeface="Consolas" panose="020B0609020204030204" pitchFamily="34" charset="-122"/>
                          <a:cs typeface="Consolas" panose="020B0609020204030204" pitchFamily="34" charset="-120"/>
                        </a:rPr>
                        <a:t>场景</a:t>
                      </a:r>
                      <a:endParaRPr lang="en-US" sz="620" dirty="0">
                        <a:latin typeface="Consolas" panose="020B0609020204030204" pitchFamily="34" charset="0"/>
                        <a:ea typeface="Consolas" panose="020B0609020204030204" pitchFamily="34" charset="0"/>
                        <a:cs typeface="Consolas" panose="020B0609020204030204" pitchFamily="34" charset="0"/>
                      </a:endParaRPr>
                    </a:p>
                  </a:txBody>
                  <a:tcPr marL="122581" marR="122581" marT="83355" marB="8335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806" cap="flat" cmpd="sng" algn="ctr">
                      <a:solidFill>
                        <a:srgbClr val="2992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A845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1275"/>
                        </a:lnSpc>
                        <a:buNone/>
                      </a:pPr>
                      <a:r>
                        <a:rPr lang="en-US" sz="850" b="1" dirty="0">
                          <a:solidFill>
                            <a:srgbClr val="121C23"/>
                          </a:solidFill>
                          <a:latin typeface="Segoe UI" panose="020B0502040204020203" pitchFamily="34" charset="0"/>
                          <a:ea typeface="Segoe UI" panose="020B0502040204020203" pitchFamily="34" charset="-122"/>
                          <a:cs typeface="Segoe UI" panose="020B0502040204020203" pitchFamily="34" charset="-120"/>
                        </a:rPr>
                        <a:t>原因</a:t>
                      </a:r>
                      <a:endParaRPr lang="en-US" sz="850" dirty="0">
                        <a:latin typeface="Segoe UI" panose="020B0502040204020203" pitchFamily="34" charset="0"/>
                        <a:ea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22581" marR="122581" marT="83355" marB="8335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806" cap="flat" cmpd="sng" algn="ctr">
                      <a:solidFill>
                        <a:srgbClr val="2992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A845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985"/>
                        </a:lnSpc>
                        <a:buNone/>
                      </a:pPr>
                      <a:r>
                        <a:rPr lang="en-US" sz="655" b="1" dirty="0">
                          <a:solidFill>
                            <a:srgbClr val="121C23"/>
                          </a:solidFill>
                          <a:latin typeface="Segoe UI" panose="020B0502040204020203" pitchFamily="34" charset="0"/>
                          <a:ea typeface="Segoe UI" panose="020B0502040204020203" pitchFamily="34" charset="-122"/>
                          <a:cs typeface="Segoe UI" panose="020B0502040204020203" pitchFamily="34" charset="-120"/>
                        </a:rPr>
                        <a:t>参考文献最终核实</a:t>
                      </a:r>
                      <a:endParaRPr lang="en-US" sz="655" dirty="0">
                        <a:latin typeface="Segoe UI" panose="020B0502040204020203" pitchFamily="34" charset="0"/>
                        <a:ea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22581" marR="122581" marT="73549" marB="73549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4903" cap="flat" cmpd="sng" algn="ctr">
                      <a:solidFill>
                        <a:srgbClr val="D9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985"/>
                        </a:lnSpc>
                        <a:buNone/>
                      </a:pPr>
                      <a:r>
                        <a:rPr lang="en-US" sz="655" dirty="0">
                          <a:solidFill>
                            <a:srgbClr val="5A656D"/>
                          </a:solidFill>
                          <a:latin typeface="Segoe UI" panose="020B0502040204020203" pitchFamily="34" charset="0"/>
                          <a:ea typeface="Segoe UI" panose="020B0502040204020203" pitchFamily="34" charset="-122"/>
                          <a:cs typeface="Segoe UI" panose="020B0502040204020203" pitchFamily="34" charset="-120"/>
                        </a:rPr>
                        <a:t>模型会编造——每条引用必须在原始数据库中核实</a:t>
                      </a:r>
                      <a:endParaRPr lang="en-US" sz="655" dirty="0">
                        <a:latin typeface="Segoe UI" panose="020B0502040204020203" pitchFamily="34" charset="0"/>
                        <a:ea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22581" marR="122581" marT="73549" marB="73549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4903" cap="flat" cmpd="sng" algn="ctr">
                      <a:solidFill>
                        <a:srgbClr val="D9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985"/>
                        </a:lnSpc>
                        <a:buNone/>
                      </a:pPr>
                      <a:r>
                        <a:rPr lang="en-US" sz="655" b="1" dirty="0">
                          <a:solidFill>
                            <a:srgbClr val="121C23"/>
                          </a:solidFill>
                          <a:latin typeface="Segoe UI" panose="020B0502040204020203" pitchFamily="34" charset="0"/>
                          <a:ea typeface="Segoe UI" panose="020B0502040204020203" pitchFamily="34" charset="-122"/>
                          <a:cs typeface="Segoe UI" panose="020B0502040204020203" pitchFamily="34" charset="-120"/>
                        </a:rPr>
                        <a:t>数据分析和解释</a:t>
                      </a:r>
                      <a:endParaRPr lang="en-US" sz="655" dirty="0">
                        <a:latin typeface="Segoe UI" panose="020B0502040204020203" pitchFamily="34" charset="0"/>
                        <a:ea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22581" marR="122581" marT="73549" marB="73549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4903" cap="flat" cmpd="sng" algn="ctr">
                      <a:solidFill>
                        <a:srgbClr val="D9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985"/>
                        </a:lnSpc>
                        <a:buNone/>
                      </a:pPr>
                      <a:r>
                        <a:rPr lang="en-US" sz="655" dirty="0">
                          <a:solidFill>
                            <a:srgbClr val="5A656D"/>
                          </a:solidFill>
                          <a:latin typeface="Segoe UI" panose="020B0502040204020203" pitchFamily="34" charset="0"/>
                          <a:ea typeface="Segoe UI" panose="020B0502040204020203" pitchFamily="34" charset="-122"/>
                          <a:cs typeface="Segoe UI" panose="020B0502040204020203" pitchFamily="34" charset="-120"/>
                        </a:rPr>
                        <a:t>模型做统计 = 你不知道它算了什么</a:t>
                      </a:r>
                      <a:endParaRPr lang="en-US" sz="655" dirty="0">
                        <a:latin typeface="Segoe UI" panose="020B0502040204020203" pitchFamily="34" charset="0"/>
                        <a:ea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22581" marR="122581" marT="73549" marB="73549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4903" cap="flat" cmpd="sng" algn="ctr">
                      <a:solidFill>
                        <a:srgbClr val="D9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985"/>
                        </a:lnSpc>
                        <a:buNone/>
                      </a:pPr>
                      <a:r>
                        <a:rPr lang="en-US" sz="655" b="1" dirty="0">
                          <a:solidFill>
                            <a:srgbClr val="121C23"/>
                          </a:solidFill>
                          <a:latin typeface="Segoe UI" panose="020B0502040204020203" pitchFamily="34" charset="0"/>
                          <a:ea typeface="Segoe UI" panose="020B0502040204020203" pitchFamily="34" charset="-122"/>
                          <a:cs typeface="Segoe UI" panose="020B0502040204020203" pitchFamily="34" charset="-120"/>
                        </a:rPr>
                        <a:t>论点/结论推导</a:t>
                      </a:r>
                      <a:endParaRPr lang="en-US" sz="655" dirty="0">
                        <a:latin typeface="Segoe UI" panose="020B0502040204020203" pitchFamily="34" charset="0"/>
                        <a:ea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22581" marR="122581" marT="73549" marB="73549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4903" cap="flat" cmpd="sng" algn="ctr">
                      <a:solidFill>
                        <a:srgbClr val="D9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985"/>
                        </a:lnSpc>
                        <a:buNone/>
                      </a:pPr>
                      <a:r>
                        <a:rPr lang="en-US" sz="655" dirty="0">
                          <a:solidFill>
                            <a:srgbClr val="5A656D"/>
                          </a:solidFill>
                          <a:latin typeface="Segoe UI" panose="020B0502040204020203" pitchFamily="34" charset="0"/>
                          <a:ea typeface="Segoe UI" panose="020B0502040204020203" pitchFamily="34" charset="-122"/>
                          <a:cs typeface="Segoe UI" panose="020B0502040204020203" pitchFamily="34" charset="-120"/>
                        </a:rPr>
                        <a:t>AI 不能替你判断"什么是对的"——这是学术工作的核心</a:t>
                      </a:r>
                      <a:endParaRPr lang="en-US" sz="655" dirty="0">
                        <a:latin typeface="Segoe UI" panose="020B0502040204020203" pitchFamily="34" charset="0"/>
                        <a:ea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22581" marR="122581" marT="73549" marB="73549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4903" cap="flat" cmpd="sng" algn="ctr">
                      <a:solidFill>
                        <a:srgbClr val="D9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985"/>
                        </a:lnSpc>
                        <a:buNone/>
                      </a:pPr>
                      <a:r>
                        <a:rPr lang="en-US" sz="655" b="1" dirty="0">
                          <a:solidFill>
                            <a:srgbClr val="121C23"/>
                          </a:solidFill>
                          <a:latin typeface="Segoe UI" panose="020B0502040204020203" pitchFamily="34" charset="0"/>
                          <a:ea typeface="Segoe UI" panose="020B0502040204020203" pitchFamily="34" charset="-122"/>
                          <a:cs typeface="Segoe UI" panose="020B0502040204020203" pitchFamily="34" charset="-120"/>
                        </a:rPr>
                        <a:t>整段正文（未标注）</a:t>
                      </a:r>
                      <a:endParaRPr lang="en-US" sz="655" dirty="0">
                        <a:latin typeface="Segoe UI" panose="020B0502040204020203" pitchFamily="34" charset="0"/>
                        <a:ea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22581" marR="122581" marT="73549" marB="73549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4903" cap="flat" cmpd="sng" algn="ctr">
                      <a:solidFill>
                        <a:srgbClr val="D9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985"/>
                        </a:lnSpc>
                        <a:buNone/>
                      </a:pPr>
                      <a:r>
                        <a:rPr lang="en-US" sz="655" dirty="0">
                          <a:solidFill>
                            <a:srgbClr val="5A656D"/>
                          </a:solidFill>
                          <a:latin typeface="Segoe UI" panose="020B0502040204020203" pitchFamily="34" charset="0"/>
                          <a:ea typeface="Segoe UI" panose="020B0502040204020203" pitchFamily="34" charset="-122"/>
                          <a:cs typeface="Segoe UI" panose="020B0502040204020203" pitchFamily="34" charset="-120"/>
                        </a:rPr>
                        <a:t>可能被期刊以"学术不端"拒稿</a:t>
                      </a:r>
                      <a:endParaRPr lang="en-US" sz="655" dirty="0">
                        <a:latin typeface="Segoe UI" panose="020B0502040204020203" pitchFamily="34" charset="0"/>
                        <a:ea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22581" marR="122581" marT="73549" marB="73549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4903" cap="flat" cmpd="sng" algn="ctr">
                      <a:solidFill>
                        <a:srgbClr val="D9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985"/>
                        </a:lnSpc>
                        <a:buNone/>
                      </a:pPr>
                      <a:r>
                        <a:rPr lang="en-US" sz="655" b="1" dirty="0">
                          <a:solidFill>
                            <a:srgbClr val="121C23"/>
                          </a:solidFill>
                          <a:latin typeface="Segoe UI" panose="020B0502040204020203" pitchFamily="34" charset="0"/>
                          <a:ea typeface="Segoe UI" panose="020B0502040204020203" pitchFamily="34" charset="-122"/>
                          <a:cs typeface="Segoe UI" panose="020B0502040204020203" pitchFamily="34" charset="-120"/>
                        </a:rPr>
                        <a:t>事实验证</a:t>
                      </a:r>
                      <a:endParaRPr lang="en-US" sz="655" dirty="0">
                        <a:latin typeface="Segoe UI" panose="020B0502040204020203" pitchFamily="34" charset="0"/>
                        <a:ea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22581" marR="122581" marT="73549" marB="73549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4903" cap="flat" cmpd="sng" algn="ctr">
                      <a:solidFill>
                        <a:srgbClr val="D9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985"/>
                        </a:lnSpc>
                        <a:buNone/>
                      </a:pPr>
                      <a:r>
                        <a:rPr lang="en-US" sz="655" dirty="0">
                          <a:solidFill>
                            <a:srgbClr val="5A656D"/>
                          </a:solidFill>
                          <a:latin typeface="Segoe UI" panose="020B0502040204020203" pitchFamily="34" charset="0"/>
                          <a:ea typeface="Segoe UI" panose="020B0502040204020203" pitchFamily="34" charset="-122"/>
                          <a:cs typeface="Segoe UI" panose="020B0502040204020203" pitchFamily="34" charset="-120"/>
                        </a:rPr>
                        <a:t>"模型说的" ≠ 事实——未经独立核实 = 未经证实</a:t>
                      </a:r>
                      <a:endParaRPr lang="en-US" sz="655" dirty="0">
                        <a:latin typeface="Segoe UI" panose="020B0502040204020203" pitchFamily="34" charset="0"/>
                        <a:ea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22581" marR="122581" marT="73549" marB="73549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4903" cap="flat" cmpd="sng" algn="ctr">
                      <a:solidFill>
                        <a:srgbClr val="D9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id="10" name="Shape 25"/>
          <p:cNvSpPr/>
          <p:nvPr/>
        </p:nvSpPr>
        <p:spPr>
          <a:xfrm>
            <a:off x="476250" y="3100388"/>
            <a:ext cx="8191500" cy="476250"/>
          </a:xfrm>
          <a:prstGeom prst="roundRect">
            <a:avLst>
              <a:gd name="adj" fmla="val 6177"/>
            </a:avLst>
          </a:prstGeom>
          <a:solidFill>
            <a:srgbClr val="5A845A">
              <a:alpha val="12157"/>
            </a:srgbClr>
          </a:solidFill>
          <a:ln w="4903">
            <a:solidFill>
              <a:srgbClr val="5C875C">
                <a:alpha val="25098"/>
              </a:srgbClr>
            </a:solidFill>
            <a:prstDash val="solid"/>
          </a:ln>
        </p:spPr>
      </p:sp>
      <p:sp>
        <p:nvSpPr>
          <p:cNvPr id="11" name="TextBox 27"/>
          <p:cNvSpPr/>
          <p:nvPr/>
        </p:nvSpPr>
        <p:spPr>
          <a:xfrm>
            <a:off x="633412" y="3209925"/>
            <a:ext cx="7877175" cy="26670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040"/>
              </a:lnSpc>
              <a:buNone/>
            </a:pPr>
            <a:r>
              <a:rPr lang="en-US" sz="695" dirty="0">
                <a:solidFill>
                  <a:srgbClr val="121C23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。"我用 AI 分析问卷数据"→ 你不理解方法 , 你和 AI 都不知道答案。③ "我用 AI 翻译中文论文投英文期刊"→ 如果英文完全从中文 AI 翻译，这已接近"AI 生成内容"而非"润色"。</a:t>
            </a:r>
            <a:r>
              <a:rPr lang="en-US" sz="695" b="1" dirty="0">
                <a:solidFill>
                  <a:srgbClr val="121C23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每跨过一个红线，你从"研究者"变成了"AI 的代言人"。</a:t>
            </a:r>
            <a:endParaRPr lang="en-US" sz="695" dirty="0"/>
          </a:p>
        </p:txBody>
      </p:sp>
      <p:pic>
        <p:nvPicPr>
          <p:cNvPr id="12" name="Picture 31" descr="__type_image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76250" y="4819650"/>
            <a:ext cx="8191500" cy="171450"/>
          </a:xfrm>
          <a:prstGeom prst="rect">
            <a:avLst/>
          </a:prstGeom>
        </p:spPr>
      </p:pic>
      <p:sp>
        <p:nvSpPr>
          <p:cNvPr id="13" name="TextBox 31"/>
          <p:cNvSpPr/>
          <p:nvPr/>
        </p:nvSpPr>
        <p:spPr>
          <a:xfrm>
            <a:off x="476250" y="4819650"/>
            <a:ext cx="8191500" cy="171450"/>
          </a:xfrm>
          <a:prstGeom prst="rect">
            <a:avLst/>
          </a:prstGeom>
          <a:noFill/>
        </p:spPr>
        <p:txBody>
          <a:bodyPr wrap="square" lIns="0" tIns="68645" rIns="0" bIns="0" rtlCol="0" anchor="t">
            <a:spAutoFit/>
          </a:bodyPr>
          <a:lstStyle/>
          <a:p>
            <a:pPr marL="0" indent="0" algn="l">
              <a:lnSpc>
                <a:spcPts val="810"/>
              </a:lnSpc>
              <a:buNone/>
            </a:pPr>
            <a:r>
              <a:rPr lang="en-US" sz="540" kern="0" spc="22" dirty="0">
                <a:solidFill>
                  <a:srgbClr val="5A656D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永远不要躲在一个不能负责的工具后面。论文署名的是你，不是 ChatGPT</a:t>
            </a:r>
            <a:endParaRPr lang="en-US" sz="540" dirty="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6F9FC"/>
          </a:solidFill>
        </p:spPr>
      </p:sp>
      <p:sp>
        <p:nvSpPr>
          <p:cNvPr id="3" name="Shape 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6F9FC"/>
          </a:solidFill>
        </p:spPr>
      </p:sp>
      <p:pic>
        <p:nvPicPr>
          <p:cNvPr id="4" name="Picture 4" descr="__type_image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76250" y="381000"/>
            <a:ext cx="8191500" cy="390525"/>
          </a:xfrm>
          <a:prstGeom prst="rect">
            <a:avLst/>
          </a:prstGeom>
        </p:spPr>
      </p:pic>
      <p:sp>
        <p:nvSpPr>
          <p:cNvPr id="5" name="TextBox 4"/>
          <p:cNvSpPr/>
          <p:nvPr/>
        </p:nvSpPr>
        <p:spPr>
          <a:xfrm>
            <a:off x="476250" y="381000"/>
            <a:ext cx="8191500" cy="390525"/>
          </a:xfrm>
          <a:prstGeom prst="rect">
            <a:avLst/>
          </a:prstGeom>
          <a:noFill/>
        </p:spPr>
        <p:txBody>
          <a:bodyPr wrap="square" lIns="0" tIns="0" rIns="0" bIns="98065" rtlCol="0" anchor="t">
            <a:spAutoFit/>
          </a:bodyPr>
          <a:lstStyle/>
          <a:p>
            <a:pPr marL="0" indent="0" algn="l">
              <a:lnSpc>
                <a:spcPts val="2315"/>
              </a:lnSpc>
              <a:buNone/>
            </a:pPr>
            <a:r>
              <a:rPr lang="en-US" sz="1545" b="1" kern="0" spc="-23" dirty="0">
                <a:solidFill>
                  <a:srgbClr val="121C23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正确使用模型的核验流程</a:t>
            </a:r>
            <a:endParaRPr lang="en-US" sz="1545" dirty="0"/>
          </a:p>
        </p:txBody>
      </p:sp>
      <p:sp>
        <p:nvSpPr>
          <p:cNvPr id="6" name="TextBox 10"/>
          <p:cNvSpPr/>
          <p:nvPr/>
        </p:nvSpPr>
        <p:spPr>
          <a:xfrm>
            <a:off x="476250" y="1000125"/>
            <a:ext cx="8191500" cy="100012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810"/>
              </a:lnSpc>
              <a:buNone/>
            </a:pPr>
            <a:r>
              <a:rPr lang="en-US" sz="540" kern="0" spc="43" dirty="0">
                <a:solidFill>
                  <a:srgbClr val="299236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通用核验三步法——适用于任何 AI 辅助的科研任务</a:t>
            </a:r>
            <a:endParaRPr lang="en-US" sz="540" dirty="0"/>
          </a:p>
        </p:txBody>
      </p:sp>
      <p:sp>
        <p:nvSpPr>
          <p:cNvPr id="7" name="Shape 14"/>
          <p:cNvSpPr/>
          <p:nvPr/>
        </p:nvSpPr>
        <p:spPr>
          <a:xfrm>
            <a:off x="476250" y="1157288"/>
            <a:ext cx="2667000" cy="647700"/>
          </a:xfrm>
          <a:prstGeom prst="roundRect">
            <a:avLst>
              <a:gd name="adj" fmla="val 4542"/>
            </a:avLst>
          </a:prstGeom>
          <a:solidFill>
            <a:srgbClr val="FFFFFF"/>
          </a:solidFill>
          <a:ln w="4903">
            <a:solidFill>
              <a:srgbClr val="D9DFE3"/>
            </a:solidFill>
            <a:prstDash val="solid"/>
          </a:ln>
        </p:spPr>
      </p:sp>
      <p:sp>
        <p:nvSpPr>
          <p:cNvPr id="8" name="TextBox 16"/>
          <p:cNvSpPr/>
          <p:nvPr/>
        </p:nvSpPr>
        <p:spPr>
          <a:xfrm>
            <a:off x="576263" y="1238250"/>
            <a:ext cx="2466975" cy="22860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855"/>
              </a:lnSpc>
              <a:buNone/>
            </a:pPr>
            <a:r>
              <a:rPr lang="en-US" sz="1235" b="1" dirty="0">
                <a:solidFill>
                  <a:srgbClr val="299236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1. 溯源</a:t>
            </a:r>
            <a:endParaRPr lang="en-US" sz="1235" dirty="0"/>
          </a:p>
        </p:txBody>
      </p:sp>
      <p:sp>
        <p:nvSpPr>
          <p:cNvPr id="9" name="TextBox 18"/>
          <p:cNvSpPr/>
          <p:nvPr/>
        </p:nvSpPr>
        <p:spPr>
          <a:xfrm>
            <a:off x="576263" y="1466850"/>
            <a:ext cx="2466975" cy="25717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040"/>
              </a:lnSpc>
              <a:buNone/>
            </a:pPr>
            <a:r>
              <a:rPr lang="en-US" sz="695" dirty="0">
                <a:solidFill>
                  <a:srgbClr val="5A656D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AI 给的信息 → 找到原始出处。"模型说的"不是"来源"——它不能自己引用自己。</a:t>
            </a:r>
            <a:r>
              <a:rPr lang="en-US" sz="695" b="1" dirty="0">
                <a:solidFill>
                  <a:srgbClr val="5A656D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没有原始出处 = 不能用于学术工作。</a:t>
            </a:r>
            <a:endParaRPr lang="en-US" sz="695" dirty="0"/>
          </a:p>
        </p:txBody>
      </p:sp>
      <p:sp>
        <p:nvSpPr>
          <p:cNvPr id="10" name="Shape 21"/>
          <p:cNvSpPr/>
          <p:nvPr/>
        </p:nvSpPr>
        <p:spPr>
          <a:xfrm>
            <a:off x="3238500" y="1157288"/>
            <a:ext cx="2667000" cy="647700"/>
          </a:xfrm>
          <a:prstGeom prst="roundRect">
            <a:avLst>
              <a:gd name="adj" fmla="val 4542"/>
            </a:avLst>
          </a:prstGeom>
          <a:solidFill>
            <a:srgbClr val="FFFFFF"/>
          </a:solidFill>
          <a:ln w="4903">
            <a:solidFill>
              <a:srgbClr val="D9DFE3"/>
            </a:solidFill>
            <a:prstDash val="solid"/>
          </a:ln>
        </p:spPr>
      </p:sp>
      <p:sp>
        <p:nvSpPr>
          <p:cNvPr id="11" name="TextBox 23"/>
          <p:cNvSpPr/>
          <p:nvPr/>
        </p:nvSpPr>
        <p:spPr>
          <a:xfrm>
            <a:off x="3338512" y="1238250"/>
            <a:ext cx="2466975" cy="22860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855"/>
              </a:lnSpc>
              <a:buNone/>
            </a:pPr>
            <a:r>
              <a:rPr lang="en-US" sz="1235" b="1" dirty="0">
                <a:solidFill>
                  <a:srgbClr val="299236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2. 核验</a:t>
            </a:r>
            <a:endParaRPr lang="en-US" sz="1235" dirty="0"/>
          </a:p>
        </p:txBody>
      </p:sp>
      <p:sp>
        <p:nvSpPr>
          <p:cNvPr id="12" name="TextBox 25"/>
          <p:cNvSpPr/>
          <p:nvPr/>
        </p:nvSpPr>
        <p:spPr>
          <a:xfrm>
            <a:off x="3338512" y="1466850"/>
            <a:ext cx="2466975" cy="25717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040"/>
              </a:lnSpc>
              <a:buNone/>
            </a:pPr>
            <a:r>
              <a:rPr lang="en-US" sz="695" dirty="0">
                <a:solidFill>
                  <a:srgbClr val="5A656D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原始来源 → 交叉确认。单一来源不够——</a:t>
            </a:r>
            <a:r>
              <a:rPr lang="en-US" sz="695" b="1" dirty="0">
                <a:solidFill>
                  <a:srgbClr val="5A656D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至少两个独立渠道</a:t>
            </a:r>
            <a:r>
              <a:rPr lang="en-US" sz="695" dirty="0">
                <a:solidFill>
                  <a:srgbClr val="5A656D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确认同一事实。文献：Google Scholar + 期刊官网 + WoS 三通道。</a:t>
            </a:r>
            <a:endParaRPr lang="en-US" sz="695" dirty="0"/>
          </a:p>
        </p:txBody>
      </p:sp>
      <p:sp>
        <p:nvSpPr>
          <p:cNvPr id="13" name="Shape 28"/>
          <p:cNvSpPr/>
          <p:nvPr/>
        </p:nvSpPr>
        <p:spPr>
          <a:xfrm>
            <a:off x="6000750" y="1157288"/>
            <a:ext cx="2667000" cy="647700"/>
          </a:xfrm>
          <a:prstGeom prst="roundRect">
            <a:avLst>
              <a:gd name="adj" fmla="val 4542"/>
            </a:avLst>
          </a:prstGeom>
          <a:solidFill>
            <a:srgbClr val="FFFFFF"/>
          </a:solidFill>
          <a:ln w="4903">
            <a:solidFill>
              <a:srgbClr val="D9DFE3"/>
            </a:solidFill>
            <a:prstDash val="solid"/>
          </a:ln>
        </p:spPr>
      </p:sp>
      <p:sp>
        <p:nvSpPr>
          <p:cNvPr id="14" name="TextBox 30"/>
          <p:cNvSpPr/>
          <p:nvPr/>
        </p:nvSpPr>
        <p:spPr>
          <a:xfrm>
            <a:off x="6100763" y="1238250"/>
            <a:ext cx="2466975" cy="22860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855"/>
              </a:lnSpc>
              <a:buNone/>
            </a:pPr>
            <a:r>
              <a:rPr lang="en-US" sz="1235" b="1" dirty="0">
                <a:solidFill>
                  <a:srgbClr val="299236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3. 记录</a:t>
            </a:r>
            <a:endParaRPr lang="en-US" sz="1235" dirty="0"/>
          </a:p>
        </p:txBody>
      </p:sp>
      <p:sp>
        <p:nvSpPr>
          <p:cNvPr id="15" name="TextBox 32"/>
          <p:cNvSpPr/>
          <p:nvPr/>
        </p:nvSpPr>
        <p:spPr>
          <a:xfrm>
            <a:off x="6100763" y="1466850"/>
            <a:ext cx="2466975" cy="26670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040"/>
              </a:lnSpc>
              <a:buNone/>
            </a:pPr>
            <a:r>
              <a:rPr lang="en-US" sz="695" dirty="0">
                <a:solidFill>
                  <a:srgbClr val="5A656D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核验过程 → 留下痕迹。什么信息、来源、核实方式——记下来。</a:t>
            </a:r>
            <a:r>
              <a:rPr lang="en-US" sz="695" b="1" dirty="0">
                <a:solidFill>
                  <a:srgbClr val="5A656D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三个月后你自己回头看能复现</a:t>
            </a:r>
            <a:r>
              <a:rPr lang="en-US" sz="695" dirty="0">
                <a:solidFill>
                  <a:srgbClr val="5A656D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。</a:t>
            </a:r>
            <a:endParaRPr lang="en-US" sz="695" dirty="0"/>
          </a:p>
        </p:txBody>
      </p:sp>
      <p:sp>
        <p:nvSpPr>
          <p:cNvPr id="16" name="TextBox 39"/>
          <p:cNvSpPr/>
          <p:nvPr/>
        </p:nvSpPr>
        <p:spPr>
          <a:xfrm>
            <a:off x="476250" y="1871663"/>
            <a:ext cx="8191500" cy="100012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810"/>
              </a:lnSpc>
              <a:buNone/>
            </a:pPr>
            <a:r>
              <a:rPr lang="en-US" sz="540" kern="0" spc="43" dirty="0">
                <a:solidFill>
                  <a:srgbClr val="299236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参考文献核验流程——六步标准操作</a:t>
            </a:r>
            <a:endParaRPr lang="en-US" sz="540" dirty="0"/>
          </a:p>
        </p:txBody>
      </p:sp>
      <p:sp>
        <p:nvSpPr>
          <p:cNvPr id="17" name="TextBox 45"/>
          <p:cNvSpPr/>
          <p:nvPr/>
        </p:nvSpPr>
        <p:spPr>
          <a:xfrm>
            <a:off x="476250" y="2028825"/>
            <a:ext cx="266700" cy="182873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r">
              <a:lnSpc>
                <a:spcPts val="1485"/>
              </a:lnSpc>
              <a:buNone/>
            </a:pPr>
            <a:r>
              <a:rPr lang="en-US" sz="1235" b="1" dirty="0">
                <a:solidFill>
                  <a:srgbClr val="299236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1</a:t>
            </a:r>
            <a:endParaRPr lang="en-US" sz="1235" dirty="0"/>
          </a:p>
        </p:txBody>
      </p:sp>
      <p:sp>
        <p:nvSpPr>
          <p:cNvPr id="18" name="TextBox 48"/>
          <p:cNvSpPr/>
          <p:nvPr/>
        </p:nvSpPr>
        <p:spPr>
          <a:xfrm>
            <a:off x="857250" y="2028825"/>
            <a:ext cx="2686050" cy="15557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215"/>
              </a:lnSpc>
              <a:buNone/>
            </a:pPr>
            <a:r>
              <a:rPr lang="en-US" sz="810" b="1" dirty="0">
                <a:solidFill>
                  <a:srgbClr val="5A656D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提取列表</a:t>
            </a:r>
            <a:r>
              <a:rPr lang="en-US" sz="810" dirty="0">
                <a:solidFill>
                  <a:srgbClr val="5A656D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——把模型生成的参考文献全部作为待核实列表</a:t>
            </a:r>
            <a:endParaRPr lang="en-US" sz="810" dirty="0"/>
          </a:p>
        </p:txBody>
      </p:sp>
      <p:sp>
        <p:nvSpPr>
          <p:cNvPr id="19" name="TextBox 53"/>
          <p:cNvSpPr/>
          <p:nvPr/>
        </p:nvSpPr>
        <p:spPr>
          <a:xfrm>
            <a:off x="476250" y="2240273"/>
            <a:ext cx="266700" cy="182873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r">
              <a:lnSpc>
                <a:spcPts val="1485"/>
              </a:lnSpc>
              <a:buNone/>
            </a:pPr>
            <a:r>
              <a:rPr lang="en-US" sz="1235" b="1" dirty="0">
                <a:solidFill>
                  <a:srgbClr val="299236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2</a:t>
            </a:r>
            <a:endParaRPr lang="en-US" sz="1235" dirty="0"/>
          </a:p>
        </p:txBody>
      </p:sp>
      <p:sp>
        <p:nvSpPr>
          <p:cNvPr id="20" name="TextBox 56"/>
          <p:cNvSpPr/>
          <p:nvPr/>
        </p:nvSpPr>
        <p:spPr>
          <a:xfrm>
            <a:off x="857250" y="2240273"/>
            <a:ext cx="3331666" cy="150019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215"/>
              </a:lnSpc>
              <a:buNone/>
            </a:pPr>
            <a:r>
              <a:rPr lang="en-US" sz="810" b="1" dirty="0">
                <a:solidFill>
                  <a:srgbClr val="5A656D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逐条检索</a:t>
            </a:r>
            <a:r>
              <a:rPr lang="en-US" sz="810" dirty="0">
                <a:solidFill>
                  <a:srgbClr val="5A656D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——Google Scholar → Web of Science → 期刊官网（至少用两个）</a:t>
            </a:r>
            <a:endParaRPr lang="en-US" sz="810" dirty="0"/>
          </a:p>
        </p:txBody>
      </p:sp>
      <p:sp>
        <p:nvSpPr>
          <p:cNvPr id="21" name="TextBox 61"/>
          <p:cNvSpPr/>
          <p:nvPr/>
        </p:nvSpPr>
        <p:spPr>
          <a:xfrm>
            <a:off x="476250" y="2451720"/>
            <a:ext cx="266700" cy="182873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r">
              <a:lnSpc>
                <a:spcPts val="1485"/>
              </a:lnSpc>
              <a:buNone/>
            </a:pPr>
            <a:r>
              <a:rPr lang="en-US" sz="1235" b="1" dirty="0">
                <a:solidFill>
                  <a:srgbClr val="299236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3</a:t>
            </a:r>
            <a:endParaRPr lang="en-US" sz="1235" dirty="0"/>
          </a:p>
        </p:txBody>
      </p:sp>
      <p:sp>
        <p:nvSpPr>
          <p:cNvPr id="22" name="TextBox 64"/>
          <p:cNvSpPr/>
          <p:nvPr/>
        </p:nvSpPr>
        <p:spPr>
          <a:xfrm>
            <a:off x="857250" y="2451735"/>
            <a:ext cx="3602990" cy="15557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215"/>
              </a:lnSpc>
              <a:buNone/>
            </a:pPr>
            <a:r>
              <a:rPr lang="en-US" sz="810" b="1" dirty="0">
                <a:solidFill>
                  <a:srgbClr val="5A656D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逐字段比对</a:t>
            </a:r>
            <a:r>
              <a:rPr lang="en-US" sz="810" dirty="0">
                <a:solidFill>
                  <a:srgbClr val="5A656D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——作者全名 / 年份 / 期刊名 / 卷期页码 / 论文标题是否完全一致</a:t>
            </a:r>
            <a:endParaRPr lang="en-US" sz="810" dirty="0"/>
          </a:p>
        </p:txBody>
      </p:sp>
      <p:sp>
        <p:nvSpPr>
          <p:cNvPr id="23" name="TextBox 69"/>
          <p:cNvSpPr/>
          <p:nvPr/>
        </p:nvSpPr>
        <p:spPr>
          <a:xfrm>
            <a:off x="476250" y="2663168"/>
            <a:ext cx="266700" cy="182873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r">
              <a:lnSpc>
                <a:spcPts val="1485"/>
              </a:lnSpc>
              <a:buNone/>
            </a:pPr>
            <a:r>
              <a:rPr lang="en-US" sz="1235" b="1" dirty="0">
                <a:solidFill>
                  <a:srgbClr val="299236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4</a:t>
            </a:r>
            <a:endParaRPr lang="en-US" sz="1235" dirty="0"/>
          </a:p>
        </p:txBody>
      </p:sp>
      <p:sp>
        <p:nvSpPr>
          <p:cNvPr id="24" name="TextBox 72"/>
          <p:cNvSpPr/>
          <p:nvPr/>
        </p:nvSpPr>
        <p:spPr>
          <a:xfrm>
            <a:off x="857250" y="2663168"/>
            <a:ext cx="3282032" cy="150019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215"/>
              </a:lnSpc>
              <a:buNone/>
            </a:pPr>
            <a:r>
              <a:rPr lang="en-US" sz="810" b="1" dirty="0">
                <a:solidFill>
                  <a:srgbClr val="5A656D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标记分类</a:t>
            </a:r>
            <a:r>
              <a:rPr lang="en-US" sz="810" dirty="0">
                <a:solidFill>
                  <a:srgbClr val="5A656D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——✅ 完全匹配 / ⚠️ 部分错误 / ❌ 完全不存在（大概率幻觉）</a:t>
            </a:r>
            <a:endParaRPr lang="en-US" sz="810" dirty="0"/>
          </a:p>
        </p:txBody>
      </p:sp>
      <p:sp>
        <p:nvSpPr>
          <p:cNvPr id="25" name="TextBox 77"/>
          <p:cNvSpPr/>
          <p:nvPr/>
        </p:nvSpPr>
        <p:spPr>
          <a:xfrm>
            <a:off x="476250" y="2874615"/>
            <a:ext cx="266700" cy="182873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r">
              <a:lnSpc>
                <a:spcPts val="1485"/>
              </a:lnSpc>
              <a:buNone/>
            </a:pPr>
            <a:r>
              <a:rPr lang="en-US" sz="1235" b="1" dirty="0">
                <a:solidFill>
                  <a:srgbClr val="299236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5</a:t>
            </a:r>
            <a:endParaRPr lang="en-US" sz="1235" dirty="0"/>
          </a:p>
        </p:txBody>
      </p:sp>
      <p:sp>
        <p:nvSpPr>
          <p:cNvPr id="26" name="TextBox 80"/>
          <p:cNvSpPr/>
          <p:nvPr/>
        </p:nvSpPr>
        <p:spPr>
          <a:xfrm>
            <a:off x="857250" y="2874645"/>
            <a:ext cx="3924935" cy="15557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215"/>
              </a:lnSpc>
              <a:buNone/>
            </a:pPr>
            <a:r>
              <a:rPr lang="en-US" sz="810" b="1" dirty="0">
                <a:solidFill>
                  <a:srgbClr val="5A656D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保留有效引用</a:t>
            </a:r>
            <a:r>
              <a:rPr lang="en-US" sz="810" dirty="0">
                <a:solidFill>
                  <a:srgbClr val="5A656D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——只保留 ✅ 或 ⚠️ 且能完整追溯到原始出处的——其余全部删除</a:t>
            </a:r>
            <a:endParaRPr lang="en-US" sz="810" dirty="0"/>
          </a:p>
        </p:txBody>
      </p:sp>
      <p:sp>
        <p:nvSpPr>
          <p:cNvPr id="27" name="TextBox 85"/>
          <p:cNvSpPr/>
          <p:nvPr/>
        </p:nvSpPr>
        <p:spPr>
          <a:xfrm>
            <a:off x="476250" y="3086063"/>
            <a:ext cx="266700" cy="182873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r">
              <a:lnSpc>
                <a:spcPts val="1485"/>
              </a:lnSpc>
              <a:buNone/>
            </a:pPr>
            <a:r>
              <a:rPr lang="en-US" sz="1235" b="1" dirty="0">
                <a:solidFill>
                  <a:srgbClr val="299236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6</a:t>
            </a:r>
            <a:endParaRPr lang="en-US" sz="1235" dirty="0"/>
          </a:p>
        </p:txBody>
      </p:sp>
      <p:sp>
        <p:nvSpPr>
          <p:cNvPr id="28" name="TextBox 88"/>
          <p:cNvSpPr/>
          <p:nvPr/>
        </p:nvSpPr>
        <p:spPr>
          <a:xfrm>
            <a:off x="857250" y="3086100"/>
            <a:ext cx="3714115" cy="15557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215"/>
              </a:lnSpc>
              <a:buNone/>
            </a:pPr>
            <a:r>
              <a:rPr lang="en-US" sz="810" b="1" dirty="0">
                <a:solidFill>
                  <a:srgbClr val="5A656D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自己补充</a:t>
            </a:r>
            <a:r>
              <a:rPr lang="en-US" sz="810" dirty="0">
                <a:solidFill>
                  <a:srgbClr val="5A656D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——在已核实的真实文献基础上，通过数据库检索补充参考文献</a:t>
            </a:r>
            <a:endParaRPr lang="en-US" sz="810" dirty="0"/>
          </a:p>
        </p:txBody>
      </p:sp>
      <p:sp>
        <p:nvSpPr>
          <p:cNvPr id="29" name="Shape 93"/>
          <p:cNvSpPr/>
          <p:nvPr/>
        </p:nvSpPr>
        <p:spPr>
          <a:xfrm>
            <a:off x="476250" y="3335610"/>
            <a:ext cx="8191500" cy="347663"/>
          </a:xfrm>
          <a:prstGeom prst="roundRect">
            <a:avLst>
              <a:gd name="adj" fmla="val 8462"/>
            </a:avLst>
          </a:prstGeom>
          <a:solidFill>
            <a:srgbClr val="5A845A">
              <a:alpha val="12157"/>
            </a:srgbClr>
          </a:solidFill>
          <a:ln w="4903">
            <a:solidFill>
              <a:srgbClr val="5C875C">
                <a:alpha val="25098"/>
              </a:srgbClr>
            </a:solidFill>
            <a:prstDash val="solid"/>
          </a:ln>
        </p:spPr>
      </p:sp>
      <p:sp>
        <p:nvSpPr>
          <p:cNvPr id="30" name="TextBox 95"/>
          <p:cNvSpPr/>
          <p:nvPr/>
        </p:nvSpPr>
        <p:spPr>
          <a:xfrm>
            <a:off x="633412" y="3445148"/>
            <a:ext cx="7877175" cy="13335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040"/>
              </a:lnSpc>
              <a:buNone/>
            </a:pPr>
            <a:r>
              <a:rPr lang="en-US" sz="695" dirty="0">
                <a:solidFill>
                  <a:srgbClr val="121C23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5 条引用核验约需 15-25 分钟。但如果不做——一条虚假引用被审稿人发现，修复成本远大于 25 分钟。</a:t>
            </a:r>
            <a:r>
              <a:rPr lang="en-US" sz="695" b="1" dirty="0">
                <a:solidFill>
                  <a:srgbClr val="121C23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这笔时间投入是最值得的学术保险。</a:t>
            </a:r>
            <a:endParaRPr lang="en-US" sz="695" dirty="0"/>
          </a:p>
        </p:txBody>
      </p:sp>
      <p:pic>
        <p:nvPicPr>
          <p:cNvPr id="31" name="Picture 99" descr="__type_image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76250" y="4819650"/>
            <a:ext cx="8191500" cy="171450"/>
          </a:xfrm>
          <a:prstGeom prst="rect">
            <a:avLst/>
          </a:prstGeom>
        </p:spPr>
      </p:pic>
      <p:sp>
        <p:nvSpPr>
          <p:cNvPr id="32" name="TextBox 99"/>
          <p:cNvSpPr/>
          <p:nvPr/>
        </p:nvSpPr>
        <p:spPr>
          <a:xfrm>
            <a:off x="476250" y="4819650"/>
            <a:ext cx="8191500" cy="171450"/>
          </a:xfrm>
          <a:prstGeom prst="rect">
            <a:avLst/>
          </a:prstGeom>
          <a:noFill/>
        </p:spPr>
        <p:txBody>
          <a:bodyPr wrap="square" lIns="0" tIns="68645" rIns="0" bIns="0" rtlCol="0" anchor="t">
            <a:spAutoFit/>
          </a:bodyPr>
          <a:lstStyle/>
          <a:p>
            <a:pPr marL="0" indent="0" algn="l">
              <a:lnSpc>
                <a:spcPts val="810"/>
              </a:lnSpc>
              <a:buNone/>
            </a:pPr>
            <a:r>
              <a:rPr lang="en-US" sz="540" kern="0" spc="22" dirty="0">
                <a:solidFill>
                  <a:srgbClr val="5A656D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三步 + 六步 = 把"AI 说的"变成"我核验过的"。这是从"消费者"变成"研究者"的分界线</a:t>
            </a:r>
            <a:endParaRPr lang="en-US" sz="540" dirty="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6F9FC"/>
          </a:solidFill>
        </p:spPr>
      </p:sp>
      <p:sp>
        <p:nvSpPr>
          <p:cNvPr id="3" name="Shape 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6F9FC"/>
          </a:solidFill>
        </p:spPr>
      </p:sp>
      <p:pic>
        <p:nvPicPr>
          <p:cNvPr id="4" name="Picture 4" descr="__type_image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76250" y="381000"/>
            <a:ext cx="8191500" cy="390525"/>
          </a:xfrm>
          <a:prstGeom prst="rect">
            <a:avLst/>
          </a:prstGeom>
        </p:spPr>
      </p:pic>
      <p:sp>
        <p:nvSpPr>
          <p:cNvPr id="5" name="TextBox 4"/>
          <p:cNvSpPr/>
          <p:nvPr/>
        </p:nvSpPr>
        <p:spPr>
          <a:xfrm>
            <a:off x="476250" y="381000"/>
            <a:ext cx="8191500" cy="390525"/>
          </a:xfrm>
          <a:prstGeom prst="rect">
            <a:avLst/>
          </a:prstGeom>
          <a:noFill/>
        </p:spPr>
        <p:txBody>
          <a:bodyPr wrap="square" lIns="0" tIns="0" rIns="0" bIns="98065" rtlCol="0" anchor="t">
            <a:spAutoFit/>
          </a:bodyPr>
          <a:lstStyle/>
          <a:p>
            <a:pPr marL="0" indent="0" algn="l">
              <a:lnSpc>
                <a:spcPts val="2315"/>
              </a:lnSpc>
              <a:buNone/>
            </a:pPr>
            <a:r>
              <a:rPr lang="en-US" sz="1545" b="1" kern="0" spc="-23" dirty="0">
                <a:solidFill>
                  <a:srgbClr val="121C23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为什么 RAG 和搜索增强不能让你"不用核验"？</a:t>
            </a:r>
            <a:endParaRPr lang="en-US" sz="1545" dirty="0"/>
          </a:p>
        </p:txBody>
      </p:sp>
      <p:sp>
        <p:nvSpPr>
          <p:cNvPr id="6" name="Shape 8"/>
          <p:cNvSpPr/>
          <p:nvPr/>
        </p:nvSpPr>
        <p:spPr>
          <a:xfrm>
            <a:off x="476250" y="1000125"/>
            <a:ext cx="8191500" cy="361950"/>
          </a:xfrm>
          <a:prstGeom prst="roundRect">
            <a:avLst>
              <a:gd name="adj" fmla="val 8128"/>
            </a:avLst>
          </a:prstGeom>
          <a:solidFill>
            <a:srgbClr val="5A845A">
              <a:alpha val="12157"/>
            </a:srgbClr>
          </a:solidFill>
          <a:ln w="4903">
            <a:solidFill>
              <a:srgbClr val="5C875C">
                <a:alpha val="25098"/>
              </a:srgbClr>
            </a:solidFill>
            <a:prstDash val="solid"/>
          </a:ln>
        </p:spPr>
      </p:sp>
      <p:sp>
        <p:nvSpPr>
          <p:cNvPr id="7" name="TextBox 10"/>
          <p:cNvSpPr/>
          <p:nvPr/>
        </p:nvSpPr>
        <p:spPr>
          <a:xfrm>
            <a:off x="633412" y="1109663"/>
            <a:ext cx="7877175" cy="14287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160"/>
              </a:lnSpc>
              <a:buNone/>
            </a:pPr>
            <a:r>
              <a:rPr lang="en-US" sz="770" b="1" dirty="0">
                <a:solidFill>
                  <a:srgbClr val="121C23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一个常见的误解：</a:t>
            </a:r>
            <a:r>
              <a:rPr lang="en-US" sz="770" dirty="0">
                <a:solidFill>
                  <a:srgbClr val="121C23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"我用的是联网模式/RAG，所以模型给我的信息应该是真的。"——</a:t>
            </a:r>
            <a:r>
              <a:rPr lang="en-US" sz="770" b="1" dirty="0">
                <a:solidFill>
                  <a:srgbClr val="121C23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这不是真的。</a:t>
            </a:r>
            <a:endParaRPr lang="en-US" sz="770" dirty="0"/>
          </a:p>
        </p:txBody>
      </p:sp>
      <p:sp>
        <p:nvSpPr>
          <p:cNvPr id="8" name="TextBox 17"/>
          <p:cNvSpPr/>
          <p:nvPr>
            <p:custDataLst>
              <p:tags r:id="rId3"/>
            </p:custDataLst>
          </p:nvPr>
        </p:nvSpPr>
        <p:spPr>
          <a:xfrm>
            <a:off x="476250" y="1428750"/>
            <a:ext cx="266700" cy="182873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r">
              <a:lnSpc>
                <a:spcPts val="1485"/>
              </a:lnSpc>
              <a:buNone/>
            </a:pPr>
            <a:r>
              <a:rPr lang="en-US" sz="1235" b="1" dirty="0">
                <a:solidFill>
                  <a:srgbClr val="299236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1</a:t>
            </a:r>
            <a:endParaRPr lang="en-US" sz="1235" dirty="0"/>
          </a:p>
        </p:txBody>
      </p:sp>
      <p:sp>
        <p:nvSpPr>
          <p:cNvPr id="9" name="TextBox 21"/>
          <p:cNvSpPr/>
          <p:nvPr>
            <p:custDataLst>
              <p:tags r:id="rId4"/>
            </p:custDataLst>
          </p:nvPr>
        </p:nvSpPr>
        <p:spPr>
          <a:xfrm>
            <a:off x="857250" y="1428750"/>
            <a:ext cx="7810500" cy="185737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505"/>
              </a:lnSpc>
              <a:buNone/>
            </a:pPr>
            <a:r>
              <a:rPr lang="en-US" sz="1005" b="1" dirty="0">
                <a:solidFill>
                  <a:srgbClr val="121C23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检索源 ≠ 真理</a:t>
            </a:r>
            <a:endParaRPr lang="en-US" sz="1005" dirty="0"/>
          </a:p>
        </p:txBody>
      </p:sp>
      <p:sp>
        <p:nvSpPr>
          <p:cNvPr id="10" name="TextBox 23"/>
          <p:cNvSpPr/>
          <p:nvPr>
            <p:custDataLst>
              <p:tags r:id="rId5"/>
            </p:custDataLst>
          </p:nvPr>
        </p:nvSpPr>
        <p:spPr>
          <a:xfrm>
            <a:off x="857250" y="1643063"/>
            <a:ext cx="7810500" cy="300037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215"/>
              </a:lnSpc>
              <a:buNone/>
            </a:pPr>
            <a:r>
              <a:rPr lang="en-US" sz="810" dirty="0">
                <a:solidFill>
                  <a:srgbClr val="5A656D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RAG 的检索质量取决于</a:t>
            </a:r>
            <a:r>
              <a:rPr lang="en-US" sz="810" b="1" dirty="0">
                <a:solidFill>
                  <a:srgbClr val="5A656D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检索算法的匹配度 + 检索到的文档本身的可靠性</a:t>
            </a:r>
            <a:r>
              <a:rPr lang="en-US" sz="810" dirty="0">
                <a:solidFill>
                  <a:srgbClr val="5A656D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。如果搜索引擎返回的第一条是造假的预印本，RAG 会把它当"权威来源"来引用——它不知道预印本的证据等级低于同行评审论文。</a:t>
            </a:r>
            <a:r>
              <a:rPr lang="en-US" sz="810" b="1" dirty="0">
                <a:solidFill>
                  <a:srgbClr val="5A656D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RAG 赋予"查资料"的能力，不赋予"判断什么可信"的能力。</a:t>
            </a:r>
            <a:endParaRPr lang="en-US" sz="810" dirty="0"/>
          </a:p>
        </p:txBody>
      </p:sp>
      <p:sp>
        <p:nvSpPr>
          <p:cNvPr id="11" name="TextBox 29"/>
          <p:cNvSpPr/>
          <p:nvPr>
            <p:custDataLst>
              <p:tags r:id="rId6"/>
            </p:custDataLst>
          </p:nvPr>
        </p:nvSpPr>
        <p:spPr>
          <a:xfrm>
            <a:off x="476250" y="2000250"/>
            <a:ext cx="266700" cy="182873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r">
              <a:lnSpc>
                <a:spcPts val="1485"/>
              </a:lnSpc>
              <a:buNone/>
            </a:pPr>
            <a:r>
              <a:rPr lang="en-US" sz="1235" b="1" dirty="0">
                <a:solidFill>
                  <a:srgbClr val="299236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2</a:t>
            </a:r>
            <a:endParaRPr lang="en-US" sz="1235" dirty="0"/>
          </a:p>
        </p:txBody>
      </p:sp>
      <p:sp>
        <p:nvSpPr>
          <p:cNvPr id="12" name="TextBox 33"/>
          <p:cNvSpPr/>
          <p:nvPr>
            <p:custDataLst>
              <p:tags r:id="rId7"/>
            </p:custDataLst>
          </p:nvPr>
        </p:nvSpPr>
        <p:spPr>
          <a:xfrm>
            <a:off x="857250" y="1988185"/>
            <a:ext cx="7810500" cy="185737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505"/>
              </a:lnSpc>
              <a:buNone/>
            </a:pPr>
            <a:r>
              <a:rPr lang="en-US" sz="1005" b="1" dirty="0">
                <a:solidFill>
                  <a:srgbClr val="121C23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模型可以在"有来源"的情况下仍然编造</a:t>
            </a:r>
            <a:endParaRPr lang="en-US" sz="1005" dirty="0"/>
          </a:p>
        </p:txBody>
      </p:sp>
      <p:sp>
        <p:nvSpPr>
          <p:cNvPr id="13" name="TextBox 35"/>
          <p:cNvSpPr/>
          <p:nvPr>
            <p:custDataLst>
              <p:tags r:id="rId8"/>
            </p:custDataLst>
          </p:nvPr>
        </p:nvSpPr>
        <p:spPr>
          <a:xfrm>
            <a:off x="857250" y="2214562"/>
            <a:ext cx="7810500" cy="300038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215"/>
              </a:lnSpc>
              <a:buNone/>
            </a:pPr>
            <a:r>
              <a:rPr lang="en-US" sz="810" dirty="0">
                <a:solidFill>
                  <a:srgbClr val="5A656D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模型可能从检索内容正确提取部分信息，又用自己"觉得应该对的"信息补充剩余——同时认为一切都是"来自来源的"。更隐蔽：可能正确引用来源 A 的信息，但在另一段错误地将这个信息归因给来源 B——</a:t>
            </a:r>
            <a:r>
              <a:rPr lang="en-US" sz="810" b="1" dirty="0">
                <a:solidFill>
                  <a:srgbClr val="5A656D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两个来源都真实，但引用关系错误</a:t>
            </a:r>
            <a:r>
              <a:rPr lang="en-US" sz="810" dirty="0">
                <a:solidFill>
                  <a:srgbClr val="5A656D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。</a:t>
            </a:r>
            <a:endParaRPr lang="en-US" sz="810" dirty="0"/>
          </a:p>
        </p:txBody>
      </p:sp>
      <p:sp>
        <p:nvSpPr>
          <p:cNvPr id="14" name="TextBox 41"/>
          <p:cNvSpPr/>
          <p:nvPr>
            <p:custDataLst>
              <p:tags r:id="rId9"/>
            </p:custDataLst>
          </p:nvPr>
        </p:nvSpPr>
        <p:spPr>
          <a:xfrm>
            <a:off x="476250" y="2571750"/>
            <a:ext cx="266700" cy="182873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r">
              <a:lnSpc>
                <a:spcPts val="1485"/>
              </a:lnSpc>
              <a:buNone/>
            </a:pPr>
            <a:r>
              <a:rPr lang="en-US" sz="1235" b="1" dirty="0">
                <a:solidFill>
                  <a:srgbClr val="299236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3</a:t>
            </a:r>
            <a:endParaRPr lang="en-US" sz="1235" dirty="0"/>
          </a:p>
        </p:txBody>
      </p:sp>
      <p:sp>
        <p:nvSpPr>
          <p:cNvPr id="15" name="TextBox 45"/>
          <p:cNvSpPr/>
          <p:nvPr>
            <p:custDataLst>
              <p:tags r:id="rId10"/>
            </p:custDataLst>
          </p:nvPr>
        </p:nvSpPr>
        <p:spPr>
          <a:xfrm>
            <a:off x="857250" y="2571750"/>
            <a:ext cx="7423919" cy="185737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505"/>
              </a:lnSpc>
              <a:buNone/>
            </a:pPr>
            <a:r>
              <a:rPr lang="en-US" sz="1005" b="1" dirty="0">
                <a:solidFill>
                  <a:srgbClr val="121C23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检索增强的模型也会被"对话上下文"左右</a:t>
            </a:r>
            <a:endParaRPr lang="en-US" sz="1005" dirty="0"/>
          </a:p>
        </p:txBody>
      </p:sp>
      <p:sp>
        <p:nvSpPr>
          <p:cNvPr id="16" name="TextBox 47"/>
          <p:cNvSpPr/>
          <p:nvPr>
            <p:custDataLst>
              <p:tags r:id="rId11"/>
            </p:custDataLst>
          </p:nvPr>
        </p:nvSpPr>
        <p:spPr>
          <a:xfrm>
            <a:off x="857250" y="2785745"/>
            <a:ext cx="7646035" cy="15557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215"/>
              </a:lnSpc>
              <a:buNone/>
            </a:pPr>
            <a:r>
              <a:rPr lang="en-US" sz="810" dirty="0">
                <a:solidFill>
                  <a:srgbClr val="5A656D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如果你用引导性方式提问（"请找支持 X 理论的研究"），RAG 可能只检索 X 的正面证据——漏掉所有反证。</a:t>
            </a:r>
            <a:r>
              <a:rPr lang="en-US" sz="810" b="1" dirty="0">
                <a:solidFill>
                  <a:srgbClr val="5A656D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这比不做检索更危险——因为用户误以为"经过检索验证了"。</a:t>
            </a:r>
            <a:endParaRPr lang="en-US" sz="810" dirty="0"/>
          </a:p>
        </p:txBody>
      </p:sp>
      <p:sp>
        <p:nvSpPr>
          <p:cNvPr id="17" name="TextBox 53"/>
          <p:cNvSpPr/>
          <p:nvPr>
            <p:custDataLst>
              <p:tags r:id="rId12"/>
            </p:custDataLst>
          </p:nvPr>
        </p:nvSpPr>
        <p:spPr>
          <a:xfrm>
            <a:off x="476250" y="2993231"/>
            <a:ext cx="266700" cy="182873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r">
              <a:lnSpc>
                <a:spcPts val="1485"/>
              </a:lnSpc>
              <a:buNone/>
            </a:pPr>
            <a:r>
              <a:rPr lang="en-US" sz="1235" b="1" dirty="0">
                <a:solidFill>
                  <a:srgbClr val="299236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4</a:t>
            </a:r>
            <a:endParaRPr lang="en-US" sz="1235" dirty="0"/>
          </a:p>
        </p:txBody>
      </p:sp>
      <p:sp>
        <p:nvSpPr>
          <p:cNvPr id="18" name="TextBox 57"/>
          <p:cNvSpPr/>
          <p:nvPr>
            <p:custDataLst>
              <p:tags r:id="rId13"/>
            </p:custDataLst>
          </p:nvPr>
        </p:nvSpPr>
        <p:spPr>
          <a:xfrm>
            <a:off x="857250" y="2993231"/>
            <a:ext cx="7810500" cy="185737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505"/>
              </a:lnSpc>
              <a:buNone/>
            </a:pPr>
            <a:r>
              <a:rPr lang="en-US" sz="1005" b="1" dirty="0">
                <a:solidFill>
                  <a:srgbClr val="121C23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模型难以区分"相关信息"和"匹配信息"</a:t>
            </a:r>
            <a:endParaRPr lang="en-US" sz="1005" dirty="0"/>
          </a:p>
        </p:txBody>
      </p:sp>
      <p:sp>
        <p:nvSpPr>
          <p:cNvPr id="19" name="TextBox 59"/>
          <p:cNvSpPr/>
          <p:nvPr>
            <p:custDataLst>
              <p:tags r:id="rId14"/>
            </p:custDataLst>
          </p:nvPr>
        </p:nvSpPr>
        <p:spPr>
          <a:xfrm>
            <a:off x="857250" y="3207544"/>
            <a:ext cx="7810500" cy="300037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215"/>
              </a:lnSpc>
              <a:buNone/>
            </a:pPr>
            <a:r>
              <a:rPr lang="en-US" sz="810" dirty="0">
                <a:solidFill>
                  <a:srgbClr val="5A656D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"相关"= 内容确实回答了你的问题。"匹配"= 关键词匹配但语义可能偏离。当前 RAG 重排序算法在区分两者上</a:t>
            </a:r>
            <a:r>
              <a:rPr lang="en-US" sz="810" b="1" dirty="0">
                <a:solidFill>
                  <a:srgbClr val="5A656D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仍然不完美</a:t>
            </a:r>
            <a:r>
              <a:rPr lang="en-US" sz="810" dirty="0">
                <a:solidFill>
                  <a:srgbClr val="5A656D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——你收到的可能不是最好的来源，只是"最像你问题的来源"。</a:t>
            </a:r>
            <a:endParaRPr lang="en-US" sz="810" dirty="0"/>
          </a:p>
        </p:txBody>
      </p:sp>
      <p:sp>
        <p:nvSpPr>
          <p:cNvPr id="20" name="Shape 64"/>
          <p:cNvSpPr/>
          <p:nvPr/>
        </p:nvSpPr>
        <p:spPr>
          <a:xfrm>
            <a:off x="476250" y="4460342"/>
            <a:ext cx="8191500" cy="302158"/>
          </a:xfrm>
          <a:prstGeom prst="roundRect">
            <a:avLst>
              <a:gd name="adj" fmla="val 9736"/>
            </a:avLst>
          </a:prstGeom>
          <a:solidFill>
            <a:srgbClr val="FFFFFF"/>
          </a:solidFill>
        </p:spPr>
      </p:sp>
      <p:pic>
        <p:nvPicPr>
          <p:cNvPr id="21" name="Picture 64" descr="__type_image"/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476250" y="4460342"/>
            <a:ext cx="8191500" cy="302158"/>
          </a:xfrm>
          <a:prstGeom prst="rect">
            <a:avLst/>
          </a:prstGeom>
        </p:spPr>
      </p:pic>
      <p:sp>
        <p:nvSpPr>
          <p:cNvPr id="22" name="TextBox 66"/>
          <p:cNvSpPr/>
          <p:nvPr/>
        </p:nvSpPr>
        <p:spPr>
          <a:xfrm>
            <a:off x="628650" y="4541304"/>
            <a:ext cx="7900987" cy="140233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135"/>
              </a:lnSpc>
              <a:buNone/>
            </a:pPr>
            <a:r>
              <a:rPr lang="en-US" sz="735" b="1" dirty="0">
                <a:solidFill>
                  <a:srgbClr val="121C23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实践法则：</a:t>
            </a:r>
            <a:r>
              <a:rPr lang="en-US" sz="735" dirty="0">
                <a:solidFill>
                  <a:srgbClr val="121C23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RAG 让模型有了"查资料"的眼睛，但模型依然需要你帮它判断看来的东西对不对。盲信 RAG 输出 = 盲信搜索引擎第一条结果——但你从来不会因为一个链接排在第一就把它写进论文。</a:t>
            </a:r>
            <a:endParaRPr lang="en-US" sz="735" dirty="0"/>
          </a:p>
        </p:txBody>
      </p:sp>
      <p:pic>
        <p:nvPicPr>
          <p:cNvPr id="23" name="Picture 70" descr="__type_image"/>
          <p:cNvPicPr>
            <a:picLocks noChangeAspect="1"/>
          </p:cNvPicPr>
          <p:nvPr/>
        </p:nvPicPr>
        <p:blipFill>
          <a:blip r:embed="rId17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476250" y="4819650"/>
            <a:ext cx="8191500" cy="171450"/>
          </a:xfrm>
          <a:prstGeom prst="rect">
            <a:avLst/>
          </a:prstGeom>
        </p:spPr>
      </p:pic>
      <p:sp>
        <p:nvSpPr>
          <p:cNvPr id="24" name="TextBox 70"/>
          <p:cNvSpPr/>
          <p:nvPr/>
        </p:nvSpPr>
        <p:spPr>
          <a:xfrm>
            <a:off x="476250" y="4819650"/>
            <a:ext cx="8191500" cy="171450"/>
          </a:xfrm>
          <a:prstGeom prst="rect">
            <a:avLst/>
          </a:prstGeom>
          <a:noFill/>
        </p:spPr>
        <p:txBody>
          <a:bodyPr wrap="square" lIns="0" tIns="68645" rIns="0" bIns="0" rtlCol="0" anchor="t">
            <a:spAutoFit/>
          </a:bodyPr>
          <a:lstStyle/>
          <a:p>
            <a:pPr marL="0" indent="0" algn="l">
              <a:lnSpc>
                <a:spcPts val="810"/>
              </a:lnSpc>
              <a:buNone/>
            </a:pPr>
            <a:r>
              <a:rPr lang="en-US" sz="540" kern="0" spc="22" dirty="0">
                <a:solidFill>
                  <a:srgbClr val="5A656D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有搜索 ≠ 不会错。RAG 降低了幻觉率，但没有消除"你必须自己核实"的责任</a:t>
            </a:r>
            <a:endParaRPr lang="en-US" sz="540" dirty="0"/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DIAGRAM_VIRTUALLY_FRAME" val="{&quot;height&quot;:165.93748031496062,&quot;left&quot;:366.75,&quot;top&quot;:95.62496062992126,&quot;width&quot;:315.75}"/>
</p:tagLst>
</file>

<file path=ppt/tags/tag2.xml><?xml version="1.0" encoding="utf-8"?>
<p:tagLst xmlns:p="http://schemas.openxmlformats.org/presentationml/2006/main">
  <p:tag name="KSO_WM_DIAGRAM_VIRTUALLY_FRAME" val="{&quot;height&quot;:165.93748031496062,&quot;left&quot;:366.75,&quot;top&quot;:95.62496062992126,&quot;width&quot;:315.75}"/>
</p:tagLst>
</file>

<file path=ppt/tags/tag3.xml><?xml version="1.0" encoding="utf-8"?>
<p:tagLst xmlns:p="http://schemas.openxmlformats.org/presentationml/2006/main">
  <p:tag name="KSO_WM_DIAGRAM_VIRTUALLY_FRAME" val="{&quot;height&quot;:165.93748031496062,&quot;left&quot;:366.75,&quot;top&quot;:95.62496062992126,&quot;width&quot;:315.75}"/>
</p:tagLst>
</file>

<file path=ppt/tags/tag4.xml><?xml version="1.0" encoding="utf-8"?>
<p:tagLst xmlns:p="http://schemas.openxmlformats.org/presentationml/2006/main">
  <p:tag name="KSO_WM_DIAGRAM_VIRTUALLY_FRAME" val="{&quot;height&quot;:165.93748031496062,&quot;left&quot;:366.75,&quot;top&quot;:95.62496062992126,&quot;width&quot;:315.75}"/>
</p:tagLst>
</file>

<file path=ppt/tags/tag5.xml><?xml version="1.0" encoding="utf-8"?>
<p:tagLst xmlns:p="http://schemas.openxmlformats.org/presentationml/2006/main">
  <p:tag name="KSO_WM_DIAGRAM_VIRTUALLY_FRAME" val="{&quot;height&quot;:165.93748031496062,&quot;left&quot;:366.75,&quot;top&quot;:95.62496062992126,&quot;width&quot;:315.75}"/>
</p:tagLst>
</file>

<file path=ppt/tags/tag6.xml><?xml version="1.0" encoding="utf-8"?>
<p:tagLst xmlns:p="http://schemas.openxmlformats.org/presentationml/2006/main">
  <p:tag name="KSO_WM_DIAGRAM_VIRTUALLY_FRAME" val="{&quot;height&quot;:165.93748031496062,&quot;left&quot;:366.75,&quot;top&quot;:95.62496062992126,&quot;width&quot;:315.75}"/>
</p:tagLst>
</file>

<file path=ppt/tags/tag7.xml><?xml version="1.0" encoding="utf-8"?>
<p:tagLst xmlns:p="http://schemas.openxmlformats.org/presentationml/2006/main">
  <p:tag name="KSO_WM_DIAGRAM_VIRTUALLY_FRAME" val="{&quot;height&quot;:165.93748031496062,&quot;left&quot;:366.75,&quot;top&quot;:95.62496062992126,&quot;width&quot;:315.75}"/>
</p:tagLst>
</file>

<file path=ppt/tags/tag8.xml><?xml version="1.0" encoding="utf-8"?>
<p:tagLst xmlns:p="http://schemas.openxmlformats.org/presentationml/2006/main">
  <p:tag name="KSO_WM_DIAGRAM_VIRTUALLY_FRAME" val="{&quot;height&quot;:165.93748031496062,&quot;left&quot;:366.75,&quot;top&quot;:95.62496062992126,&quot;width&quot;:315.75}"/>
</p:tagLst>
</file>

<file path=ppt/tags/tag9.xml><?xml version="1.0" encoding="utf-8"?>
<p:tagLst xmlns:p="http://schemas.openxmlformats.org/presentationml/2006/main">
  <p:tag name="KSO_WM_DIAGRAM_VIRTUALLY_FRAME" val="{&quot;height&quot;:165.93748031496062,&quot;left&quot;:366.75,&quot;top&quot;:95.62496062992126,&quot;width&quot;:315.75}"/>
</p:tagLst>
</file>

<file path=ppt/tags/tag10.xml><?xml version="1.0" encoding="utf-8"?>
<p:tagLst xmlns:p="http://schemas.openxmlformats.org/presentationml/2006/main">
  <p:tag name="KSO_WM_DIAGRAM_VIRTUALLY_FRAME" val="{&quot;height&quot;:183.3,&quot;left&quot;:13.25,&quot;top&quot;:66.6,&quot;width&quot;:481.5}"/>
</p:tagLst>
</file>

<file path=ppt/tags/tag11.xml><?xml version="1.0" encoding="utf-8"?>
<p:tagLst xmlns:p="http://schemas.openxmlformats.org/presentationml/2006/main">
  <p:tag name="KSO_WM_DIAGRAM_VIRTUALLY_FRAME" val="{&quot;height&quot;:183.3,&quot;left&quot;:13.25,&quot;top&quot;:66.6,&quot;width&quot;:481.5}"/>
</p:tagLst>
</file>

<file path=ppt/tags/tag12.xml><?xml version="1.0" encoding="utf-8"?>
<p:tagLst xmlns:p="http://schemas.openxmlformats.org/presentationml/2006/main">
  <p:tag name="KSO_WM_DIAGRAM_VIRTUALLY_FRAME" val="{&quot;height&quot;:183.3,&quot;left&quot;:13.25,&quot;top&quot;:66.6,&quot;width&quot;:481.5}"/>
</p:tagLst>
</file>

<file path=ppt/tags/tag13.xml><?xml version="1.0" encoding="utf-8"?>
<p:tagLst xmlns:p="http://schemas.openxmlformats.org/presentationml/2006/main">
  <p:tag name="KSO_WM_DIAGRAM_VIRTUALLY_FRAME" val="{&quot;height&quot;:183.3,&quot;left&quot;:13.25,&quot;top&quot;:66.6,&quot;width&quot;:481.5}"/>
</p:tagLst>
</file>

<file path=ppt/tags/tag14.xml><?xml version="1.0" encoding="utf-8"?>
<p:tagLst xmlns:p="http://schemas.openxmlformats.org/presentationml/2006/main">
  <p:tag name="KSO_WM_DIAGRAM_VIRTUALLY_FRAME" val="{&quot;height&quot;:183.3,&quot;left&quot;:13.25,&quot;top&quot;:66.6,&quot;width&quot;:481.5}"/>
</p:tagLst>
</file>

<file path=ppt/tags/tag15.xml><?xml version="1.0" encoding="utf-8"?>
<p:tagLst xmlns:p="http://schemas.openxmlformats.org/presentationml/2006/main">
  <p:tag name="KSO_WM_DIAGRAM_VIRTUALLY_FRAME" val="{&quot;height&quot;:183.3,&quot;left&quot;:13.25,&quot;top&quot;:66.6,&quot;width&quot;:481.5}"/>
</p:tagLst>
</file>

<file path=ppt/tags/tag16.xml><?xml version="1.0" encoding="utf-8"?>
<p:tagLst xmlns:p="http://schemas.openxmlformats.org/presentationml/2006/main">
  <p:tag name="KSO_WM_DIAGRAM_VIRTUALLY_FRAME" val="{&quot;height&quot;:183.3,&quot;left&quot;:13.25,&quot;top&quot;:66.6,&quot;width&quot;:481.5}"/>
</p:tagLst>
</file>

<file path=ppt/tags/tag17.xml><?xml version="1.0" encoding="utf-8"?>
<p:tagLst xmlns:p="http://schemas.openxmlformats.org/presentationml/2006/main">
  <p:tag name="KSO_WM_DIAGRAM_VIRTUALLY_FRAME" val="{&quot;height&quot;:183.3,&quot;left&quot;:13.25,&quot;top&quot;:66.6,&quot;width&quot;:481.5}"/>
</p:tagLst>
</file>

<file path=ppt/tags/tag18.xml><?xml version="1.0" encoding="utf-8"?>
<p:tagLst xmlns:p="http://schemas.openxmlformats.org/presentationml/2006/main">
  <p:tag name="KSO_WM_DIAGRAM_VIRTUALLY_FRAME" val="{&quot;height&quot;:183.3,&quot;left&quot;:13.25,&quot;top&quot;:66.6,&quot;width&quot;:481.5}"/>
</p:tagLst>
</file>

<file path=ppt/tags/tag19.xml><?xml version="1.0" encoding="utf-8"?>
<p:tagLst xmlns:p="http://schemas.openxmlformats.org/presentationml/2006/main">
  <p:tag name="KSO_WM_DIAGRAM_VIRTUALLY_FRAME" val="{&quot;height&quot;:183.3,&quot;left&quot;:13.25,&quot;top&quot;:66.6,&quot;width&quot;:481.5}"/>
</p:tagLst>
</file>

<file path=ppt/tags/tag20.xml><?xml version="1.0" encoding="utf-8"?>
<p:tagLst xmlns:p="http://schemas.openxmlformats.org/presentationml/2006/main">
  <p:tag name="KSO_WM_DIAGRAM_VIRTUALLY_FRAME" val="{&quot;height&quot;:183.3,&quot;left&quot;:13.25,&quot;top&quot;:66.6,&quot;width&quot;:481.5}"/>
</p:tagLst>
</file>

<file path=ppt/tags/tag21.xml><?xml version="1.0" encoding="utf-8"?>
<p:tagLst xmlns:p="http://schemas.openxmlformats.org/presentationml/2006/main">
  <p:tag name="KSO_WM_DIAGRAM_VIRTUALLY_FRAME" val="{&quot;height&quot;:183.3,&quot;left&quot;:13.25,&quot;top&quot;:66.6,&quot;width&quot;:481.5}"/>
</p:tagLst>
</file>

<file path=ppt/tags/tag22.xml><?xml version="1.0" encoding="utf-8"?>
<p:tagLst xmlns:p="http://schemas.openxmlformats.org/presentationml/2006/main">
  <p:tag name="TABLE_ENDDRAG_ORIGIN_RECT" val="162*129"/>
  <p:tag name="TABLE_ENDDRAG_RECT" val="519*97*162*129"/>
</p:tagLst>
</file>

<file path=ppt/tags/tag23.xml><?xml version="1.0" encoding="utf-8"?>
<p:tagLst xmlns:p="http://schemas.openxmlformats.org/presentationml/2006/main">
  <p:tag name="TABLE_ENDDRAG_ORIGIN_RECT" val="408*218"/>
  <p:tag name="TABLE_ENDDRAG_RECT" val="33*70*408*218"/>
</p:tagLst>
</file>

<file path=ppt/tags/tag24.xml><?xml version="1.0" encoding="utf-8"?>
<p:tagLst xmlns:p="http://schemas.openxmlformats.org/presentationml/2006/main">
  <p:tag name="KSO_WM_DIAGRAM_VIRTUALLY_FRAME" val="{&quot;height&quot;:255,&quot;left&quot;:37.5,&quot;top&quot;:78.75,&quot;width&quot;:645}"/>
</p:tagLst>
</file>

<file path=ppt/tags/tag25.xml><?xml version="1.0" encoding="utf-8"?>
<p:tagLst xmlns:p="http://schemas.openxmlformats.org/presentationml/2006/main">
  <p:tag name="KSO_WM_DIAGRAM_VIRTUALLY_FRAME" val="{&quot;height&quot;:255,&quot;left&quot;:37.5,&quot;top&quot;:78.75,&quot;width&quot;:645}"/>
</p:tagLst>
</file>

<file path=ppt/tags/tag26.xml><?xml version="1.0" encoding="utf-8"?>
<p:tagLst xmlns:p="http://schemas.openxmlformats.org/presentationml/2006/main">
  <p:tag name="KSO_WM_DIAGRAM_VIRTUALLY_FRAME" val="{&quot;height&quot;:255,&quot;left&quot;:37.5,&quot;top&quot;:78.75,&quot;width&quot;:645}"/>
</p:tagLst>
</file>

<file path=ppt/tags/tag27.xml><?xml version="1.0" encoding="utf-8"?>
<p:tagLst xmlns:p="http://schemas.openxmlformats.org/presentationml/2006/main">
  <p:tag name="KSO_WM_DIAGRAM_VIRTUALLY_FRAME" val="{&quot;height&quot;:255,&quot;left&quot;:37.5,&quot;top&quot;:78.75,&quot;width&quot;:645}"/>
</p:tagLst>
</file>

<file path=ppt/tags/tag28.xml><?xml version="1.0" encoding="utf-8"?>
<p:tagLst xmlns:p="http://schemas.openxmlformats.org/presentationml/2006/main">
  <p:tag name="KSO_WM_DIAGRAM_VIRTUALLY_FRAME" val="{&quot;height&quot;:255,&quot;left&quot;:37.5,&quot;top&quot;:78.75,&quot;width&quot;:645}"/>
</p:tagLst>
</file>

<file path=ppt/tags/tag29.xml><?xml version="1.0" encoding="utf-8"?>
<p:tagLst xmlns:p="http://schemas.openxmlformats.org/presentationml/2006/main">
  <p:tag name="KSO_WM_DIAGRAM_VIRTUALLY_FRAME" val="{&quot;height&quot;:255,&quot;left&quot;:37.5,&quot;top&quot;:78.75,&quot;width&quot;:645}"/>
</p:tagLst>
</file>

<file path=ppt/tags/tag30.xml><?xml version="1.0" encoding="utf-8"?>
<p:tagLst xmlns:p="http://schemas.openxmlformats.org/presentationml/2006/main">
  <p:tag name="KSO_WM_DIAGRAM_VIRTUALLY_FRAME" val="{&quot;height&quot;:255,&quot;left&quot;:37.5,&quot;top&quot;:78.75,&quot;width&quot;:645}"/>
</p:tagLst>
</file>

<file path=ppt/tags/tag31.xml><?xml version="1.0" encoding="utf-8"?>
<p:tagLst xmlns:p="http://schemas.openxmlformats.org/presentationml/2006/main">
  <p:tag name="KSO_WM_DIAGRAM_VIRTUALLY_FRAME" val="{&quot;height&quot;:255,&quot;left&quot;:37.5,&quot;top&quot;:78.75,&quot;width&quot;:645}"/>
</p:tagLst>
</file>

<file path=ppt/tags/tag32.xml><?xml version="1.0" encoding="utf-8"?>
<p:tagLst xmlns:p="http://schemas.openxmlformats.org/presentationml/2006/main">
  <p:tag name="KSO_WM_DIAGRAM_VIRTUALLY_FRAME" val="{&quot;height&quot;:255,&quot;left&quot;:37.5,&quot;top&quot;:78.75,&quot;width&quot;:645}"/>
</p:tagLst>
</file>

<file path=ppt/tags/tag33.xml><?xml version="1.0" encoding="utf-8"?>
<p:tagLst xmlns:p="http://schemas.openxmlformats.org/presentationml/2006/main">
  <p:tag name="KSO_WM_DIAGRAM_VIRTUALLY_FRAME" val="{&quot;height&quot;:255,&quot;left&quot;:37.5,&quot;top&quot;:78.75,&quot;width&quot;:645}"/>
</p:tagLst>
</file>

<file path=ppt/tags/tag34.xml><?xml version="1.0" encoding="utf-8"?>
<p:tagLst xmlns:p="http://schemas.openxmlformats.org/presentationml/2006/main">
  <p:tag name="KSO_WM_DIAGRAM_VIRTUALLY_FRAME" val="{&quot;height&quot;:255,&quot;left&quot;:37.5,&quot;top&quot;:78.75,&quot;width&quot;:645}"/>
</p:tagLst>
</file>

<file path=ppt/tags/tag35.xml><?xml version="1.0" encoding="utf-8"?>
<p:tagLst xmlns:p="http://schemas.openxmlformats.org/presentationml/2006/main">
  <p:tag name="KSO_WM_DIAGRAM_VIRTUALLY_FRAME" val="{&quot;height&quot;:255,&quot;left&quot;:37.5,&quot;top&quot;:78.75,&quot;width&quot;:645}"/>
</p:tagLst>
</file>

<file path=ppt/tags/tag36.xml><?xml version="1.0" encoding="utf-8"?>
<p:tagLst xmlns:p="http://schemas.openxmlformats.org/presentationml/2006/main">
  <p:tag name="KSO_WM_DIAGRAM_VIRTUALLY_FRAME" val="{&quot;height&quot;:255,&quot;left&quot;:37.5,&quot;top&quot;:78.75,&quot;width&quot;:645}"/>
</p:tagLst>
</file>

<file path=ppt/tags/tag37.xml><?xml version="1.0" encoding="utf-8"?>
<p:tagLst xmlns:p="http://schemas.openxmlformats.org/presentationml/2006/main">
  <p:tag name="KSO_WM_DIAGRAM_VIRTUALLY_FRAME" val="{&quot;height&quot;:255,&quot;left&quot;:37.5,&quot;top&quot;:78.75,&quot;width&quot;:645}"/>
</p:tagLst>
</file>

<file path=ppt/tags/tag38.xml><?xml version="1.0" encoding="utf-8"?>
<p:tagLst xmlns:p="http://schemas.openxmlformats.org/presentationml/2006/main">
  <p:tag name="KSO_WM_DIAGRAM_VIRTUALLY_FRAME" val="{&quot;height&quot;:255,&quot;left&quot;:37.5,&quot;top&quot;:78.75,&quot;width&quot;:645}"/>
</p:tagLst>
</file>

<file path=ppt/tags/tag39.xml><?xml version="1.0" encoding="utf-8"?>
<p:tagLst xmlns:p="http://schemas.openxmlformats.org/presentationml/2006/main">
  <p:tag name="KSO_WM_DIAGRAM_VIRTUALLY_FRAME" val="{&quot;height&quot;:255,&quot;left&quot;:37.5,&quot;top&quot;:78.75,&quot;width&quot;:645}"/>
</p:tagLst>
</file>

<file path=ppt/tags/tag40.xml><?xml version="1.0" encoding="utf-8"?>
<p:tagLst xmlns:p="http://schemas.openxmlformats.org/presentationml/2006/main">
  <p:tag name="KSO_WM_DIAGRAM_VIRTUALLY_FRAME" val="{&quot;height&quot;:88.12503937007872,&quot;left&quot;:37.5,&quot;top&quot;:143.69527559055118,&quot;width&quot;:645}"/>
</p:tagLst>
</file>

<file path=ppt/tags/tag41.xml><?xml version="1.0" encoding="utf-8"?>
<p:tagLst xmlns:p="http://schemas.openxmlformats.org/presentationml/2006/main">
  <p:tag name="KSO_WM_DIAGRAM_VIRTUALLY_FRAME" val="{&quot;height&quot;:88.12503937007872,&quot;left&quot;:37.5,&quot;top&quot;:143.69527559055118,&quot;width&quot;:645}"/>
</p:tagLst>
</file>

<file path=ppt/tags/tag42.xml><?xml version="1.0" encoding="utf-8"?>
<p:tagLst xmlns:p="http://schemas.openxmlformats.org/presentationml/2006/main">
  <p:tag name="KSO_WM_DIAGRAM_VIRTUALLY_FRAME" val="{&quot;height&quot;:88.12503937007872,&quot;left&quot;:37.5,&quot;top&quot;:143.69527559055118,&quot;width&quot;:645}"/>
</p:tagLst>
</file>

<file path=ppt/tags/tag43.xml><?xml version="1.0" encoding="utf-8"?>
<p:tagLst xmlns:p="http://schemas.openxmlformats.org/presentationml/2006/main">
  <p:tag name="KSO_WM_DIAGRAM_VIRTUALLY_FRAME" val="{&quot;height&quot;:88.12503937007872,&quot;left&quot;:37.5,&quot;top&quot;:143.69527559055118,&quot;width&quot;:645}"/>
</p:tagLst>
</file>

<file path=ppt/tags/tag44.xml><?xml version="1.0" encoding="utf-8"?>
<p:tagLst xmlns:p="http://schemas.openxmlformats.org/presentationml/2006/main">
  <p:tag name="KSO_WM_DIAGRAM_VIRTUALLY_FRAME" val="{&quot;height&quot;:88.12503937007872,&quot;left&quot;:37.5,&quot;top&quot;:143.69527559055118,&quot;width&quot;:645}"/>
</p:tagLst>
</file>

<file path=ppt/tags/tag45.xml><?xml version="1.0" encoding="utf-8"?>
<p:tagLst xmlns:p="http://schemas.openxmlformats.org/presentationml/2006/main">
  <p:tag name="KSO_WM_DIAGRAM_VIRTUALLY_FRAME" val="{&quot;height&quot;:88.12503937007872,&quot;left&quot;:37.5,&quot;top&quot;:143.69527559055118,&quot;width&quot;:645}"/>
</p:tagLst>
</file>

<file path=ppt/tags/tag46.xml><?xml version="1.0" encoding="utf-8"?>
<p:tagLst xmlns:p="http://schemas.openxmlformats.org/presentationml/2006/main">
  <p:tag name="KSO_WM_DIAGRAM_VIRTUALLY_FRAME" val="{&quot;height&quot;:88.12503937007872,&quot;left&quot;:37.5,&quot;top&quot;:143.69527559055118,&quot;width&quot;:645}"/>
</p:tagLst>
</file>

<file path=ppt/tags/tag47.xml><?xml version="1.0" encoding="utf-8"?>
<p:tagLst xmlns:p="http://schemas.openxmlformats.org/presentationml/2006/main">
  <p:tag name="KSO_WM_DIAGRAM_VIRTUALLY_FRAME" val="{&quot;height&quot;:88.12503937007872,&quot;left&quot;:37.5,&quot;top&quot;:143.69527559055118,&quot;width&quot;:645}"/>
</p:tagLst>
</file>

<file path=ppt/tags/tag48.xml><?xml version="1.0" encoding="utf-8"?>
<p:tagLst xmlns:p="http://schemas.openxmlformats.org/presentationml/2006/main">
  <p:tag name="KSO_WM_DIAGRAM_VIRTUALLY_FRAME" val="{&quot;height&quot;:272.8874803149606,&quot;left&quot;:37.5,&quot;top&quot;:78.75,&quot;width&quot;:645}"/>
</p:tagLst>
</file>

<file path=ppt/tags/tag49.xml><?xml version="1.0" encoding="utf-8"?>
<p:tagLst xmlns:p="http://schemas.openxmlformats.org/presentationml/2006/main">
  <p:tag name="KSO_WM_DIAGRAM_VIRTUALLY_FRAME" val="{&quot;height&quot;:272.8874803149606,&quot;left&quot;:37.5,&quot;top&quot;:78.75,&quot;width&quot;:645}"/>
</p:tagLst>
</file>

<file path=ppt/tags/tag50.xml><?xml version="1.0" encoding="utf-8"?>
<p:tagLst xmlns:p="http://schemas.openxmlformats.org/presentationml/2006/main">
  <p:tag name="KSO_WM_DIAGRAM_VIRTUALLY_FRAME" val="{&quot;height&quot;:272.8874803149606,&quot;left&quot;:37.5,&quot;top&quot;:78.75,&quot;width&quot;:645}"/>
</p:tagLst>
</file>

<file path=ppt/tags/tag51.xml><?xml version="1.0" encoding="utf-8"?>
<p:tagLst xmlns:p="http://schemas.openxmlformats.org/presentationml/2006/main">
  <p:tag name="KSO_WM_DIAGRAM_VIRTUALLY_FRAME" val="{&quot;height&quot;:272.8874803149606,&quot;left&quot;:37.5,&quot;top&quot;:78.75,&quot;width&quot;:645}"/>
</p:tagLst>
</file>

<file path=ppt/tags/tag52.xml><?xml version="1.0" encoding="utf-8"?>
<p:tagLst xmlns:p="http://schemas.openxmlformats.org/presentationml/2006/main">
  <p:tag name="KSO_WM_DIAGRAM_VIRTUALLY_FRAME" val="{&quot;height&quot;:272.8874803149606,&quot;left&quot;:37.5,&quot;top&quot;:78.75,&quot;width&quot;:645}"/>
</p:tagLst>
</file>

<file path=ppt/tags/tag53.xml><?xml version="1.0" encoding="utf-8"?>
<p:tagLst xmlns:p="http://schemas.openxmlformats.org/presentationml/2006/main">
  <p:tag name="KSO_WM_DIAGRAM_VIRTUALLY_FRAME" val="{&quot;height&quot;:272.8874803149606,&quot;left&quot;:37.5,&quot;top&quot;:78.75,&quot;width&quot;:645}"/>
</p:tagLst>
</file>

<file path=ppt/tags/tag54.xml><?xml version="1.0" encoding="utf-8"?>
<p:tagLst xmlns:p="http://schemas.openxmlformats.org/presentationml/2006/main">
  <p:tag name="KSO_WM_DIAGRAM_VIRTUALLY_FRAME" val="{&quot;height&quot;:187.31244094488187,&quot;left&quot;:37.5,&quot;top&quot;:78.75,&quot;width&quot;:645}"/>
</p:tagLst>
</file>

<file path=ppt/tags/tag55.xml><?xml version="1.0" encoding="utf-8"?>
<p:tagLst xmlns:p="http://schemas.openxmlformats.org/presentationml/2006/main">
  <p:tag name="KSO_WM_DIAGRAM_VIRTUALLY_FRAME" val="{&quot;height&quot;:187.31244094488187,&quot;left&quot;:37.5,&quot;top&quot;:78.75,&quot;width&quot;:645}"/>
</p:tagLst>
</file>

<file path=ppt/tags/tag56.xml><?xml version="1.0" encoding="utf-8"?>
<p:tagLst xmlns:p="http://schemas.openxmlformats.org/presentationml/2006/main">
  <p:tag name="KSO_WM_DIAGRAM_VIRTUALLY_FRAME" val="{&quot;height&quot;:187.31244094488187,&quot;left&quot;:37.5,&quot;top&quot;:78.75,&quot;width&quot;:645}"/>
</p:tagLst>
</file>

<file path=ppt/tags/tag57.xml><?xml version="1.0" encoding="utf-8"?>
<p:tagLst xmlns:p="http://schemas.openxmlformats.org/presentationml/2006/main">
  <p:tag name="KSO_WM_DIAGRAM_VIRTUALLY_FRAME" val="{&quot;height&quot;:187.31244094488187,&quot;left&quot;:37.5,&quot;top&quot;:78.75,&quot;width&quot;:645}"/>
</p:tagLst>
</file>

<file path=ppt/tags/tag58.xml><?xml version="1.0" encoding="utf-8"?>
<p:tagLst xmlns:p="http://schemas.openxmlformats.org/presentationml/2006/main">
  <p:tag name="KSO_WM_DIAGRAM_VIRTUALLY_FRAME" val="{&quot;height&quot;:187.31244094488187,&quot;left&quot;:37.5,&quot;top&quot;:78.75,&quot;width&quot;:645}"/>
</p:tagLst>
</file>

<file path=ppt/tags/tag59.xml><?xml version="1.0" encoding="utf-8"?>
<p:tagLst xmlns:p="http://schemas.openxmlformats.org/presentationml/2006/main">
  <p:tag name="KSO_WM_DIAGRAM_VIRTUALLY_FRAME" val="{&quot;height&quot;:187.31244094488187,&quot;left&quot;:37.5,&quot;top&quot;:78.75,&quot;width&quot;:645}"/>
</p:tagLst>
</file>

<file path=ppt/tags/tag60.xml><?xml version="1.0" encoding="utf-8"?>
<p:tagLst xmlns:p="http://schemas.openxmlformats.org/presentationml/2006/main">
  <p:tag name="KSO_WM_DIAGRAM_VIRTUALLY_FRAME" val="{&quot;height&quot;:187.31244094488187,&quot;left&quot;:37.5,&quot;top&quot;:78.75,&quot;width&quot;:645}"/>
</p:tagLst>
</file>

<file path=ppt/tags/tag61.xml><?xml version="1.0" encoding="utf-8"?>
<p:tagLst xmlns:p="http://schemas.openxmlformats.org/presentationml/2006/main">
  <p:tag name="KSO_WM_DIAGRAM_VIRTUALLY_FRAME" val="{&quot;height&quot;:187.31244094488187,&quot;left&quot;:37.5,&quot;top&quot;:78.75,&quot;width&quot;:645}"/>
</p:tagLst>
</file>

<file path=ppt/tags/tag62.xml><?xml version="1.0" encoding="utf-8"?>
<p:tagLst xmlns:p="http://schemas.openxmlformats.org/presentationml/2006/main">
  <p:tag name="KSO_WM_DIAGRAM_VIRTUALLY_FRAME" val="{&quot;height&quot;:187.31244094488187,&quot;left&quot;:37.5,&quot;top&quot;:78.75,&quot;width&quot;:645}"/>
</p:tagLst>
</file>

<file path=ppt/tags/tag63.xml><?xml version="1.0" encoding="utf-8"?>
<p:tagLst xmlns:p="http://schemas.openxmlformats.org/presentationml/2006/main">
  <p:tag name="KSO_WM_DIAGRAM_VIRTUALLY_FRAME" val="{&quot;height&quot;:187.31244094488187,&quot;left&quot;:37.5,&quot;top&quot;:78.75,&quot;width&quot;:645}"/>
</p:tagLst>
</file>

<file path=ppt/tags/tag64.xml><?xml version="1.0" encoding="utf-8"?>
<p:tagLst xmlns:p="http://schemas.openxmlformats.org/presentationml/2006/main">
  <p:tag name="KSO_WM_DIAGRAM_VIRTUALLY_FRAME" val="{&quot;height&quot;:187.31244094488187,&quot;left&quot;:37.5,&quot;top&quot;:78.75,&quot;width&quot;:645}"/>
</p:tagLst>
</file>

<file path=ppt/tags/tag65.xml><?xml version="1.0" encoding="utf-8"?>
<p:tagLst xmlns:p="http://schemas.openxmlformats.org/presentationml/2006/main">
  <p:tag name="KSO_WM_DIAGRAM_VIRTUALLY_FRAME" val="{&quot;height&quot;:187.31244094488187,&quot;left&quot;:37.5,&quot;top&quot;:78.75,&quot;width&quot;:645}"/>
</p:tagLst>
</file>

<file path=ppt/tags/tag66.xml><?xml version="1.0" encoding="utf-8"?>
<p:tagLst xmlns:p="http://schemas.openxmlformats.org/presentationml/2006/main">
  <p:tag name="KSO_WM_DIAGRAM_VIRTUALLY_FRAME" val="{&quot;height&quot;:187.31244094488187,&quot;left&quot;:37.5,&quot;top&quot;:78.75,&quot;width&quot;:645}"/>
</p:tagLst>
</file>

<file path=ppt/tags/tag67.xml><?xml version="1.0" encoding="utf-8"?>
<p:tagLst xmlns:p="http://schemas.openxmlformats.org/presentationml/2006/main">
  <p:tag name="KSO_WM_DIAGRAM_VIRTUALLY_FRAME" val="{&quot;height&quot;:221.37496062992128,&quot;left&quot;:37.5,&quot;top&quot;:78.75,&quot;width&quot;:645}"/>
</p:tagLst>
</file>

<file path=ppt/tags/tag68.xml><?xml version="1.0" encoding="utf-8"?>
<p:tagLst xmlns:p="http://schemas.openxmlformats.org/presentationml/2006/main">
  <p:tag name="KSO_WM_DIAGRAM_VIRTUALLY_FRAME" val="{&quot;height&quot;:221.37496062992128,&quot;left&quot;:37.5,&quot;top&quot;:78.75,&quot;width&quot;:645}"/>
</p:tagLst>
</file>

<file path=ppt/tags/tag69.xml><?xml version="1.0" encoding="utf-8"?>
<p:tagLst xmlns:p="http://schemas.openxmlformats.org/presentationml/2006/main">
  <p:tag name="KSO_WM_DIAGRAM_VIRTUALLY_FRAME" val="{&quot;height&quot;:221.37496062992128,&quot;left&quot;:37.5,&quot;top&quot;:78.75,&quot;width&quot;:645}"/>
</p:tagLst>
</file>

<file path=ppt/tags/tag70.xml><?xml version="1.0" encoding="utf-8"?>
<p:tagLst xmlns:p="http://schemas.openxmlformats.org/presentationml/2006/main">
  <p:tag name="KSO_WM_DIAGRAM_VIRTUALLY_FRAME" val="{&quot;height&quot;:221.37496062992128,&quot;left&quot;:37.5,&quot;top&quot;:78.75,&quot;width&quot;:645}"/>
</p:tagLst>
</file>

<file path=ppt/tags/tag71.xml><?xml version="1.0" encoding="utf-8"?>
<p:tagLst xmlns:p="http://schemas.openxmlformats.org/presentationml/2006/main">
  <p:tag name="KSO_WM_DIAGRAM_VIRTUALLY_FRAME" val="{&quot;height&quot;:221.37496062992128,&quot;left&quot;:37.5,&quot;top&quot;:78.75,&quot;width&quot;:645}"/>
</p:tagLst>
</file>

<file path=ppt/tags/tag72.xml><?xml version="1.0" encoding="utf-8"?>
<p:tagLst xmlns:p="http://schemas.openxmlformats.org/presentationml/2006/main">
  <p:tag name="KSO_WM_DIAGRAM_VIRTUALLY_FRAME" val="{&quot;height&quot;:221.37496062992128,&quot;left&quot;:37.5,&quot;top&quot;:78.75,&quot;width&quot;:645}"/>
</p:tagLst>
</file>

<file path=ppt/tags/tag73.xml><?xml version="1.0" encoding="utf-8"?>
<p:tagLst xmlns:p="http://schemas.openxmlformats.org/presentationml/2006/main">
  <p:tag name="KSO_WM_DIAGRAM_VIRTUALLY_FRAME" val="{&quot;height&quot;:221.37496062992128,&quot;left&quot;:37.5,&quot;top&quot;:78.75,&quot;width&quot;:645}"/>
</p:tagLst>
</file>

<file path=ppt/tags/tag74.xml><?xml version="1.0" encoding="utf-8"?>
<p:tagLst xmlns:p="http://schemas.openxmlformats.org/presentationml/2006/main">
  <p:tag name="KSO_WM_DIAGRAM_VIRTUALLY_FRAME" val="{&quot;height&quot;:221.37496062992128,&quot;left&quot;:37.5,&quot;top&quot;:78.75,&quot;width&quot;:645}"/>
</p:tagLst>
</file>

<file path=ppt/tags/tag75.xml><?xml version="1.0" encoding="utf-8"?>
<p:tagLst xmlns:p="http://schemas.openxmlformats.org/presentationml/2006/main">
  <p:tag name="KSO_WM_DIAGRAM_VIRTUALLY_FRAME" val="{&quot;height&quot;:221.37496062992128,&quot;left&quot;:37.5,&quot;top&quot;:78.75,&quot;width&quot;:645}"/>
</p:tagLst>
</file>

<file path=ppt/tags/tag76.xml><?xml version="1.0" encoding="utf-8"?>
<p:tagLst xmlns:p="http://schemas.openxmlformats.org/presentationml/2006/main">
  <p:tag name="KSO_WM_DIAGRAM_VIRTUALLY_FRAME" val="{&quot;height&quot;:221.37496062992128,&quot;left&quot;:37.5,&quot;top&quot;:78.75,&quot;width&quot;:645}"/>
</p:tagLst>
</file>

<file path=ppt/tags/tag77.xml><?xml version="1.0" encoding="utf-8"?>
<p:tagLst xmlns:p="http://schemas.openxmlformats.org/presentationml/2006/main">
  <p:tag name="KSO_WM_DIAGRAM_VIRTUALLY_FRAME" val="{&quot;height&quot;:221.37496062992128,&quot;left&quot;:37.5,&quot;top&quot;:78.75,&quot;width&quot;:645}"/>
</p:tagLst>
</file>

<file path=ppt/tags/tag78.xml><?xml version="1.0" encoding="utf-8"?>
<p:tagLst xmlns:p="http://schemas.openxmlformats.org/presentationml/2006/main">
  <p:tag name="KSO_WM_DIAGRAM_VIRTUALLY_FRAME" val="{&quot;height&quot;:221.37496062992128,&quot;left&quot;:37.5,&quot;top&quot;:78.75,&quot;width&quot;:645}"/>
</p:tagLst>
</file>

<file path=ppt/tags/tag79.xml><?xml version="1.0" encoding="utf-8"?>
<p:tagLst xmlns:p="http://schemas.openxmlformats.org/presentationml/2006/main">
  <p:tag name="KSO_WM_DIAGRAM_VIRTUALLY_FRAME" val="{&quot;height&quot;:221.37496062992128,&quot;left&quot;:37.5,&quot;top&quot;:78.75,&quot;width&quot;:645}"/>
</p:tagLst>
</file>

<file path=ppt/tags/tag80.xml><?xml version="1.0" encoding="utf-8"?>
<p:tagLst xmlns:p="http://schemas.openxmlformats.org/presentationml/2006/main">
  <p:tag name="KSO_WM_DIAGRAM_VIRTUALLY_FRAME" val="{&quot;height&quot;:221.37496062992128,&quot;left&quot;:37.5,&quot;top&quot;:78.75,&quot;width&quot;:645}"/>
</p:tagLst>
</file>

<file path=ppt/tags/tag81.xml><?xml version="1.0" encoding="utf-8"?>
<p:tagLst xmlns:p="http://schemas.openxmlformats.org/presentationml/2006/main">
  <p:tag name="KSO_WM_DIAGRAM_VIRTUALLY_FRAME" val="{&quot;height&quot;:221.37496062992128,&quot;left&quot;:37.5,&quot;top&quot;:78.75,&quot;width&quot;:645}"/>
</p:tagLst>
</file>

<file path=ppt/tags/tag82.xml><?xml version="1.0" encoding="utf-8"?>
<p:tagLst xmlns:p="http://schemas.openxmlformats.org/presentationml/2006/main">
  <p:tag name="KSO_WM_DIAGRAM_VIRTUALLY_FRAME" val="{&quot;height&quot;:118.6875590551181,&quot;left&quot;:37.5,&quot;top&quot;:78.75,&quot;width&quot;:645}"/>
</p:tagLst>
</file>

<file path=ppt/tags/tag83.xml><?xml version="1.0" encoding="utf-8"?>
<p:tagLst xmlns:p="http://schemas.openxmlformats.org/presentationml/2006/main">
  <p:tag name="KSO_WM_DIAGRAM_VIRTUALLY_FRAME" val="{&quot;height&quot;:118.6875590551181,&quot;left&quot;:37.5,&quot;top&quot;:78.75,&quot;width&quot;:645}"/>
</p:tagLst>
</file>

<file path=ppt/tags/tag84.xml><?xml version="1.0" encoding="utf-8"?>
<p:tagLst xmlns:p="http://schemas.openxmlformats.org/presentationml/2006/main">
  <p:tag name="KSO_WM_DIAGRAM_VIRTUALLY_FRAME" val="{&quot;height&quot;:118.6875590551181,&quot;left&quot;:37.5,&quot;top&quot;:78.75,&quot;width&quot;:645}"/>
</p:tagLst>
</file>

<file path=ppt/tags/tag85.xml><?xml version="1.0" encoding="utf-8"?>
<p:tagLst xmlns:p="http://schemas.openxmlformats.org/presentationml/2006/main">
  <p:tag name="KSO_WM_DIAGRAM_VIRTUALLY_FRAME" val="{&quot;height&quot;:118.6875590551181,&quot;left&quot;:37.5,&quot;top&quot;:78.75,&quot;width&quot;:645}"/>
</p:tagLst>
</file>

<file path=ppt/tags/tag86.xml><?xml version="1.0" encoding="utf-8"?>
<p:tagLst xmlns:p="http://schemas.openxmlformats.org/presentationml/2006/main">
  <p:tag name="KSO_WM_DIAGRAM_VIRTUALLY_FRAME" val="{&quot;height&quot;:118.6875590551181,&quot;left&quot;:37.5,&quot;top&quot;:78.75,&quot;width&quot;:645}"/>
</p:tagLst>
</file>

<file path=ppt/tags/tag87.xml><?xml version="1.0" encoding="utf-8"?>
<p:tagLst xmlns:p="http://schemas.openxmlformats.org/presentationml/2006/main">
  <p:tag name="KSO_WM_DIAGRAM_VIRTUALLY_FRAME" val="{&quot;height&quot;:118.6875590551181,&quot;left&quot;:37.5,&quot;top&quot;:78.75,&quot;width&quot;:645}"/>
</p:tagLst>
</file>

<file path=ppt/tags/tag88.xml><?xml version="1.0" encoding="utf-8"?>
<p:tagLst xmlns:p="http://schemas.openxmlformats.org/presentationml/2006/main">
  <p:tag name="KSO_WM_DIAGRAM_VIRTUALLY_FRAME" val="{&quot;height&quot;:118.6875590551181,&quot;left&quot;:37.5,&quot;top&quot;:78.75,&quot;width&quot;:645}"/>
</p:tagLst>
</file>

<file path=ppt/tags/tag89.xml><?xml version="1.0" encoding="utf-8"?>
<p:tagLst xmlns:p="http://schemas.openxmlformats.org/presentationml/2006/main">
  <p:tag name="KSO_WM_DIAGRAM_VIRTUALLY_FRAME" val="{&quot;height&quot;:118.6875590551181,&quot;left&quot;:37.5,&quot;top&quot;:78.75,&quot;width&quot;:645}"/>
</p:tagLst>
</file>

<file path=ppt/tags/tag90.xml><?xml version="1.0" encoding="utf-8"?>
<p:tagLst xmlns:p="http://schemas.openxmlformats.org/presentationml/2006/main">
  <p:tag name="KSO_WM_DIAGRAM_VIRTUALLY_FRAME" val="{&quot;height&quot;:118.6875590551181,&quot;left&quot;:37.5,&quot;top&quot;:78.75,&quot;width&quot;:645}"/>
</p:tagLst>
</file>

<file path=ppt/tags/tag91.xml><?xml version="1.0" encoding="utf-8"?>
<p:tagLst xmlns:p="http://schemas.openxmlformats.org/presentationml/2006/main">
  <p:tag name="KSO_WM_DIAGRAM_VIRTUALLY_FRAME" val="{&quot;height&quot;:129,&quot;left&quot;:37.5,&quot;top&quot;:128.25,&quot;width&quot;:645}"/>
</p:tagLst>
</file>

<file path=ppt/tags/tag92.xml><?xml version="1.0" encoding="utf-8"?>
<p:tagLst xmlns:p="http://schemas.openxmlformats.org/presentationml/2006/main">
  <p:tag name="KSO_WM_DIAGRAM_VIRTUALLY_FRAME" val="{&quot;height&quot;:129,&quot;left&quot;:37.5,&quot;top&quot;:128.25,&quot;width&quot;:645}"/>
</p:tagLst>
</file>

<file path=ppt/tags/tag93.xml><?xml version="1.0" encoding="utf-8"?>
<p:tagLst xmlns:p="http://schemas.openxmlformats.org/presentationml/2006/main">
  <p:tag name="KSO_WM_DIAGRAM_VIRTUALLY_FRAME" val="{&quot;height&quot;:129,&quot;left&quot;:37.5,&quot;top&quot;:128.25,&quot;width&quot;:645}"/>
</p:tagLst>
</file>

<file path=ppt/tags/tag94.xml><?xml version="1.0" encoding="utf-8"?>
<p:tagLst xmlns:p="http://schemas.openxmlformats.org/presentationml/2006/main">
  <p:tag name="KSO_WM_DIAGRAM_VIRTUALLY_FRAME" val="{&quot;height&quot;:129,&quot;left&quot;:37.5,&quot;top&quot;:128.25,&quot;width&quot;:645}"/>
</p:tagLst>
</file>

<file path=ppt/tags/tag95.xml><?xml version="1.0" encoding="utf-8"?>
<p:tagLst xmlns:p="http://schemas.openxmlformats.org/presentationml/2006/main">
  <p:tag name="KSO_WM_DIAGRAM_VIRTUALLY_FRAME" val="{&quot;height&quot;:129,&quot;left&quot;:37.5,&quot;top&quot;:128.25,&quot;width&quot;:645}"/>
</p:tagLst>
</file>

<file path=ppt/tags/tag96.xml><?xml version="1.0" encoding="utf-8"?>
<p:tagLst xmlns:p="http://schemas.openxmlformats.org/presentationml/2006/main">
  <p:tag name="KSO_WM_DIAGRAM_VIRTUALLY_FRAME" val="{&quot;height&quot;:129,&quot;left&quot;:37.5,&quot;top&quot;:128.25,&quot;width&quot;:645}"/>
</p:tagLst>
</file>

<file path=ppt/tags/tag97.xml><?xml version="1.0" encoding="utf-8"?>
<p:tagLst xmlns:p="http://schemas.openxmlformats.org/presentationml/2006/main">
  <p:tag name="KSO_WM_DIAGRAM_VIRTUALLY_FRAME" val="{&quot;height&quot;:129,&quot;left&quot;:37.5,&quot;top&quot;:128.25,&quot;width&quot;:645}"/>
</p:tagLst>
</file>

<file path=ppt/tags/tag98.xml><?xml version="1.0" encoding="utf-8"?>
<p:tagLst xmlns:p="http://schemas.openxmlformats.org/presentationml/2006/main">
  <p:tag name="KSO_WM_DIAGRAM_VIRTUALLY_FRAME" val="{&quot;height&quot;:129,&quot;left&quot;:37.5,&quot;top&quot;:128.25,&quot;width&quot;:645}"/>
</p:tagLst>
</file>

<file path=ppt/tags/tag99.xml><?xml version="1.0" encoding="utf-8"?>
<p:tagLst xmlns:p="http://schemas.openxmlformats.org/presentationml/2006/main">
  <p:tag name="KSO_WM_DIAGRAM_VIRTUALLY_FRAME" val="{&quot;height&quot;:129,&quot;left&quot;:37.5,&quot;top&quot;:128.25,&quot;width&quot;:645}"/>
</p:tagLst>
</file>

<file path=ppt/tags/tag100.xml><?xml version="1.0" encoding="utf-8"?>
<p:tagLst xmlns:p="http://schemas.openxmlformats.org/presentationml/2006/main">
  <p:tag name="KSO_WM_DIAGRAM_VIRTUALLY_FRAME" val="{&quot;height&quot;:193.87212598425197,&quot;left&quot;:371.25,&quot;top&quot;:99.52440944881889,&quot;width&quot;:311.25}"/>
</p:tagLst>
</file>

<file path=ppt/tags/tag101.xml><?xml version="1.0" encoding="utf-8"?>
<p:tagLst xmlns:p="http://schemas.openxmlformats.org/presentationml/2006/main">
  <p:tag name="KSO_WM_DIAGRAM_VIRTUALLY_FRAME" val="{&quot;height&quot;:193.87212598425197,&quot;left&quot;:371.25,&quot;top&quot;:99.52440944881889,&quot;width&quot;:311.25}"/>
</p:tagLst>
</file>

<file path=ppt/tags/tag102.xml><?xml version="1.0" encoding="utf-8"?>
<p:tagLst xmlns:p="http://schemas.openxmlformats.org/presentationml/2006/main">
  <p:tag name="KSO_WM_DIAGRAM_VIRTUALLY_FRAME" val="{&quot;height&quot;:193.87212598425197,&quot;left&quot;:371.25,&quot;top&quot;:99.52440944881889,&quot;width&quot;:311.25}"/>
</p:tagLst>
</file>

<file path=ppt/tags/tag103.xml><?xml version="1.0" encoding="utf-8"?>
<p:tagLst xmlns:p="http://schemas.openxmlformats.org/presentationml/2006/main">
  <p:tag name="KSO_WM_DIAGRAM_VIRTUALLY_FRAME" val="{&quot;height&quot;:193.87212598425197,&quot;left&quot;:371.25,&quot;top&quot;:99.52440944881889,&quot;width&quot;:311.25}"/>
</p:tagLst>
</file>

<file path=ppt/tags/tag104.xml><?xml version="1.0" encoding="utf-8"?>
<p:tagLst xmlns:p="http://schemas.openxmlformats.org/presentationml/2006/main">
  <p:tag name="KSO_WM_DIAGRAM_VIRTUALLY_FRAME" val="{&quot;height&quot;:193.87212598425197,&quot;left&quot;:371.25,&quot;top&quot;:99.52440944881889,&quot;width&quot;:311.25}"/>
</p:tagLst>
</file>

<file path=ppt/tags/tag105.xml><?xml version="1.0" encoding="utf-8"?>
<p:tagLst xmlns:p="http://schemas.openxmlformats.org/presentationml/2006/main">
  <p:tag name="KSO_WM_DIAGRAM_VIRTUALLY_FRAME" val="{&quot;height&quot;:193.87212598425197,&quot;left&quot;:371.25,&quot;top&quot;:99.52440944881889,&quot;width&quot;:311.25}"/>
</p:tagLst>
</file>

<file path=ppt/tags/tag106.xml><?xml version="1.0" encoding="utf-8"?>
<p:tagLst xmlns:p="http://schemas.openxmlformats.org/presentationml/2006/main">
  <p:tag name="KSO_WM_DIAGRAM_VIRTUALLY_FRAME" val="{&quot;height&quot;:193.87212598425197,&quot;left&quot;:371.25,&quot;top&quot;:99.52440944881889,&quot;width&quot;:311.25}"/>
</p:tagLst>
</file>

<file path=ppt/tags/tag107.xml><?xml version="1.0" encoding="utf-8"?>
<p:tagLst xmlns:p="http://schemas.openxmlformats.org/presentationml/2006/main">
  <p:tag name="KSO_WM_DIAGRAM_VIRTUALLY_FRAME" val="{&quot;height&quot;:193.87212598425197,&quot;left&quot;:371.25,&quot;top&quot;:99.52440944881889,&quot;width&quot;:311.25}"/>
</p:tagLst>
</file>

<file path=ppt/tags/tag108.xml><?xml version="1.0" encoding="utf-8"?>
<p:tagLst xmlns:p="http://schemas.openxmlformats.org/presentationml/2006/main">
  <p:tag name="KSO_WM_DIAGRAM_VIRTUALLY_FRAME" val="{&quot;height&quot;:193.87212598425197,&quot;left&quot;:371.25,&quot;top&quot;:99.52440944881889,&quot;width&quot;:311.25}"/>
</p:tagLst>
</file>

<file path=ppt/tags/tag109.xml><?xml version="1.0" encoding="utf-8"?>
<p:tagLst xmlns:p="http://schemas.openxmlformats.org/presentationml/2006/main">
  <p:tag name="KSO_WM_DIAGRAM_VIRTUALLY_FRAME" val="{&quot;height&quot;:193.87212598425197,&quot;left&quot;:371.25,&quot;top&quot;:99.52440944881889,&quot;width&quot;:311.25}"/>
</p:tagLst>
</file>

<file path=ppt/tags/tag110.xml><?xml version="1.0" encoding="utf-8"?>
<p:tagLst xmlns:p="http://schemas.openxmlformats.org/presentationml/2006/main">
  <p:tag name="KSO_WM_DIAGRAM_VIRTUALLY_FRAME" val="{&quot;height&quot;:193.87212598425197,&quot;left&quot;:371.25,&quot;top&quot;:99.52440944881889,&quot;width&quot;:311.25}"/>
</p:tagLst>
</file>

<file path=ppt/tags/tag111.xml><?xml version="1.0" encoding="utf-8"?>
<p:tagLst xmlns:p="http://schemas.openxmlformats.org/presentationml/2006/main">
  <p:tag name="KSO_WM_DIAGRAM_VIRTUALLY_FRAME" val="{&quot;height&quot;:193.87212598425197,&quot;left&quot;:371.25,&quot;top&quot;:99.52440944881889,&quot;width&quot;:311.25}"/>
</p:tagLst>
</file>

<file path=ppt/tags/tag112.xml><?xml version="1.0" encoding="utf-8"?>
<p:tagLst xmlns:p="http://schemas.openxmlformats.org/presentationml/2006/main">
  <p:tag name="KSO_WM_DIAGRAM_VIRTUALLY_FRAME" val="{&quot;height&quot;:193.87212598425197,&quot;left&quot;:371.25,&quot;top&quot;:99.52440944881889,&quot;width&quot;:311.25}"/>
</p:tagLst>
</file>

<file path=ppt/tags/tag113.xml><?xml version="1.0" encoding="utf-8"?>
<p:tagLst xmlns:p="http://schemas.openxmlformats.org/presentationml/2006/main">
  <p:tag name="KSO_WM_DIAGRAM_VIRTUALLY_FRAME" val="{&quot;height&quot;:193.87212598425197,&quot;left&quot;:371.25,&quot;top&quot;:99.52440944881889,&quot;width&quot;:311.25}"/>
</p:tagLst>
</file>

<file path=ppt/tags/tag114.xml><?xml version="1.0" encoding="utf-8"?>
<p:tagLst xmlns:p="http://schemas.openxmlformats.org/presentationml/2006/main">
  <p:tag name="KSO_WM_DIAGRAM_VIRTUALLY_FRAME" val="{&quot;height&quot;:193.87212598425197,&quot;left&quot;:371.25,&quot;top&quot;:99.52440944881889,&quot;width&quot;:311.25}"/>
</p:tagLst>
</file>

<file path=ppt/tags/tag115.xml><?xml version="1.0" encoding="utf-8"?>
<p:tagLst xmlns:p="http://schemas.openxmlformats.org/presentationml/2006/main">
  <p:tag name="KSO_WM_DIAGRAM_VIRTUALLY_FRAME" val="{&quot;height&quot;:216.22503937007878,&quot;left&quot;:37.5,&quot;top&quot;:111.93748031496064,&quot;width&quot;:645}"/>
</p:tagLst>
</file>

<file path=ppt/tags/tag116.xml><?xml version="1.0" encoding="utf-8"?>
<p:tagLst xmlns:p="http://schemas.openxmlformats.org/presentationml/2006/main">
  <p:tag name="KSO_WM_DIAGRAM_VIRTUALLY_FRAME" val="{&quot;height&quot;:216.22503937007878,&quot;left&quot;:37.5,&quot;top&quot;:111.93748031496064,&quot;width&quot;:645}"/>
</p:tagLst>
</file>

<file path=ppt/tags/tag117.xml><?xml version="1.0" encoding="utf-8"?>
<p:tagLst xmlns:p="http://schemas.openxmlformats.org/presentationml/2006/main">
  <p:tag name="KSO_WM_DIAGRAM_VIRTUALLY_FRAME" val="{&quot;height&quot;:216.22503937007878,&quot;left&quot;:37.5,&quot;top&quot;:111.93748031496064,&quot;width&quot;:645}"/>
</p:tagLst>
</file>

<file path=ppt/tags/tag118.xml><?xml version="1.0" encoding="utf-8"?>
<p:tagLst xmlns:p="http://schemas.openxmlformats.org/presentationml/2006/main">
  <p:tag name="KSO_WM_DIAGRAM_VIRTUALLY_FRAME" val="{&quot;height&quot;:216.22503937007878,&quot;left&quot;:37.5,&quot;top&quot;:111.93748031496064,&quot;width&quot;:645}"/>
</p:tagLst>
</file>

<file path=ppt/tags/tag119.xml><?xml version="1.0" encoding="utf-8"?>
<p:tagLst xmlns:p="http://schemas.openxmlformats.org/presentationml/2006/main">
  <p:tag name="KSO_WM_DIAGRAM_VIRTUALLY_FRAME" val="{&quot;height&quot;:216.22503937007878,&quot;left&quot;:37.5,&quot;top&quot;:111.93748031496064,&quot;width&quot;:645}"/>
</p:tagLst>
</file>

<file path=ppt/tags/tag120.xml><?xml version="1.0" encoding="utf-8"?>
<p:tagLst xmlns:p="http://schemas.openxmlformats.org/presentationml/2006/main">
  <p:tag name="KSO_WM_DIAGRAM_VIRTUALLY_FRAME" val="{&quot;height&quot;:216.22503937007878,&quot;left&quot;:37.5,&quot;top&quot;:111.93748031496064,&quot;width&quot;:645}"/>
</p:tagLst>
</file>

<file path=ppt/tags/tag121.xml><?xml version="1.0" encoding="utf-8"?>
<p:tagLst xmlns:p="http://schemas.openxmlformats.org/presentationml/2006/main">
  <p:tag name="KSO_WM_DIAGRAM_VIRTUALLY_FRAME" val="{&quot;height&quot;:216.22503937007878,&quot;left&quot;:37.5,&quot;top&quot;:111.93748031496064,&quot;width&quot;:645}"/>
</p:tagLst>
</file>

<file path=ppt/tags/tag122.xml><?xml version="1.0" encoding="utf-8"?>
<p:tagLst xmlns:p="http://schemas.openxmlformats.org/presentationml/2006/main">
  <p:tag name="KSO_WM_DIAGRAM_VIRTUALLY_FRAME" val="{&quot;height&quot;:216.22503937007878,&quot;left&quot;:37.5,&quot;top&quot;:111.93748031496064,&quot;width&quot;:645}"/>
</p:tagLst>
</file>

<file path=ppt/tags/tag123.xml><?xml version="1.0" encoding="utf-8"?>
<p:tagLst xmlns:p="http://schemas.openxmlformats.org/presentationml/2006/main">
  <p:tag name="KSO_WM_DIAGRAM_VIRTUALLY_FRAME" val="{&quot;height&quot;:216.22503937007878,&quot;left&quot;:37.5,&quot;top&quot;:111.93748031496064,&quot;width&quot;:645}"/>
</p:tagLst>
</file>

<file path=ppt/tags/tag124.xml><?xml version="1.0" encoding="utf-8"?>
<p:tagLst xmlns:p="http://schemas.openxmlformats.org/presentationml/2006/main">
  <p:tag name="KSO_WM_DIAGRAM_VIRTUALLY_FRAME" val="{&quot;height&quot;:216.22503937007878,&quot;left&quot;:37.5,&quot;top&quot;:111.93748031496064,&quot;width&quot;:645}"/>
</p:tagLst>
</file>

<file path=ppt/tags/tag125.xml><?xml version="1.0" encoding="utf-8"?>
<p:tagLst xmlns:p="http://schemas.openxmlformats.org/presentationml/2006/main">
  <p:tag name="KSO_WM_DIAGRAM_VIRTUALLY_FRAME" val="{&quot;height&quot;:216.22503937007878,&quot;left&quot;:37.5,&quot;top&quot;:111.93748031496064,&quot;width&quot;:645}"/>
</p:tagLst>
</file>

<file path=ppt/tags/tag126.xml><?xml version="1.0" encoding="utf-8"?>
<p:tagLst xmlns:p="http://schemas.openxmlformats.org/presentationml/2006/main">
  <p:tag name="KSO_WM_DIAGRAM_VIRTUALLY_FRAME" val="{&quot;height&quot;:216.22503937007878,&quot;left&quot;:37.5,&quot;top&quot;:111.93748031496064,&quot;width&quot;:645}"/>
</p:tagLst>
</file>

<file path=ppt/tags/tag127.xml><?xml version="1.0" encoding="utf-8"?>
<p:tagLst xmlns:p="http://schemas.openxmlformats.org/presentationml/2006/main">
  <p:tag name="KSO_WM_DIAGRAM_VIRTUALLY_FRAME" val="{&quot;height&quot;:216.22503937007878,&quot;left&quot;:37.5,&quot;top&quot;:111.93748031496064,&quot;width&quot;:645}"/>
</p:tagLst>
</file>

<file path=ppt/tags/tag128.xml><?xml version="1.0" encoding="utf-8"?>
<p:tagLst xmlns:p="http://schemas.openxmlformats.org/presentationml/2006/main">
  <p:tag name="KSO_WM_DIAGRAM_VIRTUALLY_FRAME" val="{&quot;height&quot;:216.22503937007878,&quot;left&quot;:37.5,&quot;top&quot;:111.93748031496064,&quot;width&quot;:645}"/>
</p:tagLst>
</file>

<file path=ppt/tags/tag129.xml><?xml version="1.0" encoding="utf-8"?>
<p:tagLst xmlns:p="http://schemas.openxmlformats.org/presentationml/2006/main">
  <p:tag name="KSO_WM_DIAGRAM_VIRTUALLY_FRAME" val="{&quot;height&quot;:216.22503937007878,&quot;left&quot;:37.5,&quot;top&quot;:111.93748031496064,&quot;width&quot;:645}"/>
</p:tagLst>
</file>

<file path=ppt/tags/tag130.xml><?xml version="1.0" encoding="utf-8"?>
<p:tagLst xmlns:p="http://schemas.openxmlformats.org/presentationml/2006/main">
  <p:tag name="KSO_WM_DIAGRAM_VIRTUALLY_FRAME" val="{&quot;height&quot;:216.22503937007878,&quot;left&quot;:37.5,&quot;top&quot;:111.93748031496064,&quot;width&quot;:645}"/>
</p:tagLst>
</file>

<file path=ppt/tags/tag131.xml><?xml version="1.0" encoding="utf-8"?>
<p:tagLst xmlns:p="http://schemas.openxmlformats.org/presentationml/2006/main">
  <p:tag name="KSO_WM_DIAGRAM_VIRTUALLY_FRAME" val="{&quot;height&quot;:216.22503937007878,&quot;left&quot;:37.5,&quot;top&quot;:111.93748031496064,&quot;width&quot;:645}"/>
</p:tagLst>
</file>

<file path=ppt/tags/tag132.xml><?xml version="1.0" encoding="utf-8"?>
<p:tagLst xmlns:p="http://schemas.openxmlformats.org/presentationml/2006/main">
  <p:tag name="KSO_WM_DIAGRAM_VIRTUALLY_FRAME" val="{&quot;height&quot;:216.22503937007878,&quot;left&quot;:37.5,&quot;top&quot;:111.93748031496064,&quot;width&quot;:645}"/>
</p:tagLst>
</file>

<file path=ppt/tags/tag133.xml><?xml version="1.0" encoding="utf-8"?>
<p:tagLst xmlns:p="http://schemas.openxmlformats.org/presentationml/2006/main">
  <p:tag name="KSO_WM_DIAGRAM_VIRTUALLY_FRAME" val="{&quot;height&quot;:163.68748031496065,&quot;left&quot;:37.5,&quot;top&quot;:112.5,&quot;width&quot;:645}"/>
</p:tagLst>
</file>

<file path=ppt/tags/tag134.xml><?xml version="1.0" encoding="utf-8"?>
<p:tagLst xmlns:p="http://schemas.openxmlformats.org/presentationml/2006/main">
  <p:tag name="KSO_WM_DIAGRAM_VIRTUALLY_FRAME" val="{&quot;height&quot;:163.68748031496065,&quot;left&quot;:37.5,&quot;top&quot;:112.5,&quot;width&quot;:645}"/>
</p:tagLst>
</file>

<file path=ppt/tags/tag135.xml><?xml version="1.0" encoding="utf-8"?>
<p:tagLst xmlns:p="http://schemas.openxmlformats.org/presentationml/2006/main">
  <p:tag name="KSO_WM_DIAGRAM_VIRTUALLY_FRAME" val="{&quot;height&quot;:163.68748031496065,&quot;left&quot;:37.5,&quot;top&quot;:112.5,&quot;width&quot;:645}"/>
</p:tagLst>
</file>

<file path=ppt/tags/tag136.xml><?xml version="1.0" encoding="utf-8"?>
<p:tagLst xmlns:p="http://schemas.openxmlformats.org/presentationml/2006/main">
  <p:tag name="KSO_WM_DIAGRAM_VIRTUALLY_FRAME" val="{&quot;height&quot;:163.68748031496065,&quot;left&quot;:37.5,&quot;top&quot;:112.5,&quot;width&quot;:645}"/>
</p:tagLst>
</file>

<file path=ppt/tags/tag137.xml><?xml version="1.0" encoding="utf-8"?>
<p:tagLst xmlns:p="http://schemas.openxmlformats.org/presentationml/2006/main">
  <p:tag name="KSO_WM_DIAGRAM_VIRTUALLY_FRAME" val="{&quot;height&quot;:163.68748031496065,&quot;left&quot;:37.5,&quot;top&quot;:112.5,&quot;width&quot;:645}"/>
</p:tagLst>
</file>

<file path=ppt/tags/tag138.xml><?xml version="1.0" encoding="utf-8"?>
<p:tagLst xmlns:p="http://schemas.openxmlformats.org/presentationml/2006/main">
  <p:tag name="KSO_WM_DIAGRAM_VIRTUALLY_FRAME" val="{&quot;height&quot;:163.68748031496065,&quot;left&quot;:37.5,&quot;top&quot;:112.5,&quot;width&quot;:645}"/>
</p:tagLst>
</file>

<file path=ppt/tags/tag139.xml><?xml version="1.0" encoding="utf-8"?>
<p:tagLst xmlns:p="http://schemas.openxmlformats.org/presentationml/2006/main">
  <p:tag name="KSO_WM_DIAGRAM_VIRTUALLY_FRAME" val="{&quot;height&quot;:163.68748031496065,&quot;left&quot;:37.5,&quot;top&quot;:112.5,&quot;width&quot;:645}"/>
</p:tagLst>
</file>

<file path=ppt/tags/tag140.xml><?xml version="1.0" encoding="utf-8"?>
<p:tagLst xmlns:p="http://schemas.openxmlformats.org/presentationml/2006/main">
  <p:tag name="KSO_WM_DIAGRAM_VIRTUALLY_FRAME" val="{&quot;height&quot;:163.68748031496065,&quot;left&quot;:37.5,&quot;top&quot;:112.5,&quot;width&quot;:645}"/>
</p:tagLst>
</file>

<file path=ppt/tags/tag141.xml><?xml version="1.0" encoding="utf-8"?>
<p:tagLst xmlns:p="http://schemas.openxmlformats.org/presentationml/2006/main">
  <p:tag name="KSO_WM_DIAGRAM_VIRTUALLY_FRAME" val="{&quot;height&quot;:163.68748031496065,&quot;left&quot;:37.5,&quot;top&quot;:112.5,&quot;width&quot;:645}"/>
</p:tagLst>
</file>

<file path=ppt/tags/tag142.xml><?xml version="1.0" encoding="utf-8"?>
<p:tagLst xmlns:p="http://schemas.openxmlformats.org/presentationml/2006/main">
  <p:tag name="KSO_WM_DIAGRAM_VIRTUALLY_FRAME" val="{&quot;height&quot;:163.68748031496065,&quot;left&quot;:37.5,&quot;top&quot;:112.5,&quot;width&quot;:645}"/>
</p:tagLst>
</file>

<file path=ppt/tags/tag143.xml><?xml version="1.0" encoding="utf-8"?>
<p:tagLst xmlns:p="http://schemas.openxmlformats.org/presentationml/2006/main">
  <p:tag name="KSO_WM_DIAGRAM_VIRTUALLY_FRAME" val="{&quot;height&quot;:163.68748031496065,&quot;left&quot;:37.5,&quot;top&quot;:112.5,&quot;width&quot;:645}"/>
</p:tagLst>
</file>

<file path=ppt/tags/tag144.xml><?xml version="1.0" encoding="utf-8"?>
<p:tagLst xmlns:p="http://schemas.openxmlformats.org/presentationml/2006/main">
  <p:tag name="KSO_WM_DIAGRAM_VIRTUALLY_FRAME" val="{&quot;height&quot;:163.68748031496065,&quot;left&quot;:37.5,&quot;top&quot;:112.5,&quot;width&quot;:645}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32398</Words>
  <Application>WPS 演示</Application>
  <PresentationFormat>On-screen Show (16:9)</PresentationFormat>
  <Paragraphs>2216</Paragraphs>
  <Slides>50</Slides>
  <Notes>55</Notes>
  <HiddenSlides>0</HiddenSlides>
  <MMClips>0</MMClips>
  <ScaleCrop>false</ScaleCrop>
  <HeadingPairs>
    <vt:vector size="6" baseType="variant">
      <vt:variant>
        <vt:lpstr>已用的字体</vt:lpstr>
      </vt:variant>
      <vt:variant>
        <vt:i4>20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50</vt:i4>
      </vt:variant>
    </vt:vector>
  </HeadingPairs>
  <TitlesOfParts>
    <vt:vector size="71" baseType="lpstr">
      <vt:lpstr>Arial</vt:lpstr>
      <vt:lpstr>宋体</vt:lpstr>
      <vt:lpstr>Wingdings</vt:lpstr>
      <vt:lpstr>Consolas</vt:lpstr>
      <vt:lpstr>Consolas</vt:lpstr>
      <vt:lpstr>Consolas</vt:lpstr>
      <vt:lpstr>Segoe UI</vt:lpstr>
      <vt:lpstr>Segoe UI</vt:lpstr>
      <vt:lpstr>Segoe UI</vt:lpstr>
      <vt:lpstr>Calibri</vt:lpstr>
      <vt:lpstr>微软雅黑</vt:lpstr>
      <vt:lpstr>Arial Unicode MS</vt:lpstr>
      <vt:lpstr>等线</vt:lpstr>
      <vt:lpstr>-apple-system</vt:lpstr>
      <vt:lpstr>-apple-system</vt:lpstr>
      <vt:lpstr>-apple-system</vt:lpstr>
      <vt:lpstr>Be Happy</vt:lpstr>
      <vt:lpstr>monospace</vt:lpstr>
      <vt:lpstr>monospace</vt:lpstr>
      <vt:lpstr>monospace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creator>PptxGenJS</dc:creator>
  <dc:subject>PptxGenJS Presentation</dc:subject>
  <cp:lastModifiedBy>一帆风顺</cp:lastModifiedBy>
  <cp:revision>248</cp:revision>
  <dcterms:created xsi:type="dcterms:W3CDTF">2026-07-08T13:04:00Z</dcterms:created>
  <dcterms:modified xsi:type="dcterms:W3CDTF">2026-07-10T11:01:51Z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2052-12.1.0.26895</vt:lpwstr>
  </property>
  <property fmtid="{D5CDD505-2E9C-101B-9397-08002B2CF9AE}" pid="3" name="ICV">
    <vt:lpwstr>CD95AB85926A4CEEAA10E251E56328D5_12</vt:lpwstr>
  </property>
</Properties>
</file>