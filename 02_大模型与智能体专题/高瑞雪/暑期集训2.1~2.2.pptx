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57483700" r:id="rId1"/>
    <p:sldMasterId id="2157483702" r:id="rId2"/>
  </p:sldMasterIdLst>
  <p:notesMasterIdLst>
    <p:notesMasterId r:id="rId23"/>
  </p:notesMasterIdLst>
  <p:sldIdLst>
    <p:sldId id="279" r:id="rId3"/>
    <p:sldId id="280" r:id="rId4"/>
    <p:sldId id="281" r:id="rId5"/>
    <p:sldId id="282" r:id="rId6"/>
    <p:sldId id="283" r:id="rId7"/>
    <p:sldId id="285" r:id="rId8"/>
    <p:sldId id="286" r:id="rId9"/>
    <p:sldId id="287" r:id="rId10"/>
    <p:sldId id="289" r:id="rId11"/>
    <p:sldId id="290" r:id="rId12"/>
    <p:sldId id="301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9" r:id="rId21"/>
    <p:sldId id="300" r:id="rId22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46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82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83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1540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5567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4482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2030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218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629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8867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7770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639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9344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9929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4125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834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38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OfficePLUSCoverBackgroundShape">
            <a:extLst>
              <a:ext uri="{FF2B5EF4-FFF2-40B4-BE49-F238E27FC236}">
                <a16:creationId xmlns:a16="http://schemas.microsoft.com/office/drawing/2014/main" id="{F6B81E82-77CD-42EE-BB96-8BC6A5440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9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Picture 1101">
            <a:extLst>
              <a:ext uri="{FF2B5EF4-FFF2-40B4-BE49-F238E27FC236}">
                <a16:creationId xmlns:a16="http://schemas.microsoft.com/office/drawing/2014/main" id="{F6B81E82-77CD-42EE-BB96-8BC6A5440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Subtitle 9800"/>
          <p:cNvSpPr>
            <a:spLocks noGrp="1"/>
          </p:cNvSpPr>
          <p:nvPr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9802" name="Title 9801"/>
          <p:cNvSpPr>
            <a:spLocks noGrp="1"/>
          </p:cNvSpPr>
          <p:nvPr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545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475EF-3918-4C37-977A-956EB9D76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1" hasCustomPrompt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669925" y="3471306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34571-20DC-4359-9C3B-4D92050F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BD28F-5F81-4628-B7F7-4CFA7C46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F377F-049F-4A50-A632-6FA81BE9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529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E689-614A-4297-B51A-02A57569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80CF-7ED1-4A0E-83CB-11D5DC0A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512C-84E6-4139-A15F-D2EF1137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88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19B5B-C61F-4AAB-AD46-F9F01750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59CEA-4DBF-4E97-8194-416BC9AC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6FBFD-A931-4F8A-8815-3DCE3E77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36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70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Picture 1128">
            <a:extLst>
              <a:ext uri="{FF2B5EF4-FFF2-40B4-BE49-F238E27FC236}">
                <a16:creationId xmlns:a16="http://schemas.microsoft.com/office/drawing/2014/main" id="{21B0AEAA-D567-4486-80E1-08E44670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900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8745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5748370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599" y="65151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69924" y="6240463"/>
            <a:ext cx="10850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9923" y="1028700"/>
            <a:ext cx="10850563" cy="7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95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3" r:id="rId1"/>
    <p:sldLayoutId id="2157483704" r:id="rId2"/>
    <p:sldLayoutId id="2157483705" r:id="rId3"/>
    <p:sldLayoutId id="2157483706" r:id="rId4"/>
    <p:sldLayoutId id="2157483707" r:id="rId5"/>
    <p:sldLayoutId id="2157483708" r:id="rId6"/>
    <p:sldLayoutId id="2157483709" r:id="rId7"/>
  </p:sldLayoutIdLst>
  <p:hf sldNum="0"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08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jpe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hyperlink" Target="https://docs.claude.com/en/docs/agents-and-tools/tool-use/overview" TargetMode="External"/><Relationship Id="rId3" Type="http://schemas.openxmlformats.org/officeDocument/2006/relationships/image" Target="../media/image29.png"/><Relationship Id="rId7" Type="http://schemas.openxmlformats.org/officeDocument/2006/relationships/image" Target="../media/image32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hyperlink" Target="https://api-docs.deepseek.com/zh-cn" TargetMode="External"/><Relationship Id="rId10" Type="http://schemas.openxmlformats.org/officeDocument/2006/relationships/hyperlink" Target="https://docs.bigmodel.cn" TargetMode="External"/><Relationship Id="rId4" Type="http://schemas.openxmlformats.org/officeDocument/2006/relationships/image" Target="../media/image30.svg"/><Relationship Id="rId9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2D5A4E7A-4C4B-157C-A8DF-22250E7E7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从基础调用到智能体的第一步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1F0E713-61ED-F54D-CA77-3FCD051F0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模块二：</a:t>
            </a:r>
            <a:r>
              <a:rPr lang="en-US" altLang="zh-CN"/>
              <a:t>API</a:t>
            </a:r>
            <a:r>
              <a:rPr lang="zh-CN" altLang="en-US"/>
              <a:t>调用与上下文工程</a:t>
            </a: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65290023-2889-90CF-A9F2-A011480CDFD1}"/>
              </a:ext>
            </a:extLst>
          </p:cNvPr>
          <p:cNvSpPr/>
          <p:nvPr/>
        </p:nvSpPr>
        <p:spPr>
          <a:xfrm>
            <a:off x="1841500" y="5600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高瑞雪</a:t>
            </a:r>
            <a:endParaRPr lang="en-US" sz="1600" dirty="0"/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B8383E21-68B9-F23C-9854-293AF1C0C0BC}"/>
              </a:ext>
            </a:extLst>
          </p:cNvPr>
          <p:cNvSpPr/>
          <p:nvPr/>
        </p:nvSpPr>
        <p:spPr>
          <a:xfrm>
            <a:off x="6921500" y="5600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4198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AF838-8520-CEDD-BE25-5D08DCF4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第一部分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1C957F0-417F-21F1-2A36-8894D6485C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14D3307-D926-5852-F7CB-8B6BF295997F}"/>
              </a:ext>
            </a:extLst>
          </p:cNvPr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 API 基础 (2.1)</a:t>
            </a:r>
            <a:endParaRPr lang="en-US" sz="110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E3F3C99-FD6D-6E34-03C5-DA648CDE5CAA}"/>
              </a:ext>
            </a:extLst>
          </p:cNvPr>
          <p:cNvSpPr/>
          <p:nvPr/>
        </p:nvSpPr>
        <p:spPr>
          <a:xfrm>
            <a:off x="5588000" y="520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ap="flat" cmpd="sng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13853137-ED40-49FF-B25B-760113C979BC}"/>
              </a:ext>
            </a:extLst>
          </p:cNvPr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探索智能交互的核心接口，解锁大模型应用开发的关键密钥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2828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59A07-608C-A287-147E-88C514CC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</a:rPr>
              <a:t>API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</a:rPr>
              <a:t>调用的两种方式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FB07E34-C1CB-CCCF-5EF9-A82D6996449E}"/>
              </a:ext>
            </a:extLst>
          </p:cNvPr>
          <p:cNvSpPr/>
          <p:nvPr/>
        </p:nvSpPr>
        <p:spPr>
          <a:xfrm>
            <a:off x="762000" y="1651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 dirty="0" err="1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核心概念：远程调用</a:t>
            </a:r>
            <a:r>
              <a:rPr lang="en-US" altLang="zh-CN" sz="1500" b="1" i="0" u="none" strike="noStrike" dirty="0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——</a:t>
            </a:r>
            <a:r>
              <a:rPr lang="en-US" sz="1500" b="1" i="0" u="none" strike="noStrike" dirty="0" err="1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就像通过「电话」给远方的大模型发指令，无需本地部署，简单直接地获取智能算力</a:t>
            </a:r>
            <a:r>
              <a:rPr lang="en-US" sz="1500" b="1" i="0" u="none" strike="noStrike" dirty="0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。</a:t>
            </a:r>
            <a:endParaRPr lang="en-US" sz="1100" b="1" dirty="0">
              <a:latin typeface="+mn-ea"/>
              <a:ea typeface="+mn-ea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6B95D7A-194E-40CC-402B-E1153ADAA77E}"/>
              </a:ext>
            </a:extLst>
          </p:cNvPr>
          <p:cNvSpPr/>
          <p:nvPr/>
        </p:nvSpPr>
        <p:spPr>
          <a:xfrm>
            <a:off x="762000" y="2540000"/>
            <a:ext cx="5842000" cy="1206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ea"/>
              <a:ea typeface="+mn-ea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D630A1EF-4D92-C7F5-9128-9F9E27353C9D}"/>
              </a:ext>
            </a:extLst>
          </p:cNvPr>
          <p:cNvSpPr/>
          <p:nvPr/>
        </p:nvSpPr>
        <p:spPr>
          <a:xfrm>
            <a:off x="952500" y="2667000"/>
            <a:ext cx="546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40E0D0"/>
                </a:solidFill>
                <a:latin typeface="+mn-ea"/>
                <a:ea typeface="+mn-ea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40E0D0"/>
                </a:solidFill>
                <a:latin typeface="+mn-ea"/>
                <a:ea typeface="+mn-ea"/>
                <a:cs typeface="Noto Sans SC"/>
                <a:sym typeface="Noto Sans SC"/>
              </a:rPr>
              <a:t>闭源模型官方API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直连官方服务器。稳定性强、响应快，适合智能对话、文案生成等需快速验证的场景</a:t>
            </a:r>
            <a:r>
              <a:rPr lang="en-US" sz="1300" b="0" i="0" u="none" strike="noStrike" dirty="0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300" b="1" i="0" u="none" strike="noStrike" dirty="0" err="1">
                <a:solidFill>
                  <a:srgbClr val="10B981"/>
                </a:solidFill>
                <a:latin typeface="+mn-ea"/>
                <a:ea typeface="+mn-ea"/>
                <a:cs typeface="Noto Sans SC"/>
                <a:sym typeface="Noto Sans SC"/>
              </a:rPr>
              <a:t>推荐：开发成本低，适合快速原型验证</a:t>
            </a:r>
            <a:endParaRPr lang="en-US" sz="1100" dirty="0">
              <a:latin typeface="+mn-ea"/>
              <a:ea typeface="+mn-ea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2D764520-B953-DA8F-26A4-11110223176B}"/>
              </a:ext>
            </a:extLst>
          </p:cNvPr>
          <p:cNvSpPr/>
          <p:nvPr/>
        </p:nvSpPr>
        <p:spPr>
          <a:xfrm>
            <a:off x="762000" y="3873500"/>
            <a:ext cx="5842000" cy="1206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ea"/>
              <a:ea typeface="+mn-ea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E26EBC41-5B44-E22F-BF82-83229463CC11}"/>
              </a:ext>
            </a:extLst>
          </p:cNvPr>
          <p:cNvSpPr/>
          <p:nvPr/>
        </p:nvSpPr>
        <p:spPr>
          <a:xfrm>
            <a:off x="952500" y="4000500"/>
            <a:ext cx="546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40E0D0"/>
                </a:solidFill>
                <a:latin typeface="+mn-ea"/>
                <a:ea typeface="+mn-ea"/>
                <a:cs typeface="Noto Sans SC"/>
                <a:sym typeface="Noto Sans SC"/>
              </a:rPr>
              <a:t>02 API </a:t>
            </a:r>
            <a:r>
              <a:rPr lang="en-US" sz="1600" b="1" i="0" u="none" strike="noStrike" dirty="0" err="1">
                <a:solidFill>
                  <a:srgbClr val="40E0D0"/>
                </a:solidFill>
                <a:latin typeface="+mn-ea"/>
                <a:ea typeface="+mn-ea"/>
                <a:cs typeface="Noto Sans SC"/>
                <a:sym typeface="Noto Sans SC"/>
              </a:rPr>
              <a:t>代理调用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通过合规代理平台转接。能有效降低调用成本，适合批量数据处理、大规模并发请求</a:t>
            </a:r>
            <a:r>
              <a:rPr lang="en-US" sz="1300" b="0" i="0" u="none" strike="noStrike" dirty="0">
                <a:solidFill>
                  <a:srgbClr val="525252"/>
                </a:solidFill>
                <a:latin typeface="+mn-ea"/>
                <a:ea typeface="+mn-ea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300" b="1" i="0" u="none" strike="noStrike" dirty="0" err="1">
                <a:solidFill>
                  <a:srgbClr val="10B981"/>
                </a:solidFill>
                <a:latin typeface="+mn-ea"/>
                <a:ea typeface="+mn-ea"/>
                <a:cs typeface="Noto Sans SC"/>
                <a:sym typeface="Noto Sans SC"/>
              </a:rPr>
              <a:t>推荐：高性价比，适合成本敏感型业务</a:t>
            </a:r>
            <a:endParaRPr lang="en-US" sz="1100" dirty="0">
              <a:latin typeface="+mn-ea"/>
              <a:ea typeface="+mn-ea"/>
            </a:endParaRP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362A3661-05A8-5882-69BB-C7C9F802C8FE}"/>
              </a:ext>
            </a:extLst>
          </p:cNvPr>
          <p:cNvSpPr/>
          <p:nvPr/>
        </p:nvSpPr>
        <p:spPr>
          <a:xfrm>
            <a:off x="762000" y="5207000"/>
            <a:ext cx="5842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ea"/>
              <a:ea typeface="+mn-ea"/>
            </a:endParaRPr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4B0BB0BC-C440-7F7E-CA2C-DD4D933B8CAD}"/>
              </a:ext>
            </a:extLst>
          </p:cNvPr>
          <p:cNvSpPr/>
          <p:nvPr/>
        </p:nvSpPr>
        <p:spPr>
          <a:xfrm>
            <a:off x="952500" y="52705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333333"/>
                </a:solidFill>
                <a:latin typeface="+mn-ea"/>
                <a:ea typeface="+mn-ea"/>
                <a:cs typeface="Noto Sans SC"/>
                <a:sym typeface="Noto Sans SC"/>
              </a:rPr>
              <a:t>🛠️ 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+mn-ea"/>
                <a:ea typeface="+mn-ea"/>
                <a:cs typeface="Noto Sans SC"/>
                <a:sym typeface="Noto Sans SC"/>
              </a:rPr>
              <a:t>快速上手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官方：pip</a:t>
            </a:r>
            <a:r>
              <a:rPr lang="en-US" sz="1200" b="0" i="0" u="none" strike="noStrike" dirty="0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 install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openai</a:t>
            </a:r>
            <a:br>
              <a:rPr lang="en-US" sz="1600" b="0" i="0" u="none" strike="noStrike" dirty="0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代理：pip</a:t>
            </a:r>
            <a:r>
              <a:rPr lang="en-US" sz="1200" b="0" i="0" u="none" strike="noStrike" dirty="0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 install requests</a:t>
            </a:r>
            <a:endParaRPr lang="en-US" sz="1100" dirty="0">
              <a:latin typeface="+mn-ea"/>
              <a:ea typeface="+mn-ea"/>
            </a:endParaRP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26AF35AF-8CE6-3F25-7CA4-F08E35BE73DC}"/>
              </a:ext>
            </a:extLst>
          </p:cNvPr>
          <p:cNvSpPr/>
          <p:nvPr/>
        </p:nvSpPr>
        <p:spPr>
          <a:xfrm>
            <a:off x="3746500" y="5334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+mn-ea"/>
                <a:ea typeface="+mn-ea"/>
                <a:cs typeface="Noto Sans SC"/>
                <a:sym typeface="Noto Sans SC"/>
              </a:rPr>
              <a:t>🔒 安全警示</a:t>
            </a:r>
            <a:br>
              <a:rPr lang="en-US" sz="1600" b="0" i="0" u="none" strike="noStrike">
                <a:solidFill>
                  <a:srgbClr val="1F2329"/>
                </a:solidFill>
                <a:latin typeface="+mn-ea"/>
                <a:ea typeface="+mn-ea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+mn-ea"/>
                <a:ea typeface="+mn-ea"/>
                <a:cs typeface="Noto Sans SC"/>
                <a:sym typeface="Noto Sans SC"/>
              </a:rPr>
              <a:t>API Key是身份凭证，切勿上传至GitHub等公开平台，务必妥善保管！</a:t>
            </a:r>
            <a:endParaRPr lang="en-US" sz="1100">
              <a:latin typeface="+mn-ea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09F860-4BEC-E43C-E722-F4FCF68ED801}"/>
              </a:ext>
            </a:extLst>
          </p:cNvPr>
          <p:cNvSpPr txBox="1"/>
          <p:nvPr/>
        </p:nvSpPr>
        <p:spPr>
          <a:xfrm>
            <a:off x="7013050" y="4476750"/>
            <a:ext cx="49245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  <a:ea typeface="+mn-ea"/>
              </a:rPr>
              <a:t>API</a:t>
            </a:r>
            <a:r>
              <a:rPr lang="zh-CN" altLang="zh-CN" dirty="0">
                <a:latin typeface="+mn-ea"/>
                <a:ea typeface="+mn-ea"/>
              </a:rPr>
              <a:t>：相当于“指挥大脑的电话”，你通过这个“电话”给“大脑”发指令（比如“帮我生成一段文字”“帮我计算这个文本的向量”），“大脑”通过“电话”给你反馈结果。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  <a:ea typeface="+mn-ea"/>
              </a:rPr>
              <a:t>SDK</a:t>
            </a:r>
            <a:r>
              <a:rPr lang="zh-CN" altLang="zh-CN" dirty="0">
                <a:latin typeface="+mn-ea"/>
                <a:ea typeface="+mn-ea"/>
              </a:rPr>
              <a:t>：相当于“现成的电话拨号盘”，不用你自己手动输“电话号码”（接口地址）、“拨号规则”（请求格式），直接用现成的工具，点一下就能给“大脑”打电话，简化操作。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DB71279-8AF3-C0C0-0D1C-DB8917D8C2AD}"/>
              </a:ext>
            </a:extLst>
          </p:cNvPr>
          <p:cNvPicPr>
            <a:picLocks/>
          </p:cNvPicPr>
          <p:nvPr/>
        </p:nvPicPr>
        <p:blipFill>
          <a:blip r:embed="rId2"/>
          <a:srcRect r="18418" b="1140"/>
          <a:stretch>
            <a:fillRect/>
          </a:stretch>
        </p:blipFill>
        <p:spPr>
          <a:xfrm>
            <a:off x="7084612" y="932497"/>
            <a:ext cx="4924508" cy="346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0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02757-DCEC-DF73-D72B-BDAE876D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899" y="-135171"/>
            <a:ext cx="5707022" cy="1028699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一次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调用的：请求体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(Request)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1B150A-F751-0DE4-4664-AC3119CE2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0" y="0"/>
            <a:ext cx="4854322" cy="6858000"/>
          </a:xfrm>
          <a:prstGeom prst="rect">
            <a:avLst/>
          </a:prstGeom>
        </p:spPr>
      </p:pic>
      <p:sp>
        <p:nvSpPr>
          <p:cNvPr id="4" name="AutoShape 5">
            <a:extLst>
              <a:ext uri="{FF2B5EF4-FFF2-40B4-BE49-F238E27FC236}">
                <a16:creationId xmlns:a16="http://schemas.microsoft.com/office/drawing/2014/main" id="{0B84CA2B-3B3D-3540-37B3-0AFD486DE0A9}"/>
              </a:ext>
            </a:extLst>
          </p:cNvPr>
          <p:cNvSpPr/>
          <p:nvPr/>
        </p:nvSpPr>
        <p:spPr>
          <a:xfrm>
            <a:off x="665258" y="1042730"/>
            <a:ext cx="3771569" cy="1175683"/>
          </a:xfrm>
          <a:prstGeom prst="roundRect">
            <a:avLst>
              <a:gd name="adj" fmla="val 0"/>
            </a:avLst>
          </a:prstGeom>
          <a:solidFill>
            <a:srgbClr val="C0000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D7A1F29-0FFA-8FC4-5AC6-64F7B41A173A}"/>
              </a:ext>
            </a:extLst>
          </p:cNvPr>
          <p:cNvSpPr/>
          <p:nvPr/>
        </p:nvSpPr>
        <p:spPr>
          <a:xfrm>
            <a:off x="1577468" y="1280160"/>
            <a:ext cx="2604918" cy="310101"/>
          </a:xfrm>
          <a:prstGeom prst="roundRect">
            <a:avLst>
              <a:gd name="adj" fmla="val 50000"/>
            </a:avLst>
          </a:prstGeom>
          <a:solidFill>
            <a:srgbClr val="C0000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1E8F62-F4CF-580D-C6CF-44B1ABD58D72}"/>
              </a:ext>
            </a:extLst>
          </p:cNvPr>
          <p:cNvSpPr txBox="1"/>
          <p:nvPr/>
        </p:nvSpPr>
        <p:spPr>
          <a:xfrm>
            <a:off x="4929402" y="1151310"/>
            <a:ext cx="6954536" cy="5706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调用大语言模型的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API</a:t>
            </a:r>
            <a:r>
              <a:rPr lang="zh-CN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，相当于调用已经写好的函数，我们只需要结合我们的实际需求进行包装一下（也就是学会用哪些参数去调用就行）。</a:t>
            </a:r>
            <a:endParaRPr lang="zh-CN" altLang="zh-CN" sz="12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285750" indent="-285750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model</a:t>
            </a:r>
            <a:b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，即调用的模型，一般取值包括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“ gpt-3.5-16k-0613”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ChatGPT-3.5 16K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版本）、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“gpt-4”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ChatGPT-4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12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285750" indent="-285750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message</a:t>
            </a:r>
            <a:b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即我们的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prompt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1400" dirty="0" err="1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ChatCompletion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message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需要传入一个列表，列表中包括多个不同角色的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prompt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。我们可以选择的角色一般包括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system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：即前文中提到的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system prompt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user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：用户输入的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prompt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en-US" altLang="zh-CN" sz="1400" dirty="0" err="1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assitance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：助手，一般是模型历史回复，作为给模型参考的示例。</a:t>
            </a:r>
            <a:endParaRPr lang="zh-CN" altLang="zh-CN" sz="12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285750" indent="-285750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temperature</a:t>
            </a:r>
            <a:b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温度。即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Temperature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系数。</a:t>
            </a:r>
            <a:endParaRPr lang="zh-CN" altLang="zh-CN" sz="12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285750" indent="-285750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 err="1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max_tokens</a:t>
            </a:r>
            <a:b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最大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数，即模型输出的最大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数。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OpenAI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数是合并计算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Prompt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Completion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的总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数，要求总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数不能超过模型上限（如默认模型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token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上限为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4096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）。因此，如果输入的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prompt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较长，需要设置较小的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max_token</a:t>
            </a:r>
            <a:r>
              <a:rPr lang="en-US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zh-CN" sz="1400" dirty="0">
                <a:solidFill>
                  <a:srgbClr val="555666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值，否则会报错超出限制长度。</a:t>
            </a:r>
            <a:endParaRPr lang="en-US" altLang="zh-CN" sz="1400" dirty="0">
              <a:solidFill>
                <a:srgbClr val="555666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650"/>
              </a:lnSpc>
              <a:buNone/>
            </a:pPr>
            <a:endParaRPr lang="zh-CN" altLang="zh-CN" sz="12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现代对话式大模型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API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（以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OpenAI Chat Completions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范式为代表，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DeepSeek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、智谱、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Anthropic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均兼容或高度相似）的核心抽象是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messages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一个由若干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角色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内容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对象组成的列表，而不是一整段拼接好的文本。</a:t>
            </a:r>
            <a:endParaRPr lang="en-US" altLang="zh-CN" sz="16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8A16B-351E-D68D-E464-63FB9B0BD8D6}"/>
              </a:ext>
            </a:extLst>
          </p:cNvPr>
          <p:cNvSpPr/>
          <p:nvPr/>
        </p:nvSpPr>
        <p:spPr>
          <a:xfrm flipH="1">
            <a:off x="4913499" y="0"/>
            <a:ext cx="45719" cy="678643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482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1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F089C-B9E0-8DBF-94C2-5421AF17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383" y="-172747"/>
            <a:ext cx="5858097" cy="1028699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一次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调用的：请求体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(Request)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EE5459-AB14-8D72-F9C5-13CA30F35755}"/>
              </a:ext>
            </a:extLst>
          </p:cNvPr>
          <p:cNvPicPr>
            <a:picLocks/>
          </p:cNvPicPr>
          <p:nvPr/>
        </p:nvPicPr>
        <p:blipFill>
          <a:blip r:embed="rId2"/>
          <a:srcRect t="-4104" b="9718"/>
          <a:stretch>
            <a:fillRect/>
          </a:stretch>
        </p:blipFill>
        <p:spPr>
          <a:xfrm>
            <a:off x="75080" y="0"/>
            <a:ext cx="4854322" cy="6217757"/>
          </a:xfrm>
          <a:prstGeom prst="rect">
            <a:avLst/>
          </a:prstGeom>
        </p:spPr>
      </p:pic>
      <p:sp>
        <p:nvSpPr>
          <p:cNvPr id="4" name="AutoShape 5">
            <a:extLst>
              <a:ext uri="{FF2B5EF4-FFF2-40B4-BE49-F238E27FC236}">
                <a16:creationId xmlns:a16="http://schemas.microsoft.com/office/drawing/2014/main" id="{447ACDDC-D3BB-2A71-8F5D-9830BC034D46}"/>
              </a:ext>
            </a:extLst>
          </p:cNvPr>
          <p:cNvSpPr/>
          <p:nvPr/>
        </p:nvSpPr>
        <p:spPr>
          <a:xfrm>
            <a:off x="665258" y="1042730"/>
            <a:ext cx="3771569" cy="1330865"/>
          </a:xfrm>
          <a:prstGeom prst="roundRect">
            <a:avLst>
              <a:gd name="adj" fmla="val 0"/>
            </a:avLst>
          </a:prstGeom>
          <a:solidFill>
            <a:srgbClr val="C0000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12B39C0-494B-AA8A-AE44-0F3583F4F6B2}"/>
              </a:ext>
            </a:extLst>
          </p:cNvPr>
          <p:cNvSpPr/>
          <p:nvPr/>
        </p:nvSpPr>
        <p:spPr>
          <a:xfrm>
            <a:off x="1639420" y="1475520"/>
            <a:ext cx="2604918" cy="310101"/>
          </a:xfrm>
          <a:prstGeom prst="roundRect">
            <a:avLst>
              <a:gd name="adj" fmla="val 50000"/>
            </a:avLst>
          </a:prstGeom>
          <a:solidFill>
            <a:srgbClr val="C00000">
              <a:alpha val="8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5A70A9-E14C-E435-C05A-8D8E097C9D6E}"/>
              </a:ext>
            </a:extLst>
          </p:cNvPr>
          <p:cNvSpPr txBox="1"/>
          <p:nvPr/>
        </p:nvSpPr>
        <p:spPr>
          <a:xfrm>
            <a:off x="5162384" y="1386145"/>
            <a:ext cx="6954536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现代对话式大模型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API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（以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OpenAI Chat Completions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范式为代表，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DeepSeek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、智谱、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Anthropic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均兼容或高度相似）的核心抽象是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messages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一个由若干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角色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内容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对象组成的列表，而不是一整段拼接好的文本。</a:t>
            </a:r>
            <a:endParaRPr lang="en-US" altLang="zh-CN" sz="16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2E6984-1200-54FC-1EF5-1D34033AC723}"/>
              </a:ext>
            </a:extLst>
          </p:cNvPr>
          <p:cNvSpPr txBox="1"/>
          <p:nvPr/>
        </p:nvSpPr>
        <p:spPr>
          <a:xfrm>
            <a:off x="5162384" y="3018759"/>
            <a:ext cx="6954536" cy="87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答案在于，角色标签（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role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）为模型提供了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对话结构的先验信息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，使其能够区分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谁在说话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”“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这句话的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权重和可信度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如何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，这是通过监督微调（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SFT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）与基于人类反馈的强化学习（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RLHF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）在训练阶段被显式教会的行为模式，而非模型的自发能力。</a:t>
            </a:r>
            <a:endParaRPr lang="zh-CN" altLang="zh-CN" sz="11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D8A762-C851-49F7-DFB0-C7ACD60E6E9B}"/>
              </a:ext>
            </a:extLst>
          </p:cNvPr>
          <p:cNvSpPr txBox="1"/>
          <p:nvPr/>
        </p:nvSpPr>
        <p:spPr>
          <a:xfrm>
            <a:off x="5162383" y="2660505"/>
            <a:ext cx="8162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为什么不直接传一个字符串？</a:t>
            </a:r>
            <a:endParaRPr lang="zh-CN" altLang="en-US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B7CA2F2-A512-0BD9-10B3-F6121F42F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16354"/>
              </p:ext>
            </p:extLst>
          </p:nvPr>
        </p:nvGraphicFramePr>
        <p:xfrm>
          <a:off x="5162385" y="4016733"/>
          <a:ext cx="6954535" cy="220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4688">
                  <a:extLst>
                    <a:ext uri="{9D8B030D-6E8A-4147-A177-3AD203B41FA5}">
                      <a16:colId xmlns:a16="http://schemas.microsoft.com/office/drawing/2014/main" val="1351533179"/>
                    </a:ext>
                  </a:extLst>
                </a:gridCol>
                <a:gridCol w="3630269">
                  <a:extLst>
                    <a:ext uri="{9D8B030D-6E8A-4147-A177-3AD203B41FA5}">
                      <a16:colId xmlns:a16="http://schemas.microsoft.com/office/drawing/2014/main" val="1474035156"/>
                    </a:ext>
                  </a:extLst>
                </a:gridCol>
                <a:gridCol w="2539578">
                  <a:extLst>
                    <a:ext uri="{9D8B030D-6E8A-4147-A177-3AD203B41FA5}">
                      <a16:colId xmlns:a16="http://schemas.microsoft.com/office/drawing/2014/main" val="940304166"/>
                    </a:ext>
                  </a:extLst>
                </a:gridCol>
              </a:tblGrid>
              <a:tr h="46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b="1">
                          <a:solidFill>
                            <a:srgbClr val="000000"/>
                          </a:solidFill>
                          <a:effectLst/>
                        </a:rPr>
                        <a:t>角色</a:t>
                      </a:r>
                      <a:endParaRPr lang="zh-CN" sz="105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b="1" dirty="0">
                          <a:solidFill>
                            <a:srgbClr val="000000"/>
                          </a:solidFill>
                          <a:effectLst/>
                        </a:rPr>
                        <a:t>语义定位</a:t>
                      </a:r>
                      <a:endParaRPr lang="zh-CN" sz="105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b="1" dirty="0">
                          <a:solidFill>
                            <a:srgbClr val="000000"/>
                          </a:solidFill>
                          <a:effectLst/>
                        </a:rPr>
                        <a:t>典型使用方式</a:t>
                      </a:r>
                      <a:endParaRPr lang="zh-CN" sz="105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258632"/>
                  </a:ext>
                </a:extLst>
              </a:tr>
              <a:tr h="633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</a:rPr>
                        <a:t>system</a:t>
                      </a:r>
                      <a:endParaRPr lang="zh-CN" sz="105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  <a:prstDash val="solid"/>
                    </a:lnL>
                    <a:lnR w="12700" cmpd="sng">
                      <a:solidFill>
                        <a:srgbClr val="D6E6F2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设定模型的人格、能力边界、输出格式约束、任务背景。在对话中通常只出现一次，位于消息列表最前端。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  <a:prstDash val="solid"/>
                    </a:lnL>
                    <a:lnR w="12700" cmpd="sng">
                      <a:solidFill>
                        <a:srgbClr val="F7FBFC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你是一名严谨的财务分析助手，回答需引用具体数字，禁止编造数据。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7FBFC"/>
                      </a:solidFill>
                      <a:prstDash val="solid"/>
                    </a:lnL>
                    <a:lnR w="12700" cmpd="sng">
                      <a:solidFill>
                        <a:srgbClr val="F7FBFC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230772"/>
                  </a:ext>
                </a:extLst>
              </a:tr>
              <a:tr h="46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</a:rPr>
                        <a:t>user</a:t>
                      </a:r>
                      <a:endParaRPr lang="zh-CN" sz="105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  <a:prstDash val="solid"/>
                    </a:lnL>
                    <a:lnR w="12700" cmpd="sng">
                      <a:solidFill>
                        <a:srgbClr val="D6E6F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代表最终用户或调用方发出的指令、问题、追加信息。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帮我分析这份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 Q3 </a:t>
                      </a: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财报的毛利率变化。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261035"/>
                  </a:ext>
                </a:extLst>
              </a:tr>
              <a:tr h="633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</a:rPr>
                        <a:t>assistant</a:t>
                      </a:r>
                      <a:endParaRPr lang="zh-CN" sz="105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代表模型此前的回复。在多轮对话中，历史轮次的模型输出需要被原样放回请求中，模型才能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记得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自己说过什么。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 dirty="0">
                          <a:solidFill>
                            <a:srgbClr val="000000"/>
                          </a:solidFill>
                          <a:effectLst/>
                        </a:rPr>
                        <a:t>上一轮模型生成的分析结果，被原样放入下一次请求的历史中。</a:t>
                      </a:r>
                      <a:endParaRPr lang="zh-CN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  <a:prstDash val="solid"/>
                    </a:lnL>
                    <a:lnR w="12700" cmpd="sng">
                      <a:solidFill>
                        <a:srgbClr val="B9D7EA"/>
                      </a:solidFill>
                      <a:prstDash val="solid"/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040860"/>
                  </a:ext>
                </a:extLst>
              </a:tr>
            </a:tbl>
          </a:graphicData>
        </a:graphic>
      </p:graphicFrame>
      <p:sp>
        <p:nvSpPr>
          <p:cNvPr id="12" name="AutoShape 30">
            <a:extLst>
              <a:ext uri="{FF2B5EF4-FFF2-40B4-BE49-F238E27FC236}">
                <a16:creationId xmlns:a16="http://schemas.microsoft.com/office/drawing/2014/main" id="{421AEED5-C9FC-2E7C-1262-AD2DFFB22E49}"/>
              </a:ext>
            </a:extLst>
          </p:cNvPr>
          <p:cNvSpPr/>
          <p:nvPr/>
        </p:nvSpPr>
        <p:spPr>
          <a:xfrm>
            <a:off x="1448920" y="6324600"/>
            <a:ext cx="10668000" cy="431800"/>
          </a:xfrm>
          <a:prstGeom prst="roundRect">
            <a:avLst>
              <a:gd name="adj" fmla="val 0"/>
            </a:avLst>
          </a:prstGeom>
          <a:solidFill>
            <a:srgbClr val="FFF8E1">
              <a:alpha val="80000"/>
            </a:srgbClr>
          </a:solidFill>
          <a:ln w="12700" cap="flat" cmpd="sng">
            <a:solidFill>
              <a:srgbClr val="FFC10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31">
            <a:extLst>
              <a:ext uri="{FF2B5EF4-FFF2-40B4-BE49-F238E27FC236}">
                <a16:creationId xmlns:a16="http://schemas.microsoft.com/office/drawing/2014/main" id="{FFD581AA-5336-3ACF-C636-A05C5500F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9420" y="6477000"/>
            <a:ext cx="228600" cy="228600"/>
          </a:xfrm>
          <a:prstGeom prst="rect">
            <a:avLst/>
          </a:prstGeom>
        </p:spPr>
      </p:pic>
      <p:sp>
        <p:nvSpPr>
          <p:cNvPr id="14" name="AutoShape 32">
            <a:extLst>
              <a:ext uri="{FF2B5EF4-FFF2-40B4-BE49-F238E27FC236}">
                <a16:creationId xmlns:a16="http://schemas.microsoft.com/office/drawing/2014/main" id="{2DF0E518-22FC-6CDA-1536-DBE93EAFECE2}"/>
              </a:ext>
            </a:extLst>
          </p:cNvPr>
          <p:cNvSpPr/>
          <p:nvPr/>
        </p:nvSpPr>
        <p:spPr>
          <a:xfrm>
            <a:off x="1956920" y="6451600"/>
            <a:ext cx="1003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</a:t>
            </a:r>
            <a:r>
              <a:rPr lang="en-US" sz="1300" b="0" i="0" u="none" strike="noStrike">
                <a:solidFill>
                  <a:srgbClr val="795548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角色权重较高，但并非绝对的“硬约束”，在面对极长或强诱导性的用户输入时，其引导效果可能会被削弱。</a:t>
            </a:r>
            <a:endParaRPr lang="en-US" sz="11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FA173F-5DF8-DBA4-B03D-9C3F78FA6623}"/>
              </a:ext>
            </a:extLst>
          </p:cNvPr>
          <p:cNvSpPr/>
          <p:nvPr/>
        </p:nvSpPr>
        <p:spPr>
          <a:xfrm flipH="1">
            <a:off x="4913498" y="0"/>
            <a:ext cx="45719" cy="6217757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482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87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FF963-5638-876F-EB96-FDF17E23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一次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调用的：请求与响应示例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17B0CE8-7E3D-9C39-6FA3-7B965D5362BC}"/>
              </a:ext>
            </a:extLst>
          </p:cNvPr>
          <p:cNvSpPr/>
          <p:nvPr/>
        </p:nvSpPr>
        <p:spPr>
          <a:xfrm>
            <a:off x="730250" y="1219200"/>
            <a:ext cx="5207000" cy="3774219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B8920B0-9842-71CC-55F1-768F32EF5936}"/>
              </a:ext>
            </a:extLst>
          </p:cNvPr>
          <p:cNvSpPr/>
          <p:nvPr/>
        </p:nvSpPr>
        <p:spPr>
          <a:xfrm>
            <a:off x="920750" y="1384301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 请求体结构 (JSON)</a:t>
            </a:r>
            <a:endParaRPr lang="en-US" sz="110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2450B1B-1169-2BC0-3084-20B25CE2B588}"/>
              </a:ext>
            </a:extLst>
          </p:cNvPr>
          <p:cNvSpPr/>
          <p:nvPr/>
        </p:nvSpPr>
        <p:spPr>
          <a:xfrm>
            <a:off x="920750" y="1854200"/>
            <a:ext cx="4826000" cy="2972242"/>
          </a:xfrm>
          <a:prstGeom prst="roundRect">
            <a:avLst>
              <a:gd name="adj" fmla="val 0"/>
            </a:avLst>
          </a:prstGeom>
          <a:solidFill>
            <a:srgbClr val="33333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E2BA672A-43AC-91D1-8692-B483A70E43B9}"/>
              </a:ext>
            </a:extLst>
          </p:cNvPr>
          <p:cNvSpPr/>
          <p:nvPr/>
        </p:nvSpPr>
        <p:spPr>
          <a:xfrm>
            <a:off x="977900" y="1790701"/>
            <a:ext cx="4635500" cy="28846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{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"model":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deepseek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-chat",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"messages": [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{"role": "system", "content": "</a:t>
            </a:r>
            <a:r>
              <a:rPr lang="zh-CN" altLang="zh-CN" sz="1200" dirty="0">
                <a:solidFill>
                  <a:srgbClr val="4B5563"/>
                </a:solidFill>
                <a:latin typeface="Consolas"/>
              </a:rPr>
              <a:t>你是一名零售行业的商品推荐顾问，回答需给出理由。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"},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{"role": "user", "content": "</a:t>
            </a:r>
            <a:r>
              <a:rPr lang="zh-CN" altLang="zh-CN" sz="1200" dirty="0">
                <a:solidFill>
                  <a:srgbClr val="4B5563"/>
                </a:solidFill>
                <a:latin typeface="Consolas"/>
              </a:rPr>
              <a:t>顾客上次买过跑鞋，这次想买运动服，推荐什么？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"}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],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"temperature": 0.7,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max_tokens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": 512,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"stream": false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pPr>
              <a:lnSpc>
                <a:spcPct val="108000"/>
              </a:lnSpc>
              <a:buNone/>
            </a:pP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}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4A9FCA8-5392-4114-EA54-05ECA4209CC9}"/>
              </a:ext>
            </a:extLst>
          </p:cNvPr>
          <p:cNvSpPr/>
          <p:nvPr/>
        </p:nvSpPr>
        <p:spPr>
          <a:xfrm>
            <a:off x="6191250" y="1219200"/>
            <a:ext cx="5207000" cy="3774219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89586F02-CF7A-91A4-6F4F-C2098A70076D}"/>
              </a:ext>
            </a:extLst>
          </p:cNvPr>
          <p:cNvSpPr/>
          <p:nvPr/>
        </p:nvSpPr>
        <p:spPr>
          <a:xfrm>
            <a:off x="6381750" y="1384301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 响应体结构 (JSON)</a:t>
            </a:r>
            <a:endParaRPr lang="en-US" sz="110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4954473F-43BD-4B1C-8099-97AD56BCF509}"/>
              </a:ext>
            </a:extLst>
          </p:cNvPr>
          <p:cNvSpPr/>
          <p:nvPr/>
        </p:nvSpPr>
        <p:spPr>
          <a:xfrm>
            <a:off x="6381750" y="1854200"/>
            <a:ext cx="4826000" cy="2972242"/>
          </a:xfrm>
          <a:prstGeom prst="roundRect">
            <a:avLst>
              <a:gd name="adj" fmla="val 0"/>
            </a:avLst>
          </a:prstGeom>
          <a:solidFill>
            <a:srgbClr val="33333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744502CA-0FCE-7C9B-BAF7-A0A4DEBE236F}"/>
              </a:ext>
            </a:extLst>
          </p:cNvPr>
          <p:cNvSpPr/>
          <p:nvPr/>
        </p:nvSpPr>
        <p:spPr>
          <a:xfrm>
            <a:off x="6515100" y="1266137"/>
            <a:ext cx="4699000" cy="41321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{"id":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chatcmpl-xxxx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"model":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deepseek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-chat",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"choices": [{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"index": 0,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"message": {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  "role": "assistant",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  "content": "</a:t>
            </a:r>
            <a:r>
              <a:rPr lang="zh-CN" altLang="zh-CN" sz="1200" dirty="0">
                <a:solidFill>
                  <a:srgbClr val="4B5563"/>
                </a:solidFill>
                <a:latin typeface="Consolas"/>
              </a:rPr>
              <a:t>建议推荐同品牌速干运动上衣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……</a:t>
            </a:r>
            <a:r>
              <a:rPr lang="zh-CN" altLang="zh-CN" sz="1200" dirty="0">
                <a:solidFill>
                  <a:srgbClr val="4B5563"/>
                </a:solidFill>
                <a:latin typeface="Consolas"/>
              </a:rPr>
              <a:t>（理由：与已购跑鞋形成场景互补）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},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 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finish_reason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": "stop"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}],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"usage": {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prompt_tokens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": 48,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completion_tokens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": 76,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  <a:p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    "</a:t>
            </a:r>
            <a:r>
              <a:rPr lang="en-US" altLang="zh-CN" sz="1200" dirty="0" err="1">
                <a:solidFill>
                  <a:srgbClr val="4B5563"/>
                </a:solidFill>
                <a:latin typeface="Consolas"/>
              </a:rPr>
              <a:t>total_tokens</a:t>
            </a:r>
            <a:r>
              <a:rPr lang="en-US" altLang="zh-CN" sz="1200" dirty="0">
                <a:solidFill>
                  <a:srgbClr val="4B5563"/>
                </a:solidFill>
                <a:latin typeface="Consolas"/>
              </a:rPr>
              <a:t>": 124}}</a:t>
            </a:r>
            <a:endParaRPr lang="zh-CN" altLang="zh-CN" sz="1200" dirty="0">
              <a:solidFill>
                <a:srgbClr val="4B5563"/>
              </a:solidFill>
              <a:latin typeface="Consolas"/>
            </a:endParaRP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0A29FD0F-5633-F349-391D-5175C0F531AE}"/>
              </a:ext>
            </a:extLst>
          </p:cNvPr>
          <p:cNvSpPr/>
          <p:nvPr/>
        </p:nvSpPr>
        <p:spPr>
          <a:xfrm>
            <a:off x="755650" y="5207773"/>
            <a:ext cx="52070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FA67FD49-0BA5-2B85-FCF8-9A7CBC7B31FA}"/>
              </a:ext>
            </a:extLst>
          </p:cNvPr>
          <p:cNvSpPr/>
          <p:nvPr/>
        </p:nvSpPr>
        <p:spPr>
          <a:xfrm>
            <a:off x="755650" y="5207773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71FD6E-3647-9FF3-E45D-EC36C93BC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650" y="5398273"/>
            <a:ext cx="304800" cy="304800"/>
          </a:xfrm>
          <a:prstGeom prst="rect">
            <a:avLst/>
          </a:prstGeom>
        </p:spPr>
      </p:pic>
      <p:sp>
        <p:nvSpPr>
          <p:cNvPr id="16" name="AutoShape 15">
            <a:extLst>
              <a:ext uri="{FF2B5EF4-FFF2-40B4-BE49-F238E27FC236}">
                <a16:creationId xmlns:a16="http://schemas.microsoft.com/office/drawing/2014/main" id="{5209F442-86D0-248D-D6FB-1318B1DC2A71}"/>
              </a:ext>
            </a:extLst>
          </p:cNvPr>
          <p:cNvSpPr/>
          <p:nvPr/>
        </p:nvSpPr>
        <p:spPr>
          <a:xfrm>
            <a:off x="1454150" y="5385573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finish_reason：生成完整性判定</a:t>
            </a:r>
            <a:endParaRPr lang="en-US" sz="1100" dirty="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4EB190F6-F8B2-427F-509D-B85F7BE110B9}"/>
              </a:ext>
            </a:extLst>
          </p:cNvPr>
          <p:cNvSpPr/>
          <p:nvPr/>
        </p:nvSpPr>
        <p:spPr>
          <a:xfrm>
            <a:off x="1009650" y="5842773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状态标识：stop=自然结束；length=被max_tokens截断；tool_calls=触发工具调用。这是校验输出结果是否完整的关键，决定了是否需要发起续调请求。</a:t>
            </a:r>
            <a:endParaRPr lang="en-US" sz="1100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67E351EA-C3ED-11B8-2AB7-614A1BB60CAA}"/>
              </a:ext>
            </a:extLst>
          </p:cNvPr>
          <p:cNvSpPr/>
          <p:nvPr/>
        </p:nvSpPr>
        <p:spPr>
          <a:xfrm>
            <a:off x="6216650" y="5207773"/>
            <a:ext cx="52070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14DA2C48-3468-3CE0-9DF7-007E9F56340E}"/>
              </a:ext>
            </a:extLst>
          </p:cNvPr>
          <p:cNvSpPr/>
          <p:nvPr/>
        </p:nvSpPr>
        <p:spPr>
          <a:xfrm>
            <a:off x="6216650" y="5207773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5F2C91-73AC-A51D-9DBF-17BE28CB7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0650" y="5398273"/>
            <a:ext cx="304800" cy="304800"/>
          </a:xfrm>
          <a:prstGeom prst="rect">
            <a:avLst/>
          </a:prstGeom>
        </p:spPr>
      </p:pic>
      <p:sp>
        <p:nvSpPr>
          <p:cNvPr id="21" name="AutoShape 20">
            <a:extLst>
              <a:ext uri="{FF2B5EF4-FFF2-40B4-BE49-F238E27FC236}">
                <a16:creationId xmlns:a16="http://schemas.microsoft.com/office/drawing/2014/main" id="{D8A9D775-3D3C-F39C-1C2E-76FF29EE3EFD}"/>
              </a:ext>
            </a:extLst>
          </p:cNvPr>
          <p:cNvSpPr/>
          <p:nvPr/>
        </p:nvSpPr>
        <p:spPr>
          <a:xfrm>
            <a:off x="6915150" y="5385573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usage：资源消耗与成本核算</a:t>
            </a:r>
            <a:endParaRPr lang="en-US" sz="1100"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348E6336-875C-9768-4376-6D4B0E67F6F0}"/>
              </a:ext>
            </a:extLst>
          </p:cNvPr>
          <p:cNvSpPr/>
          <p:nvPr/>
        </p:nvSpPr>
        <p:spPr>
          <a:xfrm>
            <a:off x="6470650" y="5842773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包含prompt（输入）、completion（输出）及total（总）tokens消耗。这是计算API调用费用的直接依据，也是管理上下文窗口容量、优化交互成本的核心数据。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7256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558BD-7A37-C906-FE1B-97A358FD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的“无状态性”与多轮对话实现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B61D405-DFC7-6B5D-5686-B484D9DA2B70}"/>
              </a:ext>
            </a:extLst>
          </p:cNvPr>
          <p:cNvSpPr/>
          <p:nvPr/>
        </p:nvSpPr>
        <p:spPr>
          <a:xfrm>
            <a:off x="762000" y="1778000"/>
            <a:ext cx="571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60437C43-17DC-175E-4B83-C892A59B1F7C}"/>
              </a:ext>
            </a:extLst>
          </p:cNvPr>
          <p:cNvSpPr/>
          <p:nvPr/>
        </p:nvSpPr>
        <p:spPr>
          <a:xfrm>
            <a:off x="952500" y="19304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核心本质：无状态的架构设计</a:t>
            </a:r>
            <a:endParaRPr lang="en-US" sz="110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216691A-82B2-F9D8-076D-FC1FAE962C41}"/>
              </a:ext>
            </a:extLst>
          </p:cNvPr>
          <p:cNvSpPr/>
          <p:nvPr/>
        </p:nvSpPr>
        <p:spPr>
          <a:xfrm>
            <a:off x="952500" y="2349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大模型API遵循严格的无状态原则，服务端不保留任何请求间的“记忆”。这一设计是为了支撑大规模分布式系统的水平扩展与高可用性，但也将会话状态的维护责任完全移交到了客户端。</a:t>
            </a:r>
            <a:endParaRPr lang="en-US" sz="1100" dirty="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A8DE2D32-A913-66AC-ECCE-AA0964B93520}"/>
              </a:ext>
            </a:extLst>
          </p:cNvPr>
          <p:cNvSpPr/>
          <p:nvPr/>
        </p:nvSpPr>
        <p:spPr>
          <a:xfrm>
            <a:off x="762000" y="3365500"/>
            <a:ext cx="571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7CF255A-361E-090A-7B34-BB44FC35BE5F}"/>
              </a:ext>
            </a:extLst>
          </p:cNvPr>
          <p:cNvSpPr/>
          <p:nvPr/>
        </p:nvSpPr>
        <p:spPr>
          <a:xfrm>
            <a:off x="952500" y="35179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实现方式：全量历史的重传机制</a:t>
            </a:r>
            <a:endParaRPr lang="en-US" sz="1100" dirty="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C3DA69A4-D3CE-497D-FE69-244E6B2B95D6}"/>
              </a:ext>
            </a:extLst>
          </p:cNvPr>
          <p:cNvSpPr/>
          <p:nvPr/>
        </p:nvSpPr>
        <p:spPr>
          <a:xfrm>
            <a:off x="952500" y="3937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实现多轮对话的唯一途径，是在每次请求时将</a:t>
            </a:r>
            <a:r>
              <a:rPr lang="en-US" sz="14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迄今为止的完整对话历史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（包含用户提问与模型回复）重新打包，作为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`messages`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数组一次性传入。例如，第二轮请求必须包含第一轮的全部交互内容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93CD0903-3C0D-04ED-B13C-490E08DDE4A6}"/>
              </a:ext>
            </a:extLst>
          </p:cNvPr>
          <p:cNvSpPr/>
          <p:nvPr/>
        </p:nvSpPr>
        <p:spPr>
          <a:xfrm>
            <a:off x="762000" y="4953000"/>
            <a:ext cx="571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469DE4AA-E4D0-4962-E687-7718BFEF4614}"/>
              </a:ext>
            </a:extLst>
          </p:cNvPr>
          <p:cNvSpPr/>
          <p:nvPr/>
        </p:nvSpPr>
        <p:spPr>
          <a:xfrm>
            <a:off x="952500" y="51054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03 工程挑战与应对策略</a:t>
            </a:r>
            <a:endParaRPr lang="en-US" sz="110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2DAE73EC-640D-3BC2-8818-74BAC743D975}"/>
              </a:ext>
            </a:extLst>
          </p:cNvPr>
          <p:cNvSpPr/>
          <p:nvPr/>
        </p:nvSpPr>
        <p:spPr>
          <a:xfrm>
            <a:off x="952500" y="5524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成本递增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：Token消耗随对话轮次呈线性增长；2.</a:t>
            </a:r>
            <a:r>
              <a:rPr lang="en-US" sz="14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上下文管理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：需处理内容超限，采用截断或摘要技术；3.</a:t>
            </a:r>
            <a:r>
              <a:rPr lang="en-US" sz="14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灵活可控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：可主动编辑历史以降本或聚焦任务。</a:t>
            </a:r>
            <a:endParaRPr lang="en-US" sz="11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731285E-6761-EFD5-A8A9-B566C872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818197"/>
            <a:ext cx="5386422" cy="375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2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88663-2CA6-9A3F-862B-9C2222F8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核心参数详解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2391907-51CA-A47D-03C0-593D48F83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341146"/>
              </p:ext>
            </p:extLst>
          </p:nvPr>
        </p:nvGraphicFramePr>
        <p:xfrm>
          <a:off x="513654" y="1637306"/>
          <a:ext cx="10850563" cy="417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671">
                  <a:extLst>
                    <a:ext uri="{9D8B030D-6E8A-4147-A177-3AD203B41FA5}">
                      <a16:colId xmlns:a16="http://schemas.microsoft.com/office/drawing/2014/main" val="96594766"/>
                    </a:ext>
                  </a:extLst>
                </a:gridCol>
                <a:gridCol w="5312254">
                  <a:extLst>
                    <a:ext uri="{9D8B030D-6E8A-4147-A177-3AD203B41FA5}">
                      <a16:colId xmlns:a16="http://schemas.microsoft.com/office/drawing/2014/main" val="3535728364"/>
                    </a:ext>
                  </a:extLst>
                </a:gridCol>
                <a:gridCol w="4106638">
                  <a:extLst>
                    <a:ext uri="{9D8B030D-6E8A-4147-A177-3AD203B41FA5}">
                      <a16:colId xmlns:a16="http://schemas.microsoft.com/office/drawing/2014/main" val="3740103090"/>
                    </a:ext>
                  </a:extLst>
                </a:gridCol>
              </a:tblGrid>
              <a:tr h="31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参数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作用机制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调参建议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687085"/>
                  </a:ext>
                </a:extLst>
              </a:tr>
              <a:tr h="71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temperature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控制输出概率分布的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陡峭程度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。数值越低，模型越倾向于选择概率最高的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token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（趋近贪心解码）；数值越高，采样越发散，低概率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token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也有机会被选中。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事实问答、代码生成、结构化抽取：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0—0.3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；通用对话、客服：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0.5—0.7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；创意写作、头脑风暴、多样化推荐候选生成：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0.8—1.2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。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198673"/>
                  </a:ext>
                </a:extLst>
              </a:tr>
              <a:tr h="71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top_p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（核采样）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只在累计概率达到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p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的最小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token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集合内采样，与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temperature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常配合使用（但同时调两者容易产生难以预期的交互效应，建议固定其一）。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通常固定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 top_p=1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只调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 temperature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，或反之，避免双变量耦合。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49604"/>
                  </a:ext>
                </a:extLst>
              </a:tr>
              <a:tr h="51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max_tokens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限制单次响应最多生成的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token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数，并非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建议长度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而是硬截断上限。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需预留冗余，避免结构化输出（如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JSON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）被从中截断导致解析失败。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018629"/>
                  </a:ext>
                </a:extLst>
              </a:tr>
              <a:tr h="71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stop / stop_sequences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指定遇到某字符串即终止生成，常用于控制格式边界。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多用于让模型在生成到特定分隔符时停止，便于程序切分结果。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218394"/>
                  </a:ext>
                </a:extLst>
              </a:tr>
              <a:tr h="9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frequency_penalty / presence_penalty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对已出现过的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token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施加惩罚，抑制重复。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长文本生成、摘要类任务中可小幅调高以减少车轱辘话。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342434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F9314BE-B586-EEC0-0BBF-9433D2EB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06195"/>
              </p:ext>
            </p:extLst>
          </p:nvPr>
        </p:nvGraphicFramePr>
        <p:xfrm>
          <a:off x="6320589" y="555266"/>
          <a:ext cx="5807531" cy="2164080"/>
        </p:xfrm>
        <a:graphic>
          <a:graphicData uri="http://schemas.openxmlformats.org/drawingml/2006/table">
            <a:tbl>
              <a:tblPr/>
              <a:tblGrid>
                <a:gridCol w="2032636">
                  <a:extLst>
                    <a:ext uri="{9D8B030D-6E8A-4147-A177-3AD203B41FA5}">
                      <a16:colId xmlns:a16="http://schemas.microsoft.com/office/drawing/2014/main" val="1759315574"/>
                    </a:ext>
                  </a:extLst>
                </a:gridCol>
                <a:gridCol w="1258298">
                  <a:extLst>
                    <a:ext uri="{9D8B030D-6E8A-4147-A177-3AD203B41FA5}">
                      <a16:colId xmlns:a16="http://schemas.microsoft.com/office/drawing/2014/main" val="72558292"/>
                    </a:ext>
                  </a:extLst>
                </a:gridCol>
                <a:gridCol w="967922">
                  <a:extLst>
                    <a:ext uri="{9D8B030D-6E8A-4147-A177-3AD203B41FA5}">
                      <a16:colId xmlns:a16="http://schemas.microsoft.com/office/drawing/2014/main" val="1150609194"/>
                    </a:ext>
                  </a:extLst>
                </a:gridCol>
                <a:gridCol w="1548675">
                  <a:extLst>
                    <a:ext uri="{9D8B030D-6E8A-4147-A177-3AD203B41FA5}">
                      <a16:colId xmlns:a16="http://schemas.microsoft.com/office/drawing/2014/main" val="20091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任务类型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temperature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top_p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max_tokens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55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事实问答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知识抽取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0.0~0.2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1.0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effectLst/>
                        </a:rPr>
                        <a:t>较短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859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代码生成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</a:rPr>
                        <a:t>0.0~0.3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1.0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effectLst/>
                        </a:rPr>
                        <a:t>中等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1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翻译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</a:rPr>
                        <a:t>0.1~0.4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0.95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effectLst/>
                        </a:rPr>
                        <a:t>与输入长度匹配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05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日常聊天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0.5~0.8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</a:rPr>
                        <a:t>0.9~1.0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effectLst/>
                        </a:rPr>
                        <a:t>中等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写作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诗歌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</a:rPr>
                        <a:t>0.8~1.2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</a:rPr>
                        <a:t>0.9~0.95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effectLst/>
                        </a:rPr>
                        <a:t>较长</a:t>
                      </a: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B9D7EA"/>
                      </a:solidFill>
                      <a:prstDash val="solid"/>
                    </a:lnT>
                    <a:lnB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04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501A8-C429-BDC2-6DCE-08372E87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深入探讨：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temperature = 0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是否完全确定？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D7DA6F6-3ECB-7ABE-0F37-365972D014AD}"/>
              </a:ext>
            </a:extLst>
          </p:cNvPr>
          <p:cNvSpPr/>
          <p:nvPr/>
        </p:nvSpPr>
        <p:spPr>
          <a:xfrm>
            <a:off x="762000" y="177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F373716A-E0F6-6701-465E-5FD1B71733F4}"/>
              </a:ext>
            </a:extLst>
          </p:cNvPr>
          <p:cNvSpPr/>
          <p:nvPr/>
        </p:nvSpPr>
        <p:spPr>
          <a:xfrm>
            <a:off x="1016000" y="1930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理论预期：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当 temperature 趋近于 0 时，模型采用贪心解码，理论上应输出唯一结果。</a:t>
            </a:r>
            <a:r>
              <a:rPr lang="en-US" sz="15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现实挑战：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在复杂的生产级推理环境中，受硬件与架构影响，结果并非绝对确定。</a:t>
            </a:r>
            <a:endParaRPr lang="en-US" sz="110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4F9D53A-E02B-B4DC-BB0A-B5B037106BAF}"/>
              </a:ext>
            </a:extLst>
          </p:cNvPr>
          <p:cNvSpPr/>
          <p:nvPr/>
        </p:nvSpPr>
        <p:spPr>
          <a:xfrm>
            <a:off x="762000" y="292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EBC06E-46C8-DE4E-49AF-FE3733EAC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304800" cy="304800"/>
          </a:xfrm>
          <a:prstGeom prst="rect">
            <a:avLst/>
          </a:prstGeom>
        </p:spPr>
      </p:pic>
      <p:sp>
        <p:nvSpPr>
          <p:cNvPr id="9" name="AutoShape 8">
            <a:extLst>
              <a:ext uri="{FF2B5EF4-FFF2-40B4-BE49-F238E27FC236}">
                <a16:creationId xmlns:a16="http://schemas.microsoft.com/office/drawing/2014/main" id="{44F456D2-1D90-B142-6A2A-AF65021D10BD}"/>
              </a:ext>
            </a:extLst>
          </p:cNvPr>
          <p:cNvSpPr/>
          <p:nvPr/>
        </p:nvSpPr>
        <p:spPr>
          <a:xfrm>
            <a:off x="1333500" y="3111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浮点数运算的非结合性</a:t>
            </a:r>
            <a:endParaRPr lang="en-US" sz="110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4FB50C29-C841-C851-E26C-36B7909023F8}"/>
              </a:ext>
            </a:extLst>
          </p:cNvPr>
          <p:cNvSpPr/>
          <p:nvPr/>
        </p:nvSpPr>
        <p:spPr>
          <a:xfrm>
            <a:off x="952500" y="361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GPU 并行计算的指令重排和线程调度差异，会引发微小的数值精度误差。在深层网络的累积效应下，可能改变最终的 Token 选择逻辑。</a:t>
            </a:r>
            <a:endParaRPr lang="en-US" sz="110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92D1BB25-070E-7744-587C-46666E35B529}"/>
              </a:ext>
            </a:extLst>
          </p:cNvPr>
          <p:cNvSpPr/>
          <p:nvPr/>
        </p:nvSpPr>
        <p:spPr>
          <a:xfrm>
            <a:off x="4381500" y="292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952060-8AAE-A17B-F164-18950C4F1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111500"/>
            <a:ext cx="304800" cy="3048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BDA9CB61-FB0B-03D0-C299-4281079E6E3B}"/>
              </a:ext>
            </a:extLst>
          </p:cNvPr>
          <p:cNvSpPr/>
          <p:nvPr/>
        </p:nvSpPr>
        <p:spPr>
          <a:xfrm>
            <a:off x="4953000" y="3111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专家混合架构 (MoE)</a:t>
            </a:r>
            <a:endParaRPr lang="en-US" sz="110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55395215-34EF-88D8-BAAC-1565A147CEF6}"/>
              </a:ext>
            </a:extLst>
          </p:cNvPr>
          <p:cNvSpPr/>
          <p:nvPr/>
        </p:nvSpPr>
        <p:spPr>
          <a:xfrm>
            <a:off x="4572000" y="361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Token 路由决策可能受批次内其他样本的影响。相同的输入在不同的请求批次中，可能被分配到不同的专家子网络，导致输出差异。</a:t>
            </a:r>
            <a:endParaRPr lang="en-US" sz="1100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1505BB50-C8B4-F9DE-B0AD-57C5DDB0839D}"/>
              </a:ext>
            </a:extLst>
          </p:cNvPr>
          <p:cNvSpPr/>
          <p:nvPr/>
        </p:nvSpPr>
        <p:spPr>
          <a:xfrm>
            <a:off x="8001000" y="292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B86BE3-0FBE-5DB0-35A3-B55BBA36E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3111500"/>
            <a:ext cx="304800" cy="304800"/>
          </a:xfrm>
          <a:prstGeom prst="rect">
            <a:avLst/>
          </a:prstGeom>
        </p:spPr>
      </p:pic>
      <p:sp>
        <p:nvSpPr>
          <p:cNvPr id="17" name="AutoShape 16">
            <a:extLst>
              <a:ext uri="{FF2B5EF4-FFF2-40B4-BE49-F238E27FC236}">
                <a16:creationId xmlns:a16="http://schemas.microsoft.com/office/drawing/2014/main" id="{F361318D-3780-89D2-BD32-085AF5B44E09}"/>
              </a:ext>
            </a:extLst>
          </p:cNvPr>
          <p:cNvSpPr/>
          <p:nvPr/>
        </p:nvSpPr>
        <p:spPr>
          <a:xfrm>
            <a:off x="8572500" y="3111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动态批处理与算子融合</a:t>
            </a:r>
            <a:endParaRPr lang="en-US" sz="1100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ED3FF9CD-9FB3-67EF-AB8B-2075033465FC}"/>
              </a:ext>
            </a:extLst>
          </p:cNvPr>
          <p:cNvSpPr/>
          <p:nvPr/>
        </p:nvSpPr>
        <p:spPr>
          <a:xfrm>
            <a:off x="8191500" y="361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为提升吞吐量，生产环境常开启动态批处理和算子融合等优化。这些底层的执行路径优化，可能引入非确定性的计算分支。</a:t>
            </a:r>
            <a:endParaRPr lang="en-US" sz="1100"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68BBD7E7-72BF-907B-8999-DD30EF991243}"/>
              </a:ext>
            </a:extLst>
          </p:cNvPr>
          <p:cNvSpPr/>
          <p:nvPr/>
        </p:nvSpPr>
        <p:spPr>
          <a:xfrm>
            <a:off x="762000" y="5143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w="12700" cap="flat" cmpd="sng">
            <a:solidFill>
              <a:srgbClr val="40E0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A5E6DF-1B10-EEB1-A514-D4138B0B54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21" name="AutoShape 20">
            <a:extLst>
              <a:ext uri="{FF2B5EF4-FFF2-40B4-BE49-F238E27FC236}">
                <a16:creationId xmlns:a16="http://schemas.microsoft.com/office/drawing/2014/main" id="{59F2D0BC-EA81-7A32-553E-13D2F9A239AC}"/>
              </a:ext>
            </a:extLst>
          </p:cNvPr>
          <p:cNvSpPr/>
          <p:nvPr/>
        </p:nvSpPr>
        <p:spPr>
          <a:xfrm>
            <a:off x="1460500" y="53340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zh-CN" dirty="0"/>
              <a:t>因此，工程上应当接受</a:t>
            </a:r>
            <a:r>
              <a:rPr lang="en-US" altLang="zh-CN" dirty="0"/>
              <a:t>“temperature=0 </a:t>
            </a:r>
            <a:r>
              <a:rPr lang="zh-CN" altLang="zh-CN" dirty="0"/>
              <a:t>只是最大化确定性，而非保证确定性</a:t>
            </a:r>
            <a:r>
              <a:rPr lang="en-US" altLang="zh-CN" dirty="0"/>
              <a:t>”</a:t>
            </a:r>
            <a:r>
              <a:rPr lang="zh-CN" altLang="zh-CN" dirty="0"/>
              <a:t>这一现实，对依赖强一致性的场景（如需要输出可复现用于单元测试），应当在业务层增加校验、重试或后处理逻辑，而不是依赖</a:t>
            </a:r>
            <a:r>
              <a:rPr lang="en-US" altLang="zh-CN" dirty="0"/>
              <a:t> API </a:t>
            </a:r>
            <a:r>
              <a:rPr lang="zh-CN" altLang="zh-CN" dirty="0"/>
              <a:t>本身的</a:t>
            </a:r>
            <a:r>
              <a:rPr lang="en-US" altLang="zh-CN" dirty="0"/>
              <a:t>“</a:t>
            </a:r>
            <a:r>
              <a:rPr lang="zh-CN" altLang="zh-CN" dirty="0"/>
              <a:t>伪确定性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3339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8AFB4-F578-468B-4BDF-9BD75CCE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流式输出 </a:t>
            </a:r>
            <a:r>
              <a:rPr lang="en-US" altLang="zh-CN"/>
              <a:t>(Streaming)</a:t>
            </a:r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E474A1C-2280-A699-21D3-3E1B0070293C}"/>
              </a:ext>
            </a:extLst>
          </p:cNvPr>
          <p:cNvSpPr/>
          <p:nvPr/>
        </p:nvSpPr>
        <p:spPr>
          <a:xfrm>
            <a:off x="762000" y="1778000"/>
            <a:ext cx="5334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zh-CN" altLang="zh-CN" dirty="0"/>
              <a:t>流式输出是一种</a:t>
            </a:r>
            <a:r>
              <a:rPr lang="zh-CN" altLang="zh-CN" b="1" dirty="0"/>
              <a:t>增量式</a:t>
            </a:r>
            <a:r>
              <a:rPr lang="zh-CN" altLang="zh-CN" dirty="0"/>
              <a:t>的数据传输方式，它允许大模型在生成内容的同时，将已生成的部分立即发送给客户端，而不必等待整个响应完成。这种方式的核心特点是：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实时性</a:t>
            </a:r>
            <a:r>
              <a:rPr lang="zh-CN" altLang="zh-CN" dirty="0"/>
              <a:t>：模型生成一小段内容就立即传输，用户几乎可以实时看到生成过程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增量传输</a:t>
            </a:r>
            <a:r>
              <a:rPr lang="zh-CN" altLang="zh-CN" dirty="0"/>
              <a:t>：通过</a:t>
            </a:r>
            <a:r>
              <a:rPr lang="en-US" altLang="zh-CN" dirty="0"/>
              <a:t> SSE</a:t>
            </a:r>
            <a:r>
              <a:rPr lang="zh-CN" altLang="zh-CN" dirty="0"/>
              <a:t>（</a:t>
            </a:r>
            <a:r>
              <a:rPr lang="en-US" altLang="zh-CN" dirty="0"/>
              <a:t>Server-Sent Events</a:t>
            </a:r>
            <a:r>
              <a:rPr lang="zh-CN" altLang="zh-CN" dirty="0"/>
              <a:t>）或</a:t>
            </a:r>
            <a:r>
              <a:rPr lang="en-US" altLang="zh-CN" dirty="0"/>
              <a:t> WebSocket </a:t>
            </a:r>
            <a:r>
              <a:rPr lang="zh-CN" altLang="zh-CN" dirty="0"/>
              <a:t>协议实现服务器到客户端的持续数据流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低感知延迟</a:t>
            </a:r>
            <a:r>
              <a:rPr lang="zh-CN" altLang="zh-CN" dirty="0"/>
              <a:t>：用户通常在</a:t>
            </a:r>
            <a:r>
              <a:rPr lang="en-US" altLang="zh-CN" dirty="0"/>
              <a:t> 100ms </a:t>
            </a:r>
            <a:r>
              <a:rPr lang="zh-CN" altLang="zh-CN" dirty="0"/>
              <a:t>内就能看到首批内容，大幅降低等待感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zh-CN" dirty="0"/>
              <a:t>非流式输出采用传统的请求</a:t>
            </a:r>
            <a:r>
              <a:rPr lang="en-US" altLang="zh-CN" dirty="0"/>
              <a:t>-</a:t>
            </a:r>
            <a:r>
              <a:rPr lang="zh-CN" altLang="zh-CN" dirty="0"/>
              <a:t>响应模式，模型会等待</a:t>
            </a:r>
            <a:r>
              <a:rPr lang="zh-CN" altLang="zh-CN" b="1" dirty="0"/>
              <a:t>完整内容生成后</a:t>
            </a:r>
            <a:r>
              <a:rPr lang="zh-CN" altLang="zh-CN" dirty="0"/>
              <a:t>再一次性返回给客户端：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完整性</a:t>
            </a:r>
            <a:r>
              <a:rPr lang="zh-CN" altLang="zh-CN" dirty="0"/>
              <a:t>：返回的是经过完全处理和验证的完整响应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单次传输</a:t>
            </a:r>
            <a:r>
              <a:rPr lang="zh-CN" altLang="zh-CN" dirty="0"/>
              <a:t>：采用标准</a:t>
            </a:r>
            <a:r>
              <a:rPr lang="en-US" altLang="zh-CN" dirty="0"/>
              <a:t> HTTP </a:t>
            </a:r>
            <a:r>
              <a:rPr lang="zh-CN" altLang="zh-CN" dirty="0"/>
              <a:t>请求</a:t>
            </a:r>
            <a:r>
              <a:rPr lang="en-US" altLang="zh-CN" dirty="0"/>
              <a:t>-</a:t>
            </a:r>
            <a:r>
              <a:rPr lang="zh-CN" altLang="zh-CN" dirty="0"/>
              <a:t>响应模式，一次性传输所有数据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等待时间</a:t>
            </a:r>
            <a:r>
              <a:rPr lang="zh-CN" altLang="zh-CN" dirty="0"/>
              <a:t>：用户需要等待整个生成过程完成（可能需要数秒甚至更长）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8B802-B002-67D6-3FC2-D2BF86BA5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646804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77D7E9-9F7A-845A-AC0B-C0BC6CA062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1778000"/>
            <a:ext cx="2286000" cy="228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40E0D0">
                <a:alpha val="25000"/>
              </a:srgbClr>
            </a:outerShdw>
          </a:effectLst>
        </p:spPr>
      </p:pic>
      <p:sp>
        <p:nvSpPr>
          <p:cNvPr id="15" name="AutoShape 14">
            <a:extLst>
              <a:ext uri="{FF2B5EF4-FFF2-40B4-BE49-F238E27FC236}">
                <a16:creationId xmlns:a16="http://schemas.microsoft.com/office/drawing/2014/main" id="{C7310302-996B-C2F3-4A0F-339207373FD8}"/>
              </a:ext>
            </a:extLst>
          </p:cNvPr>
          <p:cNvSpPr/>
          <p:nvPr/>
        </p:nvSpPr>
        <p:spPr>
          <a:xfrm>
            <a:off x="9080500" y="1968500"/>
            <a:ext cx="266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实时交互体验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如同ChatGPT的“逐字蹦出”效果，让AI回复不再是冷冰冰的一次性弹窗，而是如同人类对话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一样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自然流畅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4837F649-EF0F-F979-ABF6-A95A3F03BEB9}"/>
              </a:ext>
            </a:extLst>
          </p:cNvPr>
          <p:cNvSpPr/>
          <p:nvPr/>
        </p:nvSpPr>
        <p:spPr>
          <a:xfrm>
            <a:off x="6604000" y="4254500"/>
            <a:ext cx="5143500" cy="1968500"/>
          </a:xfrm>
          <a:prstGeom prst="roundRect">
            <a:avLst>
              <a:gd name="adj" fmla="val 0"/>
            </a:avLst>
          </a:prstGeom>
          <a:solidFill>
            <a:srgbClr val="1E232D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472C190F-9DB9-E58E-8ACB-F4D549601B6F}"/>
              </a:ext>
            </a:extLst>
          </p:cNvPr>
          <p:cNvSpPr/>
          <p:nvPr/>
        </p:nvSpPr>
        <p:spPr>
          <a:xfrm>
            <a:off x="6756400" y="4381500"/>
            <a:ext cx="4889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-US" sz="1200" b="0" i="0" u="none" strike="noStrike" dirty="0" err="1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client.chat.completions.create</a:t>
            </a: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model=</a:t>
            </a:r>
            <a:r>
              <a:rPr lang="en-US" sz="1200" b="0" i="0" u="none" strike="noStrike" dirty="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"gpt-4o"</a:t>
            </a: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, messages=[...],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 dirty="0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stream=True</a:t>
            </a:r>
            <a:r>
              <a:rPr lang="en-US" sz="1200" b="0" i="0" u="none" strike="noStrike" dirty="0">
                <a:solidFill>
                  <a:srgbClr val="787878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-US" sz="1200" b="0" i="0" u="none" strike="noStrike" dirty="0" err="1">
                <a:solidFill>
                  <a:srgbClr val="787878"/>
                </a:solidFill>
                <a:latin typeface="Roboto Mono"/>
                <a:ea typeface="Roboto Mono"/>
                <a:cs typeface="Roboto Mono"/>
                <a:sym typeface="Roboto Mono"/>
              </a:rPr>
              <a:t>开启流式传输</a:t>
            </a:r>
            <a:endParaRPr lang="en-US" sz="1200" b="0" i="0" u="none" strike="noStrike" dirty="0">
              <a:solidFill>
                <a:srgbClr val="78787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200" b="0" i="0" u="none" strike="noStrike" dirty="0" err="1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chunk</a:t>
            </a:r>
            <a:r>
              <a:rPr lang="en-US" sz="1200" b="0" i="0" u="none" strike="noStrike" dirty="0" err="1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1200" b="0" i="0" u="none" strike="noStrike" dirty="0" err="1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: print(</a:t>
            </a:r>
            <a:r>
              <a:rPr lang="en-US" sz="1200" b="0" i="0" u="none" strike="noStrike" dirty="0" err="1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chunk.delta.content</a:t>
            </a:r>
            <a:r>
              <a:rPr lang="en-US" sz="1200" b="0" i="0" u="none" strike="noStrike" dirty="0">
                <a:solidFill>
                  <a:srgbClr val="C8C8C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027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8AFB4-F578-468B-4BDF-9BD75CCE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accent5">
                    <a:lumMod val="75000"/>
                  </a:schemeClr>
                </a:solidFill>
              </a:rPr>
              <a:t>流式输出与非流式输出技术实现差异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905332-F41B-FEBD-8C07-EF5216399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770131"/>
              </p:ext>
            </p:extLst>
          </p:nvPr>
        </p:nvGraphicFramePr>
        <p:xfrm>
          <a:off x="669924" y="1216990"/>
          <a:ext cx="7233673" cy="2524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028">
                  <a:extLst>
                    <a:ext uri="{9D8B030D-6E8A-4147-A177-3AD203B41FA5}">
                      <a16:colId xmlns:a16="http://schemas.microsoft.com/office/drawing/2014/main" val="343017118"/>
                    </a:ext>
                  </a:extLst>
                </a:gridCol>
                <a:gridCol w="2932570">
                  <a:extLst>
                    <a:ext uri="{9D8B030D-6E8A-4147-A177-3AD203B41FA5}">
                      <a16:colId xmlns:a16="http://schemas.microsoft.com/office/drawing/2014/main" val="3586918544"/>
                    </a:ext>
                  </a:extLst>
                </a:gridCol>
                <a:gridCol w="3128075">
                  <a:extLst>
                    <a:ext uri="{9D8B030D-6E8A-4147-A177-3AD203B41FA5}">
                      <a16:colId xmlns:a16="http://schemas.microsoft.com/office/drawing/2014/main" val="3784827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>
                          <a:effectLst/>
                        </a:rPr>
                        <a:t>维度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>
                          <a:effectLst/>
                        </a:rPr>
                        <a:t>流式输出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>
                          <a:effectLst/>
                        </a:rPr>
                        <a:t>非流式输出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56600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传输协议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SSE/WebSocket</a:t>
                      </a:r>
                      <a:r>
                        <a:rPr lang="zh-CN" sz="1200">
                          <a:effectLst/>
                        </a:rPr>
                        <a:t>（长连接）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HTTP/1.1</a:t>
                      </a:r>
                      <a:r>
                        <a:rPr lang="zh-CN" sz="1200">
                          <a:effectLst/>
                        </a:rPr>
                        <a:t>（短连接）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88836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连接状态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保持长连接直到生成完成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请求发出后等待，完成后断开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27473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数据格式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分块传输，每块包含增量内容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JSON </a:t>
                      </a:r>
                      <a:r>
                        <a:rPr lang="zh-CN" sz="1200">
                          <a:effectLst/>
                        </a:rPr>
                        <a:t>格式的完整响应体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21337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服务器资源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effectLst/>
                        </a:rPr>
                        <a:t>维持连接状态，内存占用较高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生成完毕即释放资源，更节省内存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335757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网络要求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对网络稳定性要求高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effectLst/>
                        </a:rPr>
                        <a:t>对网络稳定性要求相对较低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13119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>
                          <a:effectLst/>
                        </a:rPr>
                        <a:t>错误处理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effectLst/>
                        </a:rPr>
                        <a:t>中间状态可能导致部分内容丢失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effectLst/>
                        </a:rPr>
                        <a:t>全量结果校验，容错性更强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223315641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216B186C-2F04-F8DB-3EA3-3FBEBDD5D652}"/>
              </a:ext>
            </a:extLst>
          </p:cNvPr>
          <p:cNvSpPr txBox="1"/>
          <p:nvPr/>
        </p:nvSpPr>
        <p:spPr>
          <a:xfrm>
            <a:off x="8048708" y="1252769"/>
            <a:ext cx="3965686" cy="422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  <a:buNone/>
            </a:pPr>
            <a:r>
              <a:rPr lang="zh-CN" altLang="zh-CN" sz="2100" b="1" dirty="0">
                <a:solidFill>
                  <a:schemeClr val="accent5">
                    <a:lumMod val="75000"/>
                  </a:schemeClr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流式输出与非流式输出应用场景</a:t>
            </a:r>
            <a:endParaRPr lang="zh-CN" altLang="zh-CN" sz="100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Aft>
                <a:spcPts val="600"/>
              </a:spcAft>
              <a:buNone/>
            </a:pPr>
            <a:r>
              <a:rPr lang="zh-CN" altLang="zh-CN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流式输出的理想应用场景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实时对话系统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聊天机器人和虚拟助手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客服系统和用户支持平台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实时问答和教育辅导应用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渐进式内容生成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代码补全和编程辅助工具（如</a:t>
            </a:r>
            <a:r>
              <a:rPr lang="en-US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GitHub Copilot</a:t>
            </a: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）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实时文档协作和编辑系统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创意写作和内容创作平台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用户体验敏感场景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需要快速响应的移动应用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高交互频率的</a:t>
            </a:r>
            <a:r>
              <a:rPr lang="en-US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Web </a:t>
            </a: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需要模拟人类打字节奏的界面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长文本生成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文章和报告生成工具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故事和剧本创作应用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大量内容总结和提炼系统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8A2938-752A-8A3E-9155-BA97B1C8FCAE}"/>
              </a:ext>
            </a:extLst>
          </p:cNvPr>
          <p:cNvSpPr txBox="1"/>
          <p:nvPr/>
        </p:nvSpPr>
        <p:spPr>
          <a:xfrm>
            <a:off x="669924" y="4112920"/>
            <a:ext cx="396568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  <a:buNone/>
            </a:pPr>
            <a:r>
              <a:rPr lang="zh-CN" altLang="zh-CN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非流式输出的理想应用场景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批量处理任务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大规模文档分析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离线内容生成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数据批处理和报表生成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高精度要求场景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医疗诊断报告生成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法律文档和合同生成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金融分析和风险评估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0843DC-4467-D720-0764-73AF772D1123}"/>
              </a:ext>
            </a:extLst>
          </p:cNvPr>
          <p:cNvSpPr txBox="1"/>
          <p:nvPr/>
        </p:nvSpPr>
        <p:spPr>
          <a:xfrm>
            <a:off x="3751028" y="4453646"/>
            <a:ext cx="707268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资源受限环境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800100" lvl="1" indent="-342900">
              <a:buSzPts val="1000"/>
              <a:buFont typeface="+mj-lt"/>
              <a:buAutoNum type="arabicPeriod" startAt="3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移动设备上的轻量级应用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800100" lvl="1" indent="-342900">
              <a:buSzPts val="1000"/>
              <a:buFont typeface="+mj-lt"/>
              <a:buAutoNum type="arabicPeriod" startAt="3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网络带宽受限的场景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800100" lvl="1" indent="-342900">
              <a:buSzPts val="1000"/>
              <a:buFont typeface="+mj-lt"/>
              <a:buAutoNum type="arabicPeriod" startAt="3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服务器资源需要高效利用的情况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zh-CN" sz="1300" b="1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需要完整性验证的场景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需要进行内容审核的应用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格式严格的文档生成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742950" lvl="1" indent="-285750"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zh-CN" altLang="zh-CN" sz="1300" dirty="0">
                <a:solidFill>
                  <a:srgbClr val="2D3748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需要确保逻辑一致性的复杂推理</a:t>
            </a:r>
            <a:endParaRPr lang="zh-CN" altLang="zh-CN" sz="1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753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43413-83A1-FB0B-EE18-826EAEA1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第二部分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CADF1CD-A118-32F7-A14A-F5481BDB0B92}"/>
              </a:ext>
            </a:extLst>
          </p:cNvPr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结构化输出与工具调用 (2.2)</a:t>
            </a:r>
            <a:endParaRPr lang="en-US" sz="110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95C1C48-3DC3-2431-A442-52E581AE6B63}"/>
              </a:ext>
            </a:extLst>
          </p:cNvPr>
          <p:cNvSpPr/>
          <p:nvPr/>
        </p:nvSpPr>
        <p:spPr>
          <a:xfrm>
            <a:off x="5334000" y="546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ap="flat" cmpd="sng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49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FA1EC-CFDD-4DE3-33B8-D2B21548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为什么应用开发需要结构化输出？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7BF9006-6423-EBB4-C3F7-845E103034BD}"/>
              </a:ext>
            </a:extLst>
          </p:cNvPr>
          <p:cNvSpPr/>
          <p:nvPr/>
        </p:nvSpPr>
        <p:spPr>
          <a:xfrm>
            <a:off x="762000" y="1778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8290E-BB3E-6FFC-A70A-FDEBAE690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FD630CA5-1143-DEA5-F89F-52AD646AD79F}"/>
              </a:ext>
            </a:extLst>
          </p:cNvPr>
          <p:cNvSpPr/>
          <p:nvPr/>
        </p:nvSpPr>
        <p:spPr>
          <a:xfrm>
            <a:off x="1397000" y="19685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1：非结构化的“语言壁垒”</a:t>
            </a:r>
            <a:endParaRPr lang="en-US" sz="1100" dirty="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9E867B4C-7022-95E7-466C-6A08CA9E9742}"/>
              </a:ext>
            </a:extLst>
          </p:cNvPr>
          <p:cNvSpPr/>
          <p:nvPr/>
        </p:nvSpPr>
        <p:spPr>
          <a:xfrm>
            <a:off x="1397000" y="2311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与大语言模型交互时，纯自然语言的回复虽然灵活，但</a:t>
            </a:r>
            <a:r>
              <a:rPr lang="zh-CN" altLang="zh-CN" sz="1600" b="1" dirty="0">
                <a:solidFill>
                  <a:schemeClr val="bg1">
                    <a:lumMod val="50000"/>
                  </a:schemeClr>
                </a:solidFill>
              </a:rPr>
              <a:t>无法直接被程序处理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。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6DFB207D-2E70-55C0-78EB-416BD77B88A7}"/>
              </a:ext>
            </a:extLst>
          </p:cNvPr>
          <p:cNvSpPr/>
          <p:nvPr/>
        </p:nvSpPr>
        <p:spPr>
          <a:xfrm>
            <a:off x="762000" y="3048000"/>
            <a:ext cx="5334000" cy="18923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A6FC19-DA1B-E3CD-EF58-8BED332735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58CDC620-4F2F-1626-899C-5A20580D10E6}"/>
              </a:ext>
            </a:extLst>
          </p:cNvPr>
          <p:cNvSpPr/>
          <p:nvPr/>
        </p:nvSpPr>
        <p:spPr>
          <a:xfrm>
            <a:off x="1397000" y="32385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2：机器可读的标准格式</a:t>
            </a:r>
            <a:endParaRPr lang="en-US" sz="1100" dirty="0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5087B8DF-A879-B2D1-D48E-2201D74440F2}"/>
              </a:ext>
            </a:extLst>
          </p:cNvPr>
          <p:cNvSpPr/>
          <p:nvPr/>
        </p:nvSpPr>
        <p:spPr>
          <a:xfrm>
            <a:off x="1270000" y="3581400"/>
            <a:ext cx="4699000" cy="14676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进入后续业务逻辑的场景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——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例如填写表单、更新数据库、触发操作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——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都要求模型输出可解析的格式，最常用的就是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 JSON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：字段名固定、类型明确、可以被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JSON.parse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或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 Python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json.loads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</a:rPr>
              <a:t>无歧义地读取。</a:t>
            </a:r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964EB11-124A-78EC-1D5A-E345F0E30BF5}"/>
              </a:ext>
            </a:extLst>
          </p:cNvPr>
          <p:cNvSpPr/>
          <p:nvPr/>
        </p:nvSpPr>
        <p:spPr>
          <a:xfrm>
            <a:off x="762000" y="5524500"/>
            <a:ext cx="5334000" cy="762000"/>
          </a:xfrm>
          <a:prstGeom prst="roundRect">
            <a:avLst>
              <a:gd name="adj" fmla="val 0"/>
            </a:avLst>
          </a:prstGeom>
          <a:solidFill>
            <a:srgbClr val="FF6B6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1944F44C-3D49-4D40-A56D-5FABA2068883}"/>
              </a:ext>
            </a:extLst>
          </p:cNvPr>
          <p:cNvSpPr/>
          <p:nvPr/>
        </p:nvSpPr>
        <p:spPr>
          <a:xfrm>
            <a:off x="1181100" y="5651500"/>
            <a:ext cx="47879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若输出夹杂</a:t>
            </a:r>
            <a:r>
              <a:rPr lang="en-US" sz="1300" b="1" i="0" u="none" strike="noStrik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冗余解释</a:t>
            </a:r>
            <a:r>
              <a:rPr lang="en-US" sz="1300" b="0" i="0" u="none" strike="noStrik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、使用中文</a:t>
            </a:r>
            <a:r>
              <a:rPr lang="en-US" sz="1300" b="1" i="0" u="none" strike="noStrik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引号或字段缺失</a:t>
            </a:r>
            <a:r>
              <a:rPr lang="en-US" sz="1300" b="0" i="0" u="none" strike="noStrik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，会直接导致程序解析报错，中断业务流程</a:t>
            </a:r>
            <a:r>
              <a:rPr lang="en-US" sz="1300" b="0" i="0" u="none" strike="noStrike" dirty="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C9363FA9-1E23-F42E-9E7B-289920C9AB0A}"/>
              </a:ext>
            </a:extLst>
          </p:cNvPr>
          <p:cNvSpPr/>
          <p:nvPr/>
        </p:nvSpPr>
        <p:spPr>
          <a:xfrm>
            <a:off x="6731000" y="2103500"/>
            <a:ext cx="2476500" cy="30019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E6CED2DC-E4BB-361A-F7EE-C6EBC128A1DC}"/>
              </a:ext>
            </a:extLst>
          </p:cNvPr>
          <p:cNvSpPr/>
          <p:nvPr/>
        </p:nvSpPr>
        <p:spPr>
          <a:xfrm>
            <a:off x="6794500" y="1892300"/>
            <a:ext cx="2349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0E0D0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1300" b="0" i="0" u="none" strike="noStrike" dirty="0" err="1">
                <a:solidFill>
                  <a:srgbClr val="40E0D0"/>
                </a:solidFill>
                <a:latin typeface="Consolas"/>
                <a:ea typeface="Consolas"/>
                <a:cs typeface="Consolas"/>
                <a:sym typeface="Consolas"/>
              </a:rPr>
              <a:t>标准JSON输出示例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4D2FF"/>
                </a:solidFill>
                <a:latin typeface="Consolas"/>
                <a:ea typeface="Consolas"/>
                <a:cs typeface="Consolas"/>
                <a:sym typeface="Consolas"/>
              </a:rPr>
              <a:t>"device":</a:t>
            </a:r>
            <a:r>
              <a:rPr lang="en-US" sz="1300" b="0" i="0" u="none" strike="noStrike" dirty="0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路由器</a:t>
            </a:r>
            <a:r>
              <a:rPr lang="en-US" sz="1300" b="0" i="0" u="none" strike="noStrike" dirty="0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4D2FF"/>
                </a:solidFill>
                <a:latin typeface="Consolas"/>
                <a:ea typeface="Consolas"/>
                <a:cs typeface="Consolas"/>
                <a:sym typeface="Consolas"/>
              </a:rPr>
              <a:t>"model":</a:t>
            </a:r>
            <a:r>
              <a:rPr lang="en-US" sz="1300" b="0" i="0" u="none" strike="noStrike" dirty="0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"AX3000"</a:t>
            </a:r>
            <a:r>
              <a:rPr lang="en-US" sz="1300" b="0" i="0" u="none" strike="noStrik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4D2FF"/>
                </a:solidFill>
                <a:latin typeface="Consolas"/>
                <a:ea typeface="Consolas"/>
                <a:cs typeface="Consolas"/>
                <a:sym typeface="Consolas"/>
              </a:rPr>
              <a:t>"fault":</a:t>
            </a:r>
            <a:r>
              <a:rPr lang="en-US" sz="1300" b="0" i="0" u="none" strike="noStrike" dirty="0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断网</a:t>
            </a:r>
            <a:r>
              <a:rPr lang="en-US" sz="1300" b="0" i="0" u="none" strike="noStrike" dirty="0">
                <a:solidFill>
                  <a:srgbClr val="E6C07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4D2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64D2FF"/>
                </a:solidFill>
                <a:latin typeface="Consolas"/>
                <a:ea typeface="Consolas"/>
                <a:cs typeface="Consolas"/>
                <a:sym typeface="Consolas"/>
              </a:rPr>
              <a:t>rebooted":</a:t>
            </a:r>
            <a:r>
              <a:rPr lang="en-US" sz="1300" b="0" i="0" u="none" strike="noStrike" dirty="0" err="1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lang="en-US" sz="1300" b="0" i="0" u="none" strike="noStrike" dirty="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ABB6A783-EFFB-4F7A-9993-D12B4CED2286}"/>
              </a:ext>
            </a:extLst>
          </p:cNvPr>
          <p:cNvSpPr/>
          <p:nvPr/>
        </p:nvSpPr>
        <p:spPr>
          <a:xfrm>
            <a:off x="6731000" y="5524500"/>
            <a:ext cx="53340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9D490677-9E05-CC6B-B87F-FE278EDD5E71}"/>
              </a:ext>
            </a:extLst>
          </p:cNvPr>
          <p:cNvSpPr/>
          <p:nvPr/>
        </p:nvSpPr>
        <p:spPr>
          <a:xfrm>
            <a:off x="6858000" y="5651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结构化输出将AI的“语义理解”转化为“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可执行数据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是实现业务自动化、智能化的基础，让应用开发更稳健可控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4248D8C4-1B60-0581-791A-164B45ED677E}"/>
              </a:ext>
            </a:extLst>
          </p:cNvPr>
          <p:cNvSpPr/>
          <p:nvPr/>
        </p:nvSpPr>
        <p:spPr>
          <a:xfrm>
            <a:off x="9410479" y="1892300"/>
            <a:ext cx="2349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zh-CN" sz="1300" dirty="0">
                <a:solidFill>
                  <a:schemeClr val="tx1"/>
                </a:solidFill>
                <a:latin typeface="Consolas"/>
              </a:rPr>
              <a:t>好的，这是整理后的</a:t>
            </a:r>
            <a:r>
              <a:rPr lang="en-US" altLang="zh-CN" sz="1300" dirty="0">
                <a:solidFill>
                  <a:schemeClr val="tx1"/>
                </a:solidFill>
                <a:latin typeface="Consolas"/>
              </a:rPr>
              <a:t> JSON</a:t>
            </a:r>
            <a:r>
              <a:rPr lang="zh-CN" altLang="zh-CN" sz="1300" dirty="0">
                <a:solidFill>
                  <a:schemeClr val="tx1"/>
                </a:solidFill>
                <a:latin typeface="Consolas"/>
              </a:rPr>
              <a:t>：</a:t>
            </a:r>
            <a:endParaRPr lang="en-US" altLang="zh-CN" sz="1300" dirty="0">
              <a:solidFill>
                <a:schemeClr val="tx1"/>
              </a:solidFill>
              <a:latin typeface="Consolas"/>
            </a:endParaRPr>
          </a:p>
          <a:p>
            <a:pPr>
              <a:lnSpc>
                <a:spcPct val="116666"/>
              </a:lnSpc>
              <a:defRPr/>
            </a:pPr>
            <a:r>
              <a:rPr lang="en-US" sz="1300" dirty="0">
                <a:solidFill>
                  <a:schemeClr val="tx1"/>
                </a:solidFill>
                <a:latin typeface="Consolas"/>
                <a:sym typeface="Consolas"/>
              </a:rPr>
              <a:t>{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dirty="0">
                <a:solidFill>
                  <a:schemeClr val="tx1"/>
                </a:solidFill>
                <a:latin typeface="Consolas"/>
                <a:sym typeface="Consolas"/>
              </a:rPr>
              <a:t>"device</a:t>
            </a: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":"</a:t>
            </a:r>
            <a:r>
              <a:rPr lang="en-US" sz="1300" b="0" i="0" u="none" strike="noStrike" dirty="0" err="1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路由器</a:t>
            </a: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"model":"AX3000",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"fault":"</a:t>
            </a:r>
            <a:r>
              <a:rPr lang="en-US" sz="1300" b="0" i="0" u="none" strike="noStrike" dirty="0" err="1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断网</a:t>
            </a: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rebooted":true</a:t>
            </a:r>
            <a:endParaRPr lang="en-US" sz="1300" b="0" i="0" u="none" strike="noStrike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B49320-B11B-94CA-62C6-E8C8FC553AB5}"/>
              </a:ext>
            </a:extLst>
          </p:cNvPr>
          <p:cNvSpPr/>
          <p:nvPr/>
        </p:nvSpPr>
        <p:spPr>
          <a:xfrm>
            <a:off x="9303026" y="2103500"/>
            <a:ext cx="2456953" cy="3001900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5C2BC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C5388B9-32DA-59E8-BCAA-C50E9276D3FC}"/>
              </a:ext>
            </a:extLst>
          </p:cNvPr>
          <p:cNvSpPr txBox="1"/>
          <p:nvPr/>
        </p:nvSpPr>
        <p:spPr>
          <a:xfrm>
            <a:off x="6667500" y="1096900"/>
            <a:ext cx="5461000" cy="8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假设我们要做一个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“</a:t>
            </a: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智能客服工单创建系统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”</a:t>
            </a: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，用户说：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“</a:t>
            </a: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我的路由器上不了网了，型号是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AX3000</a:t>
            </a: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，已经重启两次了。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” </a:t>
            </a:r>
            <a:r>
              <a:rPr lang="zh-CN" altLang="zh-CN" sz="1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我们希望自动提取信息，生成工单：</a:t>
            </a:r>
          </a:p>
        </p:txBody>
      </p:sp>
    </p:spTree>
    <p:extLst>
      <p:ext uri="{BB962C8B-B14F-4D97-AF65-F5344CB8AC3E}">
        <p14:creationId xmlns:p14="http://schemas.microsoft.com/office/powerpoint/2010/main" val="30393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D2259-5B16-2E35-D397-04AFA469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保证输出合法</a:t>
            </a:r>
            <a:r>
              <a:rPr lang="en-US" altLang="zh-CN"/>
              <a:t>JSON</a:t>
            </a:r>
            <a:r>
              <a:rPr lang="zh-CN" altLang="en-US"/>
              <a:t>的三种工程手段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EFC41A0-F75B-FE50-1A75-08523488AAF7}"/>
              </a:ext>
            </a:extLst>
          </p:cNvPr>
          <p:cNvSpPr/>
          <p:nvPr/>
        </p:nvSpPr>
        <p:spPr>
          <a:xfrm>
            <a:off x="762000" y="1904999"/>
            <a:ext cx="3429000" cy="2746513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36391C5D-8744-A01C-7A6C-929D0DD80063}"/>
              </a:ext>
            </a:extLst>
          </p:cNvPr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48DDE25A-07CA-FCFF-5BDF-B6CB9F358861}"/>
              </a:ext>
            </a:extLst>
          </p:cNvPr>
          <p:cNvSpPr/>
          <p:nvPr/>
        </p:nvSpPr>
        <p:spPr>
          <a:xfrm>
            <a:off x="952500" y="215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 提示词约束</a:t>
            </a:r>
            <a:endParaRPr lang="en-US" sz="110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D49F6A6E-6E8D-0376-7756-3407C60BEBA8}"/>
              </a:ext>
            </a:extLst>
          </p:cNvPr>
          <p:cNvSpPr/>
          <p:nvPr/>
        </p:nvSpPr>
        <p:spPr>
          <a:xfrm>
            <a:off x="952500" y="2730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 System Prompt 中明确指令“仅输出JSON格式”，并提供标准的JSON示例作为引导，从输入侧进行软性约束。</a:t>
            </a:r>
            <a:endParaRPr lang="en-US" sz="110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05B07810-28F2-EF42-0E0E-05BD397FD9DB}"/>
              </a:ext>
            </a:extLst>
          </p:cNvPr>
          <p:cNvSpPr/>
          <p:nvPr/>
        </p:nvSpPr>
        <p:spPr>
          <a:xfrm>
            <a:off x="9525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可靠性：</a:t>
            </a:r>
            <a:r>
              <a:rPr lang="en-US" sz="1400" b="0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较低</a:t>
            </a:r>
            <a:r>
              <a:rPr lang="en-US" dirty="0">
                <a:solidFill>
                  <a:srgbClr val="F59E0B"/>
                </a:solidFill>
                <a:latin typeface="Noto Sans SC"/>
                <a:ea typeface="Noto Sans SC"/>
                <a:sym typeface="Noto Sans SC"/>
              </a:rPr>
              <a:t>，</a:t>
            </a:r>
            <a:r>
              <a:rPr lang="zh-CN" altLang="zh-CN" dirty="0">
                <a:solidFill>
                  <a:srgbClr val="F59E0B"/>
                </a:solidFill>
                <a:latin typeface="Noto Sans SC"/>
                <a:ea typeface="Noto Sans SC"/>
              </a:rPr>
              <a:t>模型仍可能输出多余的</a:t>
            </a:r>
            <a:r>
              <a:rPr lang="en-US" altLang="zh-CN" dirty="0">
                <a:solidFill>
                  <a:srgbClr val="F59E0B"/>
                </a:solidFill>
                <a:latin typeface="Noto Sans SC"/>
                <a:ea typeface="Noto Sans SC"/>
              </a:rPr>
              <a:t> markdown </a:t>
            </a:r>
            <a:r>
              <a:rPr lang="zh-CN" altLang="zh-CN" dirty="0">
                <a:solidFill>
                  <a:srgbClr val="F59E0B"/>
                </a:solidFill>
                <a:latin typeface="Noto Sans SC"/>
                <a:ea typeface="Noto Sans SC"/>
              </a:rPr>
              <a:t>代码块围栏或解释性前后缀</a:t>
            </a:r>
            <a:endParaRPr lang="en-US" dirty="0">
              <a:solidFill>
                <a:srgbClr val="F59E0B"/>
              </a:solidFill>
              <a:latin typeface="Noto Sans SC"/>
              <a:ea typeface="Noto Sans SC"/>
            </a:endParaRP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DCC061EE-5F7C-36ED-C927-CE0EA62255B6}"/>
              </a:ext>
            </a:extLst>
          </p:cNvPr>
          <p:cNvSpPr/>
          <p:nvPr/>
        </p:nvSpPr>
        <p:spPr>
          <a:xfrm>
            <a:off x="4381500" y="1905000"/>
            <a:ext cx="3429000" cy="2746512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2DC84370-F524-7734-6B69-0B3A1A56C5F2}"/>
              </a:ext>
            </a:extLst>
          </p:cNvPr>
          <p:cNvSpPr/>
          <p:nvPr/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6FE8C239-DC18-373F-DCB1-21217AB2F66E}"/>
              </a:ext>
            </a:extLst>
          </p:cNvPr>
          <p:cNvSpPr/>
          <p:nvPr/>
        </p:nvSpPr>
        <p:spPr>
          <a:xfrm>
            <a:off x="4572000" y="215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 JSON模式参数</a:t>
            </a:r>
            <a:endParaRPr lang="en-US" sz="110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134C7649-66A2-33C1-A1C1-5AEE1FBAA832}"/>
              </a:ext>
            </a:extLst>
          </p:cNvPr>
          <p:cNvSpPr/>
          <p:nvPr/>
        </p:nvSpPr>
        <p:spPr>
          <a:xfrm>
            <a:off x="4572000" y="2730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调用API时指定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response_format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={"type": "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json_object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"}，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由大模型服务端进行语法级校验，强制输出合法的JSON结构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35C7865E-90CC-EBE1-CCFE-F0B56BDE78B5}"/>
              </a:ext>
            </a:extLst>
          </p:cNvPr>
          <p:cNvSpPr/>
          <p:nvPr/>
        </p:nvSpPr>
        <p:spPr>
          <a:xfrm>
            <a:off x="45720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可靠性：</a:t>
            </a:r>
            <a:r>
              <a:rPr lang="en-US" sz="1400" b="0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中等</a:t>
            </a:r>
            <a:r>
              <a:rPr lang="en-US" dirty="0">
                <a:solidFill>
                  <a:srgbClr val="F59E0B"/>
                </a:solidFill>
                <a:latin typeface="Noto Sans SC"/>
                <a:ea typeface="Noto Sans SC"/>
                <a:sym typeface="Noto Sans SC"/>
              </a:rPr>
              <a:t>，</a:t>
            </a:r>
            <a:r>
              <a:rPr lang="zh-CN" altLang="zh-CN" dirty="0">
                <a:solidFill>
                  <a:srgbClr val="F59E0B"/>
                </a:solidFill>
                <a:latin typeface="Noto Sans SC"/>
                <a:ea typeface="Noto Sans SC"/>
              </a:rPr>
              <a:t>语法合法但字段可能缺失或类型不符</a:t>
            </a:r>
            <a:endParaRPr lang="en-US" dirty="0">
              <a:solidFill>
                <a:srgbClr val="F59E0B"/>
              </a:solidFill>
              <a:latin typeface="Noto Sans SC"/>
              <a:ea typeface="Noto Sans SC"/>
            </a:endParaRPr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9CC00535-B790-E4A7-E771-C34BDC6547D7}"/>
              </a:ext>
            </a:extLst>
          </p:cNvPr>
          <p:cNvSpPr/>
          <p:nvPr/>
        </p:nvSpPr>
        <p:spPr>
          <a:xfrm>
            <a:off x="8001000" y="1905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AD05CFC6-A7E1-1897-B090-36E228DED79A}"/>
              </a:ext>
            </a:extLst>
          </p:cNvPr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5FDC629E-75DE-450E-D5E1-4F160981ED0E}"/>
              </a:ext>
            </a:extLst>
          </p:cNvPr>
          <p:cNvSpPr/>
          <p:nvPr/>
        </p:nvSpPr>
        <p:spPr>
          <a:xfrm>
            <a:off x="8191500" y="215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03 受限解码技术</a:t>
            </a:r>
            <a:endParaRPr lang="en-US" sz="1100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AA4320FE-E13C-E311-3818-11DBC2181015}"/>
              </a:ext>
            </a:extLst>
          </p:cNvPr>
          <p:cNvSpPr/>
          <p:nvPr/>
        </p:nvSpPr>
        <p:spPr>
          <a:xfrm>
            <a:off x="8191500" y="2730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在模型解码生成阶段，动态屏蔽所有可能破坏JSON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Schema的非法Token，从生成机制的源头杜绝格式错误，确保输出严格符合约束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FEE2D264-040E-C7CD-D9CE-4E87CE3E16B1}"/>
              </a:ext>
            </a:extLst>
          </p:cNvPr>
          <p:cNvSpPr/>
          <p:nvPr/>
        </p:nvSpPr>
        <p:spPr>
          <a:xfrm>
            <a:off x="81915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</a:t>
            </a:r>
            <a:r>
              <a:rPr lang="en-US" sz="1400" b="1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最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高，机制级保障</a:t>
            </a:r>
            <a:endParaRPr lang="en-US" sz="1100" dirty="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1E9CC1-84A8-B920-C3DD-B8590AD09ED1}"/>
              </a:ext>
            </a:extLst>
          </p:cNvPr>
          <p:cNvSpPr/>
          <p:nvPr/>
        </p:nvSpPr>
        <p:spPr>
          <a:xfrm>
            <a:off x="762000" y="4953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310764-1876-03EE-4DCA-12AC12A83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308600"/>
            <a:ext cx="457200" cy="457200"/>
          </a:xfrm>
          <a:prstGeom prst="rect">
            <a:avLst/>
          </a:prstGeom>
        </p:spPr>
      </p:pic>
      <p:sp>
        <p:nvSpPr>
          <p:cNvPr id="22" name="AutoShape 21">
            <a:extLst>
              <a:ext uri="{FF2B5EF4-FFF2-40B4-BE49-F238E27FC236}">
                <a16:creationId xmlns:a16="http://schemas.microsoft.com/office/drawing/2014/main" id="{AC0C5405-8B8C-FA8D-3D61-569E171F486E}"/>
              </a:ext>
            </a:extLst>
          </p:cNvPr>
          <p:cNvSpPr/>
          <p:nvPr/>
        </p:nvSpPr>
        <p:spPr>
          <a:xfrm>
            <a:off x="1651000" y="51816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关键联系：Function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Calling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的底层基石</a:t>
            </a:r>
            <a:endParaRPr lang="en-US" sz="1100" dirty="0"/>
          </a:p>
          <a:p>
            <a:pPr>
              <a:lnSpc>
                <a:spcPct val="116666"/>
              </a:lnSpc>
            </a:pP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Function Calling 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机制在底层往往正是复用了第三种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“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受限解码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”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技术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——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模型被训练成识别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“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此刻应该调用工具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”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的时机，并在生成工具参数时，其解码过程被参数的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 JSON Schema 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约束，这也解释了为什么工具调用的参数合法性通常显著高于普通的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“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提示词要求输出</a:t>
            </a:r>
            <a:r>
              <a:rPr lang="en-US" altLang="zh-CN" dirty="0">
                <a:solidFill>
                  <a:srgbClr val="555555"/>
                </a:solidFill>
                <a:latin typeface="Noto Sans SC"/>
                <a:ea typeface="Noto Sans SC"/>
              </a:rPr>
              <a:t> JSON”</a:t>
            </a:r>
            <a:r>
              <a:rPr lang="zh-CN" altLang="zh-CN" dirty="0">
                <a:solidFill>
                  <a:srgbClr val="555555"/>
                </a:solidFill>
                <a:latin typeface="Noto Sans SC"/>
                <a:ea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endParaRPr lang="en-US" sz="14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57557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54CDC-9DC0-9B4B-EDC0-3DD37052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Function Calling / Tool Use </a:t>
            </a:r>
            <a:r>
              <a:rPr lang="zh-CN" altLang="en-US"/>
              <a:t>核心概念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2473BF4-F570-C3B8-A847-343FEE136AFE}"/>
              </a:ext>
            </a:extLst>
          </p:cNvPr>
          <p:cNvSpPr/>
          <p:nvPr/>
        </p:nvSpPr>
        <p:spPr>
          <a:xfrm>
            <a:off x="762000" y="1777999"/>
            <a:ext cx="10758486" cy="1651001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16BC33B-FFB4-5C0C-AF46-4277B9BBDA4E}"/>
              </a:ext>
            </a:extLst>
          </p:cNvPr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zh-CN" altLang="en-US" sz="1800" b="1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endParaRPr lang="en-US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B9D324-D414-BBB5-D0F0-27923F65C7DF}"/>
              </a:ext>
            </a:extLst>
          </p:cNvPr>
          <p:cNvSpPr txBox="1"/>
          <p:nvPr/>
        </p:nvSpPr>
        <p:spPr>
          <a:xfrm>
            <a:off x="1016000" y="2320836"/>
            <a:ext cx="10346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/>
              <a:t>虽然大模型能解决很多问题，但大模型</a:t>
            </a:r>
            <a:r>
              <a:rPr lang="en-US" altLang="zh-CN" sz="1800" dirty="0"/>
              <a:t> </a:t>
            </a:r>
            <a:r>
              <a:rPr lang="zh-CN" altLang="zh-CN" sz="1800" dirty="0"/>
              <a:t>并不能知晓一切。比如，大模型不知道最新消息。另外，大模型没有</a:t>
            </a:r>
            <a:r>
              <a:rPr lang="en-US" altLang="zh-CN" sz="1800" dirty="0"/>
              <a:t>“</a:t>
            </a:r>
            <a:r>
              <a:rPr lang="zh-CN" altLang="zh-CN" sz="1800" dirty="0"/>
              <a:t>真逻辑</a:t>
            </a:r>
            <a:r>
              <a:rPr lang="en-US" altLang="zh-CN" sz="1800" dirty="0"/>
              <a:t>”</a:t>
            </a:r>
            <a:r>
              <a:rPr lang="zh-CN" altLang="zh-CN" sz="1800" dirty="0"/>
              <a:t>。它表现出的逻辑、推理，是训练文本的统计规律，而不是真正的逻辑，所以有幻觉。所以大模型需要连接真实世界，并对接真逻辑系统。这就需要用到</a:t>
            </a:r>
            <a:r>
              <a:rPr lang="en-US" altLang="zh-CN" sz="1800" dirty="0"/>
              <a:t>“</a:t>
            </a:r>
            <a:r>
              <a:rPr lang="zh-CN" altLang="zh-CN" sz="1800" dirty="0"/>
              <a:t>函数调用</a:t>
            </a:r>
            <a:r>
              <a:rPr lang="en-US" altLang="zh-CN" sz="1800" dirty="0"/>
              <a:t>”</a:t>
            </a:r>
            <a:r>
              <a:rPr lang="zh-CN" altLang="zh-CN" sz="1800" dirty="0"/>
              <a:t>。</a:t>
            </a:r>
            <a:endParaRPr lang="zh-CN" altLang="en-US" sz="24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36D24CBE-5995-BBFC-4415-37FF71E7F139}"/>
              </a:ext>
            </a:extLst>
          </p:cNvPr>
          <p:cNvSpPr/>
          <p:nvPr/>
        </p:nvSpPr>
        <p:spPr>
          <a:xfrm>
            <a:off x="762000" y="4064002"/>
            <a:ext cx="10758486" cy="1895504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BB636BB8-0F4F-BCB2-1CCE-85AED5718B50}"/>
              </a:ext>
            </a:extLst>
          </p:cNvPr>
          <p:cNvSpPr/>
          <p:nvPr/>
        </p:nvSpPr>
        <p:spPr>
          <a:xfrm>
            <a:off x="1016000" y="4254503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核心本质</a:t>
            </a:r>
            <a:endParaRPr lang="en-US" sz="11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E219E96-6BEA-2B58-506A-F10E79C572B9}"/>
              </a:ext>
            </a:extLst>
          </p:cNvPr>
          <p:cNvSpPr txBox="1"/>
          <p:nvPr/>
        </p:nvSpPr>
        <p:spPr>
          <a:xfrm>
            <a:off x="1016000" y="4606839"/>
            <a:ext cx="10346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40E0D0"/>
                </a:solidFill>
                <a:latin typeface="Noto Sans SC"/>
                <a:ea typeface="Noto Sans SC"/>
              </a:rPr>
              <a:t>Function Calling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（不同厂商命名略有差异，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OpenAI/DeepSeek 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称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 function calling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Anthropic </a:t>
            </a:r>
            <a:r>
              <a:rPr lang="zh-CN" altLang="zh-CN" sz="1800" b="1" dirty="0">
                <a:solidFill>
                  <a:schemeClr val="tx1"/>
                </a:solidFill>
                <a:latin typeface="Noto Sans SC"/>
                <a:ea typeface="Noto Sans SC"/>
              </a:rPr>
              <a:t>称</a:t>
            </a:r>
            <a:r>
              <a:rPr lang="en-US" altLang="zh-CN" sz="1800" b="1" dirty="0">
                <a:solidFill>
                  <a:srgbClr val="40E0D0"/>
                </a:solidFill>
                <a:latin typeface="Noto Sans SC"/>
                <a:ea typeface="Noto Sans SC"/>
              </a:rPr>
              <a:t> tool use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，语义等价）的本质是：</a:t>
            </a:r>
            <a:r>
              <a:rPr lang="zh-CN" altLang="zh-CN" sz="1800" dirty="0">
                <a:ea typeface="微软雅黑" panose="020B0503020204020204" pitchFamily="34" charset="-122"/>
              </a:rPr>
              <a:t>模型判断当前任务需要借助外部能力，使</a:t>
            </a:r>
            <a:r>
              <a:rPr lang="en-US" altLang="zh-CN" sz="1800" dirty="0">
                <a:ea typeface="微软雅黑" panose="020B0503020204020204" pitchFamily="34" charset="-122"/>
              </a:rPr>
              <a:t>LLM</a:t>
            </a:r>
            <a:r>
              <a:rPr lang="zh-CN" altLang="zh-CN" sz="1800" dirty="0">
                <a:ea typeface="微软雅黑" panose="020B0503020204020204" pitchFamily="34" charset="-122"/>
              </a:rPr>
              <a:t>具有</a:t>
            </a:r>
            <a:r>
              <a:rPr lang="zh-CN" altLang="zh-CN" sz="1800" b="1" dirty="0">
                <a:ea typeface="微软雅黑" panose="020B0503020204020204" pitchFamily="34" charset="-122"/>
              </a:rPr>
              <a:t>与外部</a:t>
            </a:r>
            <a:r>
              <a:rPr lang="en-US" altLang="zh-CN" sz="1800" b="1" dirty="0">
                <a:ea typeface="微软雅黑" panose="020B0503020204020204" pitchFamily="34" charset="-122"/>
              </a:rPr>
              <a:t>API</a:t>
            </a:r>
            <a:r>
              <a:rPr lang="zh-CN" altLang="zh-CN" sz="1800" b="1" dirty="0">
                <a:ea typeface="微软雅黑" panose="020B0503020204020204" pitchFamily="34" charset="-122"/>
              </a:rPr>
              <a:t>交互的能力</a:t>
            </a:r>
            <a:r>
              <a:rPr lang="zh-CN" altLang="en-US" sz="1800" dirty="0"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ea typeface="微软雅黑" panose="020B0503020204020204" pitchFamily="34" charset="-122"/>
              </a:rPr>
              <a:t>并以结构化格式</a:t>
            </a:r>
            <a:r>
              <a:rPr lang="en-US" altLang="zh-CN" sz="1800" dirty="0"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ea typeface="微软雅黑" panose="020B0503020204020204" pitchFamily="34" charset="-122"/>
              </a:rPr>
              <a:t>提出</a:t>
            </a:r>
            <a:r>
              <a:rPr lang="en-US" altLang="zh-CN" sz="1800" dirty="0"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ea typeface="微软雅黑" panose="020B0503020204020204" pitchFamily="34" charset="-122"/>
              </a:rPr>
              <a:t>一次调用</a:t>
            </a:r>
            <a:r>
              <a:rPr lang="zh-CN" altLang="zh-CN" sz="18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请求。完整流程分为五步：</a:t>
            </a:r>
            <a:r>
              <a:rPr lang="zh-CN" altLang="en-US" sz="1800" dirty="0">
                <a:ea typeface="微软雅黑" panose="020B0503020204020204" pitchFamily="34" charset="-122"/>
                <a:cs typeface="微软雅黑" panose="020B0503020204020204" pitchFamily="34" charset="-122"/>
              </a:rPr>
              <a:t>定义工具 → 模型请求调用 → 程序执行 → 结果回传 → 模型续答。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106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28D97-DC0E-8516-E3B0-EF826D09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Function Calling </a:t>
            </a:r>
            <a:r>
              <a:rPr lang="zh-CN" altLang="en-US"/>
              <a:t>的完整五步流程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1720083-3947-C419-47E4-A24CA890B3D1}"/>
              </a:ext>
            </a:extLst>
          </p:cNvPr>
          <p:cNvSpPr/>
          <p:nvPr/>
        </p:nvSpPr>
        <p:spPr>
          <a:xfrm>
            <a:off x="3937000" y="1905000"/>
            <a:ext cx="7747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5A9E5C71-1506-0E73-5FF1-663A791FEB8B}"/>
              </a:ext>
            </a:extLst>
          </p:cNvPr>
          <p:cNvSpPr/>
          <p:nvPr/>
        </p:nvSpPr>
        <p:spPr>
          <a:xfrm>
            <a:off x="4127500" y="2159000"/>
            <a:ext cx="330200" cy="330200"/>
          </a:xfrm>
          <a:prstGeom prst="ellipse">
            <a:avLst/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21EB5AEA-1754-B1F8-2CCB-032F07E46F1D}"/>
              </a:ext>
            </a:extLst>
          </p:cNvPr>
          <p:cNvSpPr/>
          <p:nvPr/>
        </p:nvSpPr>
        <p:spPr>
          <a:xfrm>
            <a:off x="4127500" y="21590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3A4D2A40-8D0C-9A94-1803-92206978C353}"/>
              </a:ext>
            </a:extLst>
          </p:cNvPr>
          <p:cNvSpPr/>
          <p:nvPr/>
        </p:nvSpPr>
        <p:spPr>
          <a:xfrm>
            <a:off x="4635500" y="2006600"/>
            <a:ext cx="685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定义工具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(Define)：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开发者以JSON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Schema规范描述工具的名称、用途与入参，随用户请求一同发送给模型，明确模型可调用的能力边界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6905067F-4F61-84F1-39B9-4B401A5674CA}"/>
              </a:ext>
            </a:extLst>
          </p:cNvPr>
          <p:cNvSpPr/>
          <p:nvPr/>
        </p:nvSpPr>
        <p:spPr>
          <a:xfrm>
            <a:off x="3937000" y="2819400"/>
            <a:ext cx="7747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9EECE0E9-B1C3-A1B6-19F8-98B2535DBDC3}"/>
              </a:ext>
            </a:extLst>
          </p:cNvPr>
          <p:cNvSpPr/>
          <p:nvPr/>
        </p:nvSpPr>
        <p:spPr>
          <a:xfrm>
            <a:off x="4127500" y="3073400"/>
            <a:ext cx="330200" cy="330200"/>
          </a:xfrm>
          <a:prstGeom prst="ellipse">
            <a:avLst/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A7C914D1-179A-D946-E864-0A96D8293CE9}"/>
              </a:ext>
            </a:extLst>
          </p:cNvPr>
          <p:cNvSpPr/>
          <p:nvPr/>
        </p:nvSpPr>
        <p:spPr>
          <a:xfrm>
            <a:off x="4127500" y="30734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8FC29F3E-65CC-9D37-3180-45980BEC2ED1}"/>
              </a:ext>
            </a:extLst>
          </p:cNvPr>
          <p:cNvSpPr/>
          <p:nvPr/>
        </p:nvSpPr>
        <p:spPr>
          <a:xfrm>
            <a:off x="4635500" y="2921000"/>
            <a:ext cx="685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模型请求 (Request)：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模型分析用户意图后，返回包含目标工具名和参数的`tool_calls`结构，此时响应的`finish_reason`会标记为`tool_calls`。</a:t>
            </a:r>
            <a:endParaRPr lang="en-US" sz="110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3AA1FCEB-C125-875E-31CF-BA28ABB5FB77}"/>
              </a:ext>
            </a:extLst>
          </p:cNvPr>
          <p:cNvSpPr/>
          <p:nvPr/>
        </p:nvSpPr>
        <p:spPr>
          <a:xfrm>
            <a:off x="3937000" y="3733800"/>
            <a:ext cx="7747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7A61FCB-2498-7BB3-A954-E8AE74815AEB}"/>
              </a:ext>
            </a:extLst>
          </p:cNvPr>
          <p:cNvSpPr/>
          <p:nvPr/>
        </p:nvSpPr>
        <p:spPr>
          <a:xfrm>
            <a:off x="4127500" y="3987800"/>
            <a:ext cx="330200" cy="330200"/>
          </a:xfrm>
          <a:prstGeom prst="ellipse">
            <a:avLst/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AC5A31FF-6D5F-36C1-15B7-D8E003A8F08A}"/>
              </a:ext>
            </a:extLst>
          </p:cNvPr>
          <p:cNvSpPr/>
          <p:nvPr/>
        </p:nvSpPr>
        <p:spPr>
          <a:xfrm>
            <a:off x="4127500" y="39878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5A5D8FF-8A76-9CB6-6C05-CD8A150C6B16}"/>
              </a:ext>
            </a:extLst>
          </p:cNvPr>
          <p:cNvSpPr/>
          <p:nvPr/>
        </p:nvSpPr>
        <p:spPr>
          <a:xfrm>
            <a:off x="4635500" y="3835400"/>
            <a:ext cx="685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程序执行 (Execute)：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后端代码解析模型返回的指令，真实触发对应函数、数据库查询或第三方API接口，获取外部信息或执行计算。</a:t>
            </a:r>
            <a:endParaRPr lang="en-US" sz="1100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9DF92E81-F9E0-49C6-5226-B63D5B69D147}"/>
              </a:ext>
            </a:extLst>
          </p:cNvPr>
          <p:cNvSpPr/>
          <p:nvPr/>
        </p:nvSpPr>
        <p:spPr>
          <a:xfrm>
            <a:off x="3937000" y="4648200"/>
            <a:ext cx="7747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98CF100B-B0BC-DA7E-25BB-04A696C213BB}"/>
              </a:ext>
            </a:extLst>
          </p:cNvPr>
          <p:cNvSpPr/>
          <p:nvPr/>
        </p:nvSpPr>
        <p:spPr>
          <a:xfrm>
            <a:off x="4127500" y="4902200"/>
            <a:ext cx="330200" cy="330200"/>
          </a:xfrm>
          <a:prstGeom prst="ellipse">
            <a:avLst/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893B530C-67BD-A9DE-AEFB-FE934A0693A4}"/>
              </a:ext>
            </a:extLst>
          </p:cNvPr>
          <p:cNvSpPr/>
          <p:nvPr/>
        </p:nvSpPr>
        <p:spPr>
          <a:xfrm>
            <a:off x="4127500" y="49022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A93D32BC-446B-5378-6A9E-9884D218BFDF}"/>
              </a:ext>
            </a:extLst>
          </p:cNvPr>
          <p:cNvSpPr/>
          <p:nvPr/>
        </p:nvSpPr>
        <p:spPr>
          <a:xfrm>
            <a:off x="4635500" y="4749800"/>
            <a:ext cx="685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结果回传 (Return)：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将工具执行的结构化结果封装为`tool`角色的消息，携带完整的对话历史上下文，再次发送请求给大模型。</a:t>
            </a:r>
            <a:endParaRPr lang="en-US" sz="1100"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0E8A5351-986C-D07A-0A48-30B562D70AAF}"/>
              </a:ext>
            </a:extLst>
          </p:cNvPr>
          <p:cNvSpPr/>
          <p:nvPr/>
        </p:nvSpPr>
        <p:spPr>
          <a:xfrm>
            <a:off x="3937000" y="5562600"/>
            <a:ext cx="7747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5C18D73E-2444-1182-DE36-5AC1D9DE6C34}"/>
              </a:ext>
            </a:extLst>
          </p:cNvPr>
          <p:cNvSpPr/>
          <p:nvPr/>
        </p:nvSpPr>
        <p:spPr>
          <a:xfrm>
            <a:off x="4127500" y="5816600"/>
            <a:ext cx="330200" cy="330200"/>
          </a:xfrm>
          <a:prstGeom prst="ellipse">
            <a:avLst/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4238A5CD-DEED-2696-932B-AA2BC1E76809}"/>
              </a:ext>
            </a:extLst>
          </p:cNvPr>
          <p:cNvSpPr/>
          <p:nvPr/>
        </p:nvSpPr>
        <p:spPr>
          <a:xfrm>
            <a:off x="4127500" y="58166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55BAFAAD-C163-9A77-0F7E-D0A1619769F4}"/>
              </a:ext>
            </a:extLst>
          </p:cNvPr>
          <p:cNvSpPr/>
          <p:nvPr/>
        </p:nvSpPr>
        <p:spPr>
          <a:xfrm>
            <a:off x="4635500" y="5664200"/>
            <a:ext cx="685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模型续答 (Answer)：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模型基于工具返回的真实数据和历史对话，生成符合语境、准确且自然的最终回答，完成整个交互闭环。</a:t>
            </a:r>
            <a:endParaRPr lang="en-US" sz="110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2637144-0334-D883-BA5E-20E8C977BC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30" y="1116557"/>
            <a:ext cx="3536420" cy="5437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49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2F9F0-96FA-99BB-F5F3-757E2316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工具</a:t>
            </a:r>
            <a:r>
              <a:rPr lang="en-US" altLang="zh-CN"/>
              <a:t>Schema</a:t>
            </a:r>
            <a:r>
              <a:rPr lang="zh-CN" altLang="en-US"/>
              <a:t>的设计原则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C24E36-1FA9-88E6-0386-89E6AEF1FE82}"/>
              </a:ext>
            </a:extLst>
          </p:cNvPr>
          <p:cNvSpPr txBox="1"/>
          <p:nvPr/>
        </p:nvSpPr>
        <p:spPr>
          <a:xfrm>
            <a:off x="761999" y="1241256"/>
            <a:ext cx="9105569" cy="371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6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schema </a:t>
            </a:r>
            <a:r>
              <a:rPr lang="zh-CN" altLang="zh-CN" sz="16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的设计直接决定了模型能否正确选工具、填参数。一个工具定义包含三个核心部分：</a:t>
            </a:r>
            <a:endParaRPr lang="zh-CN" altLang="zh-CN" sz="1200" b="1" dirty="0"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5122BEF8-3C21-2FBF-8183-7DE803220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856050"/>
              </p:ext>
            </p:extLst>
          </p:nvPr>
        </p:nvGraphicFramePr>
        <p:xfrm>
          <a:off x="669924" y="2003727"/>
          <a:ext cx="10850562" cy="221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194">
                  <a:extLst>
                    <a:ext uri="{9D8B030D-6E8A-4147-A177-3AD203B41FA5}">
                      <a16:colId xmlns:a16="http://schemas.microsoft.com/office/drawing/2014/main" val="2452337243"/>
                    </a:ext>
                  </a:extLst>
                </a:gridCol>
                <a:gridCol w="5322553">
                  <a:extLst>
                    <a:ext uri="{9D8B030D-6E8A-4147-A177-3AD203B41FA5}">
                      <a16:colId xmlns:a16="http://schemas.microsoft.com/office/drawing/2014/main" val="4190622057"/>
                    </a:ext>
                  </a:extLst>
                </a:gridCol>
                <a:gridCol w="4257815">
                  <a:extLst>
                    <a:ext uri="{9D8B030D-6E8A-4147-A177-3AD203B41FA5}">
                      <a16:colId xmlns:a16="http://schemas.microsoft.com/office/drawing/2014/main" val="18824156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要素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设计原则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反例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 → 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改进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0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name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</a:rPr>
                        <a:t>（名称）</a:t>
                      </a:r>
                      <a:endParaRPr lang="zh-CN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使用动词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+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名词的清晰命名，避免与其他工具语义重叠。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check →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改为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 query_inventory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effectLst/>
                        </a:rPr>
                        <a:t>（明确动作对象）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4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r>
                        <a:rPr lang="zh-CN" sz="1400" b="1" dirty="0">
                          <a:solidFill>
                            <a:srgbClr val="000000"/>
                          </a:solidFill>
                          <a:effectLst/>
                        </a:rPr>
                        <a:t>（描述）</a:t>
                      </a:r>
                      <a:endParaRPr lang="zh-CN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说明工具的用途、适用边界、不适用场景，必要时给出何时不该调用的反例。这是模型做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路由决策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的主要依据。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查库存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 →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改为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根据商品品类和门店编号查询实时库存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……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仅用于零售门店场景，不用于线上仓库查询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06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parameters</a:t>
                      </a:r>
                      <a:r>
                        <a:rPr lang="zh-CN" sz="1400" b="1" dirty="0">
                          <a:solidFill>
                            <a:srgbClr val="000000"/>
                          </a:solidFill>
                          <a:effectLst/>
                        </a:rPr>
                        <a:t>（参数）</a:t>
                      </a:r>
                      <a:endParaRPr lang="zh-CN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每个字段都应有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description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，明确类型、取值范围、格式约定；用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</a:rPr>
                        <a:t>enum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限制离散取值；用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required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明确必填项，减少模型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猜测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空间。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缺少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description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price 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字段，模型可能不确定单位是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还是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effectLst/>
                        </a:rPr>
                        <a:t>分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32380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96B35E11-D0DD-1E4E-EC41-92C66927F5AC}"/>
              </a:ext>
            </a:extLst>
          </p:cNvPr>
          <p:cNvSpPr txBox="1"/>
          <p:nvPr/>
        </p:nvSpPr>
        <p:spPr>
          <a:xfrm>
            <a:off x="529291" y="4307167"/>
            <a:ext cx="5566709" cy="224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.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参数描述要明确格式与范围</a:t>
            </a: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❌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差：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"date": {"type": "string", "description": "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日期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"}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✅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好：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"date": {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   "type": "string",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   "description": "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查询日期，格式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YYYY-MM-DD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，例如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2026-07-15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。不提供则默认今天。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F84D5C-DAE9-24AF-8720-0872F0874CDA}"/>
              </a:ext>
            </a:extLst>
          </p:cNvPr>
          <p:cNvSpPr txBox="1"/>
          <p:nvPr/>
        </p:nvSpPr>
        <p:spPr>
          <a:xfrm>
            <a:off x="6270929" y="4307167"/>
            <a:ext cx="713298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.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善用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enum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限制取值</a:t>
            </a:r>
          </a:p>
          <a:p>
            <a:pPr>
              <a:spcBef>
                <a:spcPts val="1000"/>
              </a:spcBef>
              <a:buNone/>
            </a:pP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如果某个参数只有几种固定选项，使用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enum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防止模型自由发挥：</a:t>
            </a: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"color": {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   "type": "string",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   "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enum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": ["red", "blue", "green", "black"],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   "description": "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商品颜色，只能是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red/blue/green/black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之一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14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721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A62D9-F66E-9F63-9421-0D7E89B2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Calling</a:t>
            </a:r>
            <a:r>
              <a:rPr lang="zh-CN" altLang="en-US" dirty="0"/>
              <a:t>：智能体</a:t>
            </a:r>
            <a:r>
              <a:rPr lang="en-US" altLang="zh-CN" dirty="0"/>
              <a:t>(Agent)</a:t>
            </a:r>
            <a:r>
              <a:rPr lang="zh-CN" altLang="en-US" dirty="0"/>
              <a:t>的基石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9538C7-7565-28C2-B565-338413CC6C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07906" y="1688538"/>
            <a:ext cx="3302000" cy="330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40E0D0">
                <a:alpha val="30000"/>
              </a:srgbClr>
            </a:outerShdw>
          </a:effectLst>
        </p:spPr>
      </p:pic>
      <p:sp>
        <p:nvSpPr>
          <p:cNvPr id="14" name="AutoShape 13">
            <a:extLst>
              <a:ext uri="{FF2B5EF4-FFF2-40B4-BE49-F238E27FC236}">
                <a16:creationId xmlns:a16="http://schemas.microsoft.com/office/drawing/2014/main" id="{DDB2D27C-C576-F529-FE9C-B861040678FB}"/>
              </a:ext>
            </a:extLst>
          </p:cNvPr>
          <p:cNvSpPr/>
          <p:nvPr/>
        </p:nvSpPr>
        <p:spPr>
          <a:xfrm>
            <a:off x="586891" y="5101007"/>
            <a:ext cx="11016628" cy="1673504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541D8D42-1041-F688-A6B1-C9147AF170A0}"/>
              </a:ext>
            </a:extLst>
          </p:cNvPr>
          <p:cNvSpPr/>
          <p:nvPr/>
        </p:nvSpPr>
        <p:spPr>
          <a:xfrm>
            <a:off x="7112000" y="5486400"/>
            <a:ext cx="381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endParaRPr lang="en-US" sz="12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7EBB44-35D0-34A1-4A76-BCBB056CDAD7}"/>
              </a:ext>
            </a:extLst>
          </p:cNvPr>
          <p:cNvSpPr txBox="1"/>
          <p:nvPr/>
        </p:nvSpPr>
        <p:spPr>
          <a:xfrm>
            <a:off x="572163" y="1344243"/>
            <a:ext cx="7991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</a:rPr>
              <a:t>Function Calling VS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 if-else </a:t>
            </a:r>
            <a:r>
              <a:rPr lang="zh-CN" altLang="zh-CN" sz="2800" b="1" dirty="0">
                <a:solidFill>
                  <a:schemeClr val="accent3">
                    <a:lumMod val="50000"/>
                  </a:schemeClr>
                </a:solidFill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 + API </a:t>
            </a:r>
            <a:r>
              <a:rPr lang="zh-CN" altLang="zh-CN" sz="2800" b="1" dirty="0">
                <a:solidFill>
                  <a:schemeClr val="accent3">
                    <a:lumMod val="50000"/>
                  </a:schemeClr>
                </a:solidFill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调用</a:t>
            </a:r>
            <a:endParaRPr lang="zh-CN" alt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F3D02E-D04C-5C2B-8A28-FD227D98A7E2}"/>
              </a:ext>
            </a:extLst>
          </p:cNvPr>
          <p:cNvSpPr txBox="1"/>
          <p:nvPr/>
        </p:nvSpPr>
        <p:spPr>
          <a:xfrm>
            <a:off x="572162" y="1963627"/>
            <a:ext cx="6599915" cy="279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区别在于决策者是人还是模型。</a:t>
            </a:r>
            <a:endParaRPr lang="zh-CN" altLang="zh-CN" sz="11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传统程序：开发者预定义所有分支，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如果用户问天气，调天气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API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；如果问订单，调查询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API……”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。遇到组合意图（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查天气然后帮我订一个下雨天的室内活动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）就无能为力。</a:t>
            </a:r>
            <a:endParaRPr lang="zh-CN" altLang="zh-CN" sz="11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Function Calling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的程序：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模型自己判断什么时候该用什么工具，按什么顺序，参数怎么填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。甚至可以一次调用多个工具，或者根据前一个工具的结果决定下一个工具。</a:t>
            </a:r>
            <a:endParaRPr lang="zh-CN" altLang="zh-CN" sz="11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这正是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智能体（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的雏形：一个能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感知环境、推理规划、使用工具、执行行动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的系统。</a:t>
            </a:r>
            <a:endParaRPr lang="en-US" altLang="zh-CN" sz="14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4B1D9F-8F4F-F0DB-1F3C-D86388EDEACB}"/>
              </a:ext>
            </a:extLst>
          </p:cNvPr>
          <p:cNvSpPr txBox="1"/>
          <p:nvPr/>
        </p:nvSpPr>
        <p:spPr>
          <a:xfrm>
            <a:off x="669924" y="5179346"/>
            <a:ext cx="10933595" cy="151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Reasoning + Acting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）范式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将智能体的行为循环形式化为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思考（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Thought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行动（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观察（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Observation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的迭代，而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Function Calling 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恰恰是这一循环在工程层面的具体实现载体：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  <a:spcAft>
                <a:spcPts val="800"/>
              </a:spcAft>
              <a:buNone/>
            </a:pP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体现为它对是否调用工具、调用哪个工具的判断；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对应工具调用请求本身；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对应工具执行结果被回传后模型读取到的新信息。没有结构化、可靠的工具调用机制，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模型自主决定何时借助外部能力、并准确传递调用意图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这件事就无法被工程化，智能体也就退化为一个只能单轮问答的聊天机器人。</a:t>
            </a:r>
            <a:endParaRPr lang="zh-CN" altLang="zh-CN" sz="1100" dirty="0">
              <a:solidFill>
                <a:schemeClr val="accent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8162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4D4D3-E9E3-E337-0BF2-DB39018F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74AD3CD-F078-CB10-7E0B-603C4001DD20}"/>
              </a:ext>
            </a:extLst>
          </p:cNvPr>
          <p:cNvSpPr/>
          <p:nvPr/>
        </p:nvSpPr>
        <p:spPr>
          <a:xfrm>
            <a:off x="762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BF8FC-397B-640D-470C-6208382F1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BBE3D724-F7DD-122B-807F-CAD3B77E3BEF}"/>
              </a:ext>
            </a:extLst>
          </p:cNvPr>
          <p:cNvSpPr/>
          <p:nvPr/>
        </p:nvSpPr>
        <p:spPr>
          <a:xfrm>
            <a:off x="1651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开放平台文档</a:t>
            </a:r>
            <a:endParaRPr lang="en-US" sz="110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852DC008-A323-545A-39ED-6F797BE10D1D}"/>
              </a:ext>
            </a:extLst>
          </p:cNvPr>
          <p:cNvSpPr/>
          <p:nvPr/>
        </p:nvSpPr>
        <p:spPr>
          <a:xfrm>
            <a:off x="1651000" y="2794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官方核心接口与能力说明，快速上手模型调用与参数配置的权威指南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链接：</a:t>
            </a:r>
            <a:r>
              <a:rPr lang="en-US" sz="1400" b="0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api-docs.deepseek.com/zh-c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api-docs.deepseek.com/</a:t>
            </a:r>
            <a:r>
              <a:rPr lang="en-US" sz="1400" b="0" i="0" u="none" strike="noStrike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api-docs.deepseek.com/zh-c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zh-cn</a:t>
            </a:r>
            <a:endParaRPr lang="en-US" sz="1100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D1CC9FC2-B608-4D57-A55D-781D55742D43}"/>
              </a:ext>
            </a:extLst>
          </p:cNvPr>
          <p:cNvSpPr/>
          <p:nvPr/>
        </p:nvSpPr>
        <p:spPr>
          <a:xfrm>
            <a:off x="6223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623923-0511-2E40-6F16-FCE28A40F8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86000"/>
            <a:ext cx="457200" cy="4572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3A0B7128-E6E5-E540-26F9-549B4FE1062D}"/>
              </a:ext>
            </a:extLst>
          </p:cNvPr>
          <p:cNvSpPr/>
          <p:nvPr/>
        </p:nvSpPr>
        <p:spPr>
          <a:xfrm>
            <a:off x="7112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Function Calling 指南</a:t>
            </a:r>
            <a:endParaRPr lang="en-US" sz="1100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814ED2B2-3EA4-1793-01DD-4BDD71DF5A9B}"/>
              </a:ext>
            </a:extLst>
          </p:cNvPr>
          <p:cNvSpPr/>
          <p:nvPr/>
        </p:nvSpPr>
        <p:spPr>
          <a:xfrm>
            <a:off x="7112000" y="2794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深入解析函数调用机制，掌握模型与外部工具交互的关键开发技巧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链接：</a:t>
            </a:r>
            <a:r>
              <a:rPr lang="en-US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api-docs.deepseek.com/</a:t>
            </a:r>
            <a:r>
              <a:rPr lang="en-US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zh-cn</a:t>
            </a:r>
            <a:r>
              <a:rPr lang="en-US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/guides/</a:t>
            </a:r>
            <a:r>
              <a:rPr lang="en-US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tool_calls</a:t>
            </a:r>
            <a:r>
              <a:rPr lang="en-US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endParaRPr lang="en-US" sz="1100" dirty="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9A68B8F5-0197-ABEC-D5A2-824081E3D5E4}"/>
              </a:ext>
            </a:extLst>
          </p:cNvPr>
          <p:cNvSpPr/>
          <p:nvPr/>
        </p:nvSpPr>
        <p:spPr>
          <a:xfrm>
            <a:off x="762000" y="4127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178040-058E-FEDE-4236-15B2C29F25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5" name="AutoShape 14">
            <a:extLst>
              <a:ext uri="{FF2B5EF4-FFF2-40B4-BE49-F238E27FC236}">
                <a16:creationId xmlns:a16="http://schemas.microsoft.com/office/drawing/2014/main" id="{4E66D2FF-DF28-7285-A1F8-20C22A04BE46}"/>
              </a:ext>
            </a:extLst>
          </p:cNvPr>
          <p:cNvSpPr/>
          <p:nvPr/>
        </p:nvSpPr>
        <p:spPr>
          <a:xfrm>
            <a:off x="1651000" y="438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智谱开放平台文档</a:t>
            </a:r>
            <a:endParaRPr lang="en-US" sz="1100"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6825FBBC-919E-C2C8-14EA-1C01CBF37EAE}"/>
              </a:ext>
            </a:extLst>
          </p:cNvPr>
          <p:cNvSpPr/>
          <p:nvPr/>
        </p:nvSpPr>
        <p:spPr>
          <a:xfrm>
            <a:off x="1651000" y="4889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全面了解GLM系列模型的接入方式、功能特性及开发最佳实践。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链接：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docs.bigmodel.c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docs.bigmodel.cn</a:t>
            </a:r>
            <a:endParaRPr lang="en-US" sz="110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B2CE66BD-896A-A97C-10B0-134EC14C2C26}"/>
              </a:ext>
            </a:extLst>
          </p:cNvPr>
          <p:cNvSpPr/>
          <p:nvPr/>
        </p:nvSpPr>
        <p:spPr>
          <a:xfrm>
            <a:off x="6223000" y="4127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D2E7D6-08FF-5C64-520E-0D19F380D5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19" name="AutoShape 18">
            <a:extLst>
              <a:ext uri="{FF2B5EF4-FFF2-40B4-BE49-F238E27FC236}">
                <a16:creationId xmlns:a16="http://schemas.microsoft.com/office/drawing/2014/main" id="{B65C0A0E-2B23-53D6-51FB-18B428DB7D37}"/>
              </a:ext>
            </a:extLst>
          </p:cNvPr>
          <p:cNvSpPr/>
          <p:nvPr/>
        </p:nvSpPr>
        <p:spPr>
          <a:xfrm>
            <a:off x="7112000" y="438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Anthropic Tool Use 官方文档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843B4335-861F-E911-B8BB-29654A52122F}"/>
              </a:ext>
            </a:extLst>
          </p:cNvPr>
          <p:cNvSpPr/>
          <p:nvPr/>
        </p:nvSpPr>
        <p:spPr>
          <a:xfrm>
            <a:off x="7112000" y="4889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探索Claude智能体如何利用外部工具增强能力，构建更强大的应用。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链接：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  <a:hlinkClick r:id="rId13" tooltip="https://docs.claude.com/en/docs/agents-and-tools/tool-use/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docs.claude.com/agents-and-tools/tool-use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45787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B1DEC-D683-6125-8F79-C568FDAB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Q&amp;A</a:t>
            </a:r>
            <a:endParaRPr lang="zh-CN" altLang="en-US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5CFC5801-1041-B545-9493-EA02EA48F58F}"/>
              </a:ext>
            </a:extLst>
          </p:cNvPr>
          <p:cNvSpPr/>
          <p:nvPr/>
        </p:nvSpPr>
        <p:spPr>
          <a:xfrm>
            <a:off x="-635000" y="-635000"/>
            <a:ext cx="1778000" cy="1778000"/>
          </a:xfrm>
          <a:prstGeom prst="ellipse">
            <a:avLst/>
          </a:prstGeom>
          <a:solidFill>
            <a:srgbClr val="40E0D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5C5D88C-62A5-3888-8D89-B66A6A893AA4}"/>
              </a:ext>
            </a:extLst>
          </p:cNvPr>
          <p:cNvSpPr/>
          <p:nvPr/>
        </p:nvSpPr>
        <p:spPr>
          <a:xfrm>
            <a:off x="10414000" y="5080000"/>
            <a:ext cx="2540000" cy="2540000"/>
          </a:xfrm>
          <a:prstGeom prst="ellipse">
            <a:avLst/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887EE-9CF2-1277-891F-00D7EF28D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3810000"/>
            <a:ext cx="609600" cy="6096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4661E397-B24E-5EA7-7001-14DBBFBA6320}"/>
              </a:ext>
            </a:extLst>
          </p:cNvPr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chemeClr val="accent5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441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C553EE637F17BA8D090A9FCD549D0A04551D1C918406100AA39DFBF9296AECF2" val="[{&quot;GradientColorId&quot;:&quot;&quot;,&quot;IsFree&quot;:true,&quot;IsGradient&quot;:false,&quot;ImagePath&quot;:&quot;&quot;,&quot;GradientColor&quot;:null,&quot;SimpleColor&quot;:&quot;#548235&quot;},{&quot;GradientColorId&quot;:&quot;&quot;,&quot;IsFree&quot;:true,&quot;IsGradient&quot;:false,&quot;ImagePath&quot;:&quot;&quot;,&quot;GradientColor&quot;:null,&quot;SimpleColor&quot;:&quot;#85C2BC&quot;},{&quot;GradientColorId&quot;:&quot;&quot;,&quot;IsFree&quot;:true,&quot;IsGradient&quot;:false,&quot;ImagePath&quot;:&quot;&quot;,&quot;GradientColor&quot;:null,&quot;SimpleColor&quot;:&quot;#F1F3F4&quot;},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E1E9F5&quot;},{&quot;GradientColorId&quot;:&quot;&quot;,&quot;IsFree&quot;:true,&quot;IsGradient&quot;:false,&quot;ImagePath&quot;:&quot;&quot;,&quot;GradientColor&quot;:null,&quot;SimpleColor&quot;:&quot;#2F5597&quot;},{&quot;GradientColorId&quot;:&quot;&quot;,&quot;IsFree&quot;:true,&quot;IsGradient&quot;:false,&quot;ImagePath&quot;:&quot;&quot;,&quot;GradientColor&quot;:null,&quot;SimpleColor&quot;:&quot;#FF0000&quot;}]"/>
</p:tagLst>
</file>

<file path=ppt/theme/theme1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PLUS-V2-a18adb86-5929-4bf5-a1c6-bcf101f86030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a18adb86-5929-4bf5-a1c6-bcf101f86030" id="{2FA2FF76-CE7C-4CBA-BEC9-EEA3490F0ABE}" vid="{85CAE5FE-CDEE-481D-A236-C1B0EC2F6FF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3463</Words>
  <Application>Microsoft Office PowerPoint</Application>
  <PresentationFormat>宽屏</PresentationFormat>
  <Paragraphs>317</Paragraphs>
  <Slides>20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Noto Sans SC</vt:lpstr>
      <vt:lpstr>微软雅黑</vt:lpstr>
      <vt:lpstr>Arial</vt:lpstr>
      <vt:lpstr>Consolas</vt:lpstr>
      <vt:lpstr>Roboto Mono</vt:lpstr>
      <vt:lpstr>Segoe UI</vt:lpstr>
      <vt:lpstr>Segoe UI Emoji</vt:lpstr>
      <vt:lpstr>Symbol</vt:lpstr>
      <vt:lpstr>Times New Roman</vt:lpstr>
      <vt:lpstr>Wingdings</vt:lpstr>
      <vt:lpstr>1_默认主题</vt:lpstr>
      <vt:lpstr>OfficePLUS-V2-a18adb86-5929-4bf5-a1c6-bcf101f86030</vt:lpstr>
      <vt:lpstr>模块二：API调用与上下文工程</vt:lpstr>
      <vt:lpstr>第一部分</vt:lpstr>
      <vt:lpstr>API调用的两种方式</vt:lpstr>
      <vt:lpstr>一次API调用的：请求体 (Request)</vt:lpstr>
      <vt:lpstr>一次API调用的：请求体 (Request)</vt:lpstr>
      <vt:lpstr>一次API调用的：请求与响应示例</vt:lpstr>
      <vt:lpstr>API的“无状态性”与多轮对话实现</vt:lpstr>
      <vt:lpstr>核心参数详解</vt:lpstr>
      <vt:lpstr>深入探讨：temperature = 0 是否完全确定？</vt:lpstr>
      <vt:lpstr>流式输出 (Streaming)</vt:lpstr>
      <vt:lpstr>流式输出与非流式输出技术实现差异</vt:lpstr>
      <vt:lpstr>第二部分</vt:lpstr>
      <vt:lpstr>为什么应用开发需要结构化输出？</vt:lpstr>
      <vt:lpstr>保证输出合法JSON的三种工程手段</vt:lpstr>
      <vt:lpstr>Function Calling / Tool Use 核心概念</vt:lpstr>
      <vt:lpstr>Function Calling 的完整五步流程</vt:lpstr>
      <vt:lpstr>工具Schema的设计原则</vt:lpstr>
      <vt:lpstr>Function Calling：智能体(Agent)的基石</vt:lpstr>
      <vt:lpstr>参考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糕雪</cp:lastModifiedBy>
  <cp:revision>5</cp:revision>
  <dcterms:modified xsi:type="dcterms:W3CDTF">2026-07-14T12:13:27Z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{"Label":"1","ContentProducer":"001191110102MACQD9K64010000","ProduceID":"7662301259290791142","ReservedCode1":"","ContentPropagator":"","PropagateID":"","ReservedCode2":""}</vt:lpwstr>
  </property>
</Properties>
</file>