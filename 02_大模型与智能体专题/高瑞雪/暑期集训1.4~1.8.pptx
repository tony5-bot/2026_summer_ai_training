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7" r:id="rId18"/>
    <p:sldId id="278" r:id="rId19"/>
    <p:sldId id="279" r:id="rId20"/>
    <p:sldId id="280" r:id="rId21"/>
    <p:sldId id="284" r:id="rId22"/>
    <p:sldId id="285" r:id="rId23"/>
    <p:sldId id="286" r:id="rId24"/>
    <p:sldId id="287" r:id="rId25"/>
    <p:sldId id="276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3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6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什么是推理模型？简单说，就是让模型在回答问题前，先“思考”一下，把思考过程写出来。这个过程的本质是“测试时计算”，也就是说，我们在使用模型的时候，通过消耗更多的计算资源——比如更长的等待时间和更多的Token——来换取更高的答案正确率。这开辟了一条新的性能扩展路径，与传统的“训练时Scaling”形成互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推理模型的优势主要来自三个方面：首先，它依赖的RLVR训练可以大规模自动化；其次，长的思考链条允许模型自我纠错；最后，它相当于在解空间中进行了更充分的搜索。但它也有适用边界，非常适合数学、代码这类有明确答案的任务，但对于写诗这类主观创作，收益就很小。同时，我们也要警惕，模型展示的思考过程不一定是它真实的思考路径，可能只是“编”出来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585116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11" Type="http://schemas.openxmlformats.org/officeDocument/2006/relationships/image" Target="../media/image21.svg"/><Relationship Id="rId5" Type="http://schemas.openxmlformats.org/officeDocument/2006/relationships/image" Target="../media/image17.sv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6.jpe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10" Type="http://schemas.openxmlformats.org/officeDocument/2006/relationships/image" Target="../media/image28.jpe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6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31.svg"/><Relationship Id="rId4" Type="http://schemas.openxmlformats.org/officeDocument/2006/relationships/image" Target="../media/image29.jpe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svg"/><Relationship Id="rId3" Type="http://schemas.openxmlformats.org/officeDocument/2006/relationships/image" Target="../media/image6.jpeg"/><Relationship Id="rId7" Type="http://schemas.openxmlformats.org/officeDocument/2006/relationships/image" Target="../media/image35.sv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11" Type="http://schemas.openxmlformats.org/officeDocument/2006/relationships/image" Target="../media/image39.svg"/><Relationship Id="rId5" Type="http://schemas.openxmlformats.org/officeDocument/2006/relationships/image" Target="../media/image12.svg"/><Relationship Id="rId15" Type="http://schemas.openxmlformats.org/officeDocument/2006/relationships/image" Target="../media/image43.svg"/><Relationship Id="rId10" Type="http://schemas.openxmlformats.org/officeDocument/2006/relationships/image" Target="../media/image38.png"/><Relationship Id="rId4" Type="http://schemas.openxmlformats.org/officeDocument/2006/relationships/image" Target="../media/image11.png"/><Relationship Id="rId9" Type="http://schemas.openxmlformats.org/officeDocument/2006/relationships/image" Target="../media/image37.svg"/><Relationship Id="rId1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.jpeg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jpeg"/><Relationship Id="rId3" Type="http://schemas.openxmlformats.org/officeDocument/2006/relationships/image" Target="../media/image6.jpeg"/><Relationship Id="rId7" Type="http://schemas.openxmlformats.org/officeDocument/2006/relationships/image" Target="../media/image5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jpeg"/><Relationship Id="rId5" Type="http://schemas.openxmlformats.org/officeDocument/2006/relationships/image" Target="../media/image49.jpeg"/><Relationship Id="rId4" Type="http://schemas.openxmlformats.org/officeDocument/2006/relationships/image" Target="../media/image4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4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2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6.png"/><Relationship Id="rId7" Type="http://schemas.openxmlformats.org/officeDocument/2006/relationships/image" Target="../media/image34.png"/><Relationship Id="rId12" Type="http://schemas.openxmlformats.org/officeDocument/2006/relationships/image" Target="../media/image68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svg"/><Relationship Id="rId11" Type="http://schemas.openxmlformats.org/officeDocument/2006/relationships/image" Target="../media/image67.png"/><Relationship Id="rId5" Type="http://schemas.openxmlformats.org/officeDocument/2006/relationships/image" Target="../media/image63.png"/><Relationship Id="rId10" Type="http://schemas.openxmlformats.org/officeDocument/2006/relationships/image" Target="../media/image66.svg"/><Relationship Id="rId4" Type="http://schemas.openxmlformats.org/officeDocument/2006/relationships/image" Target="../media/image37.svg"/><Relationship Id="rId9" Type="http://schemas.openxmlformats.org/officeDocument/2006/relationships/image" Target="../media/image6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13" Type="http://schemas.openxmlformats.org/officeDocument/2006/relationships/image" Target="../media/image79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8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2.sv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0" Type="http://schemas.openxmlformats.org/officeDocument/2006/relationships/image" Target="../media/image76.svg"/><Relationship Id="rId4" Type="http://schemas.openxmlformats.org/officeDocument/2006/relationships/image" Target="../media/image70.svg"/><Relationship Id="rId9" Type="http://schemas.openxmlformats.org/officeDocument/2006/relationships/image" Target="../media/image75.png"/><Relationship Id="rId14" Type="http://schemas.openxmlformats.org/officeDocument/2006/relationships/image" Target="../media/image80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12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3.svg"/><Relationship Id="rId4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大模型后训练、推理模型与生态图谱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 spc="200">
                <a:solidFill>
                  <a:srgbClr val="CCFBF1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从理论到实践的深度解析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270000" y="5270500"/>
            <a:ext cx="9652000" cy="8890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12700" cap="flat" cmpd="sng">
            <a:solidFill>
              <a:srgbClr val="2DD4B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05000" y="5575300"/>
            <a:ext cx="279400" cy="279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349500" y="55372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</a:t>
            </a:r>
            <a:r>
              <a:rPr lang="en-US" sz="18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8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高瑞雪</a:t>
            </a:r>
            <a:endParaRPr lang="en-US" sz="1100" dirty="0"/>
          </a:p>
        </p:txBody>
      </p:sp>
      <p:cxnSp>
        <p:nvCxnSpPr>
          <p:cNvPr id="8" name="Connector 8"/>
          <p:cNvCxnSpPr/>
          <p:nvPr/>
        </p:nvCxnSpPr>
        <p:spPr>
          <a:xfrm rot="5314074">
            <a:off x="5842000" y="57087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5575300"/>
            <a:ext cx="279400" cy="279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48500" y="55372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日期：2026年7月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88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968500" y="18796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引言与核心概念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968500" y="23495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从“续写机器”到“智能助手”的蜕变，重新理解大模型的进化路径与核心价值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62000" y="32385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16000" y="3429000"/>
            <a:ext cx="88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dirty="0">
                <a:solidFill>
                  <a:srgbClr val="2DD4BF"/>
                </a:solidFill>
                <a:latin typeface="Noto Sans SC"/>
                <a:ea typeface="Noto Sans SC"/>
                <a:sym typeface="Noto Sans SC"/>
              </a:rPr>
              <a:t>1.4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1968500" y="34671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大模型后训练全流程解析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968500" y="39370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SFT、RLHF、RLVR详解，拆解模型微调与对齐的关键技术环节与目标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762000" y="4826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16000" y="5016500"/>
            <a:ext cx="88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dirty="0">
                <a:solidFill>
                  <a:srgbClr val="2DD4BF"/>
                </a:solidFill>
                <a:latin typeface="Noto Sans SC"/>
                <a:ea typeface="Noto Sans SC"/>
                <a:sym typeface="Noto Sans SC"/>
              </a:rPr>
              <a:t>1.5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1968500" y="50546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推理模型与新的Scaling维度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968500" y="55245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深入解析“测试时计算”的原理与优势，探索超越传统预训练的性能提升新范式。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1651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77000" y="1841500"/>
            <a:ext cx="88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dirty="0">
                <a:solidFill>
                  <a:srgbClr val="2DD4BF"/>
                </a:solidFill>
                <a:latin typeface="Noto Sans SC"/>
                <a:ea typeface="Noto Sans SC"/>
                <a:sym typeface="Noto Sans SC"/>
              </a:rPr>
              <a:t>1.6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7429500" y="18796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大模型生态图谱 (截至2026年年中)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429500" y="23495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国内外主要</a:t>
            </a:r>
            <a:r>
              <a:rPr lang="zh-CN" altLang="en-US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公司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定位与强项分析，全景式扫描全球模型格局与差异化竞争态势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6223000" y="32385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21" name="AutoShape 21"/>
          <p:cNvSpPr/>
          <p:nvPr/>
        </p:nvSpPr>
        <p:spPr>
          <a:xfrm>
            <a:off x="6477000" y="3429000"/>
            <a:ext cx="88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dirty="0">
                <a:solidFill>
                  <a:srgbClr val="2DD4BF"/>
                </a:solidFill>
                <a:latin typeface="Noto Sans SC"/>
                <a:ea typeface="Noto Sans SC"/>
                <a:sym typeface="Noto Sans SC"/>
              </a:rPr>
              <a:t>1.7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7429500" y="34671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zh-CN" sz="1800" b="1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提示工程系统方法</a:t>
            </a:r>
          </a:p>
        </p:txBody>
      </p:sp>
      <p:sp>
        <p:nvSpPr>
          <p:cNvPr id="23" name="AutoShape 23"/>
          <p:cNvSpPr/>
          <p:nvPr/>
        </p:nvSpPr>
        <p:spPr>
          <a:xfrm>
            <a:off x="7429500" y="39370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100" dirty="0"/>
          </a:p>
        </p:txBody>
      </p:sp>
      <p:sp>
        <p:nvSpPr>
          <p:cNvPr id="24" name="AutoShape 24"/>
          <p:cNvSpPr/>
          <p:nvPr/>
        </p:nvSpPr>
        <p:spPr>
          <a:xfrm>
            <a:off x="6223000" y="4826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477000" y="5016500"/>
            <a:ext cx="88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dirty="0">
                <a:solidFill>
                  <a:srgbClr val="2DD4BF"/>
                </a:solidFill>
                <a:latin typeface="Noto Sans SC"/>
                <a:ea typeface="Noto Sans SC"/>
                <a:sym typeface="Noto Sans SC"/>
              </a:rPr>
              <a:t>1.8</a:t>
            </a:r>
            <a:endParaRPr lang="en-US" sz="1100" dirty="0"/>
          </a:p>
        </p:txBody>
      </p:sp>
      <p:sp>
        <p:nvSpPr>
          <p:cNvPr id="26" name="AutoShape 26"/>
          <p:cNvSpPr/>
          <p:nvPr/>
        </p:nvSpPr>
        <p:spPr>
          <a:xfrm>
            <a:off x="7429500" y="50546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大模型局限</a:t>
            </a:r>
            <a:endParaRPr lang="en-US" sz="1100" dirty="0"/>
          </a:p>
        </p:txBody>
      </p:sp>
      <p:sp>
        <p:nvSpPr>
          <p:cNvPr id="27" name="AutoShape 27"/>
          <p:cNvSpPr/>
          <p:nvPr/>
        </p:nvSpPr>
        <p:spPr>
          <a:xfrm>
            <a:off x="7429500" y="55245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引言：从“续写机器”到“智能助手”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01 预训练：本质是“续写引擎”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它并非真正理解语言，而是基于海量文本数据预测下一个最可能出现的词。本质是概率统计模型，缺乏对人类意图、因果逻辑的深层认知。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841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02 后训练：通往智能的关键一跃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2860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这是将“续写机器”转化为“智能助手”的核心步骤。通过多阶段的人工干预与算法调校，让模型学会理解指令、对齐人类价值观并输出有用内容。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810000"/>
            <a:ext cx="33782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3810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5200" y="4064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71600" y="40386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SFT 监督微调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65200" y="4572000"/>
            <a:ext cx="29718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用高质量的指令-回答数据微调模型，教会它理解用户指令并生成符合格式、语法通顺的回答，完成从“续写”到“对话”的基础转变。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394200" y="3810000"/>
            <a:ext cx="33782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394200" y="3810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97400" y="4064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003800" y="40386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RLHF 人类反馈强化学习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597400" y="4572000"/>
            <a:ext cx="29718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基于人类对回答质量的排序反馈优化模型，让它学会输出更安全、更符合人类偏好、更具帮助性的内容，实现价值观与偏好的对齐。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026400" y="3810000"/>
            <a:ext cx="33782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026400" y="3810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29600" y="4064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636000" y="40386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RLVR 可验证奖励强化学习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229600" y="4572000"/>
            <a:ext cx="29718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引入外部工具或验证机制来判断回答的真实性，针对性解决模型“胡编乱造”的问题，提升在知识问答等场景下的准确性与可信度。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核心概念：后训练的本质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预训练 (Pretraining)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349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决定模型“知道什么”——能力的上限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857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通过海量无监督数据学习，构建通用的语言理解与世界知识底座，是模型所有智能表现的基础来源，定义了模型能力的理论天花板。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873500"/>
            <a:ext cx="4699000" cy="406400"/>
          </a:xfrm>
          <a:prstGeom prst="roundRect">
            <a:avLst>
              <a:gd name="adj" fmla="val 0"/>
            </a:avLst>
          </a:prstGeom>
          <a:solidFill>
            <a:srgbClr val="2DD4BF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39497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关键词：知识积累 · 通用认知 · 能力基座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52070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77000" y="18415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后训练 (Post-training)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2349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决定模型“愿意怎么表现”——行为的导向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2857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利用高质量标注数据与对齐技术，将通用能力引导至特定场景，塑造模型的交互风格、性格特征及价值取向，确保其安全、有用且符合人类预期。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3873500"/>
            <a:ext cx="4699000" cy="406400"/>
          </a:xfrm>
          <a:prstGeom prst="roundRect">
            <a:avLst>
              <a:gd name="adj" fmla="val 0"/>
            </a:avLst>
          </a:prstGeom>
          <a:solidFill>
            <a:srgbClr val="2DD4BF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604000" y="39497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关键词：行为对齐 · 性格塑造 · 价值引导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8895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2DD4BF">
              <a:alpha val="8000"/>
            </a:srgbClr>
          </a:solidFill>
          <a:ln w="12700" cap="flat" cmpd="sng">
            <a:solidFill>
              <a:srgbClr val="2DD4B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143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24000" y="5168900"/>
            <a:ext cx="965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核心洞察：配方决定产品形态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5588000"/>
            <a:ext cx="1003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同一个强大的基座模型，在不同的后训练“配方”（数据、指令、奖励模型）下，会呈现出截然不同的性格与能力偏向。这正是 ChatGPT、Claude、Kimi 等产品在交互风格、创造性与安全策略上产生显著差异的根本原因。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大模型后训练流程解析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4445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0" b="1" dirty="0">
                <a:solidFill>
                  <a:srgbClr val="2DD4BF"/>
                </a:solidFill>
                <a:latin typeface="Noto Sans SC"/>
                <a:ea typeface="Noto Sans SC"/>
                <a:sym typeface="Noto Sans SC"/>
              </a:rPr>
              <a:t>1.4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5588000" y="2857500"/>
            <a:ext cx="5842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DD4B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842000" y="3111500"/>
            <a:ext cx="533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模型智能进化的核心引擎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842000" y="3746500"/>
            <a:ext cx="533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 dirty="0" err="1">
                <a:solidFill>
                  <a:srgbClr val="ECEFF1"/>
                </a:solidFill>
                <a:latin typeface="Noto Sans SC"/>
                <a:ea typeface="Noto Sans SC"/>
                <a:cs typeface="Noto Sans SC"/>
                <a:sym typeface="Noto Sans SC"/>
              </a:rPr>
              <a:t>后训练是赋予大模型“灵魂”的关键阶段。我们将深入拆解</a:t>
            </a:r>
            <a:r>
              <a:rPr lang="en-US" sz="1500" b="1" i="0" u="none" strike="noStrike" dirty="0" err="1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监督微调</a:t>
            </a:r>
            <a:r>
              <a:rPr lang="en-US" sz="1500" b="1" i="0" u="none" strike="noStrike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(SFT)</a:t>
            </a:r>
            <a:r>
              <a:rPr lang="en-US" sz="1500" b="0" i="0" u="none" strike="noStrike" dirty="0">
                <a:solidFill>
                  <a:srgbClr val="ECEFF1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sz="1500" b="1" i="0" u="none" strike="noStrike" dirty="0" err="1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基于人类反馈的强化学习</a:t>
            </a:r>
            <a:r>
              <a:rPr lang="en-US" sz="1500" b="1" i="0" u="none" strike="noStrike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(RLHF)</a:t>
            </a:r>
            <a:r>
              <a:rPr lang="en-US" sz="1500" b="0" i="0" u="none" strike="noStrike" dirty="0" err="1">
                <a:solidFill>
                  <a:srgbClr val="ECEFF1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sz="1500" b="1" i="0" u="none" strike="noStrike" dirty="0" err="1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基于AI反馈的强化学习</a:t>
            </a:r>
            <a:r>
              <a:rPr lang="en-US" sz="1500" b="1" i="0" u="none" strike="noStrike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(RLVR)</a:t>
            </a:r>
            <a:r>
              <a:rPr lang="en-US" sz="1500" b="0" i="0" u="none" strike="noStrike" dirty="0" err="1">
                <a:solidFill>
                  <a:srgbClr val="ECEFF1"/>
                </a:solidFill>
                <a:latin typeface="Noto Sans SC"/>
                <a:ea typeface="Noto Sans SC"/>
                <a:cs typeface="Noto Sans SC"/>
                <a:sym typeface="Noto Sans SC"/>
              </a:rPr>
              <a:t>的技术全景，揭示如何实现模型的意图对齐与能力跃升</a:t>
            </a:r>
            <a:r>
              <a:rPr lang="en-US" sz="1500" b="0" i="0" u="none" strike="noStrike" dirty="0">
                <a:solidFill>
                  <a:srgbClr val="ECEFF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62000" y="5969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DD4BF">
                  <a:alpha val="0"/>
                </a:srgbClr>
              </a:gs>
              <a:gs pos="50000">
                <a:srgbClr val="2DD4BF">
                  <a:alpha val="60000"/>
                </a:srgbClr>
              </a:gs>
              <a:gs pos="100000">
                <a:srgbClr val="2DD4B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监督微调 (SFT)：奠定交互基础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8796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22400" y="1841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核心目标：重塑交互范式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3495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打破预训练模型的“续写惯性”，将其从被动的文本生成器转变为主动响应的“问答助手”，建立最基础的人机交互规则，解决漫无目的的文本生成问题。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18796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883400" y="1841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实施路径：人工数据驱动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3495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首先由专业标注员针对真实用户指令，人工撰写高质量的“理想回答”，构建</a:t>
            </a:r>
            <a:r>
              <a:rPr lang="en-US" sz="14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「指令-回答」配对数据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；随后利用这些数据对预训练模型进行监督式参数更新，使其学习并模仿人类的交互逻辑。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762000" y="4064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292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22400" y="4254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关键成效：规范与定位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7625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确立模型的“助手”身份认知；使其掌握分段、分点等结构化输出能力，提升回答可读性；并建立起“指令输入-答案输出”的基本响应模式，确保对用户意图的基础遵循。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6223000" y="4064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59E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42926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83400" y="4254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核心局限：缺乏价值判断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7625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SFT仅能教会模型“如何回答”，</a:t>
            </a:r>
            <a:r>
              <a:rPr lang="en-US" sz="14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却无法定义“什么是好的回答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”。单一的标注样本难以覆盖复杂的真实场景，也无法传递人类深层的价值观、审美偏好与主观意图。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RLHF (人类反馈强化学习)：对齐人类偏好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cap="flat" cmpd="sng">
            <a:solidFill>
              <a:srgbClr val="E6CFC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549400"/>
            <a:ext cx="1028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核心目标是突破监督微调（SFT）的局限，将人类对回答的主观偏好（如语气、逻辑、安全性）转化为模型可优化的数值信号，从而让AI学会生成更符合人类价值观与使用习惯的内容。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5334000" cy="11430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730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7305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01. 采集人类偏好数据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460500" y="3111500"/>
            <a:ext cx="4445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让SFT模型针对同一问题生成多个候选回答，由人工标注员进行两两对比、排序与评分，筛选出更符合人类预期的优质回复。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810000"/>
            <a:ext cx="5334000" cy="11430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000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40005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02. 训练奖励模型 (Reward Model)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460500" y="4381500"/>
            <a:ext cx="4445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利用标注好的排序数据训练一个独立的打分模型，使其能够模拟人类判断，对回答的优劣输出量化的“奖励分数”，作为偏好的数值化代理。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080000"/>
            <a:ext cx="5334000" cy="11430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270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460500" y="52705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03. 强化学习优化 (RL with PPO)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460500" y="5651500"/>
            <a:ext cx="4445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以奖励模型为“裁判”，使用近端策略优化（PPO）等算法持续调整语言模型参数，让模型在生成内容时主动追求更高的奖励值，实现自我迭代。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rcRect t="435" b="435"/>
          <a:stretch>
            <a:fillRect/>
          </a:stretch>
        </p:blipFill>
        <p:spPr>
          <a:xfrm>
            <a:off x="6477000" y="2603500"/>
            <a:ext cx="4953000" cy="2794000"/>
          </a:xfrm>
          <a:prstGeom prst="rect">
            <a:avLst/>
          </a:prstGeom>
          <a:noFill/>
          <a:ln w="25400" cap="flat" cmpd="sng">
            <a:solidFill>
              <a:srgbClr val="FFFFFF">
                <a:alpha val="6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19" name="AutoShape 19"/>
          <p:cNvSpPr/>
          <p:nvPr/>
        </p:nvSpPr>
        <p:spPr>
          <a:xfrm>
            <a:off x="6477000" y="55245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图示展示了RLHF的完整闭环：从收集人类对回答的直接反馈，到训练奖励模型进行量化，最终通过强化学习实现模型的自动对齐与优化。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RLVR (可验证奖励强化学习)：追求客观正确性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865" r="865"/>
          <a:stretch>
            <a:fillRect/>
          </a:stretch>
        </p:blipFill>
        <p:spPr>
          <a:xfrm>
            <a:off x="762000" y="2159000"/>
            <a:ext cx="4064000" cy="29210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270500"/>
            <a:ext cx="4064000" cy="8890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53975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通过闭环的“生成-验证-奖励”机制，模型能够自主修正错误，在需要精确逻辑的任务中实现性能飞跃。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334000" y="2032000"/>
            <a:ext cx="6350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4500" y="2222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032500" y="22225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核心目标：锚定客观标准答案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032500" y="26670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专注于数学演算、代码编写、逻辑推理等存在唯一解的任务，利用外部验证器精准评估输出结果，从根本上解决模型“胡编乱造”的问题，提升答案的可靠性。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334000" y="3619500"/>
            <a:ext cx="6350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24500" y="3810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032500" y="38100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机制革新：机器验证替代人工反馈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032500" y="42545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摒弃成本高昂且主观的人类评分，转而使用代码编译器、定理证明器等工具作为奖励信号源。这不仅大幅降低了训练成本，还消除了人为偏差，实现了自动化的精准评估。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334000" y="5207000"/>
            <a:ext cx="6350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24500" y="5397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032500" y="53975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能力进化：激发长链推理潜能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032500" y="58420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鼓励模型生成完整的中间推理路径（思维链），只要最终结果正确即给予奖励。这种机制有效引导模型“深度思考”，显著增强了解决复杂多步骤问题的推理能力。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RLHF vs. RLVR：核心区别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RLHF 人类反馈强化学习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234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奖励来源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基于人类主观偏好与评分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492500" y="2286000"/>
            <a:ext cx="234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信号性质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稠密连续，提供精细反馈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048000"/>
            <a:ext cx="234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更受欢迎，符合价值取向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3048000"/>
            <a:ext cx="234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人力依赖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需要持续的人工标注参与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159500" y="1524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13500" y="17145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RLVR 可验证奖励强化学习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13500" y="2286000"/>
            <a:ext cx="234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奖励来源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外部程序的客观验证结果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90000" y="2286000"/>
            <a:ext cx="234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信号性质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稀疏二元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，对错界限分明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6413500" y="3048000"/>
            <a:ext cx="234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更正确，聚焦问题解决力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890000" y="3048000"/>
            <a:ext cx="234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人力依赖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无需持续参与，高度自动化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3815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498600" y="4381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行为偏差：谄媚 (Sycophancy)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4889500"/>
            <a:ext cx="476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模型倾向于盲目附和用户观点，丧失独立判断。根源在于RLHF的数据采集环节，标注员对“顺从、迎合”的回答更易给出高分，形成了“越听话越受欢迎”的训练信号，导致模型为讨好用户而放弃事实判断。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159500" y="4191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43815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896100" y="4381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行为偏差：过度拒绝 (Over-refusal)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13500" y="4889500"/>
            <a:ext cx="476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模型对正常合规请求也采取回避态度。这源于安全对齐训练中过于严苛的标注规范，为规避潜在风险，标注员对模糊边界内容倾向于“宁可错杀”，导致模型习得过度保守的策略，甚至拒绝合理的信息获取请求。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推理模型与新的Scaling维度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4445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0" b="1" dirty="0">
                <a:solidFill>
                  <a:srgbClr val="2DD4BF"/>
                </a:solidFill>
                <a:latin typeface="Noto Sans SC"/>
                <a:ea typeface="Noto Sans SC"/>
                <a:sym typeface="Noto Sans SC"/>
              </a:rPr>
              <a:t>1.5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4826000"/>
            <a:ext cx="2286000" cy="762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5207000"/>
            <a:ext cx="660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从训练范式的突破到推理架构的革新，我们重新定义了模型扩展的核心维度。探索如何在算力效率、响应速度与智能密度之间寻找最优解，解锁大模型规模化应用的全新可能性。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382000" y="2667000"/>
            <a:ext cx="3302000" cy="3302000"/>
          </a:xfrm>
          <a:prstGeom prst="ellipse">
            <a:avLst/>
          </a:prstGeom>
          <a:solidFill>
            <a:srgbClr val="2DD4BF">
              <a:alpha val="10000"/>
            </a:srgbClr>
          </a:solidFill>
          <a:ln w="254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176000" y="2286000"/>
            <a:ext cx="508000" cy="508000"/>
          </a:xfrm>
          <a:prstGeom prst="ellipse">
            <a:avLst/>
          </a:prstGeom>
          <a:solidFill>
            <a:srgbClr val="2DD4B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什么是推理模型？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1714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核心定义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2222500"/>
            <a:ext cx="31242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区别于直接生成答案的普通模型，推理模型（如DeepSeek-R1、GPT-o）在输出最终结论前，会</a:t>
            </a:r>
            <a:r>
              <a:rPr lang="en-US" sz="14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主动生成详细的中间推理路径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，模拟人类的逻辑推导与思考过程。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4406900" y="1524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533900" y="1714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02 思考闭环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33900" y="2222500"/>
            <a:ext cx="31242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遵循「分解问题→路径尝试→自我校验→迭代优化」的闭环逻辑。它并非一次性输出结果，而是像人一样“试错”与“修正”，大幅降低逻辑谬误与事实幻觉的概率。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8051800" y="1524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178800" y="1714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核心本质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78800" y="2222500"/>
            <a:ext cx="31242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本质是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测试时计算 (Inference-time Computation)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。以额外的计算资源（更多Token消耗、更长生成耗时）为代价，换取答案准确率、逻辑严谨性与复杂问题解决能力的显著提升。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127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范式升级：从「训练时」到「测试时」的</a:t>
            </a:r>
            <a:r>
              <a:rPr 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Scaling </a:t>
            </a:r>
            <a:r>
              <a:rPr lang="en-US" sz="1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新维度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762000" y="4699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F3F4F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89000" y="4889500"/>
            <a:ext cx="5016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传统模式：训练时 Scaling（参数/数据堆料）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89000" y="5308600"/>
            <a:ext cx="5016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依赖扩大模型参数量、投喂海量数据与堆砌算力来提升效果，遵循经典的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Scaling 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Law。但该路径正面临边际收益递减的瓶颈，模型性能提升的成本呈指数级增长，性价比持续下降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6159500" y="4699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2DD4BF">
              <a:alpha val="12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286500" y="4889500"/>
            <a:ext cx="5016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新兴模式：测试时 Scaling（推理模型的核心）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86500" y="5308600"/>
            <a:ext cx="5016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无需重新训练模型，用户可按需开启</a:t>
            </a:r>
            <a:r>
              <a:rPr lang="en-US" sz="14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「深度思考模式</a:t>
            </a:r>
            <a:r>
              <a:rPr lang="en-US" sz="14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」。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通过动态分配计算资源，用</a:t>
            </a:r>
            <a:r>
              <a:rPr lang="en-US" sz="14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“时间成本+Token消耗”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实时换取准确率的跃升，为模型能力提升开辟了轻量化、灵活可控的全新路径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推理模型的优势与边界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1841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奖励可验证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3114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数学、代码等任务具备客观对错标准，让RLVR训练能大规模自动化运行，有效优化模型输出的准确性与稳定性。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1651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000" y="1841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953000" y="1841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长链自我纠错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23114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多步思维链条为模型提供了“发现错误并修正”的空间，通过迭代式推演逐步逼近正确结论，减少一次性决策的失误。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1651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91500" y="1841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572500" y="1841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解空间深度搜索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91500" y="23114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延长的推理过程如同在答案空间中进行更充分的遍历与搜索，能够挖掘更多潜在解法，显著提升复杂问题的解题成功率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762000" y="3810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4000500"/>
            <a:ext cx="279400" cy="279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33500" y="40005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擅长：规则明确、可分解验证的任务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4419600"/>
            <a:ext cx="488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适用于有标准答案、步骤清晰的场景。典型如：数学题求解、代码生成与调试、逻辑推理与证明、复杂计算拆解。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86500" y="3810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97316">
              <a:alpha val="10000"/>
            </a:srgbClr>
          </a:solidFill>
          <a:ln w="12700" cap="flat" cmpd="sng">
            <a:solidFill>
              <a:srgbClr val="F9731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4000500"/>
            <a:ext cx="279400" cy="279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858000" y="40005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2410C"/>
                </a:solidFill>
                <a:latin typeface="Noto Sans SC"/>
                <a:ea typeface="Noto Sans SC"/>
                <a:cs typeface="Noto Sans SC"/>
                <a:sym typeface="Noto Sans SC"/>
              </a:rPr>
              <a:t>受限：主观创作、直觉依赖型任务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4419600"/>
            <a:ext cx="488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对缺乏客观标准或依赖个人体验的任务收益有限。典型如：纯主观艺术创作（写诗/绘画）、人生建议、审美判断。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397500"/>
            <a:ext cx="10795000" cy="1079500"/>
          </a:xfrm>
          <a:prstGeom prst="roundRect">
            <a:avLst>
              <a:gd name="adj" fmla="val 0"/>
            </a:avLst>
          </a:prstGeom>
          <a:solidFill>
            <a:srgbClr val="1F2937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762000" y="5397500"/>
            <a:ext cx="50800" cy="10795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90600" y="5562600"/>
            <a:ext cx="254000" cy="254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333500" y="5562600"/>
            <a:ext cx="1016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dirty="0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认知警示：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模型展示的“思考过程”是生成的自然语言文本，并非其内部真实计算路径的忠实记录。它可能存在“结论先行、反向推导”的现象，其推演过程不可完全当作真实的逻辑思考来信任，需保持理性判断。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大模型生态图谱 (截至2026年年中)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2413000"/>
            <a:ext cx="1219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0" b="1" dirty="0">
                <a:solidFill>
                  <a:srgbClr val="2DD4BF"/>
                </a:solidFill>
                <a:latin typeface="Noto Sans SC"/>
                <a:ea typeface="Noto Sans SC"/>
                <a:sym typeface="Noto Sans SC"/>
              </a:rPr>
              <a:t>1.6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5334000" y="5207000"/>
            <a:ext cx="1524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5651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全景式洞察全球大模型产业的技术基座、模型矩阵与多元应用生态格局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海外三巨头：定位与范式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5555" b="5555"/>
          <a:stretch>
            <a:fillRect/>
          </a:stretch>
        </p:blipFill>
        <p:spPr>
          <a:xfrm>
            <a:off x="1308100" y="1905000"/>
            <a:ext cx="2286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3302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3492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OpenAI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3974">
            <a:off x="889013" y="3930650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89000" y="4064000"/>
            <a:ext cx="3124200" cy="196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核心定位：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工业界RLHF对齐范式的开创者，确立了“慢思考”推理模型的技术范式，为大模型的实用性与价值观对齐奠定了行业基础。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代表产品：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GPT系列通用模型、o系列专项推理模型，构建了通用人工智能（AGI）发展的核心技术底座。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 t="14122" b="14122"/>
          <a:stretch>
            <a:fillRect/>
          </a:stretch>
        </p:blipFill>
        <p:spPr>
          <a:xfrm>
            <a:off x="4953000" y="1905000"/>
            <a:ext cx="2286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4406900" y="3302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533900" y="3492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Anthropic</a:t>
            </a:r>
            <a:endParaRPr lang="en-US" sz="1100" dirty="0"/>
          </a:p>
        </p:txBody>
      </p:sp>
      <p:cxnSp>
        <p:nvCxnSpPr>
          <p:cNvPr id="12" name="Connector 12"/>
          <p:cNvCxnSpPr/>
          <p:nvPr/>
        </p:nvCxnSpPr>
        <p:spPr>
          <a:xfrm rot="-13974">
            <a:off x="4533913" y="3930650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533900" y="4064000"/>
            <a:ext cx="3124200" cy="196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核心定位：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始终坚持“安全优先”的核心设计原则，在长文本处理、复杂逻辑推演与红队对抗安全性上表现卓越，强调模型的可控性与可解释性。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代表产品：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Claude系列（支持扩展思考模式），在企业级数据安全、合规审查与复杂文档分析场景中具备独特优势。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rcRect t="25000" b="25000"/>
          <a:stretch>
            <a:fillRect/>
          </a:stretch>
        </p:blipFill>
        <p:spPr>
          <a:xfrm>
            <a:off x="8597900" y="1905000"/>
            <a:ext cx="2286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8051800" y="3302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178800" y="3492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Google DeepMind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3974">
            <a:off x="8178813" y="3930650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178800" y="4064000"/>
            <a:ext cx="3124200" cy="196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核心定位：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原生多模态技术路线的标杆，打通了文本、图像、音频与视频的统一理解，拥有业界领先的超长上下文窗口与复杂推理能力。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代表产品：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Gemini系列多模态模型，深度融合搜索生态，实现了实时信息检索与大模型生成能力的无缝结合。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CFFBDD09-1C85-3BF1-D1D1-9FECAA0C39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7663" y="1892300"/>
            <a:ext cx="1810258" cy="11349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国内主要</a:t>
            </a:r>
            <a:r>
              <a:rPr lang="zh-CN" alt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</a:t>
            </a:r>
            <a:r>
              <a:rPr 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分化与强项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2032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68400" y="2286000"/>
            <a:ext cx="1219200" cy="1219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3683000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DeepSeek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26443">
            <a:off x="952524" y="42100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89000" y="43815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代码与数学推理能力突出，API服务性价比极高，深受开发者与技术极客青睐。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997200" y="2032000"/>
            <a:ext cx="2032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403600" y="2286000"/>
            <a:ext cx="1219200" cy="1219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2997200" y="3683000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豆包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26443">
            <a:off x="3187724" y="42100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3124200" y="43815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中文口语化交互体验极佳，多模态理解与生成能力强，贴合日常使用习惯。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232400" y="2032000"/>
            <a:ext cx="2032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638800" y="2286000"/>
            <a:ext cx="1219200" cy="1219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5232400" y="3683000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Kimi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26443">
            <a:off x="5422924" y="42100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5359400" y="43815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超长上下文处理能力卓越，对长篇文档的理解、总结与信息还原度表现出色。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467600" y="2032000"/>
            <a:ext cx="2032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874000" y="2286000"/>
            <a:ext cx="1219200" cy="1219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7467600" y="3683000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通义千问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26443">
            <a:off x="7658124" y="42100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7594600" y="43815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开源生态体系完善，与阿里云基础设施及钉钉办公场景深度协同，企业应用广泛。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702800" y="2032000"/>
            <a:ext cx="2032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0109200" y="2286000"/>
            <a:ext cx="1219200" cy="1219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26"/>
          <p:cNvSpPr/>
          <p:nvPr/>
        </p:nvSpPr>
        <p:spPr>
          <a:xfrm>
            <a:off x="9702800" y="3683000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智谱 GLM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26443">
            <a:off x="9893324" y="42100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9829800" y="4381500"/>
            <a:ext cx="177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逻辑推理与复杂问题拆解能力强劲，在智能体（Agent）应用层具备深厚技术积累。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国内主要</a:t>
            </a:r>
            <a:r>
              <a:rPr lang="zh-CN" alt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</a:t>
            </a:r>
            <a:r>
              <a:rPr 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分化与强项</a:t>
            </a:r>
            <a:endParaRPr lang="en-US" sz="1100" dirty="0"/>
          </a:p>
        </p:txBody>
      </p: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B3C7C3AF-1240-0B91-F6A2-611998B4FE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304263"/>
              </p:ext>
            </p:extLst>
          </p:nvPr>
        </p:nvGraphicFramePr>
        <p:xfrm>
          <a:off x="857250" y="1666875"/>
          <a:ext cx="10915650" cy="41776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7515">
                  <a:extLst>
                    <a:ext uri="{9D8B030D-6E8A-4147-A177-3AD203B41FA5}">
                      <a16:colId xmlns:a16="http://schemas.microsoft.com/office/drawing/2014/main" val="737871610"/>
                    </a:ext>
                  </a:extLst>
                </a:gridCol>
                <a:gridCol w="4577829">
                  <a:extLst>
                    <a:ext uri="{9D8B030D-6E8A-4147-A177-3AD203B41FA5}">
                      <a16:colId xmlns:a16="http://schemas.microsoft.com/office/drawing/2014/main" val="2794522507"/>
                    </a:ext>
                  </a:extLst>
                </a:gridCol>
                <a:gridCol w="5050306">
                  <a:extLst>
                    <a:ext uri="{9D8B030D-6E8A-4147-A177-3AD203B41FA5}">
                      <a16:colId xmlns:a16="http://schemas.microsoft.com/office/drawing/2014/main" val="1587653088"/>
                    </a:ext>
                  </a:extLst>
                </a:gridCol>
              </a:tblGrid>
              <a:tr h="4498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effectLst/>
                        </a:rPr>
                        <a:t>厂商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r>
                        <a:rPr lang="zh-CN" sz="1600" b="1" dirty="0">
                          <a:solidFill>
                            <a:schemeClr val="bg1"/>
                          </a:solidFill>
                          <a:effectLst/>
                        </a:rPr>
                        <a:t>产品</a:t>
                      </a:r>
                      <a:endParaRPr lang="zh-CN" sz="16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effectLst/>
                        </a:rPr>
                        <a:t>核心强项</a:t>
                      </a:r>
                      <a:endParaRPr lang="zh-CN" sz="16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effectLst/>
                        </a:rPr>
                        <a:t>典型适用场景</a:t>
                      </a:r>
                      <a:endParaRPr lang="zh-CN" sz="16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618022"/>
                  </a:ext>
                </a:extLst>
              </a:tr>
              <a:tr h="745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DeepSeek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effectLst/>
                        </a:rPr>
                        <a:t>代码与数学能力突出，</a:t>
                      </a:r>
                      <a:r>
                        <a:rPr lang="en-US" sz="1600" dirty="0">
                          <a:effectLst/>
                        </a:rPr>
                        <a:t>API </a:t>
                      </a:r>
                      <a:r>
                        <a:rPr lang="zh-CN" sz="1600" dirty="0">
                          <a:effectLst/>
                        </a:rPr>
                        <a:t>价格极具性价比，开源策略吸引全球开发者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effectLst/>
                        </a:rPr>
                        <a:t>编程、算法、低成本批量调用、科研复现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910723"/>
                  </a:ext>
                </a:extLst>
              </a:tr>
              <a:tr h="745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</a:rPr>
                        <a:t>豆包（字节跳动）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effectLst/>
                        </a:rPr>
                        <a:t>中文口语化交互体验好，用户规模大，多模态（图像</a:t>
                      </a:r>
                      <a:r>
                        <a:rPr lang="en-US" sz="1600" dirty="0">
                          <a:effectLst/>
                        </a:rPr>
                        <a:t>/</a:t>
                      </a:r>
                      <a:r>
                        <a:rPr lang="zh-CN" sz="1600" dirty="0">
                          <a:effectLst/>
                        </a:rPr>
                        <a:t>视频）能力强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</a:rPr>
                        <a:t>日常问答、语音交互、内容创作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345170"/>
                  </a:ext>
                </a:extLst>
              </a:tr>
              <a:tr h="745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Kimi</a:t>
                      </a:r>
                      <a:r>
                        <a:rPr lang="zh-CN" sz="1600">
                          <a:effectLst/>
                        </a:rPr>
                        <a:t>（月之暗面）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</a:rPr>
                        <a:t>长文本</a:t>
                      </a:r>
                      <a:r>
                        <a:rPr lang="en-US" sz="1600">
                          <a:effectLst/>
                        </a:rPr>
                        <a:t>/</a:t>
                      </a:r>
                      <a:r>
                        <a:rPr lang="zh-CN" sz="1600">
                          <a:effectLst/>
                        </a:rPr>
                        <a:t>长文档处理能力突出，在</a:t>
                      </a:r>
                      <a:r>
                        <a:rPr lang="en-US" sz="1600">
                          <a:effectLst/>
                        </a:rPr>
                        <a:t> Agent </a:t>
                      </a:r>
                      <a:r>
                        <a:rPr lang="zh-CN" sz="1600">
                          <a:effectLst/>
                        </a:rPr>
                        <a:t>自动化方向持续投入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effectLst/>
                        </a:rPr>
                        <a:t>文献综述、长报告总结、多文档问答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699760"/>
                  </a:ext>
                </a:extLst>
              </a:tr>
              <a:tr h="745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</a:rPr>
                        <a:t>通义千问（阿里）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</a:rPr>
                        <a:t>开源生态完善，与阿里云</a:t>
                      </a:r>
                      <a:r>
                        <a:rPr lang="en-US" sz="1600">
                          <a:effectLst/>
                        </a:rPr>
                        <a:t>/</a:t>
                      </a:r>
                      <a:r>
                        <a:rPr lang="zh-CN" sz="1600">
                          <a:effectLst/>
                        </a:rPr>
                        <a:t>钉钉办公生态深度整合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effectLst/>
                        </a:rPr>
                        <a:t>企业级应用、办公自动化、云服务集成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990939"/>
                  </a:ext>
                </a:extLst>
              </a:tr>
              <a:tr h="745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</a:rPr>
                        <a:t>智谱</a:t>
                      </a:r>
                      <a:r>
                        <a:rPr lang="en-US" sz="1600">
                          <a:effectLst/>
                        </a:rPr>
                        <a:t> GLM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>
                          <a:effectLst/>
                        </a:rPr>
                        <a:t>在逻辑推理与</a:t>
                      </a:r>
                      <a:r>
                        <a:rPr lang="en-US" sz="1600">
                          <a:effectLst/>
                        </a:rPr>
                        <a:t> Agent </a:t>
                      </a:r>
                      <a:r>
                        <a:rPr lang="zh-CN" sz="1600">
                          <a:effectLst/>
                        </a:rPr>
                        <a:t>能力上有积累，较早探索工具调用（</a:t>
                      </a:r>
                      <a:r>
                        <a:rPr lang="en-US" sz="1600">
                          <a:effectLst/>
                        </a:rPr>
                        <a:t>All Tools</a:t>
                      </a:r>
                      <a:r>
                        <a:rPr lang="zh-CN" sz="1600">
                          <a:effectLst/>
                        </a:rPr>
                        <a:t>）</a:t>
                      </a:r>
                      <a:endParaRPr lang="zh-CN" sz="16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effectLst/>
                        </a:rPr>
                        <a:t>工程化落地、</a:t>
                      </a:r>
                      <a:r>
                        <a:rPr lang="en-US" sz="1600" dirty="0">
                          <a:effectLst/>
                        </a:rPr>
                        <a:t>Agent </a:t>
                      </a:r>
                      <a:r>
                        <a:rPr lang="zh-CN" sz="1600" dirty="0">
                          <a:effectLst/>
                        </a:rPr>
                        <a:t>开发、企业私有化部署</a:t>
                      </a:r>
                      <a:endParaRPr lang="zh-CN" sz="16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832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942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提示工程的系统方法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330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0" b="1" i="0" u="none" strike="noStrike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1.7</a:t>
            </a:r>
            <a:endParaRPr lang="en-US" sz="1100" dirty="0"/>
          </a:p>
        </p:txBody>
      </p:sp>
      <p:cxnSp>
        <p:nvCxnSpPr>
          <p:cNvPr id="5" name="Connector 5"/>
          <p:cNvCxnSpPr/>
          <p:nvPr/>
        </p:nvCxnSpPr>
        <p:spPr>
          <a:xfrm rot="5380901">
            <a:off x="3048000" y="3676668"/>
            <a:ext cx="228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DD4BF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4699000" y="2540000"/>
            <a:ext cx="685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从“经验试错”迈向“工程化范式”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699000" y="3429000"/>
            <a:ext cx="685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不再依赖碎片化的“咒语”调试，而是通过结构化的任务拆解、标准化的模板设计、以及科学的效果评估体系，将提示词构建转化为可复用、可迭代的工程能力。这不仅能显著提升AI交互的稳定性与精准度，更是企业规模化落地AI应用的关键基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5435600"/>
            <a:ext cx="10668000" cy="812800"/>
          </a:xfrm>
          <a:prstGeom prst="roundRect">
            <a:avLst>
              <a:gd name="adj" fmla="val 0"/>
            </a:avLst>
          </a:prstGeom>
          <a:solidFill>
            <a:srgbClr val="2DD4BF">
              <a:alpha val="12000"/>
            </a:srgbClr>
          </a:solidFill>
          <a:ln w="12700" cap="flat" cmpd="sng">
            <a:solidFill>
              <a:srgbClr val="2DD4B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56896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56388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本章重点：掌握提示工程的核心原则与标准化框架，建立一套高效的Prompt设计与优化工作流。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被验证有效的核心技法 (1/2)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225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16000" y="2857500"/>
            <a:ext cx="2870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角色设定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Role Prompting</a:t>
            </a:r>
          </a:p>
        </p:txBody>
      </p:sp>
      <p:sp>
        <p:nvSpPr>
          <p:cNvPr id="7" name="AutoShape 7"/>
          <p:cNvSpPr/>
          <p:nvPr/>
        </p:nvSpPr>
        <p:spPr>
          <a:xfrm>
            <a:off x="1016000" y="3810000"/>
            <a:ext cx="2870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在提示词开头明确赋予模型具体身份，如“资深学者”或“专业顾问”。此举能有效收窄模型的知识检索范围与生成风格，对输出结果进行精准的条件约束，使其更符合特定场景的专业要求。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4406900" y="1905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900" y="22225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660900" y="2857500"/>
            <a:ext cx="2870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1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少样本示例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Few-shot Prompting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660900" y="3810000"/>
            <a:ext cx="2870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在正式问题前展示1-3组“输入-输出”的示范样例。相较于抽象的规则描述，具体的案例能帮助模型更好地理解任务意图和预期格式，利用类比能力大幅降低生成结果的偏差，提升匹配度。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8051800" y="1905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05800" y="2222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305800" y="2857500"/>
            <a:ext cx="2870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思维链提示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Chain-of-Thought Prompting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305800" y="3810000"/>
            <a:ext cx="2870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通过指令引导模型“分步推理，最后总结”，显式地生成中间逻辑步骤。这能有效激活模型的推理机制，显著提升数学计算、逻辑推演、复杂决策等需要多步思考任务的准确性。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被验证有效的核心技法 (2/2)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841500"/>
            <a:ext cx="5207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032000" y="2159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格式约束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Output Format Constraints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3105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302000"/>
            <a:ext cx="4699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明确规定输出的结构范式，例如要求模型严格遵循「类别-定义-示例」的三段式结构进行作答。这不仅能显著提升输出结果的可读性与实际可用性，更是确保AI实验具备可重复性、便于进行结果横向对比的关键前提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841500"/>
            <a:ext cx="5207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20955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493000" y="2159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分步拆解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Task Decomposition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291">
            <a:off x="6477009" y="3105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3302000"/>
            <a:ext cx="4699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复杂的综合性任务拆解为若干个逻辑递进的独立子任务，分轮次、有节奏地向模型提问，而非强求其一步到位。这一方法本质上是人类帮助模型完成了前置的“任务规划”工作，能有效降低模型在长程推理链中出现逻辑断裂或信息丢失的风险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651500"/>
            <a:ext cx="10668000" cy="711200"/>
          </a:xfrm>
          <a:prstGeom prst="roundRect">
            <a:avLst>
              <a:gd name="adj" fmla="val 0"/>
            </a:avLst>
          </a:prstGeom>
          <a:solidFill>
            <a:srgbClr val="2DD4BF">
              <a:alpha val="12000"/>
            </a:srgbClr>
          </a:solidFill>
          <a:ln cap="flat" cmpd="sng">
            <a:solidFill>
              <a:srgbClr val="15BBA6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57912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💡 关键洞察：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提示工程的核心在于将人类的隐性思维框架显性化，通过结构化指令弥补模型在开放性生成中的不确定性。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大模型的局限：幻觉、知识截止与科研使用红线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413000"/>
            <a:ext cx="381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0" b="1" i="0" u="none" strike="noStrike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1.8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4572000" y="2921000"/>
            <a:ext cx="50800" cy="1524000"/>
          </a:xfrm>
          <a:prstGeom prst="roundRect">
            <a:avLst>
              <a:gd name="adj" fmla="val 0"/>
            </a:avLst>
          </a:prstGeom>
          <a:solidFill>
            <a:srgbClr val="2DD4B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080000" y="2984500"/>
            <a:ext cx="660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虽展现出惊人的生成与推理能力，却并非无所不能。幻觉现象、知识截止时间是其技术层面的天然边界；而在科研与学术的严谨场景中，更需清晰界定使用红线，规避学术不端与伦理风险。本章将深入剖析这些关键问题，为你揭示理性驾驭AI的边界与准则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762000" y="5715000"/>
            <a:ext cx="1270000" cy="76200"/>
          </a:xfrm>
          <a:prstGeom prst="roundRect">
            <a:avLst>
              <a:gd name="adj" fmla="val 0"/>
            </a:avLst>
          </a:prstGeom>
          <a:solidFill>
            <a:srgbClr val="2DD4B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2159000" y="5715000"/>
            <a:ext cx="762000" cy="76200"/>
          </a:xfrm>
          <a:prstGeom prst="roundRect">
            <a:avLst>
              <a:gd name="adj" fmla="val 0"/>
            </a:avLst>
          </a:prstGeom>
          <a:solidFill>
            <a:srgbClr val="2DD4B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048000" y="5715000"/>
            <a:ext cx="381000" cy="76200"/>
          </a:xfrm>
          <a:prstGeom prst="roundRect">
            <a:avLst>
              <a:gd name="adj" fmla="val 0"/>
            </a:avLst>
          </a:prstGeom>
          <a:solidFill>
            <a:srgbClr val="2DD4B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0400" y="558800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幻觉的成因与工程化缓解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27660" y="117856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01 / </a:t>
            </a:r>
            <a:r>
              <a:rPr lang="zh-CN" altLang="en-US" sz="2000" b="1" i="0" u="none" strike="noStrike" dirty="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幻觉的成因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6350000" y="1651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02 / 工程化缓解：构建可信的生成体系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2413000"/>
            <a:ext cx="1714500" cy="18415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02400" y="25654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502400" y="2984500"/>
            <a:ext cx="1460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RAG检索增强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挂载外部权威知识库，让模型基于真实文档生成，替代纯参数记忆，从源头减少编造。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153400" y="2413000"/>
            <a:ext cx="1714500" cy="18415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5654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305800" y="2984500"/>
            <a:ext cx="1460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工具与联网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将“模糊回忆”转为“实时查阅”，通过联网或计算器等工具获取动态、准确的外部信息。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9969500" y="2413000"/>
            <a:ext cx="1714500" cy="18415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21900" y="25654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0121900" y="2984500"/>
            <a:ext cx="1460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多模型校验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用不同模型或多轮prompt交叉验证，过滤不一致的答案，有效识别并剔除幻觉内容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6350000" y="4445000"/>
            <a:ext cx="2667000" cy="17145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02400" y="4597400"/>
            <a:ext cx="355600" cy="355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502400" y="5016500"/>
            <a:ext cx="222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来源标注与置信度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强制模型标注信息来源及置信度分值，提升内容可追溯性，让用户能自主判断信息可靠性。</a:t>
            </a:r>
          </a:p>
        </p:txBody>
      </p:sp>
      <p:sp>
        <p:nvSpPr>
          <p:cNvPr id="27" name="AutoShape 27"/>
          <p:cNvSpPr/>
          <p:nvPr/>
        </p:nvSpPr>
        <p:spPr>
          <a:xfrm>
            <a:off x="9017000" y="4445000"/>
            <a:ext cx="2667000" cy="17145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69400" y="4597400"/>
            <a:ext cx="355600" cy="3556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9169400" y="5016500"/>
            <a:ext cx="222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关键环节人工审核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对高风险、高价值场景（如医疗、法律），保留人工核验作为最后防线，确保生成内容的绝对安全与准确。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2C93845-9621-3994-E42B-03C2352C9A31}"/>
              </a:ext>
            </a:extLst>
          </p:cNvPr>
          <p:cNvSpPr txBox="1"/>
          <p:nvPr/>
        </p:nvSpPr>
        <p:spPr>
          <a:xfrm>
            <a:off x="95885" y="1776898"/>
            <a:ext cx="580771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（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1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）本质：基于概率的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token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预测，而非事实检索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大语言模型的核心任务极其朴素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——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给定前文，预测下一个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token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。它在训练时学习了海量文本中的统计规律，从而能够在对话时生成连贯、符合语法的文本。但它并不是去“查询”一个知识库，也不是逻辑推理，而是在做高级的“完形填空”。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（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2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）训练数据的噪声与压缩损失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模型的知识来自于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训练数据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，而互联网上的文本本身就充斥着错误信息、过时内容、偏见和虚构故事。模型在学习时无法自动区分真伪，只能忠实地模仿这些语言模式。此外，模型的参数存储能力远小于训练数据的规模，这就被迫进行了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有损压缩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。在压缩过程中，细节被模糊化、实体被混淆。例如，模型可能记住了“某位经济学家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+ 2023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年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+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某篇论文的大致主题”，但当被要求精确还原时，它的大脑里只剩下被压缩后的“印记”，于是它用最可能的语言模式“补全”出一些看似合理的论文标题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——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这个补全过程，本质上已经是创造而非回忆。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（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3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）训练目标与真实世界的一致性鸿沟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模型在训练时的目标是“预测下一个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token”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，这种训练方式让模型学会了模仿训练数据的分布，但并没有学会“知道自己不知道”的能力。它被训练成总是给出一个回答，而不是在不确定时拒绝回答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——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因为训练数据里，很少有示范“如何诚实地说不知道”的例子。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知识截止与幻觉高发场景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7526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17272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知识截止 (Knowledge Cutoff)：模型的“认知保质期”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184400"/>
            <a:ext cx="1003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模型训练语料仅更新至特定时间点，对后续事件“不知情”。风险在于它不会主动提示信息过时，反而会利用旧数据强行“续写”看似合理的答案。现代</a:t>
            </a:r>
            <a:r>
              <a:rPr lang="zh-CN" alt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模型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通常通过赋予模型「联网检索」与「工具调用」能力，实现“现查现用”来破解此局限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62000" y="3238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容易</a:t>
            </a:r>
            <a:r>
              <a:rPr lang="zh-CN" altLang="en-US" sz="20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产生幻觉的场景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762000" y="3810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000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33500" y="3987800"/>
            <a:ext cx="279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文献与资料引用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44196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涉及大量长尾细节，且常被要求输出标准格式，模型极易编造看似规范却不存在的引用文献。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81500" y="3810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0" y="4000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953000" y="3987800"/>
            <a:ext cx="279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精确数字与统计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72000" y="44196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无内置实时数据库，无法获取最新动态数据，易生成看似精确的估计值而非真实统计结果。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01000" y="3810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91500" y="4000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572500" y="3987800"/>
            <a:ext cx="279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小众/长尾实体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91500" y="44196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训练语料中出现频次极低，模型在压缩过程中容易丢失细节，导致信息混淆或完全编造。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397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52500" y="55626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333500" y="55499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复杂多步数值计算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52500" y="5943600"/>
            <a:ext cx="482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纯依赖语言模型进行“心算”，缺乏严格的数学逻辑校验机制，计算链条越长，误差累积越明显。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23000" y="5397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13500" y="55626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794500" y="55499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05 名人名言与原话转述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13500" y="5943600"/>
            <a:ext cx="482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倾向于模仿目标人物的文风进行句子“拼装”，容易生成风格逼真但内容完全虚假的“伪名言”。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研究生使用大模型的红线与规范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32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22400" y="2006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可信任：放心交由 AI 的工作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66700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文本润色、跨语言翻译及学术语气的专业化调整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基于个人真实研究材料的内容总结、逻辑梳理与归纳</a:t>
            </a:r>
            <a:endParaRPr lang="en-US" sz="14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快速生成研究初稿框架、实验思路的头脑风暴辅助</a:t>
            </a:r>
            <a:endParaRPr lang="en-US" sz="14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对自主撰写的论文章节进行批判性追问与逻辑自查</a:t>
            </a:r>
            <a:endParaRPr lang="en-US" sz="14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F444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032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883400" y="2006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需核验：严禁直接采信的内容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291">
            <a:off x="64770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F444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266700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正式论文中引用的参考文献（作者、年份、卷期等）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关键的统计数据、法律法规原文及政策条文细节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对其他学者观点、访谈实录或历史事件的直接转述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模型生成的“事实性”背景介绍、事件时间线等细节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5207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5207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500" y="55753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51000" y="5359400"/>
            <a:ext cx="952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核心原则：线索而非证据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模型的输出仅能作为启发思路、拓展视野的参考线索，绝对不能直接当作学术研究的事实证据或论证依据。所有涉及事实性、引用性的内容，务必追溯原始出处并亲自核验，这是恪守学术诚信的底线。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0005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3500" y="5397500"/>
            <a:ext cx="279400" cy="279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4254500" y="53721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欢迎随时提出问题，共同探讨与交流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2026</Words>
  <Application>Microsoft Office PowerPoint</Application>
  <PresentationFormat>宽屏</PresentationFormat>
  <Paragraphs>283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Noto Sans SC</vt:lpstr>
      <vt:lpstr>quote-cjk-patch</vt:lpstr>
      <vt:lpstr>Arial</vt:lpstr>
      <vt:lpstr>Open Sans</vt:lpstr>
      <vt:lpstr>Times New Roman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糕雪</dc:creator>
  <cp:lastModifiedBy>糕雪</cp:lastModifiedBy>
  <cp:revision>5</cp:revision>
  <dcterms:modified xsi:type="dcterms:W3CDTF">2026-07-14T12:25:36Z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{"Label":"1","ContentProducer":"001191110102MACQD9K64010000","ProduceID":"7660785700611574753","ReservedCode1":"","ContentPropagator":"","PropagateID":"","ReservedCode2":""}</vt:lpwstr>
  </property>
</Properties>
</file>