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74" r:id="rId6"/>
    <p:sldId id="259" r:id="rId7"/>
    <p:sldId id="260" r:id="rId8"/>
    <p:sldId id="261" r:id="rId9"/>
    <p:sldId id="262" r:id="rId10"/>
    <p:sldId id="263" r:id="rId11"/>
    <p:sldId id="279" r:id="rId12"/>
    <p:sldId id="264" r:id="rId13"/>
    <p:sldId id="265" r:id="rId14"/>
    <p:sldId id="266" r:id="rId15"/>
    <p:sldId id="267" r:id="rId16"/>
    <p:sldId id="277" r:id="rId17"/>
    <p:sldId id="268" r:id="rId18"/>
    <p:sldId id="276" r:id="rId19"/>
    <p:sldId id="269" r:id="rId20"/>
    <p:sldId id="270" r:id="rId21"/>
    <p:sldId id="271" r:id="rId22"/>
    <p:sldId id="272" r:id="rId23"/>
    <p:sldId id="278" r:id="rId24"/>
    <p:sldId id="273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4" autoAdjust="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大模型核心知识点的分享。今天，我们将一起深入探讨大模型从基础概念到高级应用的方方面面，内容涵盖了大模型的局限性、API基础、结构化输出以及上下文工程等关键技术点。希望通过这次分享，能帮助大家更好地理解和应用大模型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本次分享将分为四个部分。首先，我们会讨论大模型的局限性，包括幻觉、知识截止等问题。接着，我们会深入API的基础知识。然后，我们将探讨结构化输出和Function Calling的强大功能。最后，我们会介绍上下文工程的概念和实践。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现在，我们进入第一部分：大模型的局限性。任何强大的技术都有其边界，理解这些边界是有效利用大模型的前提。我们将重点讨论幻觉、知识截止这两个核心问题，并明确在科研等专业场景下的使用红线。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首先我们来谈谈“幻觉”。幻觉是大模型生成看似合理但与事实不符内容的现象。它的成因是多方面的，包括训练目标的偏差、知识的压缩存储方式、训练数据的局限性以及推理过程中的误差放大。最关键的是，幻觉是当前大模型训练范式的结构性产物，因此无法被彻底消除，只能通过工程化手段来缓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重要局限是“知识截止”。模型的知识是静态的，停留在它最后一次训练的时间点。为了让模型了解今天发生的事，我们需要引入“检索增强生成”，也就是RAG。它的原理很简单：在回答问题前，先让模型去外部的搜索引擎或数据库里查找最新的资料，然后基于这些真实资料来生成答案。这极大地扩展了模型的知识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幻觉，我们需要知道它在哪些场景下最容易出现，比如涉及精准数字、学术引用和冷门知识时。这对于学术研究尤其重要。因此，我们必须明确科研使用的红线：AI可以作为效率工具，帮助我们润色文字、编写代码，但所有涉及事实、数据和核心论证的内容，都必须由研究者本人亲自核验，确保学术诚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接下来，我们进入第二部分，探讨大模型API的基础知识。理解如何与模型进行程序化交互，是开发应用的第一步。我们将学习API的请求响应结构、核心参数的作用以及如何实现流畅的实时交互。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调用大模型API时，我们主要通过`messages`数组进行交互。这个数组包含三种角色：`system`用于设定模型的行为准则，`user`是我们的提问，`assistant`则用来记录模型之前的回答。需要特别注意的是，API是无状态的，它不会记住上下文。因此，要实现多轮对话，我们必须在每次请求时，都把之前的对话历史完整地发送给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8EFC-47C7-E7C4-ECAC-C5057CC9A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ACD3E7-C3BB-E9A2-E5DD-D3B20A3145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D920C-E506-8481-68E4-8CB2B63135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7F2FA4-E85F-A4F4-5FA3-8E6E5CF80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21BAD78-8413-7ECF-BD4E-D7329D313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7C33E-A4B5-56CD-2EED-6B7AD08E69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2B099-CAEE-B0FF-FCE0-9D8A89119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0746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调整API参数，我们可以精细控制模型的输出。其中最重要的参数是temperature，也就是温度。它决定了输出的随机性：温度越低，输出越确定、准确；温度越高，输出越多样、有创意。此外，max_tokens可以限制回答长度，而frequency_penalty则可以有效避免内容重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提升用户体验，我们需要了解“流式输出”。它解决了模型生成长文本时用户需要长时间等待的问题。通过开启流式模式，模型会像人打字一样，生成一点就返回一点，让用户实时看到回复过程，极大地提升了交互的流畅感。这在所有对话类产品中都是标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现在我们进入第三部分，这部分内容非常关键，它让大模型从一个“聊天机器人”变成了一个“能干活的助手”。我们将学习如何让模型输出结构化的JSON数据，以及如何通过Function Calling让模型调用外部工具来完成任务。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应用开发中，我们常常需要模型的输出能被程序直接处理。这时，结构化输出就至关重要。通过要求模型输出JSON格式，我们可以确保结果是机器可读的。为了保证输出的合法性，我们可以利用模型的原生能力，或者通过编写清晰的提示词、设置语法约束等方式来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Function Calling，即工具调用，是大模型能力的一次飞跃。它允许模型在需要时，自主决定调用外部工具，比如查天气、查股票、调用内部系统等。整个流程是一个闭环：我们定义工具，模型决定调用，我们执行，然后把结果告诉模型，最后模型给出最终答案。这套机制是构建能够自主完成任务的AI智能体（Agent）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A79F1-1B46-CC35-B94B-4500926E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31B0EA-2651-D7A5-C86C-9DBEF1593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14F1F-B2D6-C693-9382-A015C9A7C6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4B80E2-2C44-F0C5-8B78-8FE3E439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29EA11-98C8-2B36-3874-60C5F3EC2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Function Calling，即工具调用，是大模型能力的一次飞跃。它允许模型在需要时，自主决定调用外部工具，比如查天气、查股票、调用内部系统等。整个流程是一个闭环：我们定义工具，模型决定调用，我们执行，然后把结果告诉模型，最后模型给出最终答案。这套机制是构建能够自主完成任务的AI智能体（Agent）的基石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A211A-F634-82F8-1B83-19F259EF42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4E4B-2A28-37DB-7BFB-02602B3AD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30171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最后，我们来探讨一个更宏观、更高级的话题：上下文工程。随着应用越来越复杂，单纯写好提示词已经不够了。我们需要系统性地管理和优化传递给模型的所有信息，这就是上下文工程的核心。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人熟悉“提示工程”，即如何写好提示词。但现在业界更强调“上下文工程”。简单来说，提示工程是上下文工程的一部分。上下文工程关注的是如何管理所有传递给模型的信息，包括对话历史、外部知识、工具定义等。它是一种更宏观、更系统的思维方式，对于构建复杂的智能体应用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智能体的上下文窗口里装着很多东西，包括系统指令、工具定义、检索到的知识、对话历史和用户的当前输入。但这里有一个陷阱，叫做“上下文腐烂”。并不是给模型的信息越多越好，当信息超过一定限度，模型的注意力会被分散，处理信息的能力反而会下降。所以，管理好上下文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上下文腐烂问题，我们有多种管理手段。比如，通过滚动摘要来压缩历史对话；通过记忆分层来管理不同重要性的信息；通过RAG按需检索，而不是把所有知识都塞进去；以及通过子智能体隔离，让不同任务拥有独立的、干净的上下文。这些策略共同保证了模型在处理复杂任务时的效率和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EE1A0-752D-FAC0-4720-5A69411C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C89A3B-2971-6191-C05F-975FBCDD77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04A7F-CCB6-6669-599E-7130ED0793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0AB434-4862-E111-2A22-01F512C69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0D28C01-4352-C4BD-6E8B-6EC579088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我的分享到此结束，感谢大家的聆听。现在是问答环节，欢迎大家就今天讨论的内容提问交流。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63294-243D-DE66-D1DA-048AD2B23A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FCAE9-23FD-C4A2-5B24-79525DEC4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54885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我的分享到此结束，感谢大家的聆听。现在是问答环节，欢迎大家就今天讨论的内容提问交流。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10" Type="http://schemas.openxmlformats.org/officeDocument/2006/relationships/image" Target="../media/image28.svg"/><Relationship Id="rId4" Type="http://schemas.openxmlformats.org/officeDocument/2006/relationships/image" Target="../media/image10.svg"/><Relationship Id="rId9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1.svg"/><Relationship Id="rId4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7.svg"/><Relationship Id="rId4" Type="http://schemas.openxmlformats.org/officeDocument/2006/relationships/image" Target="../media/image3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12.svg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与智能体暑期集训</a:t>
            </a:r>
            <a:r>
              <a:rPr lang="en-US" altLang="zh-CN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1.8~2.3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873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智能决策与机器学习</a:t>
            </a:r>
            <a:r>
              <a:rPr lang="en-US" altLang="zh-CN" sz="2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Group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397000" y="54356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</a:t>
            </a: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吴浩然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54356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2026年7月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/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0066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大模型的局限：幻觉、知识截止与科研红线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5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深入剖析大模型的固有缺陷，探讨幻觉产生的底层逻辑、训练数据的时效性边界，以及在学术研究与专业场景中必须坚守的安全与伦理红线。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968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366000" y="20066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 API 基础：Messages、参数与流式输出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85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 API 调用的核心通信机制，解析 Messages 对话交互模式，详解 temperature、top_p 等关键参数的调优技巧，以及流式输出的实现逻辑。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42926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结构化输出与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Function Calling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143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学习如何约束模型输出 JSON 等标准结构化数据，并解锁 Function Calling 能力，实现大模型与外部工具、数据库及业务系统的智能联动。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42926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上下文工程：从 Prompt 到记忆管理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143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进阶探索上下文窗口的高效利用，学习长文本处理、历史记忆管理、上下文裁剪与压缩的高级策略，解决大模型“健忘”与信息过载难题。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685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大模型的局限：幻觉、知识截止与科研红线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5969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cap="flat" cmpd="sng">
            <a:solidFill>
              <a:srgbClr val="33B7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92A982B-1F0E-B0AD-50E5-54A6BDBB4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77" y="106915"/>
            <a:ext cx="9110046" cy="664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24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幻觉的成因：为何无法彻底消除？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79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训练目标偏差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模型核心目标是预测下一个最可能的词，优先追求文本的流畅度与通顺性，而非严格的事实准确性，这使得“虚构”成为达成通顺目标的潜在副产品。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879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59600" y="1879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知识压缩存储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349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海量世界知识被高度压缩进模型的参数权重中，细节信息极易丢失或混淆。当模型无法检索到精准答案时，会基于统计规律“脑补”填补空白，导致信息失真。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784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3784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训练数据局限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254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训练数据本身混杂着错误信息、逻辑矛盾与人类偏见，模型会忠实地学习并放大这些“噪声”。数据的非完美性决定了生成结果难以做到绝对客观与真实。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556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784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59600" y="3784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推理链误差放大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254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大模型采用逐词生成的自回归机制，初始阶段的微小事实偏差会像滚雪球般不断累积放大，从局部细节的偏差，最终演变为完全脱离现实的虚假陈述。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50800" cy="1016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5626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本质根源：结构性产物</a:t>
            </a: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幻觉并非模型的偶然“缺陷”，而是其“统计预测”生成机制的必然结果。只要核心训练范式仍是“下一词预测”，幻觉就无法从根源上被彻底根除，只能通过算法优化、检索增强与数据治理等工程手段来缓解。</a:t>
            </a:r>
            <a:endParaRPr lang="en-US" sz="11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10A9FD-37B8-9E93-E307-E728C1EF291A}"/>
              </a:ext>
            </a:extLst>
          </p:cNvPr>
          <p:cNvSpPr txBox="1"/>
          <p:nvPr/>
        </p:nvSpPr>
        <p:spPr>
          <a:xfrm>
            <a:off x="678378" y="1244600"/>
            <a:ext cx="6095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u="none" strike="noStrike" dirty="0" err="1">
                <a:solidFill>
                  <a:schemeClr val="bg1"/>
                </a:solidFill>
              </a:rPr>
              <a:t>幻觉是大模型生成看似合理但与事实不符内容的现象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知识截止与搜索增强 (RAG)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知识截止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844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模型训练数据存在时间边界，知识固化在参数中，难以低成本更新。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7030">
            <a:off x="3048000" y="2216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810000" y="1714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时效性局限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仅掌握训练截止时间前的信息，对之后发生的新闻、事件或数据完全“无知”。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493000" y="1714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更新成本高昂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模型参数一旦固定，需重新进行海量数据训练才能更新知识，耗时且昂贵。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解决方案：检索增强生成 (RAG)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这是解决知识截止问题的工业界标准方案，核心在于</a:t>
            </a:r>
            <a:r>
              <a:rPr lang="en-US" sz="1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不修改模型参数</a:t>
            </a:r>
            <a:r>
              <a:rPr lang="en-US" sz="1400" b="0" i="0" u="none" strike="noStrike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，而是在生成回答的过程中，动态地从外部知识库或互联网中检索最新信息并注入，从而突破模型的静态知识边界。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635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用户提问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143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BDBD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用户提出具体问题，特别是涉及时效性、垂直领域或长尾的专业知识需求。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92500" y="4445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4635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064000" y="4635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检索召回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83000" y="5143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BDBDB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系统根据问题关键词，从搜索引擎、企业知识库或数据库中精准召回相关信息。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445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4635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4635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上下文注入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5143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BDBDBD"/>
                </a:solidFill>
                <a:latin typeface="Noto Sans SC"/>
                <a:ea typeface="Noto Sans SC"/>
                <a:cs typeface="Noto Sans SC"/>
                <a:sym typeface="Noto Sans SC"/>
              </a:rPr>
              <a:t>将检索到的真实信息片段，作为“上下文”拼接在用户问题之后，发送给模型。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53500" y="4445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0" y="4635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25000" y="4635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生成回答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44000" y="5143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BDBD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模型结合自身能力与注入的外部真实信息，生成准确、有据可依的回答。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幻觉高发场景 &amp; 科研使用红线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幻觉易袭的六大高危场景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精准数字与数据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财务数值、统计指标、产品参数等对准确性要求极高的硬指标，易被AI编造。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29000" y="2413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基于虚构前提的推导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顺着错误的假设或前提，一本正经地推导逻辑闭环但事实错误的结论。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92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学术文献引用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编造不存在的论文标题、作者、DOI号，或伪造无法检索的研究成果。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3492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代码与逻辑细节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输出格式正确但存在隐蔽的逻辑错误、无法运行或包含安全漏洞的代码。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572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冷门细分领域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训练数据覆盖极少的小众学科、边缘案例、新兴技术或地域性极强的知识。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4572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专业领域细则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法律条款精准解读、医疗用药剂量计算、复杂工程参数等专业细节。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13500" y="1841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科研使用的红线与边界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2413000"/>
            <a:ext cx="23876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565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2565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辅助区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29845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承担“效率工具”角色：思路启发、文本润色优化、代码编写辅助、海量信息的初步整理与归纳。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15400" y="2413000"/>
            <a:ext cx="2387600" cy="1460500"/>
          </a:xfrm>
          <a:prstGeom prst="roundRect">
            <a:avLst>
              <a:gd name="adj" fmla="val 0"/>
            </a:avLst>
          </a:prstGeom>
          <a:solidFill>
            <a:srgbClr val="EF444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2400" y="2565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423400" y="2565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人工核验区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42400" y="29845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涉及学术真实性的核心：所有事实性数据（数值/公式）、文献引用真实性、核心论证逻辑与结论。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4889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BBF24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4381500"/>
            <a:ext cx="330200" cy="330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4343400"/>
            <a:ext cx="438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不可逾越的责任红线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 生成内容不具备学术原创性，研究者需对最终成果的真实性负全责。严禁将未经溯源与验证的 AI 内容直接作为学术结论使用。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318000"/>
            <a:ext cx="1143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 API 基础：messages、参数与流式输出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5842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cap="flat" cmpd="sng">
            <a:solidFill>
              <a:srgbClr val="33B7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API 请求结构与角色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· 系统角色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设定模型的全局行为准则、身份定位与输出规范。作为对话的顶层指令，其优先级最高，贯穿整个交互流程，为模型提供基础的“人设”与规则框架。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778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181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user · 用户角色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667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承载用户的具体提问、指令、需求描述或输入数据。这是触发模型生成回复的直接信号，代表了交互中人类的意图与信息输入。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778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assistant · 助手角色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667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记录模型在对话中生成的历史回复内容。它是维持多轮对话上下文连贯性的关键，每次请求时都需回传，确保模型能理解对话的来龙去脉。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54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74800" y="50546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多轮对话的实现核心：无状态机制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537200"/>
            <a:ext cx="1003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API </a:t>
            </a:r>
            <a:r>
              <a:rPr lang="en-US" sz="1400" b="0" i="0" u="none" strike="noStrike" dirty="0" err="1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本身是无状态的，每次调用相互独立</a:t>
            </a:r>
            <a:r>
              <a:rPr lang="zh-CN" altLang="en-US" sz="1400" b="0" i="0" u="none" strike="noStrike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服务端不会保存任何对话历史，也不会记住上一次调用的内容。两次请求之间没有任何关联，模型不会“记住”之前和你聊过什么。多轮对话完全由</a:t>
            </a:r>
            <a:r>
              <a:rPr lang="zh-CN" altLang="en-US" b="1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客户端侧维护对话历史</a:t>
            </a:r>
            <a:r>
              <a:rPr lang="zh-CN" altLang="en-US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来实现，核心逻辑是：每次调用</a:t>
            </a:r>
            <a:r>
              <a:rPr lang="en-US" altLang="zh-CN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lang="zh-CN" altLang="en-US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时，都把历史对话（所有</a:t>
            </a:r>
            <a:r>
              <a:rPr lang="en-US" altLang="zh-CN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user</a:t>
            </a:r>
            <a:r>
              <a:rPr lang="zh-CN" altLang="en-US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altLang="zh-CN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assistant</a:t>
            </a:r>
            <a:r>
              <a:rPr lang="zh-CN" altLang="en-US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的消息）完整地放入</a:t>
            </a:r>
            <a:r>
              <a:rPr lang="en-US" altLang="zh-CN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messages</a:t>
            </a:r>
            <a:r>
              <a:rPr lang="zh-CN" altLang="en-US" dirty="0">
                <a:solidFill>
                  <a:srgbClr val="F3F4F6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数组中，一起发送给模型。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0E010-D335-22E5-C603-C766CEA1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930BD54-ECD2-36DA-C5FE-7AEE129F04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E7BC30-AC94-861D-702C-BA2525233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555525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0ADEC8-8C0F-3874-A89C-638DC899D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896" y="1971436"/>
            <a:ext cx="6629741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7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211282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核心生成参数调优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163782"/>
            <a:ext cx="10668000" cy="5507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01. Temperature (</a:t>
            </a:r>
            <a:r>
              <a:rPr lang="en-US" sz="18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温度</a:t>
            </a:r>
            <a:r>
              <a:rPr lang="en-US" sz="1800" b="1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) — </a:t>
            </a:r>
            <a:r>
              <a:rPr lang="en-US" sz="18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决定输出的</a:t>
            </a:r>
            <a:r>
              <a:rPr lang="zh-CN" altLang="en-US" sz="1800" b="1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随机性和创造性</a:t>
            </a:r>
            <a:r>
              <a:rPr lang="zh-CN" altLang="en-US" sz="1800" b="1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，取值通常从</a:t>
            </a:r>
            <a:r>
              <a:rPr lang="en-US" altLang="zh-CN" sz="1800" b="1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0~2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1200" b="1" dirty="0">
                <a:solidFill>
                  <a:schemeClr val="bg1">
                    <a:alpha val="90196"/>
                  </a:schemeClr>
                </a:solidFill>
                <a:latin typeface="Noto Sans SC"/>
                <a:ea typeface="Noto Sans SC"/>
              </a:rPr>
              <a:t>原理：值越低，模型越倾向于选择概率最高的</a:t>
            </a:r>
            <a:r>
              <a:rPr lang="en-US" altLang="zh-CN" sz="1200" b="1" dirty="0">
                <a:solidFill>
                  <a:schemeClr val="bg1">
                    <a:alpha val="90196"/>
                  </a:schemeClr>
                </a:solidFill>
                <a:latin typeface="Noto Sans SC"/>
                <a:ea typeface="Noto Sans SC"/>
              </a:rPr>
              <a:t>Token</a:t>
            </a:r>
            <a:r>
              <a:rPr lang="zh-CN" altLang="en-US" sz="1200" b="1" dirty="0">
                <a:solidFill>
                  <a:schemeClr val="bg1">
                    <a:alpha val="90196"/>
                  </a:schemeClr>
                </a:solidFill>
                <a:latin typeface="Noto Sans SC"/>
                <a:ea typeface="Noto Sans SC"/>
              </a:rPr>
              <a:t>，输出越稳定、确定；值越高，概率分布越平滑，低概率的词也有机会被选中，输出越多样、有创造性。</a:t>
            </a:r>
            <a:endParaRPr lang="en-US" sz="1200" b="1" dirty="0">
              <a:solidFill>
                <a:schemeClr val="bg1">
                  <a:alpha val="90196"/>
                </a:schemeClr>
              </a:solidFill>
              <a:latin typeface="Noto Sans SC"/>
              <a:ea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032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 ~ 0.3 ｜ 严谨复刻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2997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输出极度稳定、准确，专注事实与逻辑。适用于代码编写、法律条文解读、客观问答等对精确性要求极高的任务，拒绝“幻觉”。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8415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97400" y="2032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0.4 ~ 0.8 ｜ 平衡之道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97400" y="2540000"/>
            <a:ext cx="2997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兼顾真实与创意，生成自然流畅。这是绝大多数通用场景（如日常对话、邮件撰写、工作总结）的默认最佳选择。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51800" y="18415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42300" y="2032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0.9 ~ 1.5 ｜ 天马行空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42300" y="2540000"/>
            <a:ext cx="2997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打破常规逻辑，输出极具想象力和多样性。专为头脑风暴、科幻小说创作、广告创意文案等需要发散思维的场景设计。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81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381500"/>
            <a:ext cx="50800" cy="1841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457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02. Max Tokens (输出长度限制)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限制模型单次生成的最大Token数量。不仅控制文本篇幅，还能防止输出过长导致的上下文截断或资源浪费，确保回答在可控范围内结束。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4381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86500" y="4381500"/>
            <a:ext cx="50800" cy="1841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40500" y="457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03. Penalty (重复与主题惩罚)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包含频率惩罚与存在惩罚。通过抑制重复的词汇和话题，强制模型探索新的概念，有效解决长文本生成中的内容循环问题，让创作更具延展性</a:t>
            </a:r>
            <a:r>
              <a:rPr lang="en-US" sz="13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16666"/>
              </a:lnSpc>
              <a:defRPr/>
            </a:pPr>
            <a:r>
              <a:rPr lang="zh-CN" altLang="en-US" sz="13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适用场景：长文生成、创意写作中避免内容重复啰嗦。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流式输出：提升交互体验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体验痛点：空白等待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大模型生成长文本时，若等待全部生成再统一返回，用户将面对长时间的屏幕空白，感知延迟显著，极易产生焦虑与跳出意愿，破坏交互连续性。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165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核心价值：实时交互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采用“边生成、边推送”策略，模型每产出一个Token即刻传输。用户无需等待全量结果，实时看到内容动态呈现，心理等待时长大幅降低，对话更自然。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0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技术实现：轻量配置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无需复杂改造，仅需在API调用中设置 `stream=True` 即可开启HTTP长连接。客户端通过简单的循环迭代，逐块解析返回的数据流并实时渲染。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10668000" cy="20955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43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▍ Python 快速接入示例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625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completion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= client.chat.completions.create(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model=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"gpt-4o"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messages=[{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"解释流式输出的原理"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}],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stream=</a:t>
            </a:r>
            <a:r>
              <a:rPr lang="en-US" sz="13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3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开启流式响应的关键参数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3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遍历响应体，逐块打印内容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4680B5-CD4E-BC3C-3448-55B4A5AFE9DB}"/>
              </a:ext>
            </a:extLst>
          </p:cNvPr>
          <p:cNvSpPr txBox="1"/>
          <p:nvPr/>
        </p:nvSpPr>
        <p:spPr>
          <a:xfrm>
            <a:off x="678378" y="1252835"/>
            <a:ext cx="6095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模型每生成一个Token，就立刻推送给客户端，边生成边展示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结构化输出与 Function Calling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5715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cap="flat" cmpd="sng">
            <a:solidFill>
              <a:srgbClr val="33B7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结构化输出：让模型输出合法 JSON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74817"/>
            <a:ext cx="5270500" cy="4318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为什么需要结构化输出？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895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程序可解析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自然语言无法被代码直接处理，JSON结构能被后端直接提取与使用，实现系统间的无缝数据交互。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911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结果可预期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强制模型遵循固定格式，消除自由文本的不确定性，确保输出结果的一致性与稳定性。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927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功能可扩展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这是实现智能工具调用、自动化工作流编排以及复杂数据抽取任务的必要基础。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499" y="1874817"/>
            <a:ext cx="5270500" cy="4318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40500" y="203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如何保证输出合法 JSON？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167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540500" y="2857500"/>
            <a:ext cx="24384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2984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9591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原生能力优先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67500" y="3365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利用模型官方提供的结构化输出接口，这是最稳定、最高效的首选方案。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91600" y="2857500"/>
            <a:ext cx="24384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18600" y="2984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436100" y="29591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清晰指令与示例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18600" y="3365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在Prompt中明确格式要求，并提供标准的JSON范例，强化模型的格式认知。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40500" y="4445000"/>
            <a:ext cx="24384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5720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45466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语法约束解码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67500" y="4953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在Token采样阶段设置约束，从生成层面限制输出内容，直接规避格式错误。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991600" y="4445000"/>
            <a:ext cx="24384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18600" y="45720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436100" y="45466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后处理与校验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118600" y="4953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程序端对结果进行JSON解析校验，若失败则自动触发重试机制作为兜底保障。</a:t>
            </a:r>
            <a:endParaRPr lang="en-US" sz="11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AB3EF74-683A-A7BD-68E4-14D891E6DAF3}"/>
              </a:ext>
            </a:extLst>
          </p:cNvPr>
          <p:cNvSpPr txBox="1"/>
          <p:nvPr/>
        </p:nvSpPr>
        <p:spPr>
          <a:xfrm>
            <a:off x="678874" y="1230640"/>
            <a:ext cx="10929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在应用开发中，大模型的输出往往需要被程序进一步处理，而自然语言是自由格式，程序无法直接解析提取关键信息。JSON等结构化输出让模型输出符合固定格式的数据，实现“模型输出 → 程序自动处理”的自动化链路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A42A0F6-4B5C-599B-F769-B15DF8EEF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64" y="72014"/>
            <a:ext cx="10924672" cy="671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37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 Calling: 让模型调用工具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31888"/>
            <a:ext cx="2032000" cy="2286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9685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定义工具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984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1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开发者在</a:t>
            </a:r>
            <a:r>
              <a:rPr lang="en-US" altLang="zh-CN" sz="11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lang="zh-CN" altLang="en-US" sz="11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请求中，通过</a:t>
            </a:r>
            <a:r>
              <a:rPr lang="en-US" altLang="zh-CN" sz="11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tools</a:t>
            </a:r>
            <a:r>
              <a:rPr lang="zh-CN" altLang="en-US" sz="11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参数传入所有可用工具的定义（名称、功能描述、参数</a:t>
            </a:r>
            <a:r>
              <a:rPr lang="en-US" altLang="zh-CN" sz="11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Schema</a:t>
            </a:r>
            <a:r>
              <a:rPr lang="zh-CN" altLang="en-US" sz="110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），同时传入用户的自然语言提问。模型拿到工具列表和用户问题，判断是否需要调用工具。</a:t>
            </a:r>
            <a:endParaRPr lang="en-US" sz="1000" dirty="0"/>
          </a:p>
        </p:txBody>
      </p:sp>
      <p:sp>
        <p:nvSpPr>
          <p:cNvPr id="8" name="AutoShape 8"/>
          <p:cNvSpPr/>
          <p:nvPr/>
        </p:nvSpPr>
        <p:spPr>
          <a:xfrm>
            <a:off x="2946400" y="1931888"/>
            <a:ext cx="2032000" cy="2286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073400" y="19685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734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模型决策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73400" y="2984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模型分析用户需求，如果认为需要调用工具才能回答，就不会直接生成自然语言回复，而是输出结构化的工具调用指令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5130800" y="1931888"/>
            <a:ext cx="2032000" cy="2286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257800" y="19685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578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程序执行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57800" y="2984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开发者的后端代码收到模型的工具调用请求后，解析出函数名和参数，调用本地真实的函数、第三方</a:t>
            </a:r>
            <a:r>
              <a:rPr lang="en-US" altLang="zh-CN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API</a:t>
            </a:r>
            <a:r>
              <a:rPr lang="zh-CN" alt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或数据库操作，完成实际的执行逻辑。</a:t>
            </a:r>
            <a:endParaRPr lang="en-US" sz="1050" dirty="0"/>
          </a:p>
        </p:txBody>
      </p:sp>
      <p:sp>
        <p:nvSpPr>
          <p:cNvPr id="16" name="AutoShape 16"/>
          <p:cNvSpPr/>
          <p:nvPr/>
        </p:nvSpPr>
        <p:spPr>
          <a:xfrm>
            <a:off x="7315200" y="1931888"/>
            <a:ext cx="2032000" cy="2286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442200" y="19685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422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结果回传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42200" y="2984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将工具执行的结果封装为特定格式的消息，重新输入到模型的对话上下文中。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99600" y="1931888"/>
            <a:ext cx="2032000" cy="2286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626600" y="19685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626600" y="24765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模型续答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26600" y="2984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模型结合工具返回的真实数据与上下文，生成精准、专业且符合语境的自然语言回答。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508500"/>
            <a:ext cx="10769600" cy="1841500"/>
          </a:xfrm>
          <a:prstGeom prst="roundRect">
            <a:avLst>
              <a:gd name="adj" fmla="val 0"/>
            </a:avLst>
          </a:prstGeom>
          <a:solidFill>
            <a:srgbClr val="141414">
              <a:alpha val="35000"/>
            </a:srgbClr>
          </a:solidFill>
          <a:ln w="12700" cap="flat" cmpd="sng">
            <a:solidFill>
              <a:srgbClr val="4FD1C5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4508500"/>
            <a:ext cx="76200" cy="1841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79500" y="469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为何是智能体（AI Agent）的技术基石？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79500" y="5181600"/>
            <a:ext cx="1016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Function Calling 打破了大模型“纯文本生成”的局限，赋予了模型连接现实世界、执行具体任务的“行动能力”。它是实现“感知-思考-行动”闭环的核心机制，让 AI 从被动的内容生成器，进化为能自主规划、调用资源、解决复杂问题的智能体，是构建自主决策型 AI 系统的关键支撑。</a:t>
            </a:r>
            <a:endParaRPr lang="en-US" sz="11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5C6691A-1638-C67C-055D-947B7CEB028D}"/>
              </a:ext>
            </a:extLst>
          </p:cNvPr>
          <p:cNvSpPr txBox="1"/>
          <p:nvPr/>
        </p:nvSpPr>
        <p:spPr>
          <a:xfrm>
            <a:off x="690253" y="1333500"/>
            <a:ext cx="6095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Function Calling（工具调用）的完整流程是一个闭环的5步交互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F2ADE-1AC8-B6DB-4071-CAF371864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>
            <a:extLst>
              <a:ext uri="{FF2B5EF4-FFF2-40B4-BE49-F238E27FC236}">
                <a16:creationId xmlns:a16="http://schemas.microsoft.com/office/drawing/2014/main" id="{439888B6-2B13-07F5-1953-6FF7A158DC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2BE7F36D-062E-E6E5-23B7-FD603714A0A8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如何编写高效的工具 Schema？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361249CE-6AAA-D6E6-F420-6E7CC0A5F3E4}"/>
              </a:ext>
            </a:extLst>
          </p:cNvPr>
          <p:cNvSpPr/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5">
            <a:extLst>
              <a:ext uri="{FF2B5EF4-FFF2-40B4-BE49-F238E27FC236}">
                <a16:creationId xmlns:a16="http://schemas.microsoft.com/office/drawing/2014/main" id="{1297BF1C-1B41-AB34-9D68-6CC6F6CC83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33" name="AutoShape 6">
            <a:extLst>
              <a:ext uri="{FF2B5EF4-FFF2-40B4-BE49-F238E27FC236}">
                <a16:creationId xmlns:a16="http://schemas.microsoft.com/office/drawing/2014/main" id="{71D55BDE-0865-FA7E-C13C-0225B22A1A63}"/>
              </a:ext>
            </a:extLst>
          </p:cNvPr>
          <p:cNvSpPr/>
          <p:nvPr/>
        </p:nvSpPr>
        <p:spPr>
          <a:xfrm>
            <a:off x="15240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工具名称 (name)</a:t>
            </a:r>
            <a:endParaRPr lang="en-US" sz="1100"/>
          </a:p>
        </p:txBody>
      </p:sp>
      <p:sp>
        <p:nvSpPr>
          <p:cNvPr id="34" name="AutoShape 7">
            <a:extLst>
              <a:ext uri="{FF2B5EF4-FFF2-40B4-BE49-F238E27FC236}">
                <a16:creationId xmlns:a16="http://schemas.microsoft.com/office/drawing/2014/main" id="{8F6193AC-9C78-3300-54DE-58A12C4F4956}"/>
              </a:ext>
            </a:extLst>
          </p:cNvPr>
          <p:cNvSpPr/>
          <p:nvPr/>
        </p:nvSpPr>
        <p:spPr>
          <a:xfrm>
            <a:off x="1016000" y="2603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命名需</a:t>
            </a:r>
            <a:r>
              <a:rPr lang="en-US" sz="1400" b="1" i="0" u="none" strike="noStrike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简洁准确</a:t>
            </a:r>
            <a:r>
              <a:rPr lang="en-US" sz="1400" b="0" i="0" u="none" strike="noStrike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，直接体现功能（如 get_city_weather）；建议统一使用</a:t>
            </a:r>
            <a:r>
              <a:rPr lang="en-US" sz="1400" b="1" i="0" u="none" strike="noStrike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蛇形命名法</a:t>
            </a:r>
            <a:r>
              <a:rPr lang="en-US" sz="1400" b="0" i="0" u="none" strike="noStrike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，提升辨识度，避免模型混淆。</a:t>
            </a:r>
            <a:endParaRPr lang="en-US" sz="1100"/>
          </a:p>
        </p:txBody>
      </p:sp>
      <p:sp>
        <p:nvSpPr>
          <p:cNvPr id="35" name="AutoShape 8">
            <a:extLst>
              <a:ext uri="{FF2B5EF4-FFF2-40B4-BE49-F238E27FC236}">
                <a16:creationId xmlns:a16="http://schemas.microsoft.com/office/drawing/2014/main" id="{D083FBFF-61DC-CD63-93B8-6B33F125A6F7}"/>
              </a:ext>
            </a:extLst>
          </p:cNvPr>
          <p:cNvSpPr/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9">
            <a:extLst>
              <a:ext uri="{FF2B5EF4-FFF2-40B4-BE49-F238E27FC236}">
                <a16:creationId xmlns:a16="http://schemas.microsoft.com/office/drawing/2014/main" id="{8B9C48F5-6AF6-A555-EC08-D7283F49B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355600" cy="355600"/>
          </a:xfrm>
          <a:prstGeom prst="rect">
            <a:avLst/>
          </a:prstGeom>
        </p:spPr>
      </p:pic>
      <p:sp>
        <p:nvSpPr>
          <p:cNvPr id="37" name="AutoShape 10">
            <a:extLst>
              <a:ext uri="{FF2B5EF4-FFF2-40B4-BE49-F238E27FC236}">
                <a16:creationId xmlns:a16="http://schemas.microsoft.com/office/drawing/2014/main" id="{3358EABE-5FB1-06F3-890B-04BE7D6EA2A8}"/>
              </a:ext>
            </a:extLst>
          </p:cNvPr>
          <p:cNvSpPr/>
          <p:nvPr/>
        </p:nvSpPr>
        <p:spPr>
          <a:xfrm>
            <a:off x="69850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工具描述 (description)</a:t>
            </a:r>
            <a:endParaRPr lang="en-US" sz="1100"/>
          </a:p>
        </p:txBody>
      </p:sp>
      <p:sp>
        <p:nvSpPr>
          <p:cNvPr id="38" name="AutoShape 11">
            <a:extLst>
              <a:ext uri="{FF2B5EF4-FFF2-40B4-BE49-F238E27FC236}">
                <a16:creationId xmlns:a16="http://schemas.microsoft.com/office/drawing/2014/main" id="{5B4ADF16-45F0-AEFB-33AD-D96E959DC797}"/>
              </a:ext>
            </a:extLst>
          </p:cNvPr>
          <p:cNvSpPr/>
          <p:nvPr/>
        </p:nvSpPr>
        <p:spPr>
          <a:xfrm>
            <a:off x="6477000" y="2603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最重要的部分，要告诉模型“这个工具是做什么的、什么时候该用、什么时候不该用”</a:t>
            </a:r>
            <a:endParaRPr lang="en-US" altLang="zh-CN" sz="1200" b="0" i="0" u="none" strike="noStrike" dirty="0">
              <a:solidFill>
                <a:srgbClr val="EBEBEB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r>
              <a:rPr lang="en-US" altLang="zh-CN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明确工具的</a:t>
            </a:r>
            <a:r>
              <a:rPr lang="zh-CN" altLang="en-US" sz="1050" b="1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功能边界</a:t>
            </a:r>
            <a:r>
              <a:rPr lang="zh-CN" altLang="en-US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：比如“查询指定城市的实时天气，仅用于天气相关问题，不支持查询未来</a:t>
            </a:r>
            <a:r>
              <a:rPr lang="en-US" altLang="zh-CN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zh-CN" altLang="en-US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天以上的预报”。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说明</a:t>
            </a:r>
            <a:r>
              <a:rPr lang="zh-CN" altLang="en-US" sz="1050" b="1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r>
              <a:rPr lang="zh-CN" altLang="en-US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：比如“当用户询问订单物流状态时使用，不支持退款、改地址操作”。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补充</a:t>
            </a:r>
            <a:r>
              <a:rPr lang="zh-CN" altLang="en-US" sz="1050" b="1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注意事项</a:t>
            </a:r>
            <a:r>
              <a:rPr lang="zh-CN" altLang="en-US" sz="1050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：比如“参数必须是标准城市名，不支持简称、英文名”。</a:t>
            </a:r>
            <a:endParaRPr lang="en-US" sz="1050" dirty="0">
              <a:solidFill>
                <a:srgbClr val="EBEBEB">
                  <a:alpha val="90196"/>
                </a:srgbClr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39" name="AutoShape 12">
            <a:extLst>
              <a:ext uri="{FF2B5EF4-FFF2-40B4-BE49-F238E27FC236}">
                <a16:creationId xmlns:a16="http://schemas.microsoft.com/office/drawing/2014/main" id="{FCD46D19-A19A-A9F9-0BD8-26E2CA205C0B}"/>
              </a:ext>
            </a:extLst>
          </p:cNvPr>
          <p:cNvSpPr/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13">
            <a:extLst>
              <a:ext uri="{FF2B5EF4-FFF2-40B4-BE49-F238E27FC236}">
                <a16:creationId xmlns:a16="http://schemas.microsoft.com/office/drawing/2014/main" id="{527FD14B-56DA-D0FD-B02C-DDA29BE7C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41" name="AutoShape 14">
            <a:extLst>
              <a:ext uri="{FF2B5EF4-FFF2-40B4-BE49-F238E27FC236}">
                <a16:creationId xmlns:a16="http://schemas.microsoft.com/office/drawing/2014/main" id="{D7CEE98B-0796-675C-EAE7-88E97AA52380}"/>
              </a:ext>
            </a:extLst>
          </p:cNvPr>
          <p:cNvSpPr/>
          <p:nvPr/>
        </p:nvSpPr>
        <p:spPr>
          <a:xfrm>
            <a:off x="1524000" y="438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参数定义 (parameters)</a:t>
            </a:r>
            <a:endParaRPr lang="en-US" sz="1100"/>
          </a:p>
        </p:txBody>
      </p:sp>
      <p:sp>
        <p:nvSpPr>
          <p:cNvPr id="42" name="AutoShape 15">
            <a:extLst>
              <a:ext uri="{FF2B5EF4-FFF2-40B4-BE49-F238E27FC236}">
                <a16:creationId xmlns:a16="http://schemas.microsoft.com/office/drawing/2014/main" id="{90184D3D-411E-D6EC-1AD2-082E86BCD779}"/>
              </a:ext>
            </a:extLst>
          </p:cNvPr>
          <p:cNvSpPr/>
          <p:nvPr/>
        </p:nvSpPr>
        <p:spPr>
          <a:xfrm>
            <a:off x="1016000" y="4953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required 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标注</a:t>
            </a:r>
            <a:r>
              <a:rPr lang="en-US" sz="1400" b="1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必填项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，用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enum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（</a:t>
            </a:r>
            <a:r>
              <a:rPr lang="zh-CN" alt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枚举值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约束固定可选值；明确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string/number 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  <a:r>
              <a:rPr lang="en-US" sz="1400" b="1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，并补充参数含义、格式与取值范围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3" name="AutoShape 16">
            <a:extLst>
              <a:ext uri="{FF2B5EF4-FFF2-40B4-BE49-F238E27FC236}">
                <a16:creationId xmlns:a16="http://schemas.microsoft.com/office/drawing/2014/main" id="{54E7F499-E35B-BFA7-A3AE-369459741B22}"/>
              </a:ext>
            </a:extLst>
          </p:cNvPr>
          <p:cNvSpPr/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00B0F0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4" name="Picture 17">
            <a:extLst>
              <a:ext uri="{FF2B5EF4-FFF2-40B4-BE49-F238E27FC236}">
                <a16:creationId xmlns:a16="http://schemas.microsoft.com/office/drawing/2014/main" id="{3E1970CE-B12F-CDEB-9692-DF51804F6F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381500"/>
            <a:ext cx="355600" cy="355600"/>
          </a:xfrm>
          <a:prstGeom prst="rect">
            <a:avLst/>
          </a:prstGeom>
        </p:spPr>
      </p:pic>
      <p:sp>
        <p:nvSpPr>
          <p:cNvPr id="45" name="AutoShape 18">
            <a:extLst>
              <a:ext uri="{FF2B5EF4-FFF2-40B4-BE49-F238E27FC236}">
                <a16:creationId xmlns:a16="http://schemas.microsoft.com/office/drawing/2014/main" id="{9A68EB69-9A32-48ED-AD22-2A4FA4F1C4FE}"/>
              </a:ext>
            </a:extLst>
          </p:cNvPr>
          <p:cNvSpPr/>
          <p:nvPr/>
        </p:nvSpPr>
        <p:spPr>
          <a:xfrm>
            <a:off x="6985000" y="438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设计最佳实践</a:t>
            </a:r>
            <a:endParaRPr lang="en-US" sz="1100" dirty="0"/>
          </a:p>
        </p:txBody>
      </p:sp>
      <p:sp>
        <p:nvSpPr>
          <p:cNvPr id="46" name="AutoShape 19">
            <a:extLst>
              <a:ext uri="{FF2B5EF4-FFF2-40B4-BE49-F238E27FC236}">
                <a16:creationId xmlns:a16="http://schemas.microsoft.com/office/drawing/2014/main" id="{96CA5D07-EC7B-400B-B12C-ED8939BAD493}"/>
              </a:ext>
            </a:extLst>
          </p:cNvPr>
          <p:cNvSpPr/>
          <p:nvPr/>
        </p:nvSpPr>
        <p:spPr>
          <a:xfrm>
            <a:off x="6477000" y="48768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一个工具只做一件事：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遵循</a:t>
            </a:r>
            <a:r>
              <a:rPr lang="en-US" sz="1400" b="1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单一职责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原则，避免功能冗余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工具数量不宜过多：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控制工具数量以降低模型选择成本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反例：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在描述中加入反例说明</a:t>
            </a:r>
            <a:r>
              <a:rPr lang="zh-CN" altLang="en-US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（“不要用于</a:t>
            </a:r>
            <a:r>
              <a:rPr lang="en-US" altLang="zh-CN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XX</a:t>
            </a:r>
            <a:r>
              <a:rPr lang="zh-CN" altLang="en-US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场景”） 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400" b="0" i="0" u="none" strike="noStrike" dirty="0" err="1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进一步减少误调用</a:t>
            </a:r>
            <a:r>
              <a:rPr lang="en-US" sz="14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978F0C6-6231-7284-46E1-82A89953F3E4}"/>
              </a:ext>
            </a:extLst>
          </p:cNvPr>
          <p:cNvSpPr txBox="1"/>
          <p:nvPr/>
        </p:nvSpPr>
        <p:spPr>
          <a:xfrm>
            <a:off x="762000" y="1198890"/>
            <a:ext cx="10847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工具Schema（名称、描述、参数）是模型理解工具的“说明书”，写得好坏直接决定工具调用的准确率。核心编写原则是“清晰、具体、无歧义”</a:t>
            </a:r>
          </a:p>
        </p:txBody>
      </p:sp>
    </p:spTree>
    <p:extLst>
      <p:ext uri="{BB962C8B-B14F-4D97-AF65-F5344CB8AC3E}">
        <p14:creationId xmlns:p14="http://schemas.microsoft.com/office/powerpoint/2010/main" val="1653757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18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上下文工程：从提示工程到上下文工程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5778500"/>
            <a:ext cx="1524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cap="flat" cmpd="sng">
            <a:solidFill>
              <a:srgbClr val="33B7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上下文工程 vs 提示工程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52600"/>
            <a:ext cx="4889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 · 单点优化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聚焦于单次请求内的指令编写技巧，核心关注“怎么问”才能让模型理解意图。它是局部的、静态的，旨在优化单轮交互的输入质量。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159500" y="1587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0" y="1752600"/>
            <a:ext cx="4889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上下文工程 · 全局架构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宏观的信息架构学科，研究如何系统性地组织、管理并动态组装进入模型窗口的全量信息。它是全局的、动态的，旨在解决“如何管理信息流”以支撑复杂任务。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核心差异：从技巧到工程化的跨越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005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9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191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管理范围的质变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597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管理上下文窗口的所有信息，</a:t>
            </a:r>
            <a:r>
              <a:rPr lang="en-US" sz="13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不仅包含提示词，还统筹系统指令、工具定义、检索增强结果</a:t>
            </a:r>
            <a:r>
              <a:rPr lang="en-US" sz="13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(RAG)</a:t>
            </a:r>
            <a:r>
              <a:rPr lang="en-US" sz="13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及多轮对话历史等全量输入</a:t>
            </a:r>
            <a:r>
              <a:rPr lang="en-US" sz="13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381500" y="40005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191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953000" y="4191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动态思维的演进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4597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100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是静态、单轮的思维：针对一个问题，写好提示词，拿到结果就结束；上下文工程是动态、多轮的思维：在智能体的整个运行周期中，持续地筛选、更新、压缩上下文信息，每一步决策都要重新组装最优的信息载荷。</a:t>
            </a:r>
            <a:endParaRPr lang="en-US" sz="1000" dirty="0"/>
          </a:p>
        </p:txBody>
      </p:sp>
      <p:sp>
        <p:nvSpPr>
          <p:cNvPr id="17" name="AutoShape 17"/>
          <p:cNvSpPr/>
          <p:nvPr/>
        </p:nvSpPr>
        <p:spPr>
          <a:xfrm>
            <a:off x="8001000" y="40005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4191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572500" y="4191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解决系统级瓶颈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4597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提示工程解决“指令不清晰导致输出不符合预期”的问题；上下文工程解决“信息过载、信息缺失、上下文腐烂、记忆混乱”等更复杂的系统级问题。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52500" y="57912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关键洞察：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随着 AI 从单轮问答走向多轮智能体应用，上下文工程已超越提示工程，成为决定 AI 系统能力上限与应用复杂度的核心技术支柱。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上下文的构成与“上下文腐烂”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1752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625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系统指令层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2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智能体的身份设定、核心目标、行为准则、输出规范、安全约束等顶层规则</a:t>
            </a:r>
            <a:r>
              <a:rPr lang="en-US" sz="12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200" b="0" i="0" u="none" strike="noStrike" dirty="0" err="1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定义其核心目标、行为规则与性格基调</a:t>
            </a:r>
            <a:r>
              <a:rPr lang="en-US" sz="12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2463800"/>
            <a:ext cx="5207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600" y="26924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5654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工具定义层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3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所有可用工具的名称、描述、参数</a:t>
            </a:r>
            <a:r>
              <a:rPr lang="en-US" sz="13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3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也就是</a:t>
            </a:r>
            <a:r>
              <a:rPr lang="en-US" sz="13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Function Calling</a:t>
            </a:r>
            <a:r>
              <a:rPr lang="zh-CN" altLang="en-US" sz="13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的工具说明书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62000" y="3403600"/>
            <a:ext cx="5207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36322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5052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知识层</a:t>
            </a: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通过检索增强RAG生成补充的外部知识库，解决模型的知识时效性</a:t>
            </a:r>
            <a:r>
              <a:rPr lang="en-US" sz="13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343400"/>
            <a:ext cx="5207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600" y="457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45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1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对话历史消息、工具调用记录、任务进度、中间结果、短期记忆等。维持对话连贯性，让模型知道之前做了什么、做到了哪一步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5283200"/>
            <a:ext cx="5207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" y="55118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3848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05 </a:t>
            </a: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2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用户当前的最新提问、当前要处理的指令、本轮的任务目标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350000" y="1524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40500" y="1651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/ 现象定义：Context Rot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随着上下文Token数量增加，模型对关键信息的理解能力呈非线性衰减。表现为模型“健忘”，忽略早期关键指令、混淆细节或逻辑断裂。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175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540500" y="3302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/ </a:t>
            </a:r>
            <a:r>
              <a:rPr lang="en-US" sz="17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底层诱因：注意力资源稀释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Transformer架构的注意力机制受序列长度限制，</a:t>
            </a:r>
            <a:r>
              <a:rPr lang="en-US" altLang="zh-CN" sz="1300" b="0" i="0" u="none" strike="noStrike" dirty="0" err="1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</a:t>
            </a:r>
            <a:r>
              <a:rPr lang="zh-CN" altLang="en-US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altLang="zh-CN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Token</a:t>
            </a:r>
            <a:r>
              <a:rPr lang="zh-CN" altLang="en-US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会产生</a:t>
            </a:r>
            <a:r>
              <a:rPr lang="en-US" altLang="zh-CN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n²</a:t>
            </a:r>
            <a:r>
              <a:rPr lang="zh-CN" altLang="en-US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的注意力计算量，</a:t>
            </a:r>
            <a:r>
              <a:rPr lang="en-US" sz="1300" b="0" i="0" u="none" strike="noStrike" dirty="0" err="1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信息噪声随文本量增加呈指数级上升。冗余信息会“淹没”关键信号，导致模型无法有效聚焦</a:t>
            </a:r>
            <a:r>
              <a:rPr lang="en-US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350000" y="4826000"/>
            <a:ext cx="5080000" cy="1333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7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/ </a:t>
            </a:r>
            <a:r>
              <a:rPr lang="en-US" sz="17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关键洞察：多</a:t>
            </a:r>
            <a:r>
              <a:rPr lang="en-US" sz="17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 ≠ 优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并非提供的信息越多效果越好，存在明显的“性能拐点</a:t>
            </a:r>
            <a:r>
              <a:rPr lang="en-US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r>
              <a:rPr lang="zh-CN" altLang="en-US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</a:t>
            </a:r>
            <a:r>
              <a:rPr lang="zh-CN" altLang="en-US" sz="1300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上下文长度超过模型的最优窗口后，</a:t>
            </a:r>
            <a:r>
              <a:rPr lang="en-US" sz="1300" b="0" i="0" u="none" strike="noStrike" dirty="0" err="1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过度填充会导致效率下降，需通过裁剪、浓缩、摘要和分层管理来优化上下文质量</a:t>
            </a:r>
            <a:r>
              <a:rPr lang="en-US" sz="13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E40DAFE-3575-7782-E96C-067CF54AAEDB}"/>
              </a:ext>
            </a:extLst>
          </p:cNvPr>
          <p:cNvSpPr txBox="1"/>
          <p:nvPr/>
        </p:nvSpPr>
        <p:spPr>
          <a:xfrm>
            <a:off x="707857" y="1132185"/>
            <a:ext cx="6097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一个完整的智能体上下文窗口通常包含五层信息，按优先级从高到低排列：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上下文管理手段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滚动摘要与上下文压缩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03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定期对陈旧对话内容进行智能摘要，用凝练的总结性语句替代冗长的原始文本，在保留关键信息的同时，极大节省 Token 占用空间，有效缓解上下文长度限制带来的问题。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90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结构化笔记与记忆分层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603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将信息科学划分为短期、中期和长期记忆三个层级，依据信息的时效性与重要性，以不同形式动态进入模型上下文，实现关键信息的按需提取、分级存储与高效复用。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27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38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按需检索 (RAG) 替代全量塞入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080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遵循“存索引，不存全文；用多少，取多少”的原则，仅将与当前任务高度相关的信息检索并输入模型，从源头减少进入上下文的信息总量，显著提升模型推理的效率与精准度。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27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381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38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子智能体隔离 (分治策略)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080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将复杂的整体任务拆解为若干独立的子任务，每个子任务由专属的子智能体独立处理。每个子智能体仅持有完成该子任务所需的纯净上下文，从根本上避免了无关信息的干扰与上下文的无效污染。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AC20D-D114-8DD3-66E2-93C746BF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DF30E9B-1A09-CC65-B5C6-93E82E2E90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B32490-C983-C0B1-EEA8-E955ADA3D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983" y="1617137"/>
            <a:ext cx="7982360" cy="2076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2EC304-6CE3-B537-780D-E2D78EABF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384" y="4100543"/>
            <a:ext cx="7931558" cy="2025754"/>
          </a:xfrm>
          <a:prstGeom prst="rect">
            <a:avLst/>
          </a:prstGeom>
        </p:spPr>
      </p:pic>
      <p:sp>
        <p:nvSpPr>
          <p:cNvPr id="8" name="AutoShape 3">
            <a:extLst>
              <a:ext uri="{FF2B5EF4-FFF2-40B4-BE49-F238E27FC236}">
                <a16:creationId xmlns:a16="http://schemas.microsoft.com/office/drawing/2014/main" id="{353B1CD9-8942-EDB1-9BF3-AEE42ED2B411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altLang="zh-CN" sz="32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Codex</a:t>
            </a:r>
            <a:r>
              <a:rPr lang="zh-CN" altLang="en-US" sz="32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sz="32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上下文管理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2004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欢迎大家踊跃提问，共同探讨交流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2369</Words>
  <Application>Microsoft Office PowerPoint</Application>
  <PresentationFormat>宽屏</PresentationFormat>
  <Paragraphs>248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Noto Sans SC</vt:lpstr>
      <vt:lpstr>Arial</vt:lpstr>
      <vt:lpstr>Consolas</vt:lpstr>
      <vt:lpstr>Open Sans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浩然 吴</cp:lastModifiedBy>
  <cp:revision>31</cp:revision>
  <dcterms:modified xsi:type="dcterms:W3CDTF">2026-07-14T10:42:36Z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{"Label":"1","ContentProducer":"001191110102MACQD9K64010000","ProduceID":"7662107644834188256","ReservedCode1":"","ContentPropagator":"","PropagateID":"","ReservedCode2":""}</vt:lpwstr>
  </property>
</Properties>
</file>