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暑期大模型与智能体集训计划。在接下来的六周里，我们将一起深入探索大模型的奥秘，从底层原理到前沿应用，帮助大家构建起坚实的AI技术护城河。本次集训专为管理科学与工程学科的研究生设计，旨在为大家未来的科研和职业发展奠定坚实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将进入第一个核心模块：大模型基础原理与生态。在这个模块中，我们将揭开大模型的神秘面纱，回答三个核心问题：模型是如何思考的？它看到的世界是什么样的？以及它的知识从何而来？掌握这些基础概念，是我们后续学习所有高级应用的基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首先来看1.1节，Transformer架构的直觉。语言模型的本质非常简单，就是玩一个“预测下一个词”的游戏。通过海量数据的训练，它学会了语言规律。而实现这一切的关键，就是注意力机制。你可以把它理解为模型在阅读时，能够动态地关注句子中其他相关的词，从而更好地理解上下文，解决了传统模型难以处理长距离依赖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一句话输入模型后发生了什么？简单来说，它会经历嵌入、多层注意力、前馈网络等步骤，最终输出预测结果。大家看到的这两张图，左边是注意力机制的具体计算流程，右边是多层神经网络的可视化。而我们常说的“大”模型，它的“大”主要体现在三个方面：巨大的参数规模、海量的训练数据，以及惊人的算力投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为了帮助大家建立更直观的理解，我强烈推荐3Blue1Brown的可视化系列和Andrej Karpathy的课程。同时，这里有两个检查点问题，大家可以思考一下。第一个问题，如何向非专业人士解释模型的预测能力？第二个问题，注意力机制和查字典有什么相似之处？这些问题能帮助你真正内化今天所学的知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1.2节，Token化与上下文窗口。首先，什么是Token？它是模型处理文本的基本单位，也是API计费的依据。中英文的Token化方式不同，英文基于空格，而中文需要先分词，就像这张图展示的，不同的切分方式会影响模型的理解。正是因为模型只处理Token，所以有时会出现一些“怪异”行为，比如数不对单词里的字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上下文窗口，顾名思义，就是模型能“看到”的上下文范围，代表了它的记忆容量。但这是否意味着上下文塞得越满越好呢？并不是。研究发现了“中间遗忘”现象，即模型对长上下文的中间部分信息关注度较低。这张图形象地展示了上下文窗口的滑动。因此，我们需要精心设计Prompt，把关键信息放在首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看1.3节，预训练。预训练是模型的“基础教育”阶段，它通过在海量数据上做“预测下一个词”的任务来学习知识。这些数据来源广泛，但必须经过严格清洗，否则模型会学到偏见和错误信息。预训练的成本极其高昂，如图所示，需要庞大的GPU集群和顶尖的团队，这也是为什么只有少数科技巨头能承担得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预训练背后有一个重要的规律叫Scaling Laws，即“缩放定律”，简单说就是“大力出奇迹”，通过增加参数、数据和算力来提升模型性能。完成预训练的模型叫“基座模型”，它还不能直接用来聊天。我们日常使用的ChatGPT等对话模型，是在基座模型之上经过后训练得到的“成品”。一个是原材料，一个是最终产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2026暑期大模型与智能体</a:t>
            </a:r>
            <a:r>
              <a:rPr lang="zh-CN" altLang="en-US" sz="4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第一次集训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3111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从原理到实践，构建你的AI技术护城河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4445000"/>
            <a:ext cx="33782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2D3E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699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47800" y="46736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适用对象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5207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 dirty="0" err="1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面向管理科学与工程学科的低年级研究生及准研究生，夯实AI科研基础</a:t>
            </a:r>
            <a:r>
              <a:rPr lang="en-US" sz="1400" b="0" i="0" u="none" strike="noStrike" dirty="0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4406900" y="4445000"/>
            <a:ext cx="33782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2D3E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4699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92700" y="46736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集训周期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60900" y="5207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2026年暑期（6周），理论授课与实战项目并行，高强度沉浸式学习体验。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51800" y="4445000"/>
            <a:ext cx="33782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2D3E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4699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737600" y="46736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主办单位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05800" y="5207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 dirty="0" err="1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管理学院</a:t>
            </a:r>
            <a:r>
              <a:rPr lang="zh-CN" altLang="en-US" sz="1400" b="0" i="0" u="none" strike="noStrike" dirty="0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智能决策与机器学习</a:t>
            </a:r>
            <a:r>
              <a:rPr lang="en-US" sz="1400" b="0" i="0" u="none" strike="noStrike" dirty="0" err="1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研究中心打造</a:t>
            </a:r>
            <a:r>
              <a:rPr lang="en-US" sz="1400" b="0" i="0" u="none" strike="noStrike" dirty="0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286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大模型基础原理与生态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3810000"/>
            <a:ext cx="3556000" cy="2032000"/>
          </a:xfrm>
          <a:prstGeom prst="roundRect">
            <a:avLst>
              <a:gd name="adj" fmla="val 0"/>
            </a:avLst>
          </a:prstGeom>
          <a:solidFill>
            <a:srgbClr val="22D3EE">
              <a:alpha val="8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40386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219200" y="40132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核心架构直觉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572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透过“黑箱”解析模型的思考逻辑，理解Transformer的注意力机制如何构建对语言的深层理解，这是大模型智能涌现的根基。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18000" y="3810000"/>
            <a:ext cx="3556000" cy="2032000"/>
          </a:xfrm>
          <a:prstGeom prst="roundRect">
            <a:avLst>
              <a:gd name="adj" fmla="val 0"/>
            </a:avLst>
          </a:prstGeom>
          <a:solidFill>
            <a:srgbClr val="22D3EE">
              <a:alpha val="8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40386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029200" y="40132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02 语言与视野边界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4572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探索Token化如何将人类语言转化为模型可理解的数字信号，以及上下文窗口如何定义模型能“记住”和处理的信息范围。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3810000"/>
            <a:ext cx="3556000" cy="2032000"/>
          </a:xfrm>
          <a:prstGeom prst="roundRect">
            <a:avLst>
              <a:gd name="adj" fmla="val 0"/>
            </a:avLst>
          </a:prstGeom>
          <a:solidFill>
            <a:srgbClr val="22D3EE">
              <a:alpha val="8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40386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839200" y="40132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03 预训练与知识源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4572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解析模型如何通过海量文本的无监督预训练，习得世界知识与语言规律，这是赋予模型通用智能的关键一步。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知识点 1.1 - Transformer架构直觉 (1/3)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核心问题：语言模型的本质任务是什么？注意力机制在做什么</a:t>
            </a:r>
            <a:r>
              <a:rPr lang="en-US" sz="1800" b="1" i="0" u="none" strike="noStrike" dirty="0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540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22400" y="2540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语言模型：预测下一词的游戏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1016009" y="3105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302000"/>
            <a:ext cx="4699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本质是亿万次的“</a:t>
            </a:r>
            <a:r>
              <a:rPr lang="en-US" sz="14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猜词</a:t>
            </a:r>
            <a:r>
              <a:rPr 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”：</a:t>
            </a:r>
            <a:r>
              <a:rPr lang="en-US" sz="14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模型在海量文本中持续预测下一个最可能出现的词</a:t>
            </a:r>
            <a:r>
              <a:rPr 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br>
              <a:rPr 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通过这种训练，模型不仅掌握了语法结构与统计规律，更在数据中“涌现”出对世界知识的理解，这是生成连贯、符合逻辑文本的基石</a:t>
            </a:r>
            <a:r>
              <a:rPr 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6223000" y="2286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540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883400" y="2540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注意力机制：动态权重分配器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291">
            <a:off x="6477009" y="3105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477000" y="3302000"/>
            <a:ext cx="4699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解决长距离依赖的关键：它是一个动态的权重分配系统</a:t>
            </a:r>
            <a:r>
              <a:rPr 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br>
              <a:rPr 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当处理一个词时，模型会为句中其他所有词分配不同的“关注度”，如同人类阅读时会回顾前文、建立关联，从而打破了传统模型只能串行处理的限制。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762000" y="5841999"/>
            <a:ext cx="10668000" cy="835637"/>
          </a:xfrm>
          <a:prstGeom prst="roundRect">
            <a:avLst>
              <a:gd name="adj" fmla="val 0"/>
            </a:avLst>
          </a:prstGeom>
          <a:solidFill>
            <a:srgbClr val="22D3E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952500" y="59944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400" b="0" i="0" u="none" strike="noStrike" dirty="0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注意力机制赋予模型“全局视野”，使其能够并行计算并精准捕捉上下文关联，这是Transformer架构超越传统序列模型的根本原因。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知识点 1.1 - Transformer架构直觉 (2/3)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33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核心问题：一句话输入模型后，经历了哪些处理步骤？“大”模型的“大”体现在哪？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5207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2D3E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l="352" r="352"/>
          <a:stretch>
            <a:fillRect/>
          </a:stretch>
        </p:blipFill>
        <p:spPr>
          <a:xfrm>
            <a:off x="952500" y="2603500"/>
            <a:ext cx="2032000" cy="2032000"/>
          </a:xfrm>
          <a:prstGeom prst="rect">
            <a:avLst/>
          </a:prstGeom>
          <a:noFill/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3111500" y="2603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01. 输入到输出的转化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111500" y="3111500"/>
            <a:ext cx="27305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嵌入层：</a:t>
            </a: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将文字转为高维数学向量</a:t>
            </a:r>
            <a:b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注意力：</a:t>
            </a: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计算词与词间的依赖关系</a:t>
            </a:r>
            <a:b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前馈网络：</a:t>
            </a: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提炼并加工特征信息</a:t>
            </a:r>
            <a:b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输出层：</a:t>
            </a: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预测下一词的概率分布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5270500"/>
            <a:ext cx="4826000" cy="698500"/>
          </a:xfrm>
          <a:prstGeom prst="roundRect">
            <a:avLst>
              <a:gd name="adj" fmla="val 0"/>
            </a:avLst>
          </a:prstGeom>
          <a:solidFill>
            <a:srgbClr val="22D3E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16000" y="537210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E0F2FE"/>
                </a:solidFill>
                <a:latin typeface="Noto Sans SC"/>
                <a:ea typeface="Noto Sans SC"/>
                <a:cs typeface="Noto Sans SC"/>
                <a:sym typeface="Noto Sans SC"/>
              </a:rPr>
              <a:t>本质是将离散的语言符号，转化为连续空间中的向量运算，层层递进捕捉深层语义关联。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2413000"/>
            <a:ext cx="5207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2D3E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/>
          </p:cNvPicPr>
          <p:nvPr/>
        </p:nvPicPr>
        <p:blipFill>
          <a:blip r:embed="rId5"/>
          <a:srcRect l="-140" r="-335" b="12500"/>
          <a:stretch>
            <a:fillRect/>
          </a:stretch>
        </p:blipFill>
        <p:spPr>
          <a:xfrm>
            <a:off x="6283529" y="2603500"/>
            <a:ext cx="2161971" cy="2032000"/>
          </a:xfrm>
          <a:prstGeom prst="rect">
            <a:avLst/>
          </a:prstGeom>
          <a:noFill/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8572500" y="2603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02. “大”模型的三大支柱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572500" y="3111500"/>
            <a:ext cx="27305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参数规模：</a:t>
            </a: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百亿/千亿级的模型权重</a:t>
            </a:r>
            <a:b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训练数据：</a:t>
            </a: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TB级海量语料的投喂</a:t>
            </a:r>
            <a:b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算力基建：</a:t>
            </a: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数千块GPU并行计算集群</a:t>
            </a:r>
            <a:b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涌现能力：</a:t>
            </a: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突破阈值后的智能跃升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13500" y="5270500"/>
            <a:ext cx="4826000" cy="698500"/>
          </a:xfrm>
          <a:prstGeom prst="roundRect">
            <a:avLst>
              <a:gd name="adj" fmla="val 0"/>
            </a:avLst>
          </a:prstGeom>
          <a:solidFill>
            <a:srgbClr val="22D3E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477000" y="537210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E0F2FE"/>
                </a:solidFill>
                <a:latin typeface="Noto Sans SC"/>
                <a:ea typeface="Noto Sans SC"/>
                <a:cs typeface="Noto Sans SC"/>
                <a:sym typeface="Noto Sans SC"/>
              </a:rPr>
              <a:t>规模效应是关键：当参数、数据和算力突破临界值，模型会展现出小模型不具备的“涌现”智能。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知识点 1.1 - Transformer架构直觉 (3/3)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2D3E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01 推荐学习资源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476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24765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0F0F0"/>
                </a:solidFill>
                <a:latin typeface="Noto Sans SC"/>
                <a:ea typeface="Noto Sans SC"/>
                <a:cs typeface="Noto Sans SC"/>
                <a:sym typeface="Noto Sans SC"/>
              </a:rPr>
              <a:t>3Blue1Brown · 可视化直觉构建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857500"/>
            <a:ext cx="463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用动态动画拆解自注意力与Transformer的核心机制，将抽象的矩阵运算转化为直观的信息流动，是建立架构直觉的「最佳启蒙教材」。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046">
            <a:off x="952508" y="3740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000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33500" y="40005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0F0F0"/>
                </a:solidFill>
                <a:latin typeface="Noto Sans SC"/>
                <a:ea typeface="Noto Sans SC"/>
                <a:cs typeface="Noto Sans SC"/>
                <a:sym typeface="Noto Sans SC"/>
              </a:rPr>
              <a:t>Andrej Karpathy · LLM 核心课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4381500"/>
            <a:ext cx="463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由AI领域顶尖专家主讲，从「从零实现GPT」的视角拆解大模型训练与推理的底层逻辑，深入浅出地解析从词嵌入到自回归生成的全流程。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86500" y="1651000"/>
            <a:ext cx="5270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2D3E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77000" y="18415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2000" b="1" i="0" u="none" strike="noStrike" dirty="0" err="1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现场问答</a:t>
            </a:r>
            <a:endParaRPr lang="en-US" sz="1100" dirty="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2476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858000" y="24765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0F0F0"/>
                </a:solidFill>
                <a:latin typeface="Noto Sans SC"/>
                <a:ea typeface="Noto Sans SC"/>
                <a:cs typeface="Noto Sans SC"/>
                <a:sym typeface="Noto Sans SC"/>
              </a:rPr>
              <a:t>Q1：如何向非专业者解释「预测下一词」？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2857500"/>
            <a:ext cx="463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 dirty="0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💡 </a:t>
            </a:r>
            <a:r>
              <a:rPr lang="en-US" sz="1300" b="0" i="0" u="none" strike="noStrike" dirty="0" err="1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思路</a:t>
            </a:r>
            <a:r>
              <a:rPr lang="en-US" sz="1300" b="0" i="0" u="none" strike="noStrike" dirty="0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300" b="0" i="0" u="none" strike="noStrike" dirty="0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模型本质上只是一个统计模型，</a:t>
            </a:r>
            <a:r>
              <a:rPr lang="en-US" sz="1300" b="0" i="0" u="none" strike="noStrike" dirty="0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它基于海量文本掌握了“哪个词跟在哪个词后最合理”的概率规律，并非真正“</a:t>
            </a:r>
            <a:r>
              <a:rPr lang="en-US" sz="1300" b="0" i="0" u="none" strike="noStrike" dirty="0" err="1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理解</a:t>
            </a:r>
            <a:r>
              <a:rPr lang="en-US" sz="1300" b="0" i="0" u="none" strike="noStrike" dirty="0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”，</a:t>
            </a:r>
            <a:r>
              <a:rPr lang="en-US" sz="1300" b="0" i="0" u="none" strike="noStrike" dirty="0" err="1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而是像人类一样根据上下文自然预判对话走向</a:t>
            </a:r>
            <a:r>
              <a:rPr lang="en-US" sz="1300" b="0" i="0" u="none" strike="noStrike" dirty="0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cxnSp>
        <p:nvCxnSpPr>
          <p:cNvPr id="18" name="Connector 18"/>
          <p:cNvCxnSpPr/>
          <p:nvPr/>
        </p:nvCxnSpPr>
        <p:spPr>
          <a:xfrm rot="-9046">
            <a:off x="6477008" y="3740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000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858000" y="40005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0F0F0"/>
                </a:solidFill>
                <a:latin typeface="Noto Sans SC"/>
                <a:ea typeface="Noto Sans SC"/>
                <a:cs typeface="Noto Sans SC"/>
                <a:sym typeface="Noto Sans SC"/>
              </a:rPr>
              <a:t>Q2：注意力机制与「查字典」有何相似？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4381500"/>
            <a:ext cx="463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💡 思路：查字典时，我们通过「释义、例句」来确认生词含义；注意力机制则是让模型处理某个词时，主动「扫描」句子中其他相关词汇并分配权重，以此明确该词在语境中的具体意思，而非孤立理解。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588000"/>
            <a:ext cx="10795000" cy="762000"/>
          </a:xfrm>
          <a:prstGeom prst="roundRect">
            <a:avLst>
              <a:gd name="adj" fmla="val 0"/>
            </a:avLst>
          </a:prstGeom>
          <a:solidFill>
            <a:srgbClr val="22D3E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52500" y="56896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E0F2FE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核心心法：</a:t>
            </a:r>
            <a:r>
              <a:rPr lang="en-US" sz="1400" b="0" i="0" u="none" strike="noStrike">
                <a:solidFill>
                  <a:srgbClr val="E0F2FE"/>
                </a:solidFill>
                <a:latin typeface="Noto Sans SC"/>
                <a:ea typeface="Noto Sans SC"/>
                <a:cs typeface="Noto Sans SC"/>
                <a:sym typeface="Noto Sans SC"/>
              </a:rPr>
              <a:t>不要死记硬背公式与架构图，试着用「信息流动」的视角去理解——Transformer本质是一个通过“关注重点”来高效处理序列信息的系统，建立直觉是掌握它的第一步。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知识点 1.2 - Tokenization与上下文窗口 (1/2)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2D3E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67640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01 / 什么是Token？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大模型理解文本的“原子单位”，非单纯的字或词。它是模型算力消耗与API计费的核心依据，决定了上下文窗口的长度上限与处理效率。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31750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2D3E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332740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02 / 中英Token化核心差异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英文天然以空格分割，常切分为子词（如 un-happy）；中文无天然分隔符，需先分词(Word Segmentation)，切分粒度直接影响模型对语义的捕捉精度。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48260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2D3E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52500" y="497840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03 / 模型“认知偏差”的诱因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模型仅能处理Token而非原始字符，因此可能出现“数不清字母”等现象。例如在拼写检查或字符级计数任务中，模型表现会受分词结果的直接制约。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 l="157" r="157"/>
          <a:stretch>
            <a:fillRect/>
          </a:stretch>
        </p:blipFill>
        <p:spPr>
          <a:xfrm>
            <a:off x="6350000" y="1778000"/>
            <a:ext cx="5080000" cy="2387600"/>
          </a:xfrm>
          <a:prstGeom prst="rect">
            <a:avLst/>
          </a:prstGeom>
          <a:noFill/>
          <a:ln w="25400" cap="flat" cmpd="sng">
            <a:solidFill>
              <a:srgbClr val="22D3EE">
                <a:alpha val="4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30000"/>
              </a:srgbClr>
            </a:outerShdw>
          </a:effectLst>
        </p:spPr>
      </p:pic>
      <p:sp>
        <p:nvSpPr>
          <p:cNvPr id="11" name="AutoShape 11"/>
          <p:cNvSpPr/>
          <p:nvPr/>
        </p:nvSpPr>
        <p:spPr>
          <a:xfrm>
            <a:off x="6350000" y="4445000"/>
            <a:ext cx="5080000" cy="1778000"/>
          </a:xfrm>
          <a:prstGeom prst="roundRect">
            <a:avLst>
              <a:gd name="adj" fmla="val 0"/>
            </a:avLst>
          </a:prstGeom>
          <a:solidFill>
            <a:srgbClr val="22D3E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540500" y="45974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中文分词的歧义性挑战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典型案例“乒乓球拍卖完了”：不同分词器可能产生完全不同的结果（如“乒乓球/拍卖”或“乒乓/球拍/卖”）。这种歧义会导致模型对同一文本产生不同的理解，是中文大模型训练中需要重点解决的难题。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知识点 1.2 - Tokenization与上下文窗口 (2/2)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65" b="65"/>
          <a:stretch>
            <a:fillRect/>
          </a:stretch>
        </p:blipFill>
        <p:spPr>
          <a:xfrm>
            <a:off x="762000" y="1651000"/>
            <a:ext cx="4318000" cy="2425700"/>
          </a:xfrm>
          <a:prstGeom prst="rect">
            <a:avLst/>
          </a:prstGeom>
          <a:noFill/>
          <a:ln w="25400" cap="flat" cmpd="sng">
            <a:solidFill>
              <a:srgbClr val="22D3EE">
                <a:alpha val="4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000000">
                <a:alpha val="3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381500"/>
            <a:ext cx="431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模型的上下文窗口如同一个动态滑动的“信息工作台”。随着对话或文档的推进，旧的内容会被逐步挤出窗口，新的信息持续加入。理解这一动态机制，是我们在实际应用中高效利用Token资源的前提。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461000" y="1651000"/>
            <a:ext cx="5969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2D3E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461000" y="1651000"/>
            <a:ext cx="50800" cy="13970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689600" y="1752600"/>
            <a:ext cx="5651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核心定义：模型的“记忆容量”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指模型生成内容时能“看到”的前后文最大Token数量。128K/1M等大窗口意味着模型可处理长篇文档、理解多步骤的复杂指令，是处理长文本任务的基础。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5461000" y="3238500"/>
            <a:ext cx="5969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2D3E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461000" y="3238500"/>
            <a:ext cx="50800" cy="13970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5689600" y="3340100"/>
            <a:ext cx="5651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02 关键现象：警惕“中间遗忘”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研究证实，模型对长上下文的</a:t>
            </a:r>
            <a:r>
              <a:rPr lang="en-US" sz="14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首尾信息</a:t>
            </a:r>
            <a:r>
              <a:rPr lang="en-US" sz="14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记忆最清晰，而对</a:t>
            </a:r>
            <a:r>
              <a:rPr lang="en-US" sz="14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中间部分</a:t>
            </a:r>
            <a:r>
              <a:rPr lang="en-US" sz="14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的关注度会显著下降（Lost in the Middle）。这意味着“塞得越满”并不等同于效果越好。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5461000" y="4826000"/>
            <a:ext cx="5969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2D3E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461000" y="4826000"/>
            <a:ext cx="50800" cy="13970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5689600" y="4927600"/>
            <a:ext cx="5651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03 实战启示与现场思考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💡 策略：务必将关键指令或核心事实置于Prompt的</a:t>
            </a:r>
            <a:r>
              <a:rPr lang="en-US" sz="14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开头或结尾</a:t>
            </a:r>
            <a:r>
              <a:rPr lang="en-US" sz="14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❓ 思考：200字中文摘要≈300 Tokens，你该如何在有限窗口内做信息取舍？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知识点 1.3 - 预训练：下一词预测与Scaling Laws (1/2)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核心问题：预训练的数据从哪来？规模多大？清洗为什么重要？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117" r="117"/>
          <a:stretch>
            <a:fillRect/>
          </a:stretch>
        </p:blipFill>
        <p:spPr>
          <a:xfrm>
            <a:off x="762000" y="2286000"/>
            <a:ext cx="4826000" cy="2667000"/>
          </a:xfrm>
          <a:prstGeom prst="rect">
            <a:avLst/>
          </a:prstGeom>
          <a:noFill/>
          <a:ln w="25400" cap="flat" cmpd="sng">
            <a:solidFill>
              <a:srgbClr val="22D3EE">
                <a:alpha val="50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5207000"/>
            <a:ext cx="482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1D5D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图示：支撑万亿级参数模型预训练的高性能GPU计算集群，是实现大规模分布式训练的硬件基础。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969000" y="2286000"/>
            <a:ext cx="5461000" cy="1206500"/>
          </a:xfrm>
          <a:prstGeom prst="roundRect">
            <a:avLst>
              <a:gd name="adj" fmla="val 0"/>
            </a:avLst>
          </a:prstGeom>
          <a:solidFill>
            <a:srgbClr val="22D3EE">
              <a:alpha val="8000"/>
            </a:srgbClr>
          </a:solidFill>
          <a:ln w="12700" cap="flat" cmpd="sng">
            <a:solidFill>
              <a:srgbClr val="22D3E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096000" y="2387600"/>
            <a:ext cx="520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01 模型的「基础教育」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通过“预测下一个词”的自监督任务，让模型从海量文本中学习通用语言规律与世界知识，是大模型能力的源头，产出的模型被称为“基座模型”。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969000" y="3619500"/>
            <a:ext cx="5461000" cy="1206500"/>
          </a:xfrm>
          <a:prstGeom prst="roundRect">
            <a:avLst>
              <a:gd name="adj" fmla="val 0"/>
            </a:avLst>
          </a:prstGeom>
          <a:solidFill>
            <a:srgbClr val="22D3EE">
              <a:alpha val="8000"/>
            </a:srgbClr>
          </a:solidFill>
          <a:ln w="12700" cap="flat" cmpd="sng">
            <a:solidFill>
              <a:srgbClr val="22D3E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096000" y="3721100"/>
            <a:ext cx="520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02 数据：质量决定上限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来源涵盖网页、书籍、代码库等，规模达万亿级Token。清洗是核心防线——低质或有害数据会直接导致模型产生偏见、幻觉甚至生成危险内容。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969000" y="4953000"/>
            <a:ext cx="5461000" cy="1206500"/>
          </a:xfrm>
          <a:prstGeom prst="roundRect">
            <a:avLst>
              <a:gd name="adj" fmla="val 0"/>
            </a:avLst>
          </a:prstGeom>
          <a:solidFill>
            <a:srgbClr val="22D3EE">
              <a:alpha val="8000"/>
            </a:srgbClr>
          </a:solidFill>
          <a:ln w="12700" cap="flat" cmpd="sng">
            <a:solidFill>
              <a:srgbClr val="22D3E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096000" y="5054600"/>
            <a:ext cx="520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03 为何如此昂贵？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三重成本壁垒：TB级高质量数据的获取与清洗工程；数千块顶级GPU集群持续数月的巨额算力消耗；以及顶尖算法与工程团队的持续研发投入。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知识点 1.3 - 预训练：下一词预测与Scaling Laws (2/2)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核心聚焦：Scaling Laws揭示了大模型性能跃升的底层逻辑，而基座模型与对话模型的关系，正是理解AI从技术原型走向产品应用的关键。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3378200" cy="2603500"/>
          </a:xfrm>
          <a:prstGeom prst="roundRect">
            <a:avLst>
              <a:gd name="adj" fmla="val 0"/>
            </a:avLst>
          </a:prstGeom>
          <a:solidFill>
            <a:srgbClr val="22D3EE">
              <a:alpha val="1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476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24384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Scaling Laws 缩放定律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984500"/>
            <a:ext cx="2997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模型性能与参数量、训练数据量及算力消耗之间存在显著的</a:t>
            </a:r>
            <a:r>
              <a:rPr lang="en-US" sz="13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幂律关系</a:t>
            </a: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。这一规律通俗来说就是“大力出奇迹”，即通过持续增加资源投入，模型的效果将获得可预测的提升，它是过去几年大模型“军备竞赛”的理论基石。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06900" y="2286000"/>
            <a:ext cx="3378200" cy="2603500"/>
          </a:xfrm>
          <a:prstGeom prst="roundRect">
            <a:avLst>
              <a:gd name="adj" fmla="val 0"/>
            </a:avLst>
          </a:prstGeom>
          <a:solidFill>
            <a:srgbClr val="22D3EE">
              <a:alpha val="1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7400" y="2476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978400" y="24384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模型进化：基座 → 对话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97400" y="2984500"/>
            <a:ext cx="2997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基座模型：</a:t>
            </a: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完成预训练的原始模型，是AI的“知识毛坯”，仅具备预测下一词的能力。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对话模型：</a:t>
            </a: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经后训练与对齐技术优化后的“成品”，具备指令理解、多轮交互与价值对齐能力，是我们日常使用的ChatGPT等应用的基础。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51800" y="2286000"/>
            <a:ext cx="3378200" cy="2603500"/>
          </a:xfrm>
          <a:prstGeom prst="roundRect">
            <a:avLst>
              <a:gd name="adj" fmla="val 0"/>
            </a:avLst>
          </a:prstGeom>
          <a:solidFill>
            <a:srgbClr val="22D3EE">
              <a:alpha val="1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2300" y="2476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623300" y="24384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关键认知：原料与成品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42300" y="2984500"/>
            <a:ext cx="2997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基座模型是AI能力的“源泉”，提供基础的语言理解与生成能力；对话模型则是面向用户的“终端”，解决了可用性、安全性与交互性的问题。二者是技术研发中“基础建设”与“应用开发”的关系。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1435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952500" y="52705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Q: 为什么基座模型不能直接用来聊天？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A: 它只学会了“预测下一个词”，缺乏对话所需的指令遵循能力、多轮交互逻辑以及人类价值观的对齐，更像是一个强大的“自动补全工具”而非“交流伙伴”。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347115">
            <a:off x="5683250" y="57404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286500" y="52705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Q: Scaling Laws 现在还完全成立吗？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A: 在一定范围内依然有效，但边际效益正在递减。单纯依靠增加参数量来提升效果的成本越来越高，因此现在的研究更注重架构创新、数据质量优化与训练效率的提升。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467D5EA-B3B7-0C98-C127-E788E4877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87" y="48857"/>
            <a:ext cx="10474087" cy="617158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DBC7337-3F50-5D47-49C6-20D05BD0101F}"/>
              </a:ext>
            </a:extLst>
          </p:cNvPr>
          <p:cNvSpPr txBox="1"/>
          <p:nvPr/>
        </p:nvSpPr>
        <p:spPr>
          <a:xfrm>
            <a:off x="2461121" y="6346935"/>
            <a:ext cx="6096698" cy="388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ts val="2550"/>
              </a:lnSpc>
              <a:buNone/>
            </a:pPr>
            <a:r>
              <a:rPr lang="en-US" altLang="zh-CN" sz="1400" b="0" i="0" dirty="0" err="1">
                <a:solidFill>
                  <a:srgbClr val="18191C"/>
                </a:solidFill>
                <a:effectLst/>
                <a:latin typeface="PingFang SC"/>
              </a:rPr>
              <a:t>Bilibili</a:t>
            </a:r>
            <a:r>
              <a:rPr lang="en-US" altLang="zh-CN" sz="1400" b="0" i="0" dirty="0">
                <a:solidFill>
                  <a:srgbClr val="18191C"/>
                </a:solidFill>
                <a:effectLst/>
                <a:latin typeface="PingFang SC"/>
              </a:rPr>
              <a:t>——</a:t>
            </a:r>
            <a:r>
              <a:rPr lang="zh-CN" altLang="zh-CN" sz="1400" b="0" i="0" dirty="0">
                <a:solidFill>
                  <a:srgbClr val="18191C"/>
                </a:solidFill>
                <a:effectLst/>
                <a:latin typeface="PingFang SC"/>
              </a:rPr>
              <a:t>大模型智能涌现尺度率的判定准则-徐宗本</a:t>
            </a:r>
          </a:p>
        </p:txBody>
      </p:sp>
    </p:spTree>
    <p:extLst>
      <p:ext uri="{BB962C8B-B14F-4D97-AF65-F5344CB8AC3E}">
        <p14:creationId xmlns:p14="http://schemas.microsoft.com/office/powerpoint/2010/main" val="2623832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1082</Words>
  <Application>Microsoft Office PowerPoint</Application>
  <PresentationFormat>宽屏</PresentationFormat>
  <Paragraphs>103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Noto Sans SC</vt:lpstr>
      <vt:lpstr>PingFang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浩然 吴</cp:lastModifiedBy>
  <cp:revision>6</cp:revision>
  <dcterms:modified xsi:type="dcterms:W3CDTF">2026-07-06T14:05:18Z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{"Label":"1","ContentProducer":"001191110102MACQD9K64010000","ProduceID":"7658224752951807179","ReservedCode1":"","ContentPropagator":"","PropagateID":"","ReservedCode2":""}</vt:lpwstr>
  </property>
</Properties>
</file>