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416" y="1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分享。今天我们将深入探讨大模型的核心技术与产业生态。我们将一起揭开从一个基础的“毛坯房”模型，如何通过一系列精妙的“精装修”技术，蜕变为我们今天所见的强大智能体。本次分享将聚焦于后训练、推理模型、生态格局、提示工程以及科研伦理这五个关键部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五个部分。首先，我们将探讨“后训练”，这是将基础模型变得好用的关键步骤。接着，我们会介绍新一代的“推理模型”。然后，我们会梳理当前国内外的“大模型生态图谱”。之后，分享“提示工程”的实用技巧。最后，我们将讨论大模型的“局限性与科研红线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一部分：后训练。如果说预训练是让模型学会了知识，那么后训练就是教会它如何运用这些知识，如何与人沟通，如何变得更“聪明”。这是一个将毛坯房精装修的过程，是模型从“什么都懂一点”到“真正好用”的关键一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要区分两个核心概念：预训练和后训练。预训练就像一个孩子读遍群书，获得了广博的知识，我们得到一个基座模型。但这个模型可能并不好用。而后训练，就是对这个模型进行“精装修”，教会它听话、懂你，最终成为一个合格的产品。我们可以把基座模型比作一个读过所有菜谱的厨师，而后训练就是把他培训成一个能做出美味佳肴的专业主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后训练的第一步是监督微调，简称SFT。这个过程就像教一个孩子说话，我们给他看大量的对话范例，让他模仿学习。通过SFT，模型学会了基本的对话格式，能够理解并遵循简单的指令。但SFT的局限在于，它只是让模型学会了“模仿”，却无法判断自己的回答是好是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模型“更懂你”，我们需要RLHF，也就是基于人类反馈的强化学习。这是ChatGPT成功的秘诀。它的核心思想很巧妙：把人类的主观判断，比如“这个回答比那个好”，变成一个可以量化的分数。通过三步流程——先让模型学会说话，然后训练一个“评委”来打分，最后让模型通过强化学习不断改进，追求更高的分数，从而让模型的输出越来越符合人类的期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LHF之后，又出现了RLVR，即时可验证奖励强化学习。它和RLHF最大的不同在于奖励的来源。RLHF靠人来判断好坏，而RLVR靠客观事实来判断对错。比如，在做数学题时，我们可以用计算器来验证答案。答对了就给高分，答错了就给低分。这种方法让模型的目标从“让你开心”变成了“追求真理”，从而催生了像DeepSeek-R1这样强大的推理模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总结一下，SFT、RLHF和RLVR是后训练的三个关键技术。SFT教会模型“说人话”，RLHF让模型“更懂你”，而RLVR则让模型“会思考”。它们层层递进，共同将一个基础模型打磨成一个强大的智能体。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接下来，我们进入第二部分，探讨一个激动人心的新方向：推理模型和测试时计算。这代表了一种新的思路，即不再仅仅依赖于训练更大的模型，而是让模型在回答问题时，学会“多思考一会儿”。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“测试时计算”是一种新的范式。过去我们总想着把模型做得更大、训练得更久，就像让学生考前拼命复习。而测试时计算则反其道而行之，它固定模型本身，让模型在回答问题时，花更多时间去“思考”，比如写出详细的解题步骤。这就像允许学生在考试时仔细演算，而不是凭直觉给出答案，从而大大提高了复杂问题的准确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推理模型的杰出代表就是DeepSeek-R1。它由国内的DeepSeek公司在2026年初发布，通过先进的RLVR技术训练，展现出了惊人的数学和代码能力，在多个权威测试中超越了当时的GPT-4。它的成功，不仅证明了专注于推理能力的道路是可行的，也通过开源极大地推动了行业发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一个直观的对比。面对同一个逻辑谜题，普通模型可能会直接给出一个错误或模糊的答案。而推理模型则会像一个逻辑学家一样，一步步地展示它的思考过程，清晰地推导出正确答案。这种“显式”的思考过程，正是推理模型强大能力的来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了解了核心技术，我们再来看看宏观的产业格局。第三部分，我们将绘制一幅2026年的国内外大模型生态图谱，看看全球的主要玩家都有谁，他们各自的优势是什么。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到2026年，全球大模型格局已经非常清晰。OpenAI和Anthropic处于绝对领先的T0梯队。Google和xAI紧随其后，构成T0.5梯队。而国内的百度、阿里、字节、华为，以及海外的Meta、IBM等则是各自区域和领域的龙头，构成了T1梯队。此外，还有众多潜力玩家在垂直领域深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每个玩家都有自己的看家本领。OpenAI胜在通用能力和生态，Anthropic强在长文本和安全，Google则在多模态领域领先。国内厂商也各具特色，比如阿里的成本优势，字节的场景优势，以及Kimi和智谱在长文本处理上的出色表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生态中另一个重要的维度是开源与闭源。闭源模型如GPT，提供最强的性能，但价格不菲。开源模型则像一股活水，极大地促进了技术的普及和创新。对于我们科研人员来说，选择模型时需要综合考虑能力、成本、合规和可访问性这四个维度，做出最合适的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有了强大的模型，我们如何才能更好地利用它呢？这就引出了第四部分——提示工程。这是一门与模型高效对话的艺术，掌握它能让你从模型那里获得远超常人的高质量输出。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提示工程有很多被验证有效的技巧。比如，给模型设定一个角色，让它更专业；提供几个例子，让它快速理解你的意图；引导它分步思考，提高复杂问题的准确率；规定输出格式，方便后续处理；以及把大任务拆成小任务，化繁为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我们来看一个实际的例子。从一个简单的“写个广告”，到逐步加入角色、受众、具体卖点和格式要求，模型的输出质量有了质的飞跃。这充分说明了精心设计的提示词对于获得高质量结果的重要性。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提示工程也有它的局限性。它主要适用于简单的、一次性的任务。当任务变得复杂，需要记忆、多工具协作时，单纯的提示就不够用了。这就引出了更高级的“上下文工程”，它关注的是如何系统性地管理整个交互过程，这也是未来AI应用发展的重要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最后，我们必须正视大模型的局限性，并明确作为科研人员应该遵守的红线。这不仅关乎技术本身，更关乎学术诚信和伦理规范。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模型有两个广为人知的局限。一是“幻觉”，也就是一本正经地胡说八道。这是由其技术原理决定的，目前无法完全消除。二是“知识截止”，模型无法知道它训练之后发生的事情。对于知识截止问题，我们可以通过RAG技术，让模型实时联网查询来解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我们研究生来说，使用大模型必须坚守学术诚信。核心原则是“谁使用，谁负责”。研究的原创思想、核心设计和最终结论必须由我们自己完成。AI可以作为辅助工具，帮助我们梳理文献、编写代码、润色文字，但我们必须理解、核验并为最终结果负责。同时，要遵守学术规范，在论文中如实声明AI的使用情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最后，我们来看一个实操案例。我们可以让模型推荐几篇论文，然后去Google Scholar这样的学术数据库里验证。你很可能会发现，模型生成的内容并不完全准确。这个过程能让我们深刻体会到，对于AI生成的内容，尤其是学术信息，必须保持怀疑态度，并进行严格的交叉验证。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我的分享到此结束。大模型的世界日新月异，我们今天讨论的只是冰山一角。希望这次分享能帮助大家更好地理解和使用这项强大的技术。现在是问答环节，欢迎大家提问。谢谢！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2.jpe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jpeg"/><Relationship Id="rId11" Type="http://schemas.openxmlformats.org/officeDocument/2006/relationships/image" Target="../media/image24.jpeg"/><Relationship Id="rId5" Type="http://schemas.openxmlformats.org/officeDocument/2006/relationships/image" Target="../media/image20.jpeg"/><Relationship Id="rId10" Type="http://schemas.openxmlformats.org/officeDocument/2006/relationships/image" Target="../media/image23.jpeg"/><Relationship Id="rId4" Type="http://schemas.openxmlformats.org/officeDocument/2006/relationships/image" Target="../media/image17.jpeg"/><Relationship Id="rId9" Type="http://schemas.openxmlformats.org/officeDocument/2006/relationships/image" Target="../media/image22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.jpe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26.jpeg"/><Relationship Id="rId4" Type="http://schemas.openxmlformats.org/officeDocument/2006/relationships/image" Target="../media/image25.jpeg"/><Relationship Id="rId9" Type="http://schemas.openxmlformats.org/officeDocument/2006/relationships/image" Target="../media/image2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5.svg"/><Relationship Id="rId4" Type="http://schemas.openxmlformats.org/officeDocument/2006/relationships/image" Target="../media/image31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svg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svg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2225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大模型基础原理与生态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207000" y="3937000"/>
            <a:ext cx="1778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31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从基座到智能的“精装修”之旅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 spc="3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深度解析 1.4 - 1.8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968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1930400"/>
            <a:ext cx="406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后训练：雕琢模型的艺术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从预训练到后训练，深度解析SFT、RLHF、RLVR等核心对齐技术，探索模型能力跃升的关键路径。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3655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3556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78000" y="3517900"/>
            <a:ext cx="406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推理模型与测试时计算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解读Test-Time Computation新范式，剖析推理模型的崛起逻辑，结合前沿案例洞察其应用潜力。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953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52500" y="5143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78000" y="5105400"/>
            <a:ext cx="406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国内外大模型生态图谱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绘制2026年全球大模型梯队格局，对比主流厂商技术路线，为科研与产业选型提供全景参考。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86500" y="1778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77000" y="1968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302500" y="1930400"/>
            <a:ext cx="406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提示工程：高效对话的艺术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掌握提示词设计的核心原则与进阶技法，通过真实案例，见证从“无效指令”到“优质回复”的蜕变。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86500" y="33655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77000" y="3556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02500" y="3517900"/>
            <a:ext cx="406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局限与科研红线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直面幻觉、知识截止等技术局限，厘清大模型时代的科研伦理边界，筑牢学术研究的规范红线。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86500" y="4953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77000" y="5105400"/>
            <a:ext cx="488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核心洞察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大模型不仅是技术工具，更是重塑科研范式的引擎。本次分享将带你穿透技术表象，把握大模型落地的核心逻辑与实践准则，在技术红利中找准科研与应用的切入点。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PART 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429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后训练：雕琢模型的艺术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334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 spc="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从通用知识到专属智慧的蜕变 · 赋予模型沟通与决策的灵魂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核心概念：从预训练到后训练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预训练 (Pre-training)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035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过程</a:t>
            </a:r>
            <a:r>
              <a:rPr lang="en-US" sz="14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就像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让</a:t>
            </a:r>
            <a:r>
              <a:rPr lang="zh-CN" alt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一个孩子阅读各类书籍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吸纳海量语言、知识与世界规律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产出：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打造一个知识渊博的“毛坯房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”——</a:t>
            </a:r>
            <a:r>
              <a:rPr lang="en-US" sz="1400" b="1" i="0" u="none" strike="noStrike" dirty="0" err="1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基座模型</a:t>
            </a:r>
            <a:r>
              <a:rPr lang="en-US" sz="1400" b="1" i="0" u="none" strike="noStrike" dirty="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 (Base Model)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博闻强识但缺乏“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分寸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尚未掌握与人类高效协作的沟通智慧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后训练 (Post-training)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6035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过程：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对“毛坯房”进行精细化装修与调试的关键环节。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通过技术手段，让模型学会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遵循指令、对齐人类偏好、具备推理能力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产出：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从“半成品”蜕变为真正可用、体验流畅的AI产品。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762500"/>
            <a:ext cx="10668000" cy="1524000"/>
          </a:xfrm>
          <a:prstGeom prst="roundRect">
            <a:avLst>
              <a:gd name="adj" fmla="val 0"/>
            </a:avLst>
          </a:prstGeom>
          <a:solidFill>
            <a:srgbClr val="4ADE80">
              <a:alpha val="12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50927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778000" y="4927600"/>
            <a:ext cx="927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趣味类比：从“理论派”到“实战派”的厨师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座模型就像一位熟读天下菜谱却从未掌勺的天才食客，满腹经纶却不知火候与实操；而后训练则是一场严苛的后厨特训，教会他精准控火、调味、摆盘，最终成为能真正满足顾客口味、解决实际需求的专业主厨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监督微调：教会模型“说人话”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cap="flat" cmpd="sng">
            <a:solidFill>
              <a:srgbClr val="E6CFC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803400"/>
            <a:ext cx="1016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监督微调（Supervised Fine-Tuning, SFT）是大模型能力落地的关键第一步。通过输入大量高质量的「指令-回答」样本，让模型模仿人类的语言逻辑与沟通方式，使其从单纯的“概率预测机器”，进化为能理解用户意图、遵循指令并输出自然、流畅且符合人类预期的语言内容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3655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556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22400" y="3530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格式化输出与交互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000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让模型掌握对话的基础范式，理解多轮交互中的上下文关联，学会以连贯、符合场景的格式回应，解决了原始模型输出碎片化、无逻辑的问题。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33655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556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883400" y="3530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任务导向的初步对齐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4000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为模型注入“指令遵循”的核心能力，使其从被动的文本续写模式，转向主动响应并完成用户指定的具体任务，是实现模型实用性的基础前提。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2705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BBF24">
              <a:alpha val="10000"/>
            </a:srgbClr>
          </a:solidFill>
          <a:ln w="12700" cap="flat" cmpd="sng">
            <a:solidFill>
              <a:srgbClr val="FBBF2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461000"/>
            <a:ext cx="279400" cy="279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5435600"/>
            <a:ext cx="990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核心局限：止步于“模仿”，而非“创造” ——</a:t>
            </a:r>
            <a:r>
              <a:rPr lang="en-US" sz="1400" b="0" i="0" u="none" strike="noStrike">
                <a:solidFill>
                  <a:srgbClr val="92400E"/>
                </a:solidFill>
                <a:latin typeface="Noto Sans SC"/>
                <a:ea typeface="Noto Sans SC"/>
                <a:cs typeface="Noto Sans SC"/>
                <a:sym typeface="Noto Sans SC"/>
              </a:rPr>
              <a:t>SFT本质是对人类语言的“复刻”，模型无法真正判断回答的优劣，也无法产生超越训练数据的新知识。它是模型学会“说人话”的起点，却并非具备独立思考与价值判断的终点。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RLHF：基于人类反馈的强化学习——让模型“更懂你”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20955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核心定义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540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RLHF是将大模型与人类价值观对齐的核心技术，是ChatGPT成功的关键。它解决了传统监督微调（SFT）无法量化判断回答“好坏”的问题，赋予模型理解人类偏好的能力。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905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13500" y="20955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核心逻辑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13500" y="2540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将人类对回答的主观偏好（如“更真实”“更有帮助”“更安全”）转化为机器可理解的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数值化奖励信号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，驱动模型以“追求更高奖励”为目标，持续优化生成策略。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937000"/>
            <a:ext cx="33782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127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33500" y="4127500"/>
            <a:ext cx="273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Step 1: 监督微调 (SFT)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" y="4635500"/>
            <a:ext cx="29972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以高质量的问答数据为基础，对预训练大模型进行有监督微调，使其具备基础的指令理解与对话生成能力，成为一个“会说话”的基础模型。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394200" y="3937000"/>
            <a:ext cx="33782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4700" y="4127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965700" y="4127500"/>
            <a:ext cx="273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Step 2: 训练奖励模型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584700" y="4635500"/>
            <a:ext cx="29972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收集人类对模型多个回答的偏好排序数据，训练一个专门的“打分器”（奖励模型），使其能够模仿人类的价值判断，对回答质量进行量化打分。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26400" y="3937000"/>
            <a:ext cx="33782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16900" y="4127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597900" y="4127500"/>
            <a:ext cx="273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Step 3: 强化学习优化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216900" y="4635500"/>
            <a:ext cx="29972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利用奖励模型的打分作为反馈信号，让模型通过强化学习不断生成新回答并自我迭代。模型会持续调整参数以追求更高的奖励分数，从而让输出越来越贴合人类预期。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RLVR：可验证奖励强化学习——催生推理模型的利器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D1D5DB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930400"/>
            <a:ext cx="1028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RLVR（Reinforcement Learning from Verifiable Rewards）是RLHF的进阶演进，其核心变革在于重构了</a:t>
            </a:r>
            <a:r>
              <a:rPr lang="en-US" sz="1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奖励信号的来源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——从依赖人类主观评价转向锚定客观世界的可验证事实，为模型赋予更可靠的优化方向。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3F4F6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3073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01. RLHF：人类偏好的主观对齐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454400"/>
            <a:ext cx="482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奖励基于人类标注者的主观感受（如“更通顺”“更友善”），依赖人工反馈的规模化，但易受个体认知差异、标注疲劳等因素影响，难以做到绝对客观。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2921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DCFCE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13500" y="3073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02. RLVR：客观事实的精准反馈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13500" y="3454400"/>
            <a:ext cx="482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奖励由外部工具或客观规则自动判定（如答案正确/错误、代码可运行），结果清晰可量化，消除了人为偏差，让模型的优化目标直接锚定“正确性”而非“讨喜度”。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6355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52500" y="48006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⚙️ 技术内核：工具赋能的验证闭环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52500" y="5181600"/>
            <a:ext cx="482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数学计算、代码生成等精确任务，引入计算器、代码解释器等外部工具作为“客观裁判”。模型生成结果后，工具自动校验其正确性，形成“生成→验证→奖惩→更新”的闭环，让模型在实战中学会严谨的逻辑推导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46355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413500" y="48006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🌟 深远影响：推理模型的进化引擎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13500" y="5181600"/>
            <a:ext cx="482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将模型的训练目标从“讨好人类”升级为“追求真理”，倒逼模型建立可追溯、可验证的推理路径。这不仅大幅降低了模型“幻觉”，更催生了具备</a:t>
            </a:r>
            <a:r>
              <a:rPr lang="en-US" sz="13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自主推理能力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的新一代AI，是通用人工智能发展的关键技术跳板。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技术对比总结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3782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27100" y="2413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SFT 监督微调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323">
            <a:off x="927113" y="2978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27100" y="3111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核心目标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教会模型掌握基础指令格式，建立初步的对话规范与指令遵循能力。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27100" y="4000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📊 数据来源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基于人工构建的高质量（指令，回答）标注对，形成标准化训练语料。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27100" y="4889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🚀 关键产出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具备基础交互能力的“会说话”模型，实现从预训练到对话的初步跨越。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94200" y="2159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394200" y="2159000"/>
            <a:ext cx="33782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559300" y="2413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RLHF 人类反馈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323">
            <a:off x="4559313" y="2978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59300" y="3111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核心目标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对齐人类价值观、伦理规范与主观偏好，让模型回复更自然、更贴心。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59300" y="4000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📊 数据来源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基于人类对模型多个回答的排序、评分与直接反馈构建偏好模型。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559300" y="4889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🚀 关键产出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具备“情商”的对话模型，能够理解并响应人类的情感与意图。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26400" y="2159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026400" y="2159000"/>
            <a:ext cx="33782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191500" y="2413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RLVR 结果验证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323">
            <a:off x="8191513" y="2978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191500" y="3111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核心目标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提升模型的事实准确性、逻辑推理能力与客观决策水平，减少幻觉。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191500" y="4000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📊 数据来源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利用外部工具（计算器、检索库、代码解释器）的可验证结果作为反馈。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191500" y="4889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🚀 关键产出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具备“思考能力”的推理模型，输出结果更严谨、可信赖。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这三项技术</a:t>
            </a:r>
            <a:r>
              <a:rPr lang="en-US" sz="1500" b="0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层层递进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，从基础的指令理解，到价值观的对齐，再到推理能力的升华，共同打造了强大的智能体。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PART 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推理模型与测试时计算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699000" y="5651500"/>
            <a:ext cx="2794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新范式：测试时计算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057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核心思想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292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打破“更大模型+更多数据”的传统预训练路径。在模型权重固定的前提下，将算力投入重心转移到</a:t>
            </a:r>
            <a:r>
              <a:rPr lang="en-US" sz="1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推理阶段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，通过增加计算消耗来换取任务性能的显著跃升。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778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03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143500" y="2057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通俗比喻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2667000"/>
            <a:ext cx="292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预训练：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如学生考前疯狂背书，试图穷尽知识点。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测试时：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如考试中允许</a:t>
            </a:r>
            <a:r>
              <a:rPr lang="en-US" sz="1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打草稿、列步骤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，通过推演而非直觉解题，更适用于复杂难题。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1778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032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763000" y="2057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实现方式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55000" y="2667000"/>
            <a:ext cx="292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核心是生成</a:t>
            </a:r>
            <a:r>
              <a:rPr lang="en-US" sz="1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思维链（CoT）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：让模型在输出答案前，先逐步推导并展示中间逻辑。这种“慢思考”虽增加计算成本，但能显著提升逻辑推理、数学运算等复杂任务的准确率。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3975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52500" y="5562600"/>
            <a:ext cx="1028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价值洞察：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这是从“记忆型智能”向“推理型智能”的范式升级，不依赖海量预训练资源，而是通过推理时的“深度思考”解锁大模型解决复杂问题的新潜力。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案例：DeepSeek-R1的崛起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73" b="73"/>
          <a:stretch>
            <a:fillRect/>
          </a:stretch>
        </p:blipFill>
        <p:spPr>
          <a:xfrm>
            <a:off x="762000" y="1778000"/>
            <a:ext cx="1778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3937000"/>
            <a:ext cx="406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DeepSeek-R1 是 DeepSeek-AI 在 2026 年初发布的新一代推理模型。它摒弃了传统的监督微调（SFT）依赖，通过大规模 RLVR（基于价值的强化学习）训练，在逻辑推理、数学运算和代码生成等领域实现了性能突破，成为开源模型中的里程碑式作品。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207000" y="1778000"/>
            <a:ext cx="22352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334000" y="1968500"/>
            <a:ext cx="198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数学推理巅峰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334000" y="2413000"/>
            <a:ext cx="198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97.3%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334000" y="3048000"/>
            <a:ext cx="1981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 MATH-500 测试集上的 Pass@1 得分，显著超越同期 GPT-4 模型。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569200" y="1778000"/>
            <a:ext cx="22352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96200" y="1968500"/>
            <a:ext cx="198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竞赛级水准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96200" y="2413000"/>
            <a:ext cx="198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媲美 o1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96200" y="3048000"/>
            <a:ext cx="1981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 AIME 2024 等高难度数学竞赛中，表现对标 OpenAI o1 系列。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931400" y="1778000"/>
            <a:ext cx="22352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058400" y="1968500"/>
            <a:ext cx="198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代码顶尖能力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058400" y="2413000"/>
            <a:ext cx="198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SOTA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058400" y="3048000"/>
            <a:ext cx="1981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 SWE-bench Verified 等代码任务上取得行业领先的验证通过率。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207000" y="4381500"/>
            <a:ext cx="69596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410200" y="4572000"/>
            <a:ext cx="660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行业启示与价值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410200" y="4978400"/>
            <a:ext cx="6553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DeepSeek-R1 的成功不仅验证了“以强化学习专攻推理能力”的技术路线可行性，更通过开源释放了巨大的技术红利，推动全球 AI 社区在模型架构、训练算法及推理机制上的加速创新，为通用人工智能（AGI）的发展提供了全新的技术范式与实践路径。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对照实验：普通模型 vs. 推理模型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测试任务：经典逻辑谜题挑战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场景：三个盒子分别贴有“苹果”、“香蕉”、“苹果和香蕉”标签，且所有标签均错误。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要求：仅能从一个盒子中取出一个水果进行观察，如何准确判断每个盒子内的真实内容？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3429000"/>
            <a:ext cx="5207000" cy="2730500"/>
          </a:xfrm>
          <a:prstGeom prst="roundRect">
            <a:avLst>
              <a:gd name="adj" fmla="val 0"/>
            </a:avLst>
          </a:prstGeom>
          <a:solidFill>
            <a:srgbClr val="F3F4F6">
              <a:alpha val="7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683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3657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普通模型：直觉式应答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291">
            <a:off x="1016009" y="4184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43815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由于缺乏对逻辑链条的拆解能力，模型往往直接给出错误答案，或提供模棱两可、不完整的推理。它无法系统性地利用“所有标签都是错的”这一关键前提进行反推，导致结论与事实完全不符。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3429000"/>
            <a:ext cx="5207000" cy="2730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solidFill>
              <a:srgbClr val="4ADE8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683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21500" y="3657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推理模型：演绎式推导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477009" y="4184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77000" y="43815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锁定突破口：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从“混合”标签盒取水果，必为单一品类。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连锁推导：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若取出苹果，则该盒为“苹果”，原“苹果”盒必为“香蕉”。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闭环验证：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利用排除法确认最后一个盒子，形成严谨的逻辑闭环，得出正确结论。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2225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PART 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8735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国内外大模型生态图谱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397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全景式解析全球主流模型阵营，洞察技术演进与产业协同新格局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2026年全球大模型梯队格局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0FDF4">
              <a:alpha val="7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968500"/>
            <a:ext cx="2997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T0 梯队：全球王者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12499" r="12499"/>
          <a:stretch>
            <a:fillRect/>
          </a:stretch>
        </p:blipFill>
        <p:spPr>
          <a:xfrm>
            <a:off x="952500" y="2540000"/>
            <a:ext cx="1016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2032000" y="25400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OpenAI (GPT)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全球绝对龙头，技术、资本与生态全满贯，定义行业标准。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566">
            <a:off x="952513" y="3613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810000"/>
            <a:ext cx="29972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Anthropic (Claude)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企业级安全与长文本处理的标杆，以 Constitutional AI 确立安全护城河，在企业服务领域优势显著。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94200" y="1778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0FDF4">
              <a:alpha val="7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584700" y="1968500"/>
            <a:ext cx="2997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T0.5 梯队：技术破壁者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 t="11428" b="11428"/>
          <a:stretch>
            <a:fillRect/>
          </a:stretch>
        </p:blipFill>
        <p:spPr>
          <a:xfrm>
            <a:off x="4584700" y="2540000"/>
            <a:ext cx="1016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5664200" y="25400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Google (Gemini)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多模态理解与超长上下文处理的王者，硬科技底座深厚。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566">
            <a:off x="4584713" y="3613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84700" y="3810000"/>
            <a:ext cx="29972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xAI (Grok系列)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实时数据接入与硬核推理的技术黑马，专注于“最大程度追求真理”的AI助手，在实时性与逻辑推理上极具特色。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26400" y="1778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0FDF4">
              <a:alpha val="7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216900" y="1968500"/>
            <a:ext cx="2997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T1 梯队：区域与领域龙头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rcRect l="11458" r="11458"/>
          <a:stretch>
            <a:fillRect/>
          </a:stretch>
        </p:blipFill>
        <p:spPr>
          <a:xfrm>
            <a:off x="8216900" y="2540000"/>
            <a:ext cx="1016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9296400" y="25400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中国力量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百度、阿里、字节、华为等，深耕本土化场景。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566">
            <a:off x="8216913" y="3613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16900" y="3810000"/>
            <a:ext cx="29972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全球中坚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Meta Llama 4（开源生态霸主）、IBM Watsonx（企业级解决方案标杆），构建多元化的技术与商业生态。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2705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ap="flat" cmpd="sng">
            <a:solidFill>
              <a:srgbClr val="4ADE8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016000" y="5461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T2-T3</a:t>
            </a:r>
            <a:br>
              <a:rPr lang="en-US" sz="18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潜力阵营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5342709">
            <a:off x="2413000" y="58357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3048000" y="5435600"/>
            <a:ext cx="812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汇聚了在垂直领域深耕的巨头与创新玩家，如腾讯混元、科大讯飞星火、Mistral AI等。它们在特定行业场景（如医疗、教育、工业）、开源社区或细分技术领域展现出强劲的爆发力，虽暂未进入第一梯队，但凭借差异化优势与持续迭代，正不断冲击现有格局，为行业注入源源不断的创新活力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国内外主要玩家强项对比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781" r="781"/>
          <a:stretch>
            <a:fillRect/>
          </a:stretch>
        </p:blipFill>
        <p:spPr>
          <a:xfrm>
            <a:off x="952500" y="1930400"/>
            <a:ext cx="889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968500" y="1752600"/>
            <a:ext cx="387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OpenAI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GPT-4o, GPT-5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通用能力与生态系统最为完善，引领行业技术标准，应用场景覆盖极广。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2857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 t="8996" b="8996"/>
          <a:stretch>
            <a:fillRect/>
          </a:stretch>
        </p:blipFill>
        <p:spPr>
          <a:xfrm>
            <a:off x="952500" y="3136900"/>
            <a:ext cx="889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968500" y="2959100"/>
            <a:ext cx="387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Anthropic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Claude 3.5 Sonnet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支持超长上下文理解，具备顶尖的企业级安全合规性与AI可解释性。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064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rcRect t="20612" b="20612"/>
          <a:stretch>
            <a:fillRect/>
          </a:stretch>
        </p:blipFill>
        <p:spPr>
          <a:xfrm>
            <a:off x="952500" y="4343400"/>
            <a:ext cx="889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1968500" y="4165600"/>
            <a:ext cx="387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Google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Gemini 3.0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原生多模态理解能力卓越，依托自研TPU集群提供强大的算力与速度支撑。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270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 t="21470" b="21470"/>
          <a:stretch>
            <a:fillRect/>
          </a:stretch>
        </p:blipFill>
        <p:spPr>
          <a:xfrm>
            <a:off x="952500" y="5549900"/>
            <a:ext cx="889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1968500" y="5372100"/>
            <a:ext cx="387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DeepSeek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DeepSeek-V3, R1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开源模型性能领跑行业，在数学推理、逻辑思维与复杂计算领域领先。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1651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rcRect t="21428" b="21428"/>
          <a:stretch>
            <a:fillRect/>
          </a:stretch>
        </p:blipFill>
        <p:spPr>
          <a:xfrm>
            <a:off x="6413500" y="1930400"/>
            <a:ext cx="889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7429500" y="1752600"/>
            <a:ext cx="387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阿里通义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通义千问4.0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基于MoE混合专家架构实现成本优势，开源策略推动开发者生态快速发展。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23000" y="2857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rcRect t="21428" b="21428"/>
          <a:stretch>
            <a:fillRect/>
          </a:stretch>
        </p:blipFill>
        <p:spPr>
          <a:xfrm>
            <a:off x="6413500" y="3136900"/>
            <a:ext cx="889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7429500" y="2959100"/>
            <a:ext cx="387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字节跳动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豆包X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在内容创作、教育与垂类场景体验优异，背靠海量数据与流量生态优势。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223000" y="4064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rcRect t="21428" b="21428"/>
          <a:stretch>
            <a:fillRect/>
          </a:stretch>
        </p:blipFill>
        <p:spPr>
          <a:xfrm>
            <a:off x="6413500" y="4343400"/>
            <a:ext cx="889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4" name="AutoShape 24"/>
          <p:cNvSpPr/>
          <p:nvPr/>
        </p:nvSpPr>
        <p:spPr>
          <a:xfrm>
            <a:off x="7429500" y="4165600"/>
            <a:ext cx="387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月之暗面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Kimi 智能助手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长文本处理与文档理解体验极佳，支持大文件解析与沉浸式长对话。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6223000" y="5270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1"/>
          <a:srcRect t="23611" b="23611"/>
          <a:stretch>
            <a:fillRect/>
          </a:stretch>
        </p:blipFill>
        <p:spPr>
          <a:xfrm>
            <a:off x="6413500" y="5549900"/>
            <a:ext cx="889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7" name="AutoShape 27"/>
          <p:cNvSpPr/>
          <p:nvPr/>
        </p:nvSpPr>
        <p:spPr>
          <a:xfrm>
            <a:off x="7429500" y="5372100"/>
            <a:ext cx="387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智谱AI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GLM-4 / GLM-5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长文本与代码能力突出，支持私有化部署，兼顾数据安全与定制化需求。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开源 vs. 闭源 &amp; 科研选型框架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222" r="222"/>
          <a:stretch>
            <a:fillRect/>
          </a:stretch>
        </p:blipFill>
        <p:spPr>
          <a:xfrm>
            <a:off x="1016000" y="1968500"/>
            <a:ext cx="1016000" cy="723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222500" y="19304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闭源模型：极致性能与稳定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以OpenAI、Anthropic为代表，具备行业顶尖的通用能力与服务稳定性，适合对效果要求极高的场景。但成本高昂，且模型架构黑盒，难以进行深度定制与私有化。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159500" y="1651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 l="2" r="2"/>
          <a:stretch>
            <a:fillRect/>
          </a:stretch>
        </p:blipFill>
        <p:spPr>
          <a:xfrm>
            <a:off x="6413500" y="1968500"/>
            <a:ext cx="1016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7620000" y="19304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开源模型：灵活创新与自主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以Llama、DeepSeek、通义千问为代表，代码与权重开放。支持二次微调、本地化部署及商用，极大降低了技术门槛，是推动技术快速迭代与科研创新的核心动力。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064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科研选型决策框架：四大核心考量维度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6990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889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33500" y="4889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能力匹配度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52500" y="5334000"/>
            <a:ext cx="215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模型是否具备任务所需的特定能力（如逻辑推理、长文本处理），以及效果是否满足研究指标要求。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467100" y="46990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57600" y="4889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038600" y="4889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成本效益比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657600" y="5334000"/>
            <a:ext cx="215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综合评估API调用的费用成本，以及私有化部署所需的算力、人力投入是否在预算范围内。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172200" y="46990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62700" y="4889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743700" y="4889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合规与安全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62700" y="5334000"/>
            <a:ext cx="215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确保数据隐私安全，满足科研伦理要求，特别是涉及敏感数据时需满足本地化部署或合规要求。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890000" y="46990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80500" y="4889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461500" y="4889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可访问性与扩展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080500" y="5334000"/>
            <a:ext cx="215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API的调用稳定性、速率限制，以及是否支持微调、插件扩展或本地化部署以保障长期可用性。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PART 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302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提示工程：与模型高效对话的艺术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34000" y="4889500"/>
            <a:ext cx="1524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5397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掌握提示工程，是从 AI 模型中获取高质量、精准化输出的关键，也是释放模型潜力的必修课。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被验证有效的核心技法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0800" cy="2095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9304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角色设定 (Role Prompting)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3111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在提示词开头为模型赋予明确的专业身份，直接锚定其输出的视角、语气与专业深度。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1750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1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示例：“你是一位深耕科技领域10年的资深产品经理，擅长撰写清晰易懂的需求文档...”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778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381500" y="1778000"/>
            <a:ext cx="50800" cy="2095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572000" y="19304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少样本提示 (Few-Shot)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2413000"/>
            <a:ext cx="3111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在提出需求前，先提供1-3个符合预期的任务示例，帮助模型快速理解意图，降低试错成本。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31750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1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示例：“分析用户评价情感。例1：‘太难用了’→负面；例2：‘体验超棒’→正面。请分析：‘功能还挺全的’。”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1778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001000" y="1778000"/>
            <a:ext cx="50800" cy="2095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191500" y="19304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思维链 (Chain-of-Thought)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91500" y="2413000"/>
            <a:ext cx="3111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引导模型分步展示推理过程，而非直接给出答案，显著提升在数学计算、逻辑推理等复杂问题上的准确率。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91500" y="31750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1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示例：“请先详细写出你的计算步骤和推理逻辑，解释每一步的依据，最后再给出最终答案。”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191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62000" y="4191000"/>
            <a:ext cx="50800" cy="1968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52500" y="43434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格式约束 (Format Constraints)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52500" y="4826000"/>
            <a:ext cx="488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明确指定输出格式（如JSON、Markdown表格、列表），确保结果结构化，便于后续自动化处理或直接引用。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52500" y="55245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1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示例：“请以JSON格式输出，包含字段：item_name, category, price；或者以三列Markdown表格呈现。”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159500" y="4191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159500" y="4191000"/>
            <a:ext cx="50800" cy="1968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350000" y="43434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分步拆解 (Step-by-Step)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50000" y="4826000"/>
            <a:ext cx="488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将复杂的大任务，拆解为逻辑递进的简单子任务，让模型分阶段完成，化繁为简，保证输出质量。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350000" y="55245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1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示例：“撰写推文分三步：1. 提炼核心观点；2. 加入一个用户痛点；3. 用提问式结尾引导互动。”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迭代优化案例：从“差评”到“好评”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62000" y="2032000"/>
            <a:ext cx="3048000" cy="3048000"/>
          </a:xfrm>
          <a:prstGeom prst="roundRect">
            <a:avLst>
              <a:gd name="adj" fmla="val 5000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334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任务核心：为新款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SoundMax Pro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无线耳机，创作一则能打动年轻群体、具备传播力的社交媒体推广文案。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191000" y="1905000"/>
            <a:ext cx="723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381500" y="2032000"/>
            <a:ext cx="685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初始尝试：指令过于模糊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💡 提示词：“写一个无线耳机的广告。”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📤 结果：“这款无线耳机音质好，续航长，快来购买吧！” —— 表述干瘪，缺乏场景感与情感共鸣，难以吸引用户点击。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191000" y="3429000"/>
            <a:ext cx="723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381500" y="3556000"/>
            <a:ext cx="685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进阶优化：明确角色与受众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💡 提示词：“你是科技博主，为年轻乐迷写 SoundMax Pro 推广微博。”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📤 结果：“音乐发烧友看过来！沉浸式音效体验，彻底告别线缆束缚！” —— 语气更贴合圈层，有了对象感，内容开始变得生动。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191000" y="4953000"/>
            <a:ext cx="7239000" cy="1397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12700" cap="flat" cmpd="sng">
            <a:solidFill>
              <a:srgbClr val="4ADE8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381500" y="5080000"/>
            <a:ext cx="685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03 终极版本：细节 + 格式 + 情绪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💡 提示词：补充“主动降噪、30h续航”卖点，要求加入emoji并营造“沉浸感”。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📤 结果：“🎧音乐党狂喜！SoundMax Pro 开启降噪🎚️即刻静享，30h超长续航🔋彻底告别电量焦虑，通勤/运动全场景适配～” —— 卖点清晰，画面感拉满，极具社交传播力！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提示工程的局限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提示工程主要聚焦于</a:t>
            </a:r>
            <a:r>
              <a:rPr lang="en-US" sz="16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单次交互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的指令优化，适用于解决简单、即时的任务。但面对需要连贯性、多步骤协作或外部工具支持的复杂场景时，其能力边界便会显现。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28702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71600" y="28702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缺乏长期记忆能力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65200" y="3302000"/>
            <a:ext cx="2971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无法有效保留多轮对话中的关键信息，难以形成连贯的会话逻辑，对于需要“记住”前文的复杂问答或任务追踪显得力不从心。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2667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10100" y="28702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16500" y="28702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难以联动外部工具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10100" y="3302000"/>
            <a:ext cx="2971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仅靠自然语言指令无法直接调用计算器、搜索引擎或数据库等外部资源，难以处理需要实时数据或复杂计算的跨领域任务。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51800" y="2667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8702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61400" y="28702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复杂流程管理困难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55000" y="3302000"/>
            <a:ext cx="2971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面对多步骤、多分支的任务，无法像人类一样主动拆解目标、规划执行路径，容易在冗长的上下文切换中出现逻辑混乱。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953000"/>
            <a:ext cx="106680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207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87500" y="5143500"/>
            <a:ext cx="965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破局之道：上下文工程 (Context Engineering)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这是一种系统性管理交互信息的方法论，通过结构化组织对话历史、环境信息与任务状态，赋予智能体持续记忆与逻辑推理能力，是实现真正智能助理的必经之路。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PART 05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大模型的局限与科研红线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826000" y="5334000"/>
            <a:ext cx="2540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cap="flat" cmpd="sng">
            <a:solidFill>
              <a:srgbClr val="2EC56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两大核心局限：幻觉与知识截止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2098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184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幻觉 (Hallucination)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496">
            <a:off x="1066809" y="27241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66800" y="29210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模型生成看似合理但与事实不符，或与上下文逻辑矛盾的错误信息，表现为“一本正经地胡说八道”。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66800" y="38100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成因：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源于训练数据的噪声与偏差、大模型的概率生成本质，以及解码策略的随机性，是生成式AI的固有特性。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66800" y="48895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应对：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无法彻底消除，需通过优化数据质量、引入事实校验机制或增加人工复核环节来降低风险。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905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22098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85000" y="2184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知识截止 (Knowledge Cutoff)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496">
            <a:off x="6527809" y="27241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527800" y="29210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模型的知识范围被严格限制在预训练数据的截止日期之前，对训练完成后发生的事件、数据和趋势一无所知。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27800" y="38100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困境：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例如2024年训练的模型无法回答“2025年诺贝尔奖得主是谁”，也无法获取最新的实时新闻或数据。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527800" y="48895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破局：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</a:t>
            </a:r>
            <a:r>
              <a:rPr lang="en-US" sz="1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检索增强生成 (RAG)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技术，将模型与外部知识库或实时搜索引擎连接，动态获取最新信息。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研究生使用大模型的科研红线与规范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875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752600"/>
            <a:ext cx="1028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核心原则：“谁使用，谁负责”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学生需对提交成果的最终质量、原创性及学术诚信负全部责任，不可将AI作为推卸责任或规避学术要求的借口。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34290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111500"/>
            <a:ext cx="279400" cy="279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95400" y="3086100"/>
            <a:ext cx="285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必须自主完成的核心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323">
            <a:off x="952513" y="35750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3708400"/>
            <a:ext cx="3048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原创思想与框架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研究的核心论点、假设提出及整体方法论设计，需完全由个人独立构思，体现学术思想的原创性。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分析与结论推导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独立完成实验设计与数据分析，基于自身逻辑判断推导出最终结论，拒绝直接照搬。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381500" y="2921000"/>
            <a:ext cx="34290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31115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914900" y="3086100"/>
            <a:ext cx="285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AI可辅助的工作边界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323">
            <a:off x="4572013" y="35750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72000" y="3708400"/>
            <a:ext cx="3048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效率工具与辅助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辅助梳理文献脉络、生成代码草稿或进行数据分析，但必须亲自理解并复核。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文本与表达优化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仅用于语言润色、语法修正与格式排版，严禁利用AI改变研究的实质内容。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001000" y="2921000"/>
            <a:ext cx="34290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3111500"/>
            <a:ext cx="279400" cy="279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534400" y="3086100"/>
            <a:ext cx="285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学术规范与披露红线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323">
            <a:off x="8191513" y="35750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191500" y="3708400"/>
            <a:ext cx="3048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声明义务与署名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必须在论文中明确声明使用的AI工具及具体用途，严禁将AI列为论文作者。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严格的人工核验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对AI生成内容进行事实核查、逻辑校验和查重，确保无错误、无剽窃风险。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762000" y="59055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1F2937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89000" y="60198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🌟 总结：AI是提升科研效率的“加速器”，但独立思考与学术诚信是研究生的“生命线”，二者不可本末倒置。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实测案例：诱发并核验幻觉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778000"/>
            <a:ext cx="495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实验任务：模拟学术检索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指令模型推荐3篇“平台经济反垄断”领域的最新高影响力论文，并要求提供具体作者及发表期刊，模拟真实的学术调研需求。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3048000"/>
            <a:ext cx="495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典型现象：逼真的“幻觉”生成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模型常输出看似严谨的论文标题、虚构的中外作者署名及真实存在的顶刊名称，内容逻辑通顺，极具迷惑性，难以凭直觉分辨真伪。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4191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4318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交叉核验：三步辨真伪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① 检索：将生成的标题/作者输入Google Scholar等学术库；② 比对：检查是否存在完全匹配的文献记录；③ 验证：核对发表期刊、年份及卷期细节，若记录缺失或信息不符，即可判定为模型幻觉。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 l="6637" r="6637"/>
          <a:stretch>
            <a:fillRect/>
          </a:stretch>
        </p:blipFill>
        <p:spPr>
          <a:xfrm>
            <a:off x="6477000" y="1905000"/>
            <a:ext cx="2667000" cy="1651000"/>
          </a:xfrm>
          <a:prstGeom prst="roundRect">
            <a:avLst>
              <a:gd name="adj" fmla="val 9230"/>
            </a:avLst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 t="476" b="476"/>
          <a:stretch>
            <a:fillRect/>
          </a:stretch>
        </p:blipFill>
        <p:spPr>
          <a:xfrm>
            <a:off x="9207500" y="1905000"/>
            <a:ext cx="2667000" cy="1651000"/>
          </a:xfrm>
          <a:prstGeom prst="roundRect">
            <a:avLst>
              <a:gd name="adj" fmla="val 9230"/>
            </a:avLst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12" name="AutoShape 12"/>
          <p:cNvSpPr/>
          <p:nvPr/>
        </p:nvSpPr>
        <p:spPr>
          <a:xfrm>
            <a:off x="6477000" y="4191000"/>
            <a:ext cx="53975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4381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048500" y="4381500"/>
            <a:ext cx="476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核心启示：构建“双重校验”意识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在学术研究、报告撰写等严肃场景中，AI生成的内容必须经过权威数据库的交叉验证。这不仅是确保信息准确的手段，更是规避学术不端风险、保持专业严谨性的必要前提。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对AI生成内容保持“理性存疑”，是数字化时代的必备信息素养 ——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06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 spc="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探索 AI 前沿 · 共创智能未来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2862</TotalTime>
  <Words>2519</Words>
  <Application>Microsoft Office PowerPoint</Application>
  <PresentationFormat>宽屏</PresentationFormat>
  <Paragraphs>299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29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浩然 吴</cp:lastModifiedBy>
  <cp:revision>2</cp:revision>
  <dcterms:modified xsi:type="dcterms:W3CDTF">2026-07-10T11:34:02Z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{"Label":"1","ContentProducer":"001191110102MACQD9K64010000","ProduceID":"7660091005970894054","ReservedCode1":"","ContentPropagator":"","PropagateID":"","ReservedCode2":""}</vt:lpwstr>
  </property>
</Properties>
</file>